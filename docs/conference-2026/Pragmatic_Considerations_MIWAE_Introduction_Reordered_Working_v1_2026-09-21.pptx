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8bf62acfb4442c3" /><Relationship Type="http://schemas.openxmlformats.org/officeDocument/2006/relationships/extended-properties" Target="/docProps/app.xml" Id="R34c223a13a524e9b" /><Relationship Type="http://schemas.openxmlformats.org/officeDocument/2006/relationships/officeDocument" Target="/ppt/presentation.xml" Id="R6c81416a55e44d00" /></Relationships>
</file>

<file path=ppt/presentation.xml><?xml version="1.0" encoding="utf-8"?>
<p:presentation xmlns:p="http://schemas.openxmlformats.org/presentationml/2006/main">
  <p:sldMasterIdLst>
    <p:sldMasterId xmlns:r="http://schemas.openxmlformats.org/officeDocument/2006/relationships" id="2147483648" r:id="R7c08488b95eb4076"/>
  </p:sldMasterIdLst>
  <p:notesMasterIdLst>
    <p:notesMasterId xmlns:r="http://schemas.openxmlformats.org/officeDocument/2006/relationships" r:id="Rfcd5c2dcd6eb41c3"/>
  </p:notesMasterIdLst>
  <p:sldIdLst>
    <p:sldId xmlns:r="http://schemas.openxmlformats.org/officeDocument/2006/relationships" id="256" r:id="Rb3cfd6b307e44d47"/>
    <p:sldId xmlns:r="http://schemas.openxmlformats.org/officeDocument/2006/relationships" id="257" r:id="Rec4909b0b9444b52"/>
    <p:sldId xmlns:r="http://schemas.openxmlformats.org/officeDocument/2006/relationships" id="258" r:id="Rb21422c5a8014d47"/>
    <p:sldId xmlns:r="http://schemas.openxmlformats.org/officeDocument/2006/relationships" id="259" r:id="R8effc6095e52427c"/>
    <p:sldId xmlns:r="http://schemas.openxmlformats.org/officeDocument/2006/relationships" id="260" r:id="Ra10c3a7941334389"/>
    <p:sldId xmlns:r="http://schemas.openxmlformats.org/officeDocument/2006/relationships" id="261" r:id="Rf8e8c48a840e47f4"/>
    <p:sldId xmlns:r="http://schemas.openxmlformats.org/officeDocument/2006/relationships" id="262" r:id="Recabf869b219478f"/>
    <p:sldId xmlns:r="http://schemas.openxmlformats.org/officeDocument/2006/relationships" id="263" r:id="Rec5472c4dd27492c"/>
    <p:sldId xmlns:r="http://schemas.openxmlformats.org/officeDocument/2006/relationships" id="264" r:id="R2b15377e13c84bdc"/>
    <p:sldId xmlns:r="http://schemas.openxmlformats.org/officeDocument/2006/relationships" id="265" r:id="R3d484f095aa74130"/>
    <p:sldId xmlns:r="http://schemas.openxmlformats.org/officeDocument/2006/relationships" id="266" r:id="Re6dfc3fdfde64925"/>
    <p:sldId xmlns:r="http://schemas.openxmlformats.org/officeDocument/2006/relationships" id="267" r:id="R6b7a2362898340de"/>
    <p:sldId xmlns:r="http://schemas.openxmlformats.org/officeDocument/2006/relationships" id="268" r:id="R6c78163d26fc41f6"/>
    <p:sldId xmlns:r="http://schemas.openxmlformats.org/officeDocument/2006/relationships" id="269" r:id="R98385c870f5f45e1"/>
    <p:sldId xmlns:r="http://schemas.openxmlformats.org/officeDocument/2006/relationships" id="270" r:id="Rb826d2dbedb64b8f"/>
    <p:sldId xmlns:r="http://schemas.openxmlformats.org/officeDocument/2006/relationships" id="271" r:id="R7d7e5a30ec0742ea"/>
    <p:sldId xmlns:r="http://schemas.openxmlformats.org/officeDocument/2006/relationships" id="272" r:id="Re1d4b3baac77441f"/>
    <p:sldId xmlns:r="http://schemas.openxmlformats.org/officeDocument/2006/relationships" id="273" r:id="Ra8f5a5c4e8364f21"/>
    <p:sldId xmlns:r="http://schemas.openxmlformats.org/officeDocument/2006/relationships" id="274" r:id="R6de172b8abd949a6"/>
    <p:sldId xmlns:r="http://schemas.openxmlformats.org/officeDocument/2006/relationships" id="275" r:id="Rd60c99a223354f24"/>
    <p:sldId xmlns:r="http://schemas.openxmlformats.org/officeDocument/2006/relationships" id="276" r:id="R885ac7d63a2f4985"/>
    <p:sldId xmlns:r="http://schemas.openxmlformats.org/officeDocument/2006/relationships" id="277" r:id="Ree7fd14f68fc4aa2"/>
    <p:sldId xmlns:r="http://schemas.openxmlformats.org/officeDocument/2006/relationships" id="278" r:id="R936bdab5f7da4202"/>
    <p:sldId xmlns:r="http://schemas.openxmlformats.org/officeDocument/2006/relationships" id="279" r:id="Re4b74abd999841a0"/>
    <p:sldId xmlns:r="http://schemas.openxmlformats.org/officeDocument/2006/relationships" id="280" r:id="Rfdb22792b638492d"/>
    <p:sldId xmlns:r="http://schemas.openxmlformats.org/officeDocument/2006/relationships" id="281" r:id="R52f7620b5dfe48b4"/>
    <p:sldId xmlns:r="http://schemas.openxmlformats.org/officeDocument/2006/relationships" id="282" r:id="R0a394cfeb72f4e7e"/>
    <p:sldId xmlns:r="http://schemas.openxmlformats.org/officeDocument/2006/relationships" id="283" r:id="Rbf5310cb364f4b40"/>
    <p:sldId xmlns:r="http://schemas.openxmlformats.org/officeDocument/2006/relationships" id="284" r:id="R996ca636075d477b"/>
    <p:sldId xmlns:r="http://schemas.openxmlformats.org/officeDocument/2006/relationships" id="285" r:id="Re14e2b4d505549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2faa0611524d87" /><Relationship Type="http://schemas.openxmlformats.org/officeDocument/2006/relationships/slideMaster" Target="/ppt/slideMasters/slideMaster1.xml" Id="R7c08488b95eb4076" /><Relationship Type="http://schemas.openxmlformats.org/officeDocument/2006/relationships/notesMaster" Target="/ppt/notesMasters/notesMaster1.xml" Id="Rfcd5c2dcd6eb41c3" /><Relationship Type="http://schemas.openxmlformats.org/officeDocument/2006/relationships/presProps" Target="/ppt/presProps.xml" Id="R24f9387bbaf94911" /><Relationship Type="http://schemas.openxmlformats.org/officeDocument/2006/relationships/tableStyles" Target="/ppt/tableStyles.xml" Id="Re6c43c03b935413b" /><Relationship Type="http://schemas.openxmlformats.org/officeDocument/2006/relationships/slide" Target="/ppt/slides/slide1.xml" Id="Rb3cfd6b307e44d47" /><Relationship Type="http://schemas.openxmlformats.org/officeDocument/2006/relationships/slide" Target="/ppt/slides/slide2.xml" Id="Rec4909b0b9444b52" /><Relationship Type="http://schemas.openxmlformats.org/officeDocument/2006/relationships/slide" Target="/ppt/slides/slide3.xml" Id="Rb21422c5a8014d47" /><Relationship Type="http://schemas.openxmlformats.org/officeDocument/2006/relationships/slide" Target="/ppt/slides/slide4.xml" Id="R8effc6095e52427c" /><Relationship Type="http://schemas.openxmlformats.org/officeDocument/2006/relationships/slide" Target="/ppt/slides/slide5.xml" Id="Ra10c3a7941334389" /><Relationship Type="http://schemas.openxmlformats.org/officeDocument/2006/relationships/slide" Target="/ppt/slides/slide6.xml" Id="Rf8e8c48a840e47f4" /><Relationship Type="http://schemas.openxmlformats.org/officeDocument/2006/relationships/slide" Target="/ppt/slides/slide7.xml" Id="Recabf869b219478f" /><Relationship Type="http://schemas.openxmlformats.org/officeDocument/2006/relationships/slide" Target="/ppt/slides/slide8.xml" Id="Rec5472c4dd27492c" /><Relationship Type="http://schemas.openxmlformats.org/officeDocument/2006/relationships/slide" Target="/ppt/slides/slide9.xml" Id="R2b15377e13c84bdc" /><Relationship Type="http://schemas.openxmlformats.org/officeDocument/2006/relationships/slide" Target="/ppt/slides/slide10.xml" Id="R3d484f095aa74130" /><Relationship Type="http://schemas.openxmlformats.org/officeDocument/2006/relationships/slide" Target="/ppt/slides/slide11.xml" Id="Re6dfc3fdfde64925" /><Relationship Type="http://schemas.openxmlformats.org/officeDocument/2006/relationships/slide" Target="/ppt/slides/slide12.xml" Id="R6b7a2362898340de" /><Relationship Type="http://schemas.openxmlformats.org/officeDocument/2006/relationships/slide" Target="/ppt/slides/slide13.xml" Id="R6c78163d26fc41f6" /><Relationship Type="http://schemas.openxmlformats.org/officeDocument/2006/relationships/slide" Target="/ppt/slides/slide14.xml" Id="R98385c870f5f45e1" /><Relationship Type="http://schemas.openxmlformats.org/officeDocument/2006/relationships/slide" Target="/ppt/slides/slide15.xml" Id="Rb826d2dbedb64b8f" /><Relationship Type="http://schemas.openxmlformats.org/officeDocument/2006/relationships/slide" Target="/ppt/slides/slide16.xml" Id="R7d7e5a30ec0742ea" /><Relationship Type="http://schemas.openxmlformats.org/officeDocument/2006/relationships/slide" Target="/ppt/slides/slide17.xml" Id="Re1d4b3baac77441f" /><Relationship Type="http://schemas.openxmlformats.org/officeDocument/2006/relationships/slide" Target="/ppt/slides/slide18.xml" Id="Ra8f5a5c4e8364f21" /><Relationship Type="http://schemas.openxmlformats.org/officeDocument/2006/relationships/slide" Target="/ppt/slides/slide19.xml" Id="R6de172b8abd949a6" /><Relationship Type="http://schemas.openxmlformats.org/officeDocument/2006/relationships/slide" Target="/ppt/slides/slide20.xml" Id="Rd60c99a223354f24" /><Relationship Type="http://schemas.openxmlformats.org/officeDocument/2006/relationships/slide" Target="/ppt/slides/slide21.xml" Id="R885ac7d63a2f4985" /><Relationship Type="http://schemas.openxmlformats.org/officeDocument/2006/relationships/slide" Target="/ppt/slides/slide22.xml" Id="Ree7fd14f68fc4aa2" /><Relationship Type="http://schemas.openxmlformats.org/officeDocument/2006/relationships/slide" Target="/ppt/slides/slide23.xml" Id="R936bdab5f7da4202" /><Relationship Type="http://schemas.openxmlformats.org/officeDocument/2006/relationships/slide" Target="/ppt/slides/slide24.xml" Id="Re4b74abd999841a0" /><Relationship Type="http://schemas.openxmlformats.org/officeDocument/2006/relationships/slide" Target="/ppt/slides/slide25.xml" Id="Rfdb22792b638492d" /><Relationship Type="http://schemas.openxmlformats.org/officeDocument/2006/relationships/slide" Target="/ppt/slides/slide26.xml" Id="R52f7620b5dfe48b4" /><Relationship Type="http://schemas.openxmlformats.org/officeDocument/2006/relationships/slide" Target="/ppt/slides/slide27.xml" Id="R0a394cfeb72f4e7e" /><Relationship Type="http://schemas.openxmlformats.org/officeDocument/2006/relationships/slide" Target="/ppt/slides/slide28.xml" Id="Rbf5310cb364f4b40" /><Relationship Type="http://schemas.openxmlformats.org/officeDocument/2006/relationships/slide" Target="/ppt/slides/slide29.xml" Id="R996ca636075d477b" /><Relationship Type="http://schemas.openxmlformats.org/officeDocument/2006/relationships/slide" Target="/ppt/slides/slide30.xml" Id="Re14e2b4d505549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9215ef7ffc42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IWAE">
  <a:themeElements>
    <a:clrScheme name="MIWA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IWA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a780c08db84939" /><Relationship Type="http://schemas.openxmlformats.org/officeDocument/2006/relationships/notesMaster" Target="/ppt/notesMasters/notesMaster1.xml" Id="R67f1eeed322e4a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64a652e4d24404" /><Relationship Type="http://schemas.openxmlformats.org/officeDocument/2006/relationships/notesMaster" Target="/ppt/notesMasters/notesMaster1.xml" Id="Rab5a6ee1d12f4a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7ddf8385c247d9" /><Relationship Type="http://schemas.openxmlformats.org/officeDocument/2006/relationships/notesMaster" Target="/ppt/notesMasters/notesMaster1.xml" Id="R5438643edbbd42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387932f50b4f7b" /><Relationship Type="http://schemas.openxmlformats.org/officeDocument/2006/relationships/notesMaster" Target="/ppt/notesMasters/notesMaster1.xml" Id="R39e71b61b5ec41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5ebbe4f13f43dd" /><Relationship Type="http://schemas.openxmlformats.org/officeDocument/2006/relationships/notesMaster" Target="/ppt/notesMasters/notesMaster1.xml" Id="Ra78cc50941af41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973d2a5c8f488f" /><Relationship Type="http://schemas.openxmlformats.org/officeDocument/2006/relationships/notesMaster" Target="/ppt/notesMasters/notesMaster1.xml" Id="R10f78668cf4e4e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e38fe0fbf04d85" /><Relationship Type="http://schemas.openxmlformats.org/officeDocument/2006/relationships/notesMaster" Target="/ppt/notesMasters/notesMaster1.xml" Id="R72a3dc6e16f146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fd50e31ca348c8" /><Relationship Type="http://schemas.openxmlformats.org/officeDocument/2006/relationships/notesMaster" Target="/ppt/notesMasters/notesMaster1.xml" Id="Rfb51ebd9420047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5308ed959f4d88" /><Relationship Type="http://schemas.openxmlformats.org/officeDocument/2006/relationships/notesMaster" Target="/ppt/notesMasters/notesMaster1.xml" Id="R69f40085e0084c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42194f860a43c1" /><Relationship Type="http://schemas.openxmlformats.org/officeDocument/2006/relationships/notesMaster" Target="/ppt/notesMasters/notesMaster1.xml" Id="R0fbd0b810b3746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3996de14e64e05" /><Relationship Type="http://schemas.openxmlformats.org/officeDocument/2006/relationships/notesMaster" Target="/ppt/notesMasters/notesMaster1.xml" Id="Rae9b7d2455bf4b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0d1c23a222440c" /><Relationship Type="http://schemas.openxmlformats.org/officeDocument/2006/relationships/notesMaster" Target="/ppt/notesMasters/notesMaster1.xml" Id="R54b47a39f08b43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6a8702c7f1444f" /><Relationship Type="http://schemas.openxmlformats.org/officeDocument/2006/relationships/notesMaster" Target="/ppt/notesMasters/notesMaster1.xml" Id="Rd87cbb4538a74a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e83033c31846f5" /><Relationship Type="http://schemas.openxmlformats.org/officeDocument/2006/relationships/notesMaster" Target="/ppt/notesMasters/notesMaster1.xml" Id="R176fc044a7f840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519c9fcc3d4e3f" /><Relationship Type="http://schemas.openxmlformats.org/officeDocument/2006/relationships/notesMaster" Target="/ppt/notesMasters/notesMaster1.xml" Id="R61efac7cb89f40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23ea9c09674bdf" /><Relationship Type="http://schemas.openxmlformats.org/officeDocument/2006/relationships/notesMaster" Target="/ppt/notesMasters/notesMaster1.xml" Id="R956a49625e5b4e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a107d74d484dac" /><Relationship Type="http://schemas.openxmlformats.org/officeDocument/2006/relationships/notesMaster" Target="/ppt/notesMasters/notesMaster1.xml" Id="R17c602c291e746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f2b5c0ed004e2f" /><Relationship Type="http://schemas.openxmlformats.org/officeDocument/2006/relationships/notesMaster" Target="/ppt/notesMasters/notesMaster1.xml" Id="Rc0805926c08447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b0324c55d344132" /><Relationship Type="http://schemas.openxmlformats.org/officeDocument/2006/relationships/notesMaster" Target="/ppt/notesMasters/notesMaster1.xml" Id="R62c02cb887ac4f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fbb11523b44eb8" /><Relationship Type="http://schemas.openxmlformats.org/officeDocument/2006/relationships/notesMaster" Target="/ppt/notesMasters/notesMaster1.xml" Id="R43da25e3cb5d4d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5435400f1b45e9" /><Relationship Type="http://schemas.openxmlformats.org/officeDocument/2006/relationships/notesMaster" Target="/ppt/notesMasters/notesMaster1.xml" Id="R19fee400073e42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c6b879cfa04635" /><Relationship Type="http://schemas.openxmlformats.org/officeDocument/2006/relationships/notesMaster" Target="/ppt/notesMasters/notesMaster1.xml" Id="Rc9f3dabc8acb41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95bf12afb64668" /><Relationship Type="http://schemas.openxmlformats.org/officeDocument/2006/relationships/notesMaster" Target="/ppt/notesMasters/notesMaster1.xml" Id="R6e7d0f9354a843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f05b817eaf545f1" /><Relationship Type="http://schemas.openxmlformats.org/officeDocument/2006/relationships/notesMaster" Target="/ppt/notesMasters/notesMaster1.xml" Id="R02dd3d06322f4d4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19427e5d654085" /><Relationship Type="http://schemas.openxmlformats.org/officeDocument/2006/relationships/notesMaster" Target="/ppt/notesMasters/notesMaster1.xml" Id="R7dbc66f223d447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d9f9c8227c24393" /><Relationship Type="http://schemas.openxmlformats.org/officeDocument/2006/relationships/notesMaster" Target="/ppt/notesMasters/notesMaster1.xml" Id="Rf7dde1e5ce7c4b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45a28559e4439c" /><Relationship Type="http://schemas.openxmlformats.org/officeDocument/2006/relationships/notesMaster" Target="/ppt/notesMasters/notesMaster1.xml" Id="R03fdf259d3f64f6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8ada163ac8452f" /><Relationship Type="http://schemas.openxmlformats.org/officeDocument/2006/relationships/notesMaster" Target="/ppt/notesMasters/notesMaster1.xml" Id="R54c06b7d047a4fd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54bc052121b4265" /><Relationship Type="http://schemas.openxmlformats.org/officeDocument/2006/relationships/notesMaster" Target="/ppt/notesMasters/notesMaster1.xml" Id="Ra1c593acbb4f452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7b8708bb9c24255" /><Relationship Type="http://schemas.openxmlformats.org/officeDocument/2006/relationships/notesMaster" Target="/ppt/notesMasters/notesMaster1.xml" Id="Rbfad9c1903b443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exact conference title. Explain that pragmatic considerations refer to choices made by authors and publishers about how written academic input is organised, related and supported. The ICLHE logo and palette are drawn from the official association website, https://www.iclhe.org/. The MIWAE API repository is available at https://github.com/MehmetDEU/MIWAE. Student records and interview excerpts are from the study; literature and located textbook examples are source-based.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definitions rather than with MIWAE. Hyland and Shaw define EAP as language research and instruction focused on the communicative needs and practices of people working in academic contexts. Seidlhofer defines ELF as English used among speakers of different first languages when English is their chosen communicative medium, often their only option. Mauranen, Hynninen and Ranta then identify two historical differences: EAP tended to take native-speaker English as its reference and concentrated strongly on written language, whereas academic ELF examined international settings where most participants use English as an additional language. The point is a difference of starting orientation, not a rigid division. ELFA became necessary because successful academic communication in global multilingual settings cannot be explained adequately by closeness to an idealised native norm. Transition: the clearest historical contrast concerns mode—writing in EAP and speech in early academic ELF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Mauranen and colleagues state: ‘EAP has a strong tradition of focusing on written language, whereas academic ELF research started from analysing spoken discourse.’ Early ELF research prioritised speech because researchers wanted to observe how speakers manage communication when English is an additional language for everyone and because change is often first visible in interaction. This history does not make EAP exclusively written or ELF exclusively spoken. Björkman explicitly notes that present-day ELF is used in both spoken and written form, and the WrELFA corpus was built to study written academic discourse. Mauranen and colleagues still found very little written-ELF research and described written academic ELF as almost entirely uncharted. Transition: EMI textbooks turn that imbalance into a practical problem because they carry disciplinary knowledge through writing.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 chain as a communication model. Production teams select wording, sequence explanations, place definitions, and coordinate prose with figures or notation. Multilingual students then reconstruct disciplinary meaning from those choices. Jenkins and Mauranen's volume reports English textbooks published by Anglo-American universities in Chinese EMI and describes authentic English textbooks as the cornerstone of the courses studied, often supplemented by Chinese materials. This is evidence from a particular context, so avoid claiming that every EMI programme depends primarily on imported books. It does justify investigating textbooks as written academic communication. The production-location claim must also remain bounded: the source documents Anglo-American university textbooks in that case; it does not prove that all EMI books are produced there. Transition: if textbooks communicate disciplinary meaning to readers, can their prose legitimately be called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Yes, written textbook prose can be treated as input. Second-language reading research explicitly uses the term written input and compares unmodified, simplified and elaborated passages. Li, Xu and Wang are a clear example. However, MIWAE makes a stated extension: the object is disciplinary communication in EMI, not only language acquisition. Input modification therefore cannot mean replacing technical language with easy general English. It means calibrating support for a multilingual reader by defining or glossing terms, making rhetorical relations visible, sequencing explanations, giving examples, reactivating prerequisite knowledge, and coordinating prose with visuals or notation. The CEFR mediation scales also recognise explaining concepts and simplifying a text, but MIWAE treats simplification as one possible move among several. Transition: this relational account connects directly to McKinley's argument about academic literacy.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McKinley argues that EMI difficulties often reflect gaps in academic literacy rather than linguistic deficits alone. Preparedness includes learning how a discipline reads, reasons, writes and interprets evidence; standardised English scores have limited power to predict this by themselves. His argument is aimed mainly at institutional and pedagogical support, not textbook evaluation. MIWAE draws a careful correlation: the textbook is one part of the literacy environment through which disciplinary expectations are communicated. A learner may have adequate general English yet still struggle when key relations, evidence patterns, or epistemic expectations remain implicit. Conversely, good design cannot compensate for every gap in prior knowledge. Transition: the CEFR's account of pragmatic competence helps specify which communicative dimensions of textbook design can be examined.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CEFR says pragmatic competence concerns actual language use in the co-construction of text. It explains that messages are organised, structured and arranged through discourse competence; used to perform communicative functions through functional competence; and sequenced according to interactional and transactional schemata through design competence. The CEFR describes what users and learners can do. It does not provide a textbook rating scale. MIWAE makes an explicit production-side extension: discourse competence motivates questions about cohesion, information structure and rhetorical relations; functional competence motivates questions about definitions, explanations, contrasts and reader guidance; and design competence motivates questions about sequencing, placement and multimodal coordination. Transition: these links lead to a precise research problem and a bounded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question exactly. The problem has three layers: written academic ELF is under-researched; textbook discourse is seldom examined as written communication with a multilingual audience; and reader difficulty is often reported without locating the textual choices that support or obstruct meaning. MIWAE's contribution is to connect reader evidence with observable textual evidence, organise that evidence through function, form and distribution, and support decisions by authors, publishers, syllabus designers and course teams. Define ELFA-friendly as a project term: design that anticipates multilingual readers while preserving disciplinary precision. Do not present MIWAE as a validated universal scale; at this stage it is a provisional framework and review procedure. Transition: the methodology now shows how the reader evidence and the ten-book pilot were organised.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balanced set contains five Engineering and five International Relations textbooks. Hambley replaces the unsuitable Nilsson solution manual. Mano enters the 50-passage Text Inspector analysis through OCR, while whole-book scripts use the other nine 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wording: We developed an open, extensible MIWAE Corpus Analysis API, available at https://github.com/MehmetDEU/MIWAE. It accepts text, PDF, DOCX and structured corpus inputs and generates transparent candidate profiles for functions, grammatical forms and distribution. It can import authorized Text Inspector exports and user-supplied EVP or EGP mappings. Do not claim an official live connection to either provider. The pilot run used 10 books, 50 stratified passages and 9,810 words. Automatic hits require contextual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distinction between the public repository and the local service. GitHub provides the code; localhost exposes the running Swagger interface on the presenter's computer.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interface slowly. The endpoint label is clicked, not pasted. The JSON goes into the Request body editor. Execute sends the passage to the local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the real response from the demonstration passage. Explain the hierarchy before interpreting any metric. A single short segment cannot support meaningful dispersion claims, and normalized rates can appear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n=100. English r=-.548 and GPA r=-.481 with reading 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excerpts are from the study interviews.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excerpts reflect the contrast between disciplines without claiming that social-science knowledge is merely subjective.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a simple objective-versus-subjective binary. The defensible contrast concerns semiotic resources and epistemic organisation.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located illustrations from the reviewed textbooks. The first six examples come from concordance checking in the nine complete text layers. The seventh summarises the recurring alignment of figure references and labelled circuit diagrams in the Sadiku sample. Do not use this slide to claim whole-book prevalence. Distribution requires a defined denominator and systematic sampling, which is introduced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interview counts are from the study interviews. Figure-reference densities are descriptive counts from four complete EE texts and five complete IR texts. Mano is excluded because only five OCR passages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analysis uses five stratified passages from each of ten books. Hambley and Mano replace the previously unsuitable Engineering materials. Mano passages were recovered by OCR. Lower Flesch reading ease and higher grade and Fog scores indicate greater conventional readability burden in the IR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disciplinary contrast concerns semiotic resources and epistemic organisation, not a simple objective-versus-subjective binary. Treat the numerical findings as descriptive pilot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Distribution is conditional on eligible opportunities. Define the denominator before coding. A definition is eligible at a term's first required use; a conceptual bridge is eligible where a new explanation depends on earlier content. Textual distribution and participant-mentioned distribution answer different questions and must not be combined.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forms are an open coding inventory rather than a closed checklist. Distribution is recorded with an explicit denominator, timing and spread. An opportunity counts as eligible only when the relevant communicative need exists in that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procedure turns the framework into a reproducible local selection instrument for syllabus designers.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rubric is a provisional decision aid. It has not undergone reliability or validity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Any accuracy failure overrides a high support rating. The cross-cutting gates protect against oversimplification and inappropriate standardisation.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tags separate what the text visibly contains from what readers report and what comprehension evidence demonstrates.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the audience to test whether the dimensions and decision rule capture what they value when choosing EMI textbooks.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accepted abstract's past-tense findings language must be reconciled with the actual research status before conference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ICLHE logo and palette are taken from the official association website: https://www.iclhe.org/. Verify the final bibliography against the conference paper and the editions actually analysed.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3e201a37464c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ec3cfef0b548e4" /><Relationship Type="http://schemas.openxmlformats.org/officeDocument/2006/relationships/slideLayout" Target="/ppt/slideLayouts/slideLayout1.xml" Id="R68b7ebeaa43843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b7ebeaa43843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MIWAE">
  <a:themeElements>
    <a:clrScheme name="MIWA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IWA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c7124687444ae6" /><Relationship Type="http://schemas.openxmlformats.org/officeDocument/2006/relationships/image" Target="/ppt/media/image.jpeg" Id="R1eddb9c98f714d68" /><Relationship Type="http://schemas.openxmlformats.org/officeDocument/2006/relationships/image" Target="/ppt/media/image.png" Id="Rbfd70727387e41eb" /><Relationship Type="http://schemas.openxmlformats.org/officeDocument/2006/relationships/notesSlide" Target="/ppt/notesSlides/notesSlide1.xml" Id="R7831371c7ae94a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f3f02f881849c2" /><Relationship Type="http://schemas.openxmlformats.org/officeDocument/2006/relationships/notesSlide" Target="/ppt/notesSlides/notesSlide2.xml" Id="R91ee99874f3347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b2c5acaadf4edd" /><Relationship Type="http://schemas.openxmlformats.org/officeDocument/2006/relationships/notesSlide" Target="/ppt/notesSlides/notesSlide3.xml" Id="R6de43c0589e94b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9bcb4229be488c" /><Relationship Type="http://schemas.openxmlformats.org/officeDocument/2006/relationships/notesSlide" Target="/ppt/notesSlides/notesSlide4.xml" Id="R215bf7171c814f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1dd87952e14bcc" /><Relationship Type="http://schemas.openxmlformats.org/officeDocument/2006/relationships/notesSlide" Target="/ppt/notesSlides/notesSlide5.xml" Id="Rcee78ccec28c49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192d0299b44a45" /><Relationship Type="http://schemas.openxmlformats.org/officeDocument/2006/relationships/notesSlide" Target="/ppt/notesSlides/notesSlide6.xml" Id="R07e78cdec41240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55adc7b9514d81" /><Relationship Type="http://schemas.openxmlformats.org/officeDocument/2006/relationships/notesSlide" Target="/ppt/notesSlides/notesSlide7.xml" Id="R4a6cfd92d3ba4e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cee7fe4cf94ebb" /><Relationship Type="http://schemas.openxmlformats.org/officeDocument/2006/relationships/notesSlide" Target="/ppt/notesSlides/notesSlide8.xml" Id="R02bdff71dbcb44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b8d0c77af24d1b" /><Relationship Type="http://schemas.openxmlformats.org/officeDocument/2006/relationships/notesSlide" Target="/ppt/notesSlides/notesSlide9.xml" Id="Rb8ec78251e4043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8f74175f714ed6" /><Relationship Type="http://schemas.openxmlformats.org/officeDocument/2006/relationships/notesSlide" Target="/ppt/notesSlides/notesSlide10.xml" Id="Rc486be6919d048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42db3eb9ff493b" /><Relationship Type="http://schemas.openxmlformats.org/officeDocument/2006/relationships/notesSlide" Target="/ppt/notesSlides/notesSlide11.xml" Id="Rc323a4d3975848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073b1f0d544b39" /><Relationship Type="http://schemas.openxmlformats.org/officeDocument/2006/relationships/notesSlide" Target="/ppt/notesSlides/notesSlide12.xml" Id="R8c64019e850446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40b3c9b2adc4718" /><Relationship Type="http://schemas.openxmlformats.org/officeDocument/2006/relationships/notesSlide" Target="/ppt/notesSlides/notesSlide13.xml" Id="R968f1f1813404d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b6ea22cb642448e" /><Relationship Type="http://schemas.openxmlformats.org/officeDocument/2006/relationships/chart" Target="/ppt/slides/charts/chart1.xml" Id="R3765a5588c574159" /><Relationship Type="http://schemas.openxmlformats.org/officeDocument/2006/relationships/notesSlide" Target="/ppt/notesSlides/notesSlide14.xml" Id="R9a21e46f6f6545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fb0575ec834c1c" /><Relationship Type="http://schemas.openxmlformats.org/officeDocument/2006/relationships/notesSlide" Target="/ppt/notesSlides/notesSlide15.xml" Id="Rfd1babec44b347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c09f4460874cb6" /><Relationship Type="http://schemas.openxmlformats.org/officeDocument/2006/relationships/notesSlide" Target="/ppt/notesSlides/notesSlide16.xml" Id="R8301f7d578f64e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2a15f9be6ee4e0d" /><Relationship Type="http://schemas.openxmlformats.org/officeDocument/2006/relationships/notesSlide" Target="/ppt/notesSlides/notesSlide17.xml" Id="R853df4de0da64c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c818e65914b40a2" /><Relationship Type="http://schemas.openxmlformats.org/officeDocument/2006/relationships/notesSlide" Target="/ppt/notesSlides/notesSlide18.xml" Id="Rcba916df448a4e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dfc49caa952417f" /><Relationship Type="http://schemas.openxmlformats.org/officeDocument/2006/relationships/chart" Target="/ppt/slides/charts/chart2.xml" Id="Rc6b265337b4c4224" /><Relationship Type="http://schemas.openxmlformats.org/officeDocument/2006/relationships/notesSlide" Target="/ppt/notesSlides/notesSlide19.xml" Id="Rc155a15ba47e44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bc144d330f3450e" /><Relationship Type="http://schemas.openxmlformats.org/officeDocument/2006/relationships/notesSlide" Target="/ppt/notesSlides/notesSlide20.xml" Id="Rc3a6351c2cd7412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76dad6bfc6b44d2" /><Relationship Type="http://schemas.openxmlformats.org/officeDocument/2006/relationships/notesSlide" Target="/ppt/notesSlides/notesSlide21.xml" Id="R7395591e61094f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f42e32405dd4507" /><Relationship Type="http://schemas.openxmlformats.org/officeDocument/2006/relationships/notesSlide" Target="/ppt/notesSlides/notesSlide22.xml" Id="R2975dbc1a4d14db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62e26c521604087" /><Relationship Type="http://schemas.openxmlformats.org/officeDocument/2006/relationships/notesSlide" Target="/ppt/notesSlides/notesSlide23.xml" Id="R95d1b808fd794e3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356b3aab56e4aae" /><Relationship Type="http://schemas.openxmlformats.org/officeDocument/2006/relationships/notesSlide" Target="/ppt/notesSlides/notesSlide24.xml" Id="Rbc61484b9db64e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0c0c3d0ab3d492f" /><Relationship Type="http://schemas.openxmlformats.org/officeDocument/2006/relationships/notesSlide" Target="/ppt/notesSlides/notesSlide25.xml" Id="R9afe312a2b564c1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71b9da165fc48f1" /><Relationship Type="http://schemas.openxmlformats.org/officeDocument/2006/relationships/notesSlide" Target="/ppt/notesSlides/notesSlide26.xml" Id="R2d064e1441864d3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be87a576fcc456e" /><Relationship Type="http://schemas.openxmlformats.org/officeDocument/2006/relationships/notesSlide" Target="/ppt/notesSlides/notesSlide27.xml" Id="Rf39554c2dc7843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183de54f42646e9" /><Relationship Type="http://schemas.openxmlformats.org/officeDocument/2006/relationships/notesSlide" Target="/ppt/notesSlides/notesSlide28.xml" Id="R2a9f526d01f1400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6d496237c0641fb" /><Relationship Type="http://schemas.openxmlformats.org/officeDocument/2006/relationships/notesSlide" Target="/ppt/notesSlides/notesSlide29.xml" Id="R4495b655b716493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4c5dd8cf55344d7" /><Relationship Type="http://schemas.openxmlformats.org/officeDocument/2006/relationships/notesSlide" Target="/ppt/notesSlides/notesSlide30.xml" Id="R5fd99ac8d09245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challenge</c:v>
          </c:tx>
          <c:spPr>
            <a:solidFill xmlns:a="http://schemas.openxmlformats.org/drawingml/2006/main">
              <a:srgbClr val="176082"/>
            </a:solidFill>
          </c:spPr>
          <c:cat>
            <c:strRef>
              <c:f>'Chart Data'!$A$2:$A$11</c:f>
              <c:strCache>
                <c:ptCount val="10"/>
                <c:pt idx="0">
                  <c:v>Specific
vocabulary</c:v>
                </c:pt>
                <c:pt idx="1">
                  <c:v>Difficult
words</c:v>
                </c:pt>
                <c:pt idx="2">
                  <c:v>Careful
reading</c:v>
                </c:pt>
                <c:pt idx="3">
                  <c:v>Scan for
detail</c:v>
                </c:pt>
                <c:pt idx="4">
                  <c:v>Supporting
ideas</c:v>
                </c:pt>
                <c:pt idx="5">
                  <c:v>Read for
gist</c:v>
                </c:pt>
                <c:pt idx="6">
                  <c:v>Key ideas</c:v>
                </c:pt>
                <c:pt idx="7">
                  <c:v>Brief
notes</c:v>
                </c:pt>
                <c:pt idx="8">
                  <c:v>Own-word
notes</c:v>
                </c:pt>
                <c:pt idx="9">
                  <c:v>Text
organisation</c:v>
                </c:pt>
              </c:strCache>
            </c:strRef>
          </c:cat>
          <c:val>
            <c:numRef>
              <c:f>'Chart Data'!$B$2:$B$11</c:f>
              <c:numCache>
                <c:formatCode>General</c:formatCode>
                <c:ptCount val="10"/>
                <c:pt idx="0">
                  <c:v>3.48</c:v>
                </c:pt>
                <c:pt idx="1">
                  <c:v>3.43</c:v>
                </c:pt>
                <c:pt idx="2">
                  <c:v>3.08</c:v>
                </c:pt>
                <c:pt idx="3">
                  <c:v>2.9</c:v>
                </c:pt>
                <c:pt idx="4">
                  <c:v>3.14</c:v>
                </c:pt>
                <c:pt idx="5">
                  <c:v>3.05</c:v>
                </c:pt>
                <c:pt idx="6">
                  <c:v>3.06</c:v>
                </c:pt>
                <c:pt idx="7">
                  <c:v>3.29</c:v>
                </c:pt>
                <c:pt idx="8">
                  <c:v>3.39</c:v>
                </c:pt>
                <c:pt idx="9">
                  <c:v>3.12</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33343F"/>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6777"/>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C8C9D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score (1–6)</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26777"/>
                </a:solidFill>
                <a:latin typeface="Arial"/>
                <a:ea typeface="Arial"/>
                <a:cs typeface="Arial"/>
              </a:defRPr>
            </a:pPr>
          </a:p>
        </c:txPr>
        <c:crossAx val="48650112"/>
        <c:crossBetween val="between"/>
        <c:majorUnit val="1"/>
      </c:valAx>
      <c:spPr>
        <a:solidFill xmlns:a="http://schemas.openxmlformats.org/drawingml/2006/main">
          <a:srgbClr val="FAFAFA"/>
        </a:solidFill>
      </c:spPr>
    </c:plotArea>
    <c:plotVisOnly val="1"/>
  </c:chart>
  <c:spPr>
    <a:solidFill xmlns:a="http://schemas.openxmlformats.org/drawingml/2006/main">
      <a:srgbClr val="FAFA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Figure references per 10k words</c:v>
          </c:tx>
          <c:spPr>
            <a:solidFill xmlns:a="http://schemas.openxmlformats.org/drawingml/2006/main">
              <a:srgbClr val="176082"/>
            </a:solidFill>
          </c:spPr>
          <c:dPt>
            <c:idx val="0"/>
            <c:invertIfNegative val="0"/>
            <c:spPr>
              <a:solidFill xmlns:a="http://schemas.openxmlformats.org/drawingml/2006/main">
                <a:srgbClr val="176082"/>
              </a:solidFill>
            </c:spPr>
          </c:dPt>
          <c:dPt>
            <c:idx val="1"/>
            <c:invertIfNegative val="0"/>
            <c:spPr>
              <a:solidFill xmlns:a="http://schemas.openxmlformats.org/drawingml/2006/main">
                <a:srgbClr val="176082"/>
              </a:solidFill>
            </c:spPr>
          </c:dPt>
          <c:dPt>
            <c:idx val="2"/>
            <c:invertIfNegative val="0"/>
            <c:spPr>
              <a:solidFill xmlns:a="http://schemas.openxmlformats.org/drawingml/2006/main">
                <a:srgbClr val="176082"/>
              </a:solidFill>
            </c:spPr>
          </c:dPt>
          <c:dPt>
            <c:idx val="3"/>
            <c:invertIfNegative val="0"/>
            <c:spPr>
              <a:solidFill xmlns:a="http://schemas.openxmlformats.org/drawingml/2006/main">
                <a:srgbClr val="176082"/>
              </a:solidFill>
            </c:spPr>
          </c:dPt>
          <c:dPt>
            <c:idx val="4"/>
            <c:invertIfNegative val="0"/>
            <c:spPr>
              <a:solidFill xmlns:a="http://schemas.openxmlformats.org/drawingml/2006/main">
                <a:srgbClr val="D58C00"/>
              </a:solidFill>
            </c:spPr>
          </c:dPt>
          <c:dPt>
            <c:idx val="5"/>
            <c:invertIfNegative val="0"/>
            <c:spPr>
              <a:solidFill xmlns:a="http://schemas.openxmlformats.org/drawingml/2006/main">
                <a:srgbClr val="D58C00"/>
              </a:solidFill>
            </c:spPr>
          </c:dPt>
          <c:dPt>
            <c:idx val="6"/>
            <c:invertIfNegative val="0"/>
            <c:spPr>
              <a:solidFill xmlns:a="http://schemas.openxmlformats.org/drawingml/2006/main">
                <a:srgbClr val="D58C00"/>
              </a:solidFill>
            </c:spPr>
          </c:dPt>
          <c:dPt>
            <c:idx val="7"/>
            <c:invertIfNegative val="0"/>
            <c:spPr>
              <a:solidFill xmlns:a="http://schemas.openxmlformats.org/drawingml/2006/main">
                <a:srgbClr val="D58C00"/>
              </a:solidFill>
            </c:spPr>
          </c:dPt>
          <c:dPt>
            <c:idx val="8"/>
            <c:invertIfNegative val="0"/>
            <c:spPr>
              <a:solidFill xmlns:a="http://schemas.openxmlformats.org/drawingml/2006/main">
                <a:srgbClr val="D58C00"/>
              </a:solidFill>
            </c:spPr>
          </c:dPt>
          <c:cat>
            <c:strRef>
              <c:f>'Chart Data'!$A$2:$A$10</c:f>
              <c:strCache>
                <c:ptCount val="9"/>
                <c:pt idx="0">
                  <c:v>Sadiku</c:v>
                </c:pt>
                <c:pt idx="1">
                  <c:v>Hambley</c:v>
                </c:pt>
                <c:pt idx="2">
                  <c:v>Sedra</c:v>
                </c:pt>
                <c:pt idx="3">
                  <c:v>Oppenheim</c:v>
                </c:pt>
                <c:pt idx="4">
                  <c:v>Goldstein</c:v>
                </c:pt>
                <c:pt idx="5">
                  <c:v>Blanton</c:v>
                </c:pt>
                <c:pt idx="6">
                  <c:v>Mingst</c:v>
                </c:pt>
                <c:pt idx="7">
                  <c:v>Baylis</c:v>
                </c:pt>
                <c:pt idx="8">
                  <c:v>Dunne</c:v>
                </c:pt>
              </c:strCache>
            </c:strRef>
          </c:cat>
          <c:val>
            <c:numRef>
              <c:f>'Chart Data'!$B$2:$B$10</c:f>
              <c:numCache>
                <c:formatCode>General</c:formatCode>
                <c:ptCount val="9"/>
                <c:pt idx="0">
                  <c:v>158.25</c:v>
                </c:pt>
                <c:pt idx="1">
                  <c:v>66.61</c:v>
                </c:pt>
                <c:pt idx="2">
                  <c:v>66.43</c:v>
                </c:pt>
                <c:pt idx="3">
                  <c:v>47.44</c:v>
                </c:pt>
                <c:pt idx="4">
                  <c:v>5.95</c:v>
                </c:pt>
                <c:pt idx="5">
                  <c:v>3.15</c:v>
                </c:pt>
                <c:pt idx="6">
                  <c:v>1.81</c:v>
                </c:pt>
                <c:pt idx="7">
                  <c:v>1.2</c:v>
                </c:pt>
                <c:pt idx="8">
                  <c:v>0.63</c:v>
                </c:pt>
              </c:numCache>
            </c:numRef>
          </c:val>
        </c:ser>
        <c:dLbls>
          <c:txPr>
            <a:bodyPr xmlns:a="http://schemas.openxmlformats.org/drawingml/2006/main" anchorCtr="1"/>
            <a:lstStyle xmlns:a="http://schemas.openxmlformats.org/drawingml/2006/main"/>
            <a:p xmlns:a="http://schemas.openxmlformats.org/drawingml/2006/main">
              <a:pPr>
                <a:defRPr sz="750" b="1">
                  <a:solidFill>
                    <a:srgbClr val="33343F"/>
                  </a:solidFill>
                  <a:latin typeface="Arial"/>
                  <a:ea typeface="Arial"/>
                  <a:cs typeface="Arial"/>
                </a:defRPr>
              </a:pPr>
            </a:p>
          </c:txPr>
          <c:dLblPos val="outEnd"/>
          <c:showLegendKey val="0"/>
          <c:showVal val="1"/>
          <c:showCatName val="0"/>
          <c:showSerName val="0"/>
          <c:showPercent val="0"/>
          <c:showBubbleSize val="0"/>
          <c:showLeaderLines val="0"/>
        </c:dLbls>
        <c:gapWidth val="28"/>
        <c:axId val="48650112"/>
        <c:axId val="48672768"/>
      </c:barChart>
      <c:catAx>
        <c:axId val="48650112"/>
        <c:scaling>
          <c:orientation val="minMax"/>
        </c:scaling>
        <c:delete val="0"/>
        <c:axPos val="l"/>
        <c:majorGridlines>
          <c:spPr>
            <a:ln xmlns:a="http://schemas.openxmlformats.org/drawingml/2006/main" w="9525">
              <a:solidFill>
                <a:srgbClr val="C8C9D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Figure references per 10,000 words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26777"/>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26777"/>
                </a:solidFill>
                <a:latin typeface="Arial"/>
                <a:ea typeface="Arial"/>
                <a:cs typeface="Arial"/>
              </a:defRPr>
            </a:pPr>
          </a:p>
        </c:txPr>
        <c:crossAx val="48650112"/>
        <c:crossBetween val="between"/>
      </c:valAx>
      <c:spPr>
        <a:solidFill xmlns:a="http://schemas.openxmlformats.org/drawingml/2006/main">
          <a:srgbClr val="FAFAFA"/>
        </a:solidFill>
      </c:spPr>
    </c:plotArea>
    <c:plotVisOnly val="1"/>
  </c:chart>
  <c:spPr>
    <a:solidFill xmlns:a="http://schemas.openxmlformats.org/drawingml/2006/main">
      <a:srgbClr val="FAFA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547910-2E20-45FF-B763-7C844CA4E9EC}"/>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4960F2-70C2-4F66-B6E0-58AB8EE4608D}"/>
              </a:ext>
            </a:extLst>
          </p:cNvPr>
          <p:cNvSpPr>
            <a:spLocks xmlns:a="http://schemas.openxmlformats.org/drawingml/2006/main" noGrp="1"/>
          </p:cNvSpPr>
          <p:nvPr/>
        </p:nvSpPr>
        <p:spPr>
          <a:xfrm xmlns:a="http://schemas.openxmlformats.org/drawingml/2006/main">
            <a:off x="228600" y="0"/>
            <a:ext cx="123825" cy="6858000"/>
          </a:xfrm>
          <a:prstGeom xmlns:a="http://schemas.openxmlformats.org/drawingml/2006/main" prst="rect">
            <a:avLst/>
          </a:prstGeom>
          <a:solidFill xmlns:a="http://schemas.openxmlformats.org/drawingml/2006/main">
            <a:srgbClr val="F0B11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5C80F8-C81C-408B-A8CF-2461F5B09099}"/>
              </a:ext>
            </a:extLst>
          </p:cNvPr>
          <p:cNvSpPr>
            <a:spLocks xmlns:a="http://schemas.openxmlformats.org/drawingml/2006/main" noGrp="1"/>
          </p:cNvSpPr>
          <p:nvPr/>
        </p:nvSpPr>
        <p:spPr>
          <a:xfrm xmlns:a="http://schemas.openxmlformats.org/drawingml/2006/main">
            <a:off x="781050" y="476250"/>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ICLHE SYMPOSIUM 2026 · ORAL PRESENTATION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eddb9c98f714d68"/>
          <a:stretch xmlns:a="http://schemas.openxmlformats.org/drawingml/2006/main"/>
        </p:blipFill>
        <p:spPr>
          <a:xfrm xmlns:a="http://schemas.openxmlformats.org/drawingml/2006/main">
            <a:off x="9335207" y="323850"/>
            <a:ext cx="2189336" cy="1200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E4653ED-FCC3-442D-8426-48F276E5A506}"/>
              </a:ext>
            </a:extLst>
          </p:cNvPr>
          <p:cNvSpPr>
            <a:spLocks xmlns:a="http://schemas.openxmlformats.org/drawingml/2006/main" noGrp="1"/>
          </p:cNvSpPr>
          <p:nvPr/>
        </p:nvSpPr>
        <p:spPr>
          <a:xfrm xmlns:a="http://schemas.openxmlformats.org/drawingml/2006/main">
            <a:off x="781050" y="1352550"/>
            <a:ext cx="1028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150" b="1" i="0">
                <a:solidFill>
                  <a:srgbClr val="33343F"/>
                </a:solidFill>
                <a:latin typeface="Arial"/>
                <a:ea typeface="Arial"/>
                <a:cs typeface="Arial"/>
              </a:defRPr>
            </a:pPr>
            <a:r>
              <a:rPr sz="3150" b="1" i="0">
                <a:solidFill>
                  <a:srgbClr val="33343F"/>
                </a:solidFill>
                <a:latin typeface="Arial"/>
                <a:ea typeface="Arial"/>
                <a:cs typeface="Arial"/>
              </a:rPr>
              <a:t>Pragmatic Considerations for Authors and Publishers on</a:t>
            </a:r>
          </a:p>
          <a:p xmlns:a="http://schemas.openxmlformats.org/drawingml/2006/main">
            <a:pPr algn="l">
              <a:defRPr sz="3150" b="1" i="0">
                <a:solidFill>
                  <a:srgbClr val="33343F"/>
                </a:solidFill>
                <a:latin typeface="Arial"/>
                <a:ea typeface="Arial"/>
                <a:cs typeface="Arial"/>
              </a:defRPr>
            </a:pPr>
            <a:r>
              <a:rPr sz="3150" b="1" i="0">
                <a:solidFill>
                  <a:srgbClr val="33343F"/>
                </a:solidFill>
                <a:latin typeface="Arial"/>
                <a:ea typeface="Arial"/>
                <a:cs typeface="Arial"/>
              </a:rPr>
              <a:t>Modification of Input in Written Academic English</a:t>
            </a:r>
          </a:p>
        </p:txBody>
      </p:sp>
      <p:sp>
        <p:nvSpPr>
          <p:cNvPr id="6" name="">
            <a:extLst xmlns:a="http://schemas.openxmlformats.org/drawingml/2006/main">
              <a:ext uri="{FF2B5EF4-FFF2-40B4-BE49-F238E27FC236}">
                <a16:creationId xmlns:a16="http://schemas.microsoft.com/office/drawing/2014/main" id="{A56A7F3C-268D-4378-AF7B-1369B9F4386F}"/>
              </a:ext>
            </a:extLst>
          </p:cNvPr>
          <p:cNvSpPr>
            <a:spLocks xmlns:a="http://schemas.openxmlformats.org/drawingml/2006/main" noGrp="1"/>
          </p:cNvSpPr>
          <p:nvPr/>
        </p:nvSpPr>
        <p:spPr>
          <a:xfrm xmlns:a="http://schemas.openxmlformats.org/drawingml/2006/main">
            <a:off x="800100" y="3514725"/>
            <a:ext cx="947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626777"/>
                </a:solidFill>
                <a:latin typeface="Arial"/>
                <a:ea typeface="Arial"/>
                <a:cs typeface="Arial"/>
              </a:defRPr>
            </a:pPr>
            <a:r>
              <a:rPr sz="1725" b="0" i="0">
                <a:solidFill>
                  <a:srgbClr val="626777"/>
                </a:solidFill>
                <a:latin typeface="Arial"/>
                <a:ea typeface="Arial"/>
                <a:cs typeface="Arial"/>
              </a:rPr>
              <a:t>MIWAE: an ELF-informed coursebook-fit framework for multilingual EMI readers</a:t>
            </a:r>
          </a:p>
        </p:txBody>
      </p:sp>
      <p:sp>
        <p:nvSpPr>
          <p:cNvPr id="7" name="">
            <a:extLst xmlns:a="http://schemas.openxmlformats.org/drawingml/2006/main">
              <a:ext uri="{FF2B5EF4-FFF2-40B4-BE49-F238E27FC236}">
                <a16:creationId xmlns:a16="http://schemas.microsoft.com/office/drawing/2014/main" id="{88C9540B-143F-4A4F-9506-17E73236CAEA}"/>
              </a:ext>
            </a:extLst>
          </p:cNvPr>
          <p:cNvSpPr>
            <a:spLocks xmlns:a="http://schemas.openxmlformats.org/drawingml/2006/main" noGrp="1"/>
          </p:cNvSpPr>
          <p:nvPr/>
        </p:nvSpPr>
        <p:spPr>
          <a:xfrm xmlns:a="http://schemas.openxmlformats.org/drawingml/2006/main">
            <a:off x="781050" y="4476750"/>
            <a:ext cx="10601325"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8" name="">
            <a:extLst xmlns:a="http://schemas.openxmlformats.org/drawingml/2006/main">
              <a:ext uri="{FF2B5EF4-FFF2-40B4-BE49-F238E27FC236}">
                <a16:creationId xmlns:a16="http://schemas.microsoft.com/office/drawing/2014/main" id="{89C8365F-A074-49E2-A6E4-1D7F120686A1}"/>
              </a:ext>
            </a:extLst>
          </p:cNvPr>
          <p:cNvSpPr>
            <a:spLocks xmlns:a="http://schemas.openxmlformats.org/drawingml/2006/main" noGrp="1"/>
          </p:cNvSpPr>
          <p:nvPr/>
        </p:nvSpPr>
        <p:spPr>
          <a:xfrm xmlns:a="http://schemas.openxmlformats.org/drawingml/2006/main">
            <a:off x="781050" y="47148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74"/>
          </a:bodyPr>
          <a:lstStyle xmlns:a="http://schemas.openxmlformats.org/drawingml/2006/main"/>
          <a:p xmlns:a="http://schemas.openxmlformats.org/drawingml/2006/main">
            <a:pPr algn="l">
              <a:defRPr sz="1425" b="1" i="0">
                <a:solidFill>
                  <a:srgbClr val="33343F"/>
                </a:solidFill>
                <a:latin typeface="Arial"/>
                <a:ea typeface="Arial"/>
                <a:cs typeface="Arial"/>
              </a:defRPr>
            </a:pPr>
            <a:r>
              <a:rPr sz="1425" b="1" i="0">
                <a:solidFill>
                  <a:srgbClr val="33343F"/>
                </a:solidFill>
                <a:latin typeface="Arial"/>
                <a:ea typeface="Arial"/>
                <a:cs typeface="Arial"/>
              </a:rPr>
              <a:t>Mehmet Altay · Kocaeli University</a:t>
            </a:r>
          </a:p>
        </p:txBody>
      </p:sp>
      <p:sp>
        <p:nvSpPr>
          <p:cNvPr id="9" name="">
            <a:extLst xmlns:a="http://schemas.openxmlformats.org/drawingml/2006/main">
              <a:ext uri="{FF2B5EF4-FFF2-40B4-BE49-F238E27FC236}">
                <a16:creationId xmlns:a16="http://schemas.microsoft.com/office/drawing/2014/main" id="{70FE9026-11B6-4419-A6F9-03D8B4289196}"/>
              </a:ext>
            </a:extLst>
          </p:cNvPr>
          <p:cNvSpPr>
            <a:spLocks xmlns:a="http://schemas.openxmlformats.org/drawingml/2006/main" noGrp="1"/>
          </p:cNvSpPr>
          <p:nvPr/>
        </p:nvSpPr>
        <p:spPr>
          <a:xfrm xmlns:a="http://schemas.openxmlformats.org/drawingml/2006/main">
            <a:off x="781050" y="50673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Dogan Yuksel · The Open University / Kocaeli University</a:t>
            </a:r>
          </a:p>
        </p:txBody>
      </p:sp>
      <p:sp>
        <p:nvSpPr>
          <p:cNvPr id="10" name="">
            <a:extLst xmlns:a="http://schemas.openxmlformats.org/drawingml/2006/main">
              <a:ext uri="{FF2B5EF4-FFF2-40B4-BE49-F238E27FC236}">
                <a16:creationId xmlns:a16="http://schemas.microsoft.com/office/drawing/2014/main" id="{4043E78C-3A2B-4455-9D77-E51ED51A3F59}"/>
              </a:ext>
            </a:extLst>
          </p:cNvPr>
          <p:cNvSpPr>
            <a:spLocks xmlns:a="http://schemas.openxmlformats.org/drawingml/2006/main" noGrp="1"/>
          </p:cNvSpPr>
          <p:nvPr/>
        </p:nvSpPr>
        <p:spPr>
          <a:xfrm xmlns:a="http://schemas.openxmlformats.org/drawingml/2006/main">
            <a:off x="781050" y="5781675"/>
            <a:ext cx="2190750" cy="266700"/>
          </a:xfrm>
          <a:prstGeom xmlns:a="http://schemas.openxmlformats.org/drawingml/2006/main" prst="roundRect">
            <a:avLst>
              <a:gd name="adj" fmla="val 28571"/>
            </a:avLst>
          </a:prstGeom>
          <a:solidFill xmlns:a="http://schemas.openxmlformats.org/drawingml/2006/main">
            <a:srgbClr val="1760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C4B2EB-DD3A-411A-915D-498C12D7CCD8}"/>
              </a:ext>
            </a:extLst>
          </p:cNvPr>
          <p:cNvSpPr>
            <a:spLocks xmlns:a="http://schemas.openxmlformats.org/drawingml/2006/main" noGrp="1"/>
          </p:cNvSpPr>
          <p:nvPr/>
        </p:nvSpPr>
        <p:spPr>
          <a:xfrm xmlns:a="http://schemas.openxmlformats.org/drawingml/2006/main">
            <a:off x="857250" y="5810250"/>
            <a:ext cx="2038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STUDENT EVIDENCE</a:t>
            </a:r>
          </a:p>
        </p:txBody>
      </p:sp>
      <p:sp>
        <p:nvSpPr>
          <p:cNvPr id="12" name="">
            <a:extLst xmlns:a="http://schemas.openxmlformats.org/drawingml/2006/main">
              <a:ext uri="{FF2B5EF4-FFF2-40B4-BE49-F238E27FC236}">
                <a16:creationId xmlns:a16="http://schemas.microsoft.com/office/drawing/2014/main" id="{4FD689B4-54CF-4B1C-8AA9-06F8C05884DB}"/>
              </a:ext>
            </a:extLst>
          </p:cNvPr>
          <p:cNvSpPr>
            <a:spLocks xmlns:a="http://schemas.openxmlformats.org/drawingml/2006/main" noGrp="1"/>
          </p:cNvSpPr>
          <p:nvPr/>
        </p:nvSpPr>
        <p:spPr>
          <a:xfrm xmlns:a="http://schemas.openxmlformats.org/drawingml/2006/main">
            <a:off x="3333750" y="5819775"/>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556"/>
          </a:bodyPr>
          <a:lstStyle xmlns:a="http://schemas.openxmlformats.org/drawingml/2006/main"/>
          <a:p xmlns:a="http://schemas.openxmlformats.org/drawingml/2006/main">
            <a:pPr algn="l">
              <a:defRPr sz="1125" b="0" i="0">
                <a:solidFill>
                  <a:srgbClr val="626777"/>
                </a:solidFill>
                <a:latin typeface="Arial"/>
                <a:ea typeface="Arial"/>
                <a:cs typeface="Arial"/>
              </a:defRPr>
            </a:pPr>
            <a:r>
              <a:rPr sz="1125" b="0" i="0">
                <a:solidFill>
                  <a:srgbClr val="626777"/>
                </a:solidFill>
                <a:latin typeface="Arial"/>
                <a:ea typeface="Arial"/>
                <a:cs typeface="Arial"/>
              </a:rPr>
              <a:t>15–16 October 2026 · ZHAW Winterthur</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fd70727387e41eb"/>
          <a:stretch xmlns:a="http://schemas.openxmlformats.org/drawingml/2006/main"/>
        </p:blipFill>
        <p:spPr>
          <a:xfrm xmlns:a="http://schemas.openxmlformats.org/drawingml/2006/main">
            <a:off x="8267700" y="5699643"/>
            <a:ext cx="361950" cy="354563"/>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3160638-3434-401C-87EA-01BA971184D6}"/>
              </a:ext>
            </a:extLst>
          </p:cNvPr>
          <p:cNvSpPr>
            <a:spLocks xmlns:a="http://schemas.openxmlformats.org/drawingml/2006/main" noGrp="1"/>
          </p:cNvSpPr>
          <p:nvPr/>
        </p:nvSpPr>
        <p:spPr>
          <a:xfrm xmlns:a="http://schemas.openxmlformats.org/drawingml/2006/main">
            <a:off x="8724900" y="57531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r">
              <a:defRPr sz="1050" b="1" i="0">
                <a:solidFill>
                  <a:srgbClr val="33343F"/>
                </a:solidFill>
                <a:latin typeface="Arial"/>
                <a:ea typeface="Arial"/>
                <a:cs typeface="Arial"/>
              </a:defRPr>
            </a:pPr>
            <a:r>
              <a:rPr sz="1050" b="1" i="0">
                <a:solidFill>
                  <a:srgbClr val="33343F"/>
                </a:solidFill>
                <a:latin typeface="Arial"/>
                <a:ea typeface="Arial"/>
                <a:cs typeface="Arial"/>
              </a:rPr>
              <a:t>github.com/MehmetDEU/MIWAE</a:t>
            </a:r>
          </a:p>
        </p:txBody>
      </p:sp>
    </p:spTree>
    <p:extLst>
      <p:ext uri="{BB962C8B-B14F-4D97-AF65-F5344CB8AC3E}">
        <p14:creationId xmlns:p14="http://schemas.microsoft.com/office/powerpoint/2010/main" val="1342046831"/>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EC9CBFD-8610-4CD9-8FC3-2D65ADE8E887}"/>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043782-63B9-48F9-A5D8-74C31569282B}"/>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E0DF44A6-E0DA-4481-B953-8C72796B80E6}"/>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EAP and academic ELF: related fields, different starting points</a:t>
            </a:r>
          </a:p>
        </p:txBody>
      </p:sp>
      <p:sp>
        <p:nvSpPr>
          <p:cNvPr id="4" name="">
            <a:extLst xmlns:a="http://schemas.openxmlformats.org/drawingml/2006/main">
              <a:ext uri="{FF2B5EF4-FFF2-40B4-BE49-F238E27FC236}">
                <a16:creationId xmlns:a16="http://schemas.microsoft.com/office/drawing/2014/main" id="{589B9C0E-4693-4174-A3CA-2ED5B6D9700E}"/>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BEB00C4B-8802-44F2-BED0-C65D64025DF7}"/>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80D2BDC4-1C71-4BD4-AD97-00347C7F529C}"/>
              </a:ext>
            </a:extLst>
          </p:cNvPr>
          <p:cNvSpPr>
            <a:spLocks xmlns:a="http://schemas.openxmlformats.org/drawingml/2006/main" noGrp="1"/>
          </p:cNvSpPr>
          <p:nvPr/>
        </p:nvSpPr>
        <p:spPr>
          <a:xfrm xmlns:a="http://schemas.openxmlformats.org/drawingml/2006/main">
            <a:off x="723900" y="1676400"/>
            <a:ext cx="5095875"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AD84287F-9EE7-4FF1-B13F-B6B6554E8C3C}"/>
              </a:ext>
            </a:extLst>
          </p:cNvPr>
          <p:cNvSpPr>
            <a:spLocks xmlns:a="http://schemas.openxmlformats.org/drawingml/2006/main" noGrp="1"/>
          </p:cNvSpPr>
          <p:nvPr/>
        </p:nvSpPr>
        <p:spPr>
          <a:xfrm xmlns:a="http://schemas.openxmlformats.org/drawingml/2006/main">
            <a:off x="6372225" y="1676400"/>
            <a:ext cx="5095875" cy="3333750"/>
          </a:xfrm>
          <a:prstGeom xmlns:a="http://schemas.openxmlformats.org/drawingml/2006/main" prst="roundRect">
            <a:avLst>
              <a:gd name="adj" fmla="val 2286"/>
            </a:avLst>
          </a:prstGeom>
          <a:solidFill xmlns:a="http://schemas.openxmlformats.org/drawingml/2006/main">
            <a:srgbClr val="123B5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9EFC44-7040-4CBB-8279-34DFCC57336C}"/>
              </a:ext>
            </a:extLst>
          </p:cNvPr>
          <p:cNvSpPr>
            <a:spLocks xmlns:a="http://schemas.openxmlformats.org/drawingml/2006/main" noGrp="1"/>
          </p:cNvSpPr>
          <p:nvPr/>
        </p:nvSpPr>
        <p:spPr>
          <a:xfrm xmlns:a="http://schemas.openxmlformats.org/drawingml/2006/main">
            <a:off x="1028700" y="19431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ENGLISH FOR ACADEMIC PURPOSES</a:t>
            </a:r>
          </a:p>
        </p:txBody>
      </p:sp>
      <p:sp>
        <p:nvSpPr>
          <p:cNvPr id="9" name="">
            <a:extLst xmlns:a="http://schemas.openxmlformats.org/drawingml/2006/main">
              <a:ext uri="{FF2B5EF4-FFF2-40B4-BE49-F238E27FC236}">
                <a16:creationId xmlns:a16="http://schemas.microsoft.com/office/drawing/2014/main" id="{A733ACCB-BB75-4F45-92C9-13055C852CD2}"/>
              </a:ext>
            </a:extLst>
          </p:cNvPr>
          <p:cNvSpPr>
            <a:spLocks xmlns:a="http://schemas.openxmlformats.org/drawingml/2006/main" noGrp="1"/>
          </p:cNvSpPr>
          <p:nvPr/>
        </p:nvSpPr>
        <p:spPr>
          <a:xfrm xmlns:a="http://schemas.openxmlformats.org/drawingml/2006/main">
            <a:off x="1028700" y="2381250"/>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74"/>
          </a:bodyPr>
          <a:lstStyle xmlns:a="http://schemas.openxmlformats.org/drawingml/2006/main"/>
          <a:p xmlns:a="http://schemas.openxmlformats.org/drawingml/2006/main">
            <a:pPr algn="l">
              <a:defRPr sz="1950" b="1" i="0">
                <a:solidFill>
                  <a:srgbClr val="33343F"/>
                </a:solidFill>
                <a:latin typeface="Arial"/>
                <a:ea typeface="Arial"/>
                <a:cs typeface="Arial"/>
              </a:defRPr>
            </a:pPr>
            <a:r>
              <a:rPr sz="1950" b="1" i="0">
                <a:solidFill>
                  <a:srgbClr val="33343F"/>
                </a:solidFill>
                <a:latin typeface="Arial"/>
                <a:ea typeface="Arial"/>
                <a:cs typeface="Arial"/>
              </a:rPr>
              <a:t>Academic communicative needs and practices</a:t>
            </a:r>
          </a:p>
        </p:txBody>
      </p:sp>
      <p:sp>
        <p:nvSpPr>
          <p:cNvPr id="10" name="">
            <a:extLst xmlns:a="http://schemas.openxmlformats.org/drawingml/2006/main">
              <a:ext uri="{FF2B5EF4-FFF2-40B4-BE49-F238E27FC236}">
                <a16:creationId xmlns:a16="http://schemas.microsoft.com/office/drawing/2014/main" id="{6AF38D5F-7D30-4BFE-8D48-146911E25DF4}"/>
              </a:ext>
            </a:extLst>
          </p:cNvPr>
          <p:cNvSpPr>
            <a:spLocks xmlns:a="http://schemas.openxmlformats.org/drawingml/2006/main" noGrp="1"/>
          </p:cNvSpPr>
          <p:nvPr/>
        </p:nvSpPr>
        <p:spPr>
          <a:xfrm xmlns:a="http://schemas.openxmlformats.org/drawingml/2006/main">
            <a:off x="1066800" y="3143250"/>
            <a:ext cx="4095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i="0">
                <a:solidFill>
                  <a:srgbClr val="626777"/>
                </a:solidFill>
                <a:latin typeface="Arial"/>
                <a:ea typeface="Arial"/>
                <a:cs typeface="Arial"/>
              </a:defRPr>
            </a:pPr>
            <a:r>
              <a:rPr sz="1500" b="0" i="0">
                <a:solidFill>
                  <a:srgbClr val="626777"/>
                </a:solidFill>
                <a:latin typeface="Arial"/>
                <a:ea typeface="Arial"/>
                <a:cs typeface="Arial"/>
              </a:rPr>
              <a:t>• research and instruction</a:t>
            </a:r>
          </a:p>
          <a:p xmlns:a="http://schemas.openxmlformats.org/drawingml/2006/main">
            <a:pPr algn="l">
              <a:defRPr sz="1500" b="0" i="0">
                <a:solidFill>
                  <a:srgbClr val="626777"/>
                </a:solidFill>
                <a:latin typeface="Arial"/>
                <a:ea typeface="Arial"/>
                <a:cs typeface="Arial"/>
              </a:defRPr>
            </a:pPr>
            <a:r>
              <a:rPr sz="1500" b="0" i="0">
                <a:solidFill>
                  <a:srgbClr val="626777"/>
                </a:solidFill>
                <a:latin typeface="Arial"/>
                <a:ea typeface="Arial"/>
                <a:cs typeface="Arial"/>
              </a:rPr>
              <a:t>• academic texts and literacy</a:t>
            </a:r>
          </a:p>
          <a:p xmlns:a="http://schemas.openxmlformats.org/drawingml/2006/main">
            <a:pPr algn="l">
              <a:defRPr sz="1500" b="0" i="0">
                <a:solidFill>
                  <a:srgbClr val="626777"/>
                </a:solidFill>
                <a:latin typeface="Arial"/>
                <a:ea typeface="Arial"/>
                <a:cs typeface="Arial"/>
              </a:defRPr>
            </a:pPr>
            <a:r>
              <a:rPr sz="1500" b="0" i="0">
                <a:solidFill>
                  <a:srgbClr val="626777"/>
                </a:solidFill>
                <a:latin typeface="Arial"/>
                <a:ea typeface="Arial"/>
                <a:cs typeface="Arial"/>
              </a:rPr>
              <a:t>• identifiable learner needs</a:t>
            </a:r>
          </a:p>
        </p:txBody>
      </p:sp>
      <p:sp>
        <p:nvSpPr>
          <p:cNvPr id="11" name="">
            <a:extLst xmlns:a="http://schemas.openxmlformats.org/drawingml/2006/main">
              <a:ext uri="{FF2B5EF4-FFF2-40B4-BE49-F238E27FC236}">
                <a16:creationId xmlns:a16="http://schemas.microsoft.com/office/drawing/2014/main" id="{7A143555-DA40-4FC3-9765-79D0C6050E69}"/>
              </a:ext>
            </a:extLst>
          </p:cNvPr>
          <p:cNvSpPr>
            <a:spLocks xmlns:a="http://schemas.openxmlformats.org/drawingml/2006/main" noGrp="1"/>
          </p:cNvSpPr>
          <p:nvPr/>
        </p:nvSpPr>
        <p:spPr>
          <a:xfrm xmlns:a="http://schemas.openxmlformats.org/drawingml/2006/main">
            <a:off x="1028700" y="4305300"/>
            <a:ext cx="433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176082"/>
                </a:solidFill>
                <a:latin typeface="Arial"/>
                <a:ea typeface="Arial"/>
                <a:cs typeface="Arial"/>
              </a:defRPr>
            </a:pPr>
            <a:r>
              <a:rPr sz="1275" b="1" i="0">
                <a:solidFill>
                  <a:srgbClr val="176082"/>
                </a:solidFill>
                <a:latin typeface="Arial"/>
                <a:ea typeface="Arial"/>
                <a:cs typeface="Arial"/>
              </a:rPr>
              <a:t>Historical tendency: native-speaker usage often supplied the reference norm.</a:t>
            </a:r>
          </a:p>
        </p:txBody>
      </p:sp>
      <p:sp>
        <p:nvSpPr>
          <p:cNvPr id="12" name="">
            <a:extLst xmlns:a="http://schemas.openxmlformats.org/drawingml/2006/main">
              <a:ext uri="{FF2B5EF4-FFF2-40B4-BE49-F238E27FC236}">
                <a16:creationId xmlns:a16="http://schemas.microsoft.com/office/drawing/2014/main" id="{85B56CE6-4638-4F69-A3D5-39EF3F6EAF53}"/>
              </a:ext>
            </a:extLst>
          </p:cNvPr>
          <p:cNvSpPr>
            <a:spLocks xmlns:a="http://schemas.openxmlformats.org/drawingml/2006/main" noGrp="1"/>
          </p:cNvSpPr>
          <p:nvPr/>
        </p:nvSpPr>
        <p:spPr>
          <a:xfrm xmlns:a="http://schemas.openxmlformats.org/drawingml/2006/main">
            <a:off x="6677025" y="1943100"/>
            <a:ext cx="433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ACADEMIC ENGLISH AS A LINGUA FRANCA</a:t>
            </a:r>
          </a:p>
        </p:txBody>
      </p:sp>
      <p:sp>
        <p:nvSpPr>
          <p:cNvPr id="13" name="">
            <a:extLst xmlns:a="http://schemas.openxmlformats.org/drawingml/2006/main">
              <a:ext uri="{FF2B5EF4-FFF2-40B4-BE49-F238E27FC236}">
                <a16:creationId xmlns:a16="http://schemas.microsoft.com/office/drawing/2014/main" id="{36B33D80-FB8E-4B01-B3CE-A84506479848}"/>
              </a:ext>
            </a:extLst>
          </p:cNvPr>
          <p:cNvSpPr>
            <a:spLocks xmlns:a="http://schemas.openxmlformats.org/drawingml/2006/main" noGrp="1"/>
          </p:cNvSpPr>
          <p:nvPr/>
        </p:nvSpPr>
        <p:spPr>
          <a:xfrm xmlns:a="http://schemas.openxmlformats.org/drawingml/2006/main">
            <a:off x="6677025" y="2381250"/>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371"/>
          </a:bodyPr>
          <a:lstStyle xmlns:a="http://schemas.openxmlformats.org/drawingml/2006/main"/>
          <a:p xmlns:a="http://schemas.openxmlformats.org/drawingml/2006/main">
            <a:pPr algn="l">
              <a:defRPr sz="1950" b="1" i="0">
                <a:solidFill>
                  <a:srgbClr val="FFFFFF"/>
                </a:solidFill>
                <a:latin typeface="Arial"/>
                <a:ea typeface="Arial"/>
                <a:cs typeface="Arial"/>
              </a:defRPr>
            </a:pPr>
            <a:r>
              <a:rPr sz="1950" b="1" i="0">
                <a:solidFill>
                  <a:srgbClr val="FFFFFF"/>
                </a:solidFill>
                <a:latin typeface="Arial"/>
                <a:ea typeface="Arial"/>
                <a:cs typeface="Arial"/>
              </a:rPr>
              <a:t>English as a shared academic medium</a:t>
            </a:r>
          </a:p>
        </p:txBody>
      </p:sp>
      <p:sp>
        <p:nvSpPr>
          <p:cNvPr id="14" name="">
            <a:extLst xmlns:a="http://schemas.openxmlformats.org/drawingml/2006/main">
              <a:ext uri="{FF2B5EF4-FFF2-40B4-BE49-F238E27FC236}">
                <a16:creationId xmlns:a16="http://schemas.microsoft.com/office/drawing/2014/main" id="{E412DA19-D0C5-4670-AA38-9EB56692BBDB}"/>
              </a:ext>
            </a:extLst>
          </p:cNvPr>
          <p:cNvSpPr>
            <a:spLocks xmlns:a="http://schemas.openxmlformats.org/drawingml/2006/main" noGrp="1"/>
          </p:cNvSpPr>
          <p:nvPr/>
        </p:nvSpPr>
        <p:spPr>
          <a:xfrm xmlns:a="http://schemas.openxmlformats.org/drawingml/2006/main">
            <a:off x="6715125" y="3143250"/>
            <a:ext cx="4095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i="0">
                <a:solidFill>
                  <a:srgbClr val="FFFFFF"/>
                </a:solidFill>
                <a:latin typeface="Arial"/>
                <a:ea typeface="Arial"/>
                <a:cs typeface="Arial"/>
              </a:defRPr>
            </a:pPr>
            <a:r>
              <a:rPr sz="1500" b="0" i="0">
                <a:solidFill>
                  <a:srgbClr val="FFFFFF"/>
                </a:solidFill>
                <a:latin typeface="Arial"/>
                <a:ea typeface="Arial"/>
                <a:cs typeface="Arial"/>
              </a:rPr>
              <a:t>• multilingual international settings</a:t>
            </a:r>
          </a:p>
          <a:p xmlns:a="http://schemas.openxmlformats.org/drawingml/2006/main">
            <a:pPr algn="l">
              <a:defRPr sz="1500" b="0" i="0">
                <a:solidFill>
                  <a:srgbClr val="FFFFFF"/>
                </a:solidFill>
                <a:latin typeface="Arial"/>
                <a:ea typeface="Arial"/>
                <a:cs typeface="Arial"/>
              </a:defRPr>
            </a:pPr>
            <a:r>
              <a:rPr sz="1500" b="0" i="0">
                <a:solidFill>
                  <a:srgbClr val="FFFFFF"/>
                </a:solidFill>
                <a:latin typeface="Arial"/>
                <a:ea typeface="Arial"/>
                <a:cs typeface="Arial"/>
              </a:rPr>
              <a:t>• communicative effectiveness</a:t>
            </a:r>
          </a:p>
          <a:p xmlns:a="http://schemas.openxmlformats.org/drawingml/2006/main">
            <a:pPr algn="l">
              <a:defRPr sz="1500" b="0" i="0">
                <a:solidFill>
                  <a:srgbClr val="FFFFFF"/>
                </a:solidFill>
                <a:latin typeface="Arial"/>
                <a:ea typeface="Arial"/>
                <a:cs typeface="Arial"/>
              </a:defRPr>
            </a:pPr>
            <a:r>
              <a:rPr sz="1500" b="0" i="0">
                <a:solidFill>
                  <a:srgbClr val="FFFFFF"/>
                </a:solidFill>
                <a:latin typeface="Arial"/>
                <a:ea typeface="Arial"/>
                <a:cs typeface="Arial"/>
              </a:rPr>
              <a:t>• norms emerging through use</a:t>
            </a:r>
          </a:p>
        </p:txBody>
      </p:sp>
      <p:sp>
        <p:nvSpPr>
          <p:cNvPr id="15" name="">
            <a:extLst xmlns:a="http://schemas.openxmlformats.org/drawingml/2006/main">
              <a:ext uri="{FF2B5EF4-FFF2-40B4-BE49-F238E27FC236}">
                <a16:creationId xmlns:a16="http://schemas.microsoft.com/office/drawing/2014/main" id="{60D8FFA0-F7C5-4DD0-841D-3D1B83A56F42}"/>
              </a:ext>
            </a:extLst>
          </p:cNvPr>
          <p:cNvSpPr>
            <a:spLocks xmlns:a="http://schemas.openxmlformats.org/drawingml/2006/main" noGrp="1"/>
          </p:cNvSpPr>
          <p:nvPr/>
        </p:nvSpPr>
        <p:spPr>
          <a:xfrm xmlns:a="http://schemas.openxmlformats.org/drawingml/2006/main">
            <a:off x="6677025" y="4305300"/>
            <a:ext cx="433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FFD45A"/>
                </a:solidFill>
                <a:latin typeface="Arial"/>
                <a:ea typeface="Arial"/>
                <a:cs typeface="Arial"/>
              </a:defRPr>
            </a:pPr>
            <a:r>
              <a:rPr sz="1275" b="1" i="0">
                <a:solidFill>
                  <a:srgbClr val="FFD45A"/>
                </a:solidFill>
                <a:latin typeface="Arial"/>
                <a:ea typeface="Arial"/>
                <a:cs typeface="Arial"/>
              </a:rPr>
              <a:t>Why it emerged: native likeness alone cannot explain successful global academic communication.</a:t>
            </a:r>
          </a:p>
        </p:txBody>
      </p:sp>
      <p:sp>
        <p:nvSpPr>
          <p:cNvPr id="16" name="">
            <a:extLst xmlns:a="http://schemas.openxmlformats.org/drawingml/2006/main">
              <a:ext uri="{FF2B5EF4-FFF2-40B4-BE49-F238E27FC236}">
                <a16:creationId xmlns:a16="http://schemas.microsoft.com/office/drawing/2014/main" id="{423BC399-FED2-4747-997D-A3F336FC2B96}"/>
              </a:ext>
            </a:extLst>
          </p:cNvPr>
          <p:cNvSpPr>
            <a:spLocks xmlns:a="http://schemas.openxmlformats.org/drawingml/2006/main" noGrp="1"/>
          </p:cNvSpPr>
          <p:nvPr/>
        </p:nvSpPr>
        <p:spPr>
          <a:xfrm xmlns:a="http://schemas.openxmlformats.org/drawingml/2006/main">
            <a:off x="1352550" y="5305425"/>
            <a:ext cx="9477375" cy="552450"/>
          </a:xfrm>
          <a:prstGeom xmlns:a="http://schemas.openxmlformats.org/drawingml/2006/main" prst="roundRect">
            <a:avLst>
              <a:gd name="adj" fmla="val 13793"/>
            </a:avLst>
          </a:prstGeom>
          <a:solidFill xmlns:a="http://schemas.openxmlformats.org/drawingml/2006/main">
            <a:srgbClr val="E6F0F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386A76B-4F71-4BDD-8518-20B36FC60E95}"/>
              </a:ext>
            </a:extLst>
          </p:cNvPr>
          <p:cNvSpPr>
            <a:spLocks xmlns:a="http://schemas.openxmlformats.org/drawingml/2006/main" noGrp="1"/>
          </p:cNvSpPr>
          <p:nvPr/>
        </p:nvSpPr>
        <p:spPr>
          <a:xfrm xmlns:a="http://schemas.openxmlformats.org/drawingml/2006/main">
            <a:off x="1638300" y="5429250"/>
            <a:ext cx="890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512"/>
          </a:bodyPr>
          <a:lstStyle xmlns:a="http://schemas.openxmlformats.org/drawingml/2006/main"/>
          <a:p xmlns:a="http://schemas.openxmlformats.org/drawingml/2006/main">
            <a:pPr algn="ctr">
              <a:defRPr sz="1500" b="1" i="0">
                <a:solidFill>
                  <a:srgbClr val="176082"/>
                </a:solidFill>
                <a:latin typeface="Arial"/>
                <a:ea typeface="Arial"/>
                <a:cs typeface="Arial"/>
              </a:defRPr>
            </a:pPr>
            <a:r>
              <a:rPr sz="1500" b="1" i="0">
                <a:solidFill>
                  <a:srgbClr val="176082"/>
                </a:solidFill>
                <a:latin typeface="Arial"/>
                <a:ea typeface="Arial"/>
                <a:cs typeface="Arial"/>
              </a:rPr>
              <a:t>MIWAE connects EAP's attention to academic texts with ELF's attention to communication among multilingual users.</a:t>
            </a:r>
          </a:p>
        </p:txBody>
      </p:sp>
      <p:sp>
        <p:nvSpPr>
          <p:cNvPr id="18" name="">
            <a:extLst xmlns:a="http://schemas.openxmlformats.org/drawingml/2006/main">
              <a:ext uri="{FF2B5EF4-FFF2-40B4-BE49-F238E27FC236}">
                <a16:creationId xmlns:a16="http://schemas.microsoft.com/office/drawing/2014/main" id="{D5A15DD3-4CF5-47C0-B326-5BF9338D0777}"/>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Hyland &amp; Shaw, 2016, pp. 1–2; Seidlhofer, 2011, p. 7; Mauranen, Hynninen &amp; Ranta, 2016, pp. 44–45</a:t>
            </a:r>
          </a:p>
        </p:txBody>
      </p:sp>
      <p:sp>
        <p:nvSpPr>
          <p:cNvPr id="19" name="">
            <a:extLst xmlns:a="http://schemas.openxmlformats.org/drawingml/2006/main">
              <a:ext uri="{FF2B5EF4-FFF2-40B4-BE49-F238E27FC236}">
                <a16:creationId xmlns:a16="http://schemas.microsoft.com/office/drawing/2014/main" id="{ED9BF7E3-DB4D-4E77-8451-44AD4C4979E4}"/>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0" name="">
            <a:extLst xmlns:a="http://schemas.openxmlformats.org/drawingml/2006/main">
              <a:ext uri="{FF2B5EF4-FFF2-40B4-BE49-F238E27FC236}">
                <a16:creationId xmlns:a16="http://schemas.microsoft.com/office/drawing/2014/main" id="{4EED7C04-3426-4D57-806E-AFB36D478596}"/>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51558066"/>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02E22BA-B016-483A-A115-34A13C5001AE}"/>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CB2A1C-41DB-4D41-9BC9-7A4F429BDC8C}"/>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5834698F-310F-4958-B04D-2863888ED97A}"/>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Writing and speech were starting tendencies—not boundaries</a:t>
            </a:r>
          </a:p>
        </p:txBody>
      </p:sp>
      <p:sp>
        <p:nvSpPr>
          <p:cNvPr id="4" name="">
            <a:extLst xmlns:a="http://schemas.openxmlformats.org/drawingml/2006/main">
              <a:ext uri="{FF2B5EF4-FFF2-40B4-BE49-F238E27FC236}">
                <a16:creationId xmlns:a16="http://schemas.microsoft.com/office/drawing/2014/main" id="{38BBAB10-8BC8-4EC9-8173-E7569021B55E}"/>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4941B3F0-36C7-48CD-A293-209DF40CC0ED}"/>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633900ED-B13F-4DA8-B5BA-EEE561F17037}"/>
              </a:ext>
            </a:extLst>
          </p:cNvPr>
          <p:cNvSpPr>
            <a:spLocks xmlns:a="http://schemas.openxmlformats.org/drawingml/2006/main" noGrp="1"/>
          </p:cNvSpPr>
          <p:nvPr/>
        </p:nvSpPr>
        <p:spPr>
          <a:xfrm xmlns:a="http://schemas.openxmlformats.org/drawingml/2006/main">
            <a:off x="762000" y="1743075"/>
            <a:ext cx="49053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6FC91F26-C446-4722-99B7-9C5C8B6F3623}"/>
              </a:ext>
            </a:extLst>
          </p:cNvPr>
          <p:cNvSpPr>
            <a:spLocks xmlns:a="http://schemas.openxmlformats.org/drawingml/2006/main" noGrp="1"/>
          </p:cNvSpPr>
          <p:nvPr/>
        </p:nvSpPr>
        <p:spPr>
          <a:xfrm xmlns:a="http://schemas.openxmlformats.org/drawingml/2006/main">
            <a:off x="1066800" y="2009775"/>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EAP'S STRONG TRADITION</a:t>
            </a:r>
          </a:p>
        </p:txBody>
      </p:sp>
      <p:sp>
        <p:nvSpPr>
          <p:cNvPr id="8" name="">
            <a:extLst xmlns:a="http://schemas.openxmlformats.org/drawingml/2006/main">
              <a:ext uri="{FF2B5EF4-FFF2-40B4-BE49-F238E27FC236}">
                <a16:creationId xmlns:a16="http://schemas.microsoft.com/office/drawing/2014/main" id="{6FB1B4F5-05EC-458C-BD91-6D3F7367C5B0}"/>
              </a:ext>
            </a:extLst>
          </p:cNvPr>
          <p:cNvSpPr>
            <a:spLocks xmlns:a="http://schemas.openxmlformats.org/drawingml/2006/main" noGrp="1"/>
          </p:cNvSpPr>
          <p:nvPr/>
        </p:nvSpPr>
        <p:spPr>
          <a:xfrm xmlns:a="http://schemas.openxmlformats.org/drawingml/2006/main">
            <a:off x="1066800" y="24574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103"/>
          </a:bodyPr>
          <a:lstStyle xmlns:a="http://schemas.openxmlformats.org/drawingml/2006/main"/>
          <a:p xmlns:a="http://schemas.openxmlformats.org/drawingml/2006/main">
            <a:pPr algn="l">
              <a:defRPr sz="2175" b="1" i="0">
                <a:solidFill>
                  <a:srgbClr val="33343F"/>
                </a:solidFill>
                <a:latin typeface="Arial"/>
                <a:ea typeface="Arial"/>
                <a:cs typeface="Arial"/>
              </a:defRPr>
            </a:pPr>
            <a:r>
              <a:rPr sz="2175" b="1" i="0">
                <a:solidFill>
                  <a:srgbClr val="33343F"/>
                </a:solidFill>
                <a:latin typeface="Arial"/>
                <a:ea typeface="Arial"/>
                <a:cs typeface="Arial"/>
              </a:rPr>
              <a:t>WRITTEN LANGUAGE</a:t>
            </a:r>
          </a:p>
        </p:txBody>
      </p:sp>
      <p:sp>
        <p:nvSpPr>
          <p:cNvPr id="9" name="">
            <a:extLst xmlns:a="http://schemas.openxmlformats.org/drawingml/2006/main">
              <a:ext uri="{FF2B5EF4-FFF2-40B4-BE49-F238E27FC236}">
                <a16:creationId xmlns:a16="http://schemas.microsoft.com/office/drawing/2014/main" id="{62EACF1D-1373-48B0-873A-6ADFD13334F7}"/>
              </a:ext>
            </a:extLst>
          </p:cNvPr>
          <p:cNvSpPr>
            <a:spLocks xmlns:a="http://schemas.openxmlformats.org/drawingml/2006/main" noGrp="1"/>
          </p:cNvSpPr>
          <p:nvPr/>
        </p:nvSpPr>
        <p:spPr>
          <a:xfrm xmlns:a="http://schemas.openxmlformats.org/drawingml/2006/main">
            <a:off x="1066800" y="29908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626777"/>
                </a:solidFill>
                <a:latin typeface="Arial"/>
                <a:ea typeface="Arial"/>
                <a:cs typeface="Arial"/>
              </a:defRPr>
            </a:pPr>
            <a:r>
              <a:rPr sz="1425" b="0" i="0">
                <a:solidFill>
                  <a:srgbClr val="626777"/>
                </a:solidFill>
                <a:latin typeface="Arial"/>
                <a:ea typeface="Arial"/>
                <a:cs typeface="Arial"/>
              </a:rPr>
              <a:t>Reading · writing · academic text</a:t>
            </a:r>
          </a:p>
        </p:txBody>
      </p:sp>
      <p:sp>
        <p:nvSpPr>
          <p:cNvPr id="10" name="">
            <a:extLst xmlns:a="http://schemas.openxmlformats.org/drawingml/2006/main">
              <a:ext uri="{FF2B5EF4-FFF2-40B4-BE49-F238E27FC236}">
                <a16:creationId xmlns:a16="http://schemas.microsoft.com/office/drawing/2014/main" id="{F9F351C4-B750-4564-8617-8311A5364863}"/>
              </a:ext>
            </a:extLst>
          </p:cNvPr>
          <p:cNvSpPr>
            <a:spLocks xmlns:a="http://schemas.openxmlformats.org/drawingml/2006/main" noGrp="1"/>
          </p:cNvSpPr>
          <p:nvPr/>
        </p:nvSpPr>
        <p:spPr>
          <a:xfrm xmlns:a="http://schemas.openxmlformats.org/drawingml/2006/main">
            <a:off x="6524625" y="1743075"/>
            <a:ext cx="4905375" cy="2000250"/>
          </a:xfrm>
          <a:prstGeom xmlns:a="http://schemas.openxmlformats.org/drawingml/2006/main" prst="roundRect">
            <a:avLst>
              <a:gd name="adj" fmla="val 3810"/>
            </a:avLst>
          </a:prstGeom>
          <a:solidFill xmlns:a="http://schemas.openxmlformats.org/drawingml/2006/main">
            <a:srgbClr val="123B5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408C06-3A34-485A-B723-D4335EBD0876}"/>
              </a:ext>
            </a:extLst>
          </p:cNvPr>
          <p:cNvSpPr>
            <a:spLocks xmlns:a="http://schemas.openxmlformats.org/drawingml/2006/main" noGrp="1"/>
          </p:cNvSpPr>
          <p:nvPr/>
        </p:nvSpPr>
        <p:spPr>
          <a:xfrm xmlns:a="http://schemas.openxmlformats.org/drawingml/2006/main">
            <a:off x="6829425" y="200977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ACADEMIC ELF'S STARTING POINT</a:t>
            </a:r>
          </a:p>
        </p:txBody>
      </p:sp>
      <p:sp>
        <p:nvSpPr>
          <p:cNvPr id="12" name="">
            <a:extLst xmlns:a="http://schemas.openxmlformats.org/drawingml/2006/main">
              <a:ext uri="{FF2B5EF4-FFF2-40B4-BE49-F238E27FC236}">
                <a16:creationId xmlns:a16="http://schemas.microsoft.com/office/drawing/2014/main" id="{E0E73CAD-B92C-46EC-94DA-34B204A862F9}"/>
              </a:ext>
            </a:extLst>
          </p:cNvPr>
          <p:cNvSpPr>
            <a:spLocks xmlns:a="http://schemas.openxmlformats.org/drawingml/2006/main" noGrp="1"/>
          </p:cNvSpPr>
          <p:nvPr/>
        </p:nvSpPr>
        <p:spPr>
          <a:xfrm xmlns:a="http://schemas.openxmlformats.org/drawingml/2006/main">
            <a:off x="6829425" y="24574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103"/>
          </a:bodyPr>
          <a:lstStyle xmlns:a="http://schemas.openxmlformats.org/drawingml/2006/main"/>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SPOKEN DISCOURSE</a:t>
            </a:r>
          </a:p>
        </p:txBody>
      </p:sp>
      <p:sp>
        <p:nvSpPr>
          <p:cNvPr id="13" name="">
            <a:extLst xmlns:a="http://schemas.openxmlformats.org/drawingml/2006/main">
              <a:ext uri="{FF2B5EF4-FFF2-40B4-BE49-F238E27FC236}">
                <a16:creationId xmlns:a16="http://schemas.microsoft.com/office/drawing/2014/main" id="{371F68DB-4190-4A4B-9CA5-1EFEF131E2B3}"/>
              </a:ext>
            </a:extLst>
          </p:cNvPr>
          <p:cNvSpPr>
            <a:spLocks xmlns:a="http://schemas.openxmlformats.org/drawingml/2006/main" noGrp="1"/>
          </p:cNvSpPr>
          <p:nvPr/>
        </p:nvSpPr>
        <p:spPr>
          <a:xfrm xmlns:a="http://schemas.openxmlformats.org/drawingml/2006/main">
            <a:off x="6829425" y="29908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892"/>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Interaction · accommodation · communicative success</a:t>
            </a:r>
          </a:p>
        </p:txBody>
      </p:sp>
      <p:sp>
        <p:nvSpPr>
          <p:cNvPr id="14" name="">
            <a:extLst xmlns:a="http://schemas.openxmlformats.org/drawingml/2006/main">
              <a:ext uri="{FF2B5EF4-FFF2-40B4-BE49-F238E27FC236}">
                <a16:creationId xmlns:a16="http://schemas.microsoft.com/office/drawing/2014/main" id="{3D0302D5-474E-4CFD-8694-DC053767FAB9}"/>
              </a:ext>
            </a:extLst>
          </p:cNvPr>
          <p:cNvSpPr>
            <a:spLocks xmlns:a="http://schemas.openxmlformats.org/drawingml/2006/main" noGrp="1"/>
          </p:cNvSpPr>
          <p:nvPr/>
        </p:nvSpPr>
        <p:spPr>
          <a:xfrm xmlns:a="http://schemas.openxmlformats.org/drawingml/2006/main">
            <a:off x="5667375" y="2724150"/>
            <a:ext cx="857250" cy="0"/>
          </a:xfrm>
          <a:prstGeom xmlns:a="http://schemas.openxmlformats.org/drawingml/2006/main" prst="line">
            <a:avLst/>
          </a:prstGeom>
          <a:noFill xmlns:a="http://schemas.openxmlformats.org/drawingml/2006/main"/>
          <a:ln xmlns:a="http://schemas.openxmlformats.org/drawingml/2006/main" w="38100">
            <a:solidFill>
              <a:srgbClr val="D58C00"/>
            </a:solidFill>
          </a:ln>
        </p:spPr>
      </p:sp>
      <p:sp>
        <p:nvSpPr>
          <p:cNvPr id="15" name="">
            <a:extLst xmlns:a="http://schemas.openxmlformats.org/drawingml/2006/main">
              <a:ext uri="{FF2B5EF4-FFF2-40B4-BE49-F238E27FC236}">
                <a16:creationId xmlns:a16="http://schemas.microsoft.com/office/drawing/2014/main" id="{38C94657-4192-4336-A4E9-FC8E7A5C9E07}"/>
              </a:ext>
            </a:extLst>
          </p:cNvPr>
          <p:cNvSpPr>
            <a:spLocks xmlns:a="http://schemas.openxmlformats.org/drawingml/2006/main" noGrp="1"/>
          </p:cNvSpPr>
          <p:nvPr/>
        </p:nvSpPr>
        <p:spPr>
          <a:xfrm xmlns:a="http://schemas.openxmlformats.org/drawingml/2006/main">
            <a:off x="1095375" y="4114800"/>
            <a:ext cx="10001250" cy="1238250"/>
          </a:xfrm>
          <a:prstGeom xmlns:a="http://schemas.openxmlformats.org/drawingml/2006/main" prst="roundRect">
            <a:avLst>
              <a:gd name="adj" fmla="val 6154"/>
            </a:avLst>
          </a:prstGeom>
          <a:solidFill xmlns:a="http://schemas.openxmlformats.org/drawingml/2006/main">
            <a:srgbClr val="E6F0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EB471D6-5FD5-49F4-826D-FBD010A152C3}"/>
              </a:ext>
            </a:extLst>
          </p:cNvPr>
          <p:cNvSpPr>
            <a:spLocks xmlns:a="http://schemas.openxmlformats.org/drawingml/2006/main" noGrp="1"/>
          </p:cNvSpPr>
          <p:nvPr/>
        </p:nvSpPr>
        <p:spPr>
          <a:xfrm xmlns:a="http://schemas.openxmlformats.org/drawingml/2006/main">
            <a:off x="1476375" y="4314825"/>
            <a:ext cx="923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309"/>
          </a:bodyPr>
          <a:lstStyle xmlns:a="http://schemas.openxmlformats.org/drawingml/2006/main"/>
          <a:p xmlns:a="http://schemas.openxmlformats.org/drawingml/2006/main">
            <a:pPr algn="ctr">
              <a:defRPr sz="2025" b="1" i="0">
                <a:solidFill>
                  <a:srgbClr val="176082"/>
                </a:solidFill>
                <a:latin typeface="Arial"/>
                <a:ea typeface="Arial"/>
                <a:cs typeface="Arial"/>
              </a:defRPr>
            </a:pPr>
            <a:r>
              <a:rPr sz="2025" b="1" i="0">
                <a:solidFill>
                  <a:srgbClr val="176082"/>
                </a:solidFill>
                <a:latin typeface="Arial"/>
                <a:ea typeface="Arial"/>
                <a:cs typeface="Arial"/>
              </a:rPr>
              <a:t>ELF also operates through writing</a:t>
            </a:r>
          </a:p>
        </p:txBody>
      </p:sp>
      <p:sp>
        <p:nvSpPr>
          <p:cNvPr id="17" name="">
            <a:extLst xmlns:a="http://schemas.openxmlformats.org/drawingml/2006/main">
              <a:ext uri="{FF2B5EF4-FFF2-40B4-BE49-F238E27FC236}">
                <a16:creationId xmlns:a16="http://schemas.microsoft.com/office/drawing/2014/main" id="{FFBD235D-C676-4527-811D-F89D037B66C6}"/>
              </a:ext>
            </a:extLst>
          </p:cNvPr>
          <p:cNvSpPr>
            <a:spLocks xmlns:a="http://schemas.openxmlformats.org/drawingml/2006/main" noGrp="1"/>
          </p:cNvSpPr>
          <p:nvPr/>
        </p:nvSpPr>
        <p:spPr>
          <a:xfrm xmlns:a="http://schemas.openxmlformats.org/drawingml/2006/main">
            <a:off x="1571625" y="47434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ctr">
              <a:defRPr sz="1350" b="1" i="0">
                <a:solidFill>
                  <a:srgbClr val="33343F"/>
                </a:solidFill>
                <a:latin typeface="Arial"/>
                <a:ea typeface="Arial"/>
                <a:cs typeface="Arial"/>
              </a:defRPr>
            </a:pPr>
            <a:r>
              <a:rPr sz="1350" b="1" i="0">
                <a:solidFill>
                  <a:srgbClr val="33343F"/>
                </a:solidFill>
                <a:latin typeface="Arial"/>
                <a:ea typeface="Arial"/>
                <a:cs typeface="Arial"/>
              </a:rPr>
              <a:t>WrELFA made written academic ELF observable, yet only a handful of studies had addressed it; Mauranen et al. called the territory almost entirely uncharted.</a:t>
            </a:r>
          </a:p>
        </p:txBody>
      </p:sp>
      <p:sp>
        <p:nvSpPr>
          <p:cNvPr id="18" name="">
            <a:extLst xmlns:a="http://schemas.openxmlformats.org/drawingml/2006/main">
              <a:ext uri="{FF2B5EF4-FFF2-40B4-BE49-F238E27FC236}">
                <a16:creationId xmlns:a16="http://schemas.microsoft.com/office/drawing/2014/main" id="{58BD3FE3-083E-48A0-ADAE-7D6D92A23115}"/>
              </a:ext>
            </a:extLst>
          </p:cNvPr>
          <p:cNvSpPr>
            <a:spLocks xmlns:a="http://schemas.openxmlformats.org/drawingml/2006/main" noGrp="1"/>
          </p:cNvSpPr>
          <p:nvPr/>
        </p:nvSpPr>
        <p:spPr>
          <a:xfrm xmlns:a="http://schemas.openxmlformats.org/drawingml/2006/main">
            <a:off x="4810125" y="5610225"/>
            <a:ext cx="2571750" cy="266700"/>
          </a:xfrm>
          <a:prstGeom xmlns:a="http://schemas.openxmlformats.org/drawingml/2006/main" prst="roundRect">
            <a:avLst>
              <a:gd name="adj" fmla="val 28571"/>
            </a:avLst>
          </a:prstGeom>
          <a:solidFill xmlns:a="http://schemas.openxmlformats.org/drawingml/2006/main">
            <a:srgbClr val="D58C0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A9E3959-2019-4520-904A-94207AF79C07}"/>
              </a:ext>
            </a:extLst>
          </p:cNvPr>
          <p:cNvSpPr>
            <a:spLocks xmlns:a="http://schemas.openxmlformats.org/drawingml/2006/main" noGrp="1"/>
          </p:cNvSpPr>
          <p:nvPr/>
        </p:nvSpPr>
        <p:spPr>
          <a:xfrm xmlns:a="http://schemas.openxmlformats.org/drawingml/2006/main">
            <a:off x="4886325" y="5638800"/>
            <a:ext cx="2419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RESEARCH IMBALANCE</a:t>
            </a:r>
          </a:p>
        </p:txBody>
      </p:sp>
      <p:sp>
        <p:nvSpPr>
          <p:cNvPr id="20" name="">
            <a:extLst xmlns:a="http://schemas.openxmlformats.org/drawingml/2006/main">
              <a:ext uri="{FF2B5EF4-FFF2-40B4-BE49-F238E27FC236}">
                <a16:creationId xmlns:a16="http://schemas.microsoft.com/office/drawing/2014/main" id="{B5EF18C5-97AD-4649-A324-6F49DA835C7B}"/>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Mauranen, Hynninen &amp; Ranta, 2016, pp. 44–45, 48–49, 52–53; Björkman, 2013, pp. 1–2</a:t>
            </a:r>
          </a:p>
        </p:txBody>
      </p:sp>
      <p:sp>
        <p:nvSpPr>
          <p:cNvPr id="21" name="">
            <a:extLst xmlns:a="http://schemas.openxmlformats.org/drawingml/2006/main">
              <a:ext uri="{FF2B5EF4-FFF2-40B4-BE49-F238E27FC236}">
                <a16:creationId xmlns:a16="http://schemas.microsoft.com/office/drawing/2014/main" id="{97DDEA1C-9D33-4BB8-9865-229406D0BA9E}"/>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2" name="">
            <a:extLst xmlns:a="http://schemas.openxmlformats.org/drawingml/2006/main">
              <a:ext uri="{FF2B5EF4-FFF2-40B4-BE49-F238E27FC236}">
                <a16:creationId xmlns:a16="http://schemas.microsoft.com/office/drawing/2014/main" id="{D637403D-76A7-41C5-8804-C492195A7CD7}"/>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95158418"/>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2E1C9E3-7444-405C-8D95-F9229473D49D}"/>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04545A-6D46-4076-9DE6-1F65D50DB6B5}"/>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2E4BB003-0B5A-4BDA-A301-CCF4F9CF7F94}"/>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EMI textbooks make written academic communication central</a:t>
            </a:r>
          </a:p>
        </p:txBody>
      </p:sp>
      <p:sp>
        <p:nvSpPr>
          <p:cNvPr id="4" name="">
            <a:extLst xmlns:a="http://schemas.openxmlformats.org/drawingml/2006/main">
              <a:ext uri="{FF2B5EF4-FFF2-40B4-BE49-F238E27FC236}">
                <a16:creationId xmlns:a16="http://schemas.microsoft.com/office/drawing/2014/main" id="{7AA1123D-73BE-4746-BD15-372CFEE5050D}"/>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53A90709-F41B-4FC5-8384-910D2B90292F}"/>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557FBF30-CED6-4352-B2AE-2A4A878A64D0}"/>
              </a:ext>
            </a:extLst>
          </p:cNvPr>
          <p:cNvSpPr>
            <a:spLocks xmlns:a="http://schemas.openxmlformats.org/drawingml/2006/main" noGrp="1"/>
          </p:cNvSpPr>
          <p:nvPr/>
        </p:nvSpPr>
        <p:spPr>
          <a:xfrm xmlns:a="http://schemas.openxmlformats.org/drawingml/2006/main">
            <a:off x="400050" y="1809750"/>
            <a:ext cx="2476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523F9CA3-7AE7-445A-9FD2-0A993C4D186C}"/>
              </a:ext>
            </a:extLst>
          </p:cNvPr>
          <p:cNvSpPr>
            <a:spLocks xmlns:a="http://schemas.openxmlformats.org/drawingml/2006/main" noGrp="1"/>
          </p:cNvSpPr>
          <p:nvPr/>
        </p:nvSpPr>
        <p:spPr>
          <a:xfrm xmlns:a="http://schemas.openxmlformats.org/drawingml/2006/main">
            <a:off x="571500" y="2009775"/>
            <a:ext cx="2133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619"/>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AUTHORS · EDITORS · PUBLISHERS</a:t>
            </a:r>
          </a:p>
        </p:txBody>
      </p:sp>
      <p:sp>
        <p:nvSpPr>
          <p:cNvPr id="8" name="">
            <a:extLst xmlns:a="http://schemas.openxmlformats.org/drawingml/2006/main">
              <a:ext uri="{FF2B5EF4-FFF2-40B4-BE49-F238E27FC236}">
                <a16:creationId xmlns:a16="http://schemas.microsoft.com/office/drawing/2014/main" id="{C9C3649B-ED64-47C4-9B2D-4F8E4B8ED894}"/>
              </a:ext>
            </a:extLst>
          </p:cNvPr>
          <p:cNvSpPr>
            <a:spLocks xmlns:a="http://schemas.openxmlformats.org/drawingml/2006/main" noGrp="1"/>
          </p:cNvSpPr>
          <p:nvPr/>
        </p:nvSpPr>
        <p:spPr>
          <a:xfrm xmlns:a="http://schemas.openxmlformats.org/drawingml/2006/main">
            <a:off x="590550" y="24574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lgn="ctr">
              <a:defRPr sz="1350" b="1" i="0">
                <a:solidFill>
                  <a:srgbClr val="33343F"/>
                </a:solidFill>
                <a:latin typeface="Arial"/>
                <a:ea typeface="Arial"/>
                <a:cs typeface="Arial"/>
              </a:defRPr>
            </a:pPr>
            <a:r>
              <a:rPr sz="1350" b="1" i="0">
                <a:solidFill>
                  <a:srgbClr val="33343F"/>
                </a:solidFill>
                <a:latin typeface="Arial"/>
                <a:ea typeface="Arial"/>
                <a:cs typeface="Arial"/>
              </a:rPr>
              <a:t>select wording, relations and design</a:t>
            </a:r>
          </a:p>
        </p:txBody>
      </p:sp>
      <p:sp>
        <p:nvSpPr>
          <p:cNvPr id="9" name="">
            <a:extLst xmlns:a="http://schemas.openxmlformats.org/drawingml/2006/main">
              <a:ext uri="{FF2B5EF4-FFF2-40B4-BE49-F238E27FC236}">
                <a16:creationId xmlns:a16="http://schemas.microsoft.com/office/drawing/2014/main" id="{6262A74E-E58D-4830-A4C7-4E9E1EE4DA55}"/>
              </a:ext>
            </a:extLst>
          </p:cNvPr>
          <p:cNvSpPr>
            <a:spLocks xmlns:a="http://schemas.openxmlformats.org/drawingml/2006/main" noGrp="1"/>
          </p:cNvSpPr>
          <p:nvPr/>
        </p:nvSpPr>
        <p:spPr>
          <a:xfrm xmlns:a="http://schemas.openxmlformats.org/drawingml/2006/main">
            <a:off x="2876550" y="2505075"/>
            <a:ext cx="381000"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10" name="">
            <a:extLst xmlns:a="http://schemas.openxmlformats.org/drawingml/2006/main">
              <a:ext uri="{FF2B5EF4-FFF2-40B4-BE49-F238E27FC236}">
                <a16:creationId xmlns:a16="http://schemas.microsoft.com/office/drawing/2014/main" id="{3EA00DCB-CD30-4851-AA92-FC4C5829C7BA}"/>
              </a:ext>
            </a:extLst>
          </p:cNvPr>
          <p:cNvSpPr>
            <a:spLocks xmlns:a="http://schemas.openxmlformats.org/drawingml/2006/main" noGrp="1"/>
          </p:cNvSpPr>
          <p:nvPr/>
        </p:nvSpPr>
        <p:spPr>
          <a:xfrm xmlns:a="http://schemas.openxmlformats.org/drawingml/2006/main">
            <a:off x="3305175" y="1809750"/>
            <a:ext cx="2476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573DDBEE-53F3-42A5-8AE5-B4536AE1CD2C}"/>
              </a:ext>
            </a:extLst>
          </p:cNvPr>
          <p:cNvSpPr>
            <a:spLocks xmlns:a="http://schemas.openxmlformats.org/drawingml/2006/main" noGrp="1"/>
          </p:cNvSpPr>
          <p:nvPr/>
        </p:nvSpPr>
        <p:spPr>
          <a:xfrm xmlns:a="http://schemas.openxmlformats.org/drawingml/2006/main">
            <a:off x="3476625" y="2009775"/>
            <a:ext cx="2133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EMI TEXTBOOK</a:t>
            </a:r>
          </a:p>
        </p:txBody>
      </p:sp>
      <p:sp>
        <p:nvSpPr>
          <p:cNvPr id="12" name="">
            <a:extLst xmlns:a="http://schemas.openxmlformats.org/drawingml/2006/main">
              <a:ext uri="{FF2B5EF4-FFF2-40B4-BE49-F238E27FC236}">
                <a16:creationId xmlns:a16="http://schemas.microsoft.com/office/drawing/2014/main" id="{285F4070-2230-484D-903E-54669D7D2349}"/>
              </a:ext>
            </a:extLst>
          </p:cNvPr>
          <p:cNvSpPr>
            <a:spLocks xmlns:a="http://schemas.openxmlformats.org/drawingml/2006/main" noGrp="1"/>
          </p:cNvSpPr>
          <p:nvPr/>
        </p:nvSpPr>
        <p:spPr>
          <a:xfrm xmlns:a="http://schemas.openxmlformats.org/drawingml/2006/main">
            <a:off x="3495675" y="24574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lgn="ctr">
              <a:defRPr sz="1350" b="1" i="0">
                <a:solidFill>
                  <a:srgbClr val="33343F"/>
                </a:solidFill>
                <a:latin typeface="Arial"/>
                <a:ea typeface="Arial"/>
                <a:cs typeface="Arial"/>
              </a:defRPr>
            </a:pPr>
            <a:r>
              <a:rPr sz="1350" b="1" i="0">
                <a:solidFill>
                  <a:srgbClr val="33343F"/>
                </a:solidFill>
                <a:latin typeface="Arial"/>
                <a:ea typeface="Arial"/>
                <a:cs typeface="Arial"/>
              </a:rPr>
              <a:t>stages disciplinary explanations</a:t>
            </a:r>
          </a:p>
        </p:txBody>
      </p:sp>
      <p:sp>
        <p:nvSpPr>
          <p:cNvPr id="13" name="">
            <a:extLst xmlns:a="http://schemas.openxmlformats.org/drawingml/2006/main">
              <a:ext uri="{FF2B5EF4-FFF2-40B4-BE49-F238E27FC236}">
                <a16:creationId xmlns:a16="http://schemas.microsoft.com/office/drawing/2014/main" id="{2E0B6998-4013-455F-986F-C1129A707B8B}"/>
              </a:ext>
            </a:extLst>
          </p:cNvPr>
          <p:cNvSpPr>
            <a:spLocks xmlns:a="http://schemas.openxmlformats.org/drawingml/2006/main" noGrp="1"/>
          </p:cNvSpPr>
          <p:nvPr/>
        </p:nvSpPr>
        <p:spPr>
          <a:xfrm xmlns:a="http://schemas.openxmlformats.org/drawingml/2006/main">
            <a:off x="5781675" y="2505075"/>
            <a:ext cx="381000"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14" name="">
            <a:extLst xmlns:a="http://schemas.openxmlformats.org/drawingml/2006/main">
              <a:ext uri="{FF2B5EF4-FFF2-40B4-BE49-F238E27FC236}">
                <a16:creationId xmlns:a16="http://schemas.microsoft.com/office/drawing/2014/main" id="{C305F3EA-DC0E-4240-AE1B-71D4A800326A}"/>
              </a:ext>
            </a:extLst>
          </p:cNvPr>
          <p:cNvSpPr>
            <a:spLocks xmlns:a="http://schemas.openxmlformats.org/drawingml/2006/main" noGrp="1"/>
          </p:cNvSpPr>
          <p:nvPr/>
        </p:nvSpPr>
        <p:spPr>
          <a:xfrm xmlns:a="http://schemas.openxmlformats.org/drawingml/2006/main">
            <a:off x="6210300" y="1809750"/>
            <a:ext cx="24765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009ED1EE-907F-4A2C-BB89-4979B0EF2B61}"/>
              </a:ext>
            </a:extLst>
          </p:cNvPr>
          <p:cNvSpPr>
            <a:spLocks xmlns:a="http://schemas.openxmlformats.org/drawingml/2006/main" noGrp="1"/>
          </p:cNvSpPr>
          <p:nvPr/>
        </p:nvSpPr>
        <p:spPr>
          <a:xfrm xmlns:a="http://schemas.openxmlformats.org/drawingml/2006/main">
            <a:off x="6381750" y="2009775"/>
            <a:ext cx="2133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MULTILINGUAL READERS</a:t>
            </a:r>
          </a:p>
        </p:txBody>
      </p:sp>
      <p:sp>
        <p:nvSpPr>
          <p:cNvPr id="16" name="">
            <a:extLst xmlns:a="http://schemas.openxmlformats.org/drawingml/2006/main">
              <a:ext uri="{FF2B5EF4-FFF2-40B4-BE49-F238E27FC236}">
                <a16:creationId xmlns:a16="http://schemas.microsoft.com/office/drawing/2014/main" id="{FA982900-27FE-424E-8C77-73913D2CE64A}"/>
              </a:ext>
            </a:extLst>
          </p:cNvPr>
          <p:cNvSpPr>
            <a:spLocks xmlns:a="http://schemas.openxmlformats.org/drawingml/2006/main" noGrp="1"/>
          </p:cNvSpPr>
          <p:nvPr/>
        </p:nvSpPr>
        <p:spPr>
          <a:xfrm xmlns:a="http://schemas.openxmlformats.org/drawingml/2006/main">
            <a:off x="6400800" y="24574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lgn="ctr">
              <a:defRPr sz="1350" b="1" i="0">
                <a:solidFill>
                  <a:srgbClr val="33343F"/>
                </a:solidFill>
                <a:latin typeface="Arial"/>
                <a:ea typeface="Arial"/>
                <a:cs typeface="Arial"/>
              </a:defRPr>
            </a:pPr>
            <a:r>
              <a:rPr sz="1350" b="1" i="0">
                <a:solidFill>
                  <a:srgbClr val="33343F"/>
                </a:solidFill>
                <a:latin typeface="Arial"/>
                <a:ea typeface="Arial"/>
                <a:cs typeface="Arial"/>
              </a:rPr>
              <a:t>interpret through diverse repertoires</a:t>
            </a:r>
          </a:p>
        </p:txBody>
      </p:sp>
      <p:sp>
        <p:nvSpPr>
          <p:cNvPr id="17" name="">
            <a:extLst xmlns:a="http://schemas.openxmlformats.org/drawingml/2006/main">
              <a:ext uri="{FF2B5EF4-FFF2-40B4-BE49-F238E27FC236}">
                <a16:creationId xmlns:a16="http://schemas.microsoft.com/office/drawing/2014/main" id="{1E07A9A2-FF43-4F1A-99A8-054A1EEB08F5}"/>
              </a:ext>
            </a:extLst>
          </p:cNvPr>
          <p:cNvSpPr>
            <a:spLocks xmlns:a="http://schemas.openxmlformats.org/drawingml/2006/main" noGrp="1"/>
          </p:cNvSpPr>
          <p:nvPr/>
        </p:nvSpPr>
        <p:spPr>
          <a:xfrm xmlns:a="http://schemas.openxmlformats.org/drawingml/2006/main">
            <a:off x="8686800" y="2505075"/>
            <a:ext cx="381000"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18" name="">
            <a:extLst xmlns:a="http://schemas.openxmlformats.org/drawingml/2006/main">
              <a:ext uri="{FF2B5EF4-FFF2-40B4-BE49-F238E27FC236}">
                <a16:creationId xmlns:a16="http://schemas.microsoft.com/office/drawing/2014/main" id="{E3673F21-8861-4D39-92E5-3FDFF1ACE2DA}"/>
              </a:ext>
            </a:extLst>
          </p:cNvPr>
          <p:cNvSpPr>
            <a:spLocks xmlns:a="http://schemas.openxmlformats.org/drawingml/2006/main" noGrp="1"/>
          </p:cNvSpPr>
          <p:nvPr/>
        </p:nvSpPr>
        <p:spPr>
          <a:xfrm xmlns:a="http://schemas.openxmlformats.org/drawingml/2006/main">
            <a:off x="9115425" y="1809750"/>
            <a:ext cx="2476500" cy="1390650"/>
          </a:xfrm>
          <a:prstGeom xmlns:a="http://schemas.openxmlformats.org/drawingml/2006/main" prst="roundRect">
            <a:avLst>
              <a:gd name="adj" fmla="val 5479"/>
            </a:avLst>
          </a:prstGeom>
          <a:solidFill xmlns:a="http://schemas.openxmlformats.org/drawingml/2006/main">
            <a:srgbClr val="123B53"/>
          </a:solidFill>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822D6EC1-5DDF-4718-9A8E-482D6525F658}"/>
              </a:ext>
            </a:extLst>
          </p:cNvPr>
          <p:cNvSpPr>
            <a:spLocks xmlns:a="http://schemas.openxmlformats.org/drawingml/2006/main" noGrp="1"/>
          </p:cNvSpPr>
          <p:nvPr/>
        </p:nvSpPr>
        <p:spPr>
          <a:xfrm xmlns:a="http://schemas.openxmlformats.org/drawingml/2006/main">
            <a:off x="9286875" y="2009775"/>
            <a:ext cx="2133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CONTENT KNOWLEDGE</a:t>
            </a:r>
          </a:p>
        </p:txBody>
      </p:sp>
      <p:sp>
        <p:nvSpPr>
          <p:cNvPr id="20" name="">
            <a:extLst xmlns:a="http://schemas.openxmlformats.org/drawingml/2006/main">
              <a:ext uri="{FF2B5EF4-FFF2-40B4-BE49-F238E27FC236}">
                <a16:creationId xmlns:a16="http://schemas.microsoft.com/office/drawing/2014/main" id="{194FDC26-A932-4300-B32C-69DE3D66F9E0}"/>
              </a:ext>
            </a:extLst>
          </p:cNvPr>
          <p:cNvSpPr>
            <a:spLocks xmlns:a="http://schemas.openxmlformats.org/drawingml/2006/main" noGrp="1"/>
          </p:cNvSpPr>
          <p:nvPr/>
        </p:nvSpPr>
        <p:spPr>
          <a:xfrm xmlns:a="http://schemas.openxmlformats.org/drawingml/2006/main">
            <a:off x="9305925" y="24574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is accessed and reconstructed</a:t>
            </a:r>
          </a:p>
        </p:txBody>
      </p:sp>
      <p:sp>
        <p:nvSpPr>
          <p:cNvPr id="21" name="">
            <a:extLst xmlns:a="http://schemas.openxmlformats.org/drawingml/2006/main">
              <a:ext uri="{FF2B5EF4-FFF2-40B4-BE49-F238E27FC236}">
                <a16:creationId xmlns:a16="http://schemas.microsoft.com/office/drawing/2014/main" id="{8157D872-E755-4BCF-8CD3-3EF282BF9B7E}"/>
              </a:ext>
            </a:extLst>
          </p:cNvPr>
          <p:cNvSpPr>
            <a:spLocks xmlns:a="http://schemas.openxmlformats.org/drawingml/2006/main" noGrp="1"/>
          </p:cNvSpPr>
          <p:nvPr/>
        </p:nvSpPr>
        <p:spPr>
          <a:xfrm xmlns:a="http://schemas.openxmlformats.org/drawingml/2006/main">
            <a:off x="704850" y="3714750"/>
            <a:ext cx="5048250" cy="1657350"/>
          </a:xfrm>
          <a:prstGeom xmlns:a="http://schemas.openxmlformats.org/drawingml/2006/main" prst="roundRect">
            <a:avLst>
              <a:gd name="adj" fmla="val 4598"/>
            </a:avLst>
          </a:prstGeom>
          <a:solidFill xmlns:a="http://schemas.openxmlformats.org/drawingml/2006/main">
            <a:srgbClr val="E6F0F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BFD5240-1E3B-4899-90E0-B0321DCBF698}"/>
              </a:ext>
            </a:extLst>
          </p:cNvPr>
          <p:cNvSpPr>
            <a:spLocks xmlns:a="http://schemas.openxmlformats.org/drawingml/2006/main" noGrp="1"/>
          </p:cNvSpPr>
          <p:nvPr/>
        </p:nvSpPr>
        <p:spPr>
          <a:xfrm xmlns:a="http://schemas.openxmlformats.org/drawingml/2006/main">
            <a:off x="1000125" y="395287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EVIDENCE FROM EMI SETTINGS</a:t>
            </a:r>
          </a:p>
        </p:txBody>
      </p:sp>
      <p:sp>
        <p:nvSpPr>
          <p:cNvPr id="23" name="">
            <a:extLst xmlns:a="http://schemas.openxmlformats.org/drawingml/2006/main">
              <a:ext uri="{FF2B5EF4-FFF2-40B4-BE49-F238E27FC236}">
                <a16:creationId xmlns:a16="http://schemas.microsoft.com/office/drawing/2014/main" id="{04AF865B-15BB-488B-BC31-DDD5E38AD21C}"/>
              </a:ext>
            </a:extLst>
          </p:cNvPr>
          <p:cNvSpPr>
            <a:spLocks xmlns:a="http://schemas.openxmlformats.org/drawingml/2006/main" noGrp="1"/>
          </p:cNvSpPr>
          <p:nvPr/>
        </p:nvSpPr>
        <p:spPr>
          <a:xfrm xmlns:a="http://schemas.openxmlformats.org/drawingml/2006/main">
            <a:off x="1000125" y="439102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33343F"/>
                </a:solidFill>
                <a:latin typeface="Arial"/>
                <a:ea typeface="Arial"/>
                <a:cs typeface="Arial"/>
              </a:defRPr>
            </a:pPr>
            <a:r>
              <a:rPr sz="1425" b="1" i="0">
                <a:solidFill>
                  <a:srgbClr val="33343F"/>
                </a:solidFill>
                <a:latin typeface="Arial"/>
                <a:ea typeface="Arial"/>
                <a:cs typeface="Arial"/>
              </a:rPr>
              <a:t>Imported English textbooks can be central course resources; one Chinese EMI study calls them the ‘cornerstone’ of the courses examined.</a:t>
            </a:r>
          </a:p>
        </p:txBody>
      </p:sp>
      <p:sp>
        <p:nvSpPr>
          <p:cNvPr id="24" name="">
            <a:extLst xmlns:a="http://schemas.openxmlformats.org/drawingml/2006/main">
              <a:ext uri="{FF2B5EF4-FFF2-40B4-BE49-F238E27FC236}">
                <a16:creationId xmlns:a16="http://schemas.microsoft.com/office/drawing/2014/main" id="{CD2E336D-6C79-410B-9FFC-A204EF80C92D}"/>
              </a:ext>
            </a:extLst>
          </p:cNvPr>
          <p:cNvSpPr>
            <a:spLocks xmlns:a="http://schemas.openxmlformats.org/drawingml/2006/main" noGrp="1"/>
          </p:cNvSpPr>
          <p:nvPr/>
        </p:nvSpPr>
        <p:spPr>
          <a:xfrm xmlns:a="http://schemas.openxmlformats.org/drawingml/2006/main">
            <a:off x="6438900" y="3714750"/>
            <a:ext cx="5048250" cy="1657350"/>
          </a:xfrm>
          <a:prstGeom xmlns:a="http://schemas.openxmlformats.org/drawingml/2006/main" prst="roundRect">
            <a:avLst>
              <a:gd name="adj" fmla="val 4598"/>
            </a:avLst>
          </a:prstGeom>
          <a:solidFill xmlns:a="http://schemas.openxmlformats.org/drawingml/2006/main">
            <a:srgbClr val="FFF4D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8E3B7F5-70FF-4043-9A5A-B4D345CD4200}"/>
              </a:ext>
            </a:extLst>
          </p:cNvPr>
          <p:cNvSpPr>
            <a:spLocks xmlns:a="http://schemas.openxmlformats.org/drawingml/2006/main" noGrp="1"/>
          </p:cNvSpPr>
          <p:nvPr/>
        </p:nvSpPr>
        <p:spPr>
          <a:xfrm xmlns:a="http://schemas.openxmlformats.org/drawingml/2006/main">
            <a:off x="6734175" y="395287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THE UNRESOLVED QUESTION</a:t>
            </a:r>
          </a:p>
        </p:txBody>
      </p:sp>
      <p:sp>
        <p:nvSpPr>
          <p:cNvPr id="26" name="">
            <a:extLst xmlns:a="http://schemas.openxmlformats.org/drawingml/2006/main">
              <a:ext uri="{FF2B5EF4-FFF2-40B4-BE49-F238E27FC236}">
                <a16:creationId xmlns:a16="http://schemas.microsoft.com/office/drawing/2014/main" id="{EE243553-1C61-4C88-A91A-315EFE8F6418}"/>
              </a:ext>
            </a:extLst>
          </p:cNvPr>
          <p:cNvSpPr>
            <a:spLocks xmlns:a="http://schemas.openxmlformats.org/drawingml/2006/main" noGrp="1"/>
          </p:cNvSpPr>
          <p:nvPr/>
        </p:nvSpPr>
        <p:spPr>
          <a:xfrm xmlns:a="http://schemas.openxmlformats.org/drawingml/2006/main">
            <a:off x="6734175" y="439102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476"/>
          </a:bodyPr>
          <a:lstStyle xmlns:a="http://schemas.openxmlformats.org/drawingml/2006/main"/>
          <a:p xmlns:a="http://schemas.openxmlformats.org/drawingml/2006/main">
            <a:pPr algn="l">
              <a:defRPr sz="1575" b="1" i="0">
                <a:solidFill>
                  <a:srgbClr val="33343F"/>
                </a:solidFill>
                <a:latin typeface="Arial"/>
                <a:ea typeface="Arial"/>
                <a:cs typeface="Arial"/>
              </a:defRPr>
            </a:pPr>
            <a:r>
              <a:rPr sz="1575" b="1" i="0">
                <a:solidFill>
                  <a:srgbClr val="33343F"/>
                </a:solidFill>
                <a:latin typeface="Arial"/>
                <a:ea typeface="Arial"/>
                <a:cs typeface="Arial"/>
              </a:rPr>
              <a:t>Do production teams calibrate language and design for readers whose first language is usually not English?</a:t>
            </a:r>
          </a:p>
        </p:txBody>
      </p:sp>
      <p:sp>
        <p:nvSpPr>
          <p:cNvPr id="27" name="">
            <a:extLst xmlns:a="http://schemas.openxmlformats.org/drawingml/2006/main">
              <a:ext uri="{FF2B5EF4-FFF2-40B4-BE49-F238E27FC236}">
                <a16:creationId xmlns:a16="http://schemas.microsoft.com/office/drawing/2014/main" id="{65A7024D-02D4-4E39-B1AF-8552877AE606}"/>
              </a:ext>
            </a:extLst>
          </p:cNvPr>
          <p:cNvSpPr>
            <a:spLocks xmlns:a="http://schemas.openxmlformats.org/drawingml/2006/main" noGrp="1"/>
          </p:cNvSpPr>
          <p:nvPr/>
        </p:nvSpPr>
        <p:spPr>
          <a:xfrm xmlns:a="http://schemas.openxmlformats.org/drawingml/2006/main">
            <a:off x="1524000" y="5676900"/>
            <a:ext cx="914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25"/>
          </a:bodyPr>
          <a:lstStyle xmlns:a="http://schemas.openxmlformats.org/drawingml/2006/main"/>
          <a:p xmlns:a="http://schemas.openxmlformats.org/drawingml/2006/main">
            <a:pPr algn="ctr">
              <a:defRPr sz="1575" b="1" i="0">
                <a:solidFill>
                  <a:srgbClr val="176082"/>
                </a:solidFill>
                <a:latin typeface="Arial"/>
                <a:ea typeface="Arial"/>
                <a:cs typeface="Arial"/>
              </a:defRPr>
            </a:pPr>
            <a:r>
              <a:rPr sz="1575" b="1" i="0">
                <a:solidFill>
                  <a:srgbClr val="176082"/>
                </a:solidFill>
                <a:latin typeface="Arial"/>
                <a:ea typeface="Arial"/>
                <a:cs typeface="Arial"/>
              </a:rPr>
              <a:t>A textbook is therefore both a knowledge resource and a written communicative interface.</a:t>
            </a:r>
          </a:p>
        </p:txBody>
      </p:sp>
      <p:sp>
        <p:nvSpPr>
          <p:cNvPr id="28" name="">
            <a:extLst xmlns:a="http://schemas.openxmlformats.org/drawingml/2006/main">
              <a:ext uri="{FF2B5EF4-FFF2-40B4-BE49-F238E27FC236}">
                <a16:creationId xmlns:a16="http://schemas.microsoft.com/office/drawing/2014/main" id="{4D712B9E-95B1-4B40-9094-7E2AEA82455A}"/>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Fang &amp; Xie in Jenkins &amp; Mauranen, 2019, pp. 127, 132–133, 143; Mauranen et al., 2016, pp. 52–53</a:t>
            </a:r>
          </a:p>
        </p:txBody>
      </p:sp>
      <p:sp>
        <p:nvSpPr>
          <p:cNvPr id="29" name="">
            <a:extLst xmlns:a="http://schemas.openxmlformats.org/drawingml/2006/main">
              <a:ext uri="{FF2B5EF4-FFF2-40B4-BE49-F238E27FC236}">
                <a16:creationId xmlns:a16="http://schemas.microsoft.com/office/drawing/2014/main" id="{FD033373-CC10-40D3-B5D2-F646AD45658F}"/>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0" name="">
            <a:extLst xmlns:a="http://schemas.openxmlformats.org/drawingml/2006/main">
              <a:ext uri="{FF2B5EF4-FFF2-40B4-BE49-F238E27FC236}">
                <a16:creationId xmlns:a16="http://schemas.microsoft.com/office/drawing/2014/main" id="{B2EDB7A1-48E7-4245-B769-8F77AAE8FEDB}"/>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56455187"/>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AF697C5-BF7A-4AB3-BF30-DA362EFB5EC7}"/>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0CB38F-D439-446E-982E-9FF59E54DD55}"/>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A54CBEE4-2550-4AB1-BCDA-0EFA86B3714A}"/>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Can textbook prose be treated as input?</a:t>
            </a:r>
          </a:p>
        </p:txBody>
      </p:sp>
      <p:sp>
        <p:nvSpPr>
          <p:cNvPr id="4" name="">
            <a:extLst xmlns:a="http://schemas.openxmlformats.org/drawingml/2006/main">
              <a:ext uri="{FF2B5EF4-FFF2-40B4-BE49-F238E27FC236}">
                <a16:creationId xmlns:a16="http://schemas.microsoft.com/office/drawing/2014/main" id="{E5CCA781-36A5-42B1-BBE7-77A3E7B126F9}"/>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18C47CB3-025C-48E5-A033-405C198D6434}"/>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C5E2B006-6F62-4C1E-9967-836F8B37BE00}"/>
              </a:ext>
            </a:extLst>
          </p:cNvPr>
          <p:cNvSpPr>
            <a:spLocks xmlns:a="http://schemas.openxmlformats.org/drawingml/2006/main" noGrp="1"/>
          </p:cNvSpPr>
          <p:nvPr/>
        </p:nvSpPr>
        <p:spPr>
          <a:xfrm xmlns:a="http://schemas.openxmlformats.org/drawingml/2006/main">
            <a:off x="762000" y="1724025"/>
            <a:ext cx="50482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7634D23B-8DEB-477A-A14C-64B6AC4FB25F}"/>
              </a:ext>
            </a:extLst>
          </p:cNvPr>
          <p:cNvSpPr>
            <a:spLocks xmlns:a="http://schemas.openxmlformats.org/drawingml/2006/main" noGrp="1"/>
          </p:cNvSpPr>
          <p:nvPr/>
        </p:nvSpPr>
        <p:spPr>
          <a:xfrm xmlns:a="http://schemas.openxmlformats.org/drawingml/2006/main">
            <a:off x="1066800" y="2000250"/>
            <a:ext cx="352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ESTABLISHED IN L2 READING</a:t>
            </a:r>
          </a:p>
        </p:txBody>
      </p:sp>
      <p:sp>
        <p:nvSpPr>
          <p:cNvPr id="8" name="">
            <a:extLst xmlns:a="http://schemas.openxmlformats.org/drawingml/2006/main">
              <a:ext uri="{FF2B5EF4-FFF2-40B4-BE49-F238E27FC236}">
                <a16:creationId xmlns:a16="http://schemas.microsoft.com/office/drawing/2014/main" id="{1D716116-F9E0-4995-A0DF-97B7D9FC8C0B}"/>
              </a:ext>
            </a:extLst>
          </p:cNvPr>
          <p:cNvSpPr>
            <a:spLocks xmlns:a="http://schemas.openxmlformats.org/drawingml/2006/main" noGrp="1"/>
          </p:cNvSpPr>
          <p:nvPr/>
        </p:nvSpPr>
        <p:spPr>
          <a:xfrm xmlns:a="http://schemas.openxmlformats.org/drawingml/2006/main">
            <a:off x="1066800" y="245745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86"/>
          </a:bodyPr>
          <a:lstStyle xmlns:a="http://schemas.openxmlformats.org/drawingml/2006/main"/>
          <a:p xmlns:a="http://schemas.openxmlformats.org/drawingml/2006/main">
            <a:pPr algn="l">
              <a:defRPr sz="1875" b="1" i="0">
                <a:solidFill>
                  <a:srgbClr val="33343F"/>
                </a:solidFill>
                <a:latin typeface="Arial"/>
                <a:ea typeface="Arial"/>
                <a:cs typeface="Arial"/>
              </a:defRPr>
            </a:pPr>
            <a:r>
              <a:rPr sz="1875" b="1" i="0">
                <a:solidFill>
                  <a:srgbClr val="33343F"/>
                </a:solidFill>
                <a:latin typeface="Arial"/>
                <a:ea typeface="Arial"/>
                <a:cs typeface="Arial"/>
              </a:rPr>
              <a:t>Written passages are linguistic input</a:t>
            </a:r>
          </a:p>
        </p:txBody>
      </p:sp>
      <p:sp>
        <p:nvSpPr>
          <p:cNvPr id="9" name="">
            <a:extLst xmlns:a="http://schemas.openxmlformats.org/drawingml/2006/main">
              <a:ext uri="{FF2B5EF4-FFF2-40B4-BE49-F238E27FC236}">
                <a16:creationId xmlns:a16="http://schemas.microsoft.com/office/drawing/2014/main" id="{890A586E-E0C1-40D1-BE0B-EC2B188CA64E}"/>
              </a:ext>
            </a:extLst>
          </p:cNvPr>
          <p:cNvSpPr>
            <a:spLocks xmlns:a="http://schemas.openxmlformats.org/drawingml/2006/main" noGrp="1"/>
          </p:cNvSpPr>
          <p:nvPr/>
        </p:nvSpPr>
        <p:spPr>
          <a:xfrm xmlns:a="http://schemas.openxmlformats.org/drawingml/2006/main">
            <a:off x="1066800" y="3028950"/>
            <a:ext cx="4238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76"/>
          </a:bodyPr>
          <a:lstStyle xmlns:a="http://schemas.openxmlformats.org/drawingml/2006/main"/>
          <a:p xmlns:a="http://schemas.openxmlformats.org/drawingml/2006/main">
            <a:pPr algn="l">
              <a:defRPr sz="1425" b="0" i="0">
                <a:solidFill>
                  <a:srgbClr val="626777"/>
                </a:solidFill>
                <a:latin typeface="Arial"/>
                <a:ea typeface="Arial"/>
                <a:cs typeface="Arial"/>
              </a:defRPr>
            </a:pPr>
            <a:r>
              <a:rPr sz="1425" b="0" i="0">
                <a:solidFill>
                  <a:srgbClr val="626777"/>
                </a:solidFill>
                <a:latin typeface="Arial"/>
                <a:ea typeface="Arial"/>
                <a:cs typeface="Arial"/>
              </a:rPr>
              <a:t>Reading studies compare baseline, simplified and elaborated versions and test their comprehensibility.</a:t>
            </a:r>
          </a:p>
        </p:txBody>
      </p:sp>
      <p:sp>
        <p:nvSpPr>
          <p:cNvPr id="10" name="">
            <a:extLst xmlns:a="http://schemas.openxmlformats.org/drawingml/2006/main">
              <a:ext uri="{FF2B5EF4-FFF2-40B4-BE49-F238E27FC236}">
                <a16:creationId xmlns:a16="http://schemas.microsoft.com/office/drawing/2014/main" id="{BBC94371-D2BE-477E-BE1B-08F640920DA2}"/>
              </a:ext>
            </a:extLst>
          </p:cNvPr>
          <p:cNvSpPr>
            <a:spLocks xmlns:a="http://schemas.openxmlformats.org/drawingml/2006/main" noGrp="1"/>
          </p:cNvSpPr>
          <p:nvPr/>
        </p:nvSpPr>
        <p:spPr>
          <a:xfrm xmlns:a="http://schemas.openxmlformats.org/drawingml/2006/main">
            <a:off x="6381750" y="1724025"/>
            <a:ext cx="5048250" cy="2333625"/>
          </a:xfrm>
          <a:prstGeom xmlns:a="http://schemas.openxmlformats.org/drawingml/2006/main" prst="roundRect">
            <a:avLst>
              <a:gd name="adj" fmla="val 3265"/>
            </a:avLst>
          </a:prstGeom>
          <a:solidFill xmlns:a="http://schemas.openxmlformats.org/drawingml/2006/main">
            <a:srgbClr val="123B5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FB801D-8117-44CB-9E64-A577DE7B54BA}"/>
              </a:ext>
            </a:extLst>
          </p:cNvPr>
          <p:cNvSpPr>
            <a:spLocks xmlns:a="http://schemas.openxmlformats.org/drawingml/2006/main" noGrp="1"/>
          </p:cNvSpPr>
          <p:nvPr/>
        </p:nvSpPr>
        <p:spPr>
          <a:xfrm xmlns:a="http://schemas.openxmlformats.org/drawingml/2006/main">
            <a:off x="6686550" y="2000250"/>
            <a:ext cx="381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MIWAE'S OPERATIONAL EXTENSION</a:t>
            </a:r>
          </a:p>
        </p:txBody>
      </p:sp>
      <p:sp>
        <p:nvSpPr>
          <p:cNvPr id="12" name="">
            <a:extLst xmlns:a="http://schemas.openxmlformats.org/drawingml/2006/main">
              <a:ext uri="{FF2B5EF4-FFF2-40B4-BE49-F238E27FC236}">
                <a16:creationId xmlns:a16="http://schemas.microsoft.com/office/drawing/2014/main" id="{1B772F41-46D0-431E-ABB2-841C8C7A4BC3}"/>
              </a:ext>
            </a:extLst>
          </p:cNvPr>
          <p:cNvSpPr>
            <a:spLocks xmlns:a="http://schemas.openxmlformats.org/drawingml/2006/main" noGrp="1"/>
          </p:cNvSpPr>
          <p:nvPr/>
        </p:nvSpPr>
        <p:spPr>
          <a:xfrm xmlns:a="http://schemas.openxmlformats.org/drawingml/2006/main">
            <a:off x="6686550" y="245745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874"/>
          </a:bodyPr>
          <a:lstStyle xmlns:a="http://schemas.openxmlformats.org/drawingml/2006/main"/>
          <a:p xmlns:a="http://schemas.openxmlformats.org/drawingml/2006/main">
            <a:pPr algn="l">
              <a:defRPr sz="1875" b="1" i="0">
                <a:solidFill>
                  <a:srgbClr val="FFFFFF"/>
                </a:solidFill>
                <a:latin typeface="Arial"/>
                <a:ea typeface="Arial"/>
                <a:cs typeface="Arial"/>
              </a:defRPr>
            </a:pPr>
            <a:r>
              <a:rPr sz="1875" b="1" i="0">
                <a:solidFill>
                  <a:srgbClr val="FFFFFF"/>
                </a:solidFill>
                <a:latin typeface="Arial"/>
                <a:ea typeface="Arial"/>
                <a:cs typeface="Arial"/>
              </a:rPr>
              <a:t>The input carries disciplinary knowledge</a:t>
            </a:r>
          </a:p>
        </p:txBody>
      </p:sp>
      <p:sp>
        <p:nvSpPr>
          <p:cNvPr id="13" name="">
            <a:extLst xmlns:a="http://schemas.openxmlformats.org/drawingml/2006/main">
              <a:ext uri="{FF2B5EF4-FFF2-40B4-BE49-F238E27FC236}">
                <a16:creationId xmlns:a16="http://schemas.microsoft.com/office/drawing/2014/main" id="{44BEE0DE-0D94-42D0-9337-8CA0D4B49A45}"/>
              </a:ext>
            </a:extLst>
          </p:cNvPr>
          <p:cNvSpPr>
            <a:spLocks xmlns:a="http://schemas.openxmlformats.org/drawingml/2006/main" noGrp="1"/>
          </p:cNvSpPr>
          <p:nvPr/>
        </p:nvSpPr>
        <p:spPr>
          <a:xfrm xmlns:a="http://schemas.openxmlformats.org/drawingml/2006/main">
            <a:off x="6686550" y="3028950"/>
            <a:ext cx="4238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The concern is communicative access to precise content, not language acquisition alone.</a:t>
            </a:r>
          </a:p>
        </p:txBody>
      </p:sp>
      <p:sp>
        <p:nvSpPr>
          <p:cNvPr id="14" name="">
            <a:extLst xmlns:a="http://schemas.openxmlformats.org/drawingml/2006/main">
              <a:ext uri="{FF2B5EF4-FFF2-40B4-BE49-F238E27FC236}">
                <a16:creationId xmlns:a16="http://schemas.microsoft.com/office/drawing/2014/main" id="{E1E643DB-2D75-4B46-A3ED-0B626A40C5EB}"/>
              </a:ext>
            </a:extLst>
          </p:cNvPr>
          <p:cNvSpPr>
            <a:spLocks xmlns:a="http://schemas.openxmlformats.org/drawingml/2006/main" noGrp="1"/>
          </p:cNvSpPr>
          <p:nvPr/>
        </p:nvSpPr>
        <p:spPr>
          <a:xfrm xmlns:a="http://schemas.openxmlformats.org/drawingml/2006/main">
            <a:off x="1143000" y="441007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654"/>
          </a:bodyPr>
          <a:lstStyle xmlns:a="http://schemas.openxmlformats.org/drawingml/2006/main"/>
          <a:p xmlns:a="http://schemas.openxmlformats.org/drawingml/2006/main">
            <a:pPr algn="ctr">
              <a:defRPr sz="2025" b="1" i="0">
                <a:solidFill>
                  <a:srgbClr val="33343F"/>
                </a:solidFill>
                <a:latin typeface="Arial"/>
                <a:ea typeface="Arial"/>
                <a:cs typeface="Arial"/>
              </a:defRPr>
            </a:pPr>
            <a:r>
              <a:rPr sz="2025" b="1" i="0">
                <a:solidFill>
                  <a:srgbClr val="33343F"/>
                </a:solidFill>
                <a:latin typeface="Arial"/>
                <a:ea typeface="Arial"/>
                <a:cs typeface="Arial"/>
              </a:rPr>
              <a:t>Modification means purposeful calibration</a:t>
            </a:r>
          </a:p>
        </p:txBody>
      </p:sp>
      <p:sp>
        <p:nvSpPr>
          <p:cNvPr id="15" name="">
            <a:extLst xmlns:a="http://schemas.openxmlformats.org/drawingml/2006/main">
              <a:ext uri="{FF2B5EF4-FFF2-40B4-BE49-F238E27FC236}">
                <a16:creationId xmlns:a16="http://schemas.microsoft.com/office/drawing/2014/main" id="{A3F1140B-7318-433D-840E-AD30C404B614}"/>
              </a:ext>
            </a:extLst>
          </p:cNvPr>
          <p:cNvSpPr>
            <a:spLocks xmlns:a="http://schemas.openxmlformats.org/drawingml/2006/main" noGrp="1"/>
          </p:cNvSpPr>
          <p:nvPr/>
        </p:nvSpPr>
        <p:spPr>
          <a:xfrm xmlns:a="http://schemas.openxmlformats.org/drawingml/2006/main">
            <a:off x="723900" y="4943475"/>
            <a:ext cx="3524250" cy="361950"/>
          </a:xfrm>
          <a:prstGeom xmlns:a="http://schemas.openxmlformats.org/drawingml/2006/main" prst="roundRect">
            <a:avLst>
              <a:gd name="adj" fmla="val 21053"/>
            </a:avLst>
          </a:prstGeom>
          <a:solidFill xmlns:a="http://schemas.openxmlformats.org/drawingml/2006/main">
            <a:srgbClr val="E6F0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D425EF-E4A7-49E1-B155-693C0B7DD31D}"/>
              </a:ext>
            </a:extLst>
          </p:cNvPr>
          <p:cNvSpPr>
            <a:spLocks xmlns:a="http://schemas.openxmlformats.org/drawingml/2006/main" noGrp="1"/>
          </p:cNvSpPr>
          <p:nvPr/>
        </p:nvSpPr>
        <p:spPr>
          <a:xfrm xmlns:a="http://schemas.openxmlformats.org/drawingml/2006/main">
            <a:off x="838200" y="5010150"/>
            <a:ext cx="3295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ctr">
              <a:defRPr sz="1200" b="1" i="0">
                <a:solidFill>
                  <a:srgbClr val="176082"/>
                </a:solidFill>
                <a:latin typeface="Arial"/>
                <a:ea typeface="Arial"/>
                <a:cs typeface="Arial"/>
              </a:defRPr>
            </a:pPr>
            <a:r>
              <a:rPr sz="1200" b="1" i="0">
                <a:solidFill>
                  <a:srgbClr val="176082"/>
                </a:solidFill>
                <a:latin typeface="Arial"/>
                <a:ea typeface="Arial"/>
                <a:cs typeface="Arial"/>
              </a:rPr>
              <a:t>define or gloss</a:t>
            </a:r>
          </a:p>
        </p:txBody>
      </p:sp>
      <p:sp>
        <p:nvSpPr>
          <p:cNvPr id="17" name="">
            <a:extLst xmlns:a="http://schemas.openxmlformats.org/drawingml/2006/main">
              <a:ext uri="{FF2B5EF4-FFF2-40B4-BE49-F238E27FC236}">
                <a16:creationId xmlns:a16="http://schemas.microsoft.com/office/drawing/2014/main" id="{32AE5AA6-16DA-4459-8452-72C2B41B9F75}"/>
              </a:ext>
            </a:extLst>
          </p:cNvPr>
          <p:cNvSpPr>
            <a:spLocks xmlns:a="http://schemas.openxmlformats.org/drawingml/2006/main" noGrp="1"/>
          </p:cNvSpPr>
          <p:nvPr/>
        </p:nvSpPr>
        <p:spPr>
          <a:xfrm xmlns:a="http://schemas.openxmlformats.org/drawingml/2006/main">
            <a:off x="4552950" y="4943475"/>
            <a:ext cx="3524250" cy="361950"/>
          </a:xfrm>
          <a:prstGeom xmlns:a="http://schemas.openxmlformats.org/drawingml/2006/main" prst="roundRect">
            <a:avLst>
              <a:gd name="adj" fmla="val 21053"/>
            </a:avLst>
          </a:prstGeom>
          <a:solidFill xmlns:a="http://schemas.openxmlformats.org/drawingml/2006/main">
            <a:srgbClr val="E6F0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A25EE4A-A1BD-4BA3-9840-C0B085BDE5D7}"/>
              </a:ext>
            </a:extLst>
          </p:cNvPr>
          <p:cNvSpPr>
            <a:spLocks xmlns:a="http://schemas.openxmlformats.org/drawingml/2006/main" noGrp="1"/>
          </p:cNvSpPr>
          <p:nvPr/>
        </p:nvSpPr>
        <p:spPr>
          <a:xfrm xmlns:a="http://schemas.openxmlformats.org/drawingml/2006/main">
            <a:off x="4667250" y="5010150"/>
            <a:ext cx="3295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ctr">
              <a:defRPr sz="1200" b="1" i="0">
                <a:solidFill>
                  <a:srgbClr val="176082"/>
                </a:solidFill>
                <a:latin typeface="Arial"/>
                <a:ea typeface="Arial"/>
                <a:cs typeface="Arial"/>
              </a:defRPr>
            </a:pPr>
            <a:r>
              <a:rPr sz="1200" b="1" i="0">
                <a:solidFill>
                  <a:srgbClr val="176082"/>
                </a:solidFill>
                <a:latin typeface="Arial"/>
                <a:ea typeface="Arial"/>
                <a:cs typeface="Arial"/>
              </a:rPr>
              <a:t>signal relations</a:t>
            </a:r>
          </a:p>
        </p:txBody>
      </p:sp>
      <p:sp>
        <p:nvSpPr>
          <p:cNvPr id="19" name="">
            <a:extLst xmlns:a="http://schemas.openxmlformats.org/drawingml/2006/main">
              <a:ext uri="{FF2B5EF4-FFF2-40B4-BE49-F238E27FC236}">
                <a16:creationId xmlns:a16="http://schemas.microsoft.com/office/drawing/2014/main" id="{56450F20-1E40-47EE-B916-55337AAD6402}"/>
              </a:ext>
            </a:extLst>
          </p:cNvPr>
          <p:cNvSpPr>
            <a:spLocks xmlns:a="http://schemas.openxmlformats.org/drawingml/2006/main" noGrp="1"/>
          </p:cNvSpPr>
          <p:nvPr/>
        </p:nvSpPr>
        <p:spPr>
          <a:xfrm xmlns:a="http://schemas.openxmlformats.org/drawingml/2006/main">
            <a:off x="8382000" y="4943475"/>
            <a:ext cx="3524250" cy="361950"/>
          </a:xfrm>
          <a:prstGeom xmlns:a="http://schemas.openxmlformats.org/drawingml/2006/main" prst="roundRect">
            <a:avLst>
              <a:gd name="adj" fmla="val 21053"/>
            </a:avLst>
          </a:prstGeom>
          <a:solidFill xmlns:a="http://schemas.openxmlformats.org/drawingml/2006/main">
            <a:srgbClr val="E6F0F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57155F3-B0BE-4800-82D0-6CEDEF90710A}"/>
              </a:ext>
            </a:extLst>
          </p:cNvPr>
          <p:cNvSpPr>
            <a:spLocks xmlns:a="http://schemas.openxmlformats.org/drawingml/2006/main" noGrp="1"/>
          </p:cNvSpPr>
          <p:nvPr/>
        </p:nvSpPr>
        <p:spPr>
          <a:xfrm xmlns:a="http://schemas.openxmlformats.org/drawingml/2006/main">
            <a:off x="8496300" y="5010150"/>
            <a:ext cx="3295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ctr">
              <a:defRPr sz="1200" b="1" i="0">
                <a:solidFill>
                  <a:srgbClr val="176082"/>
                </a:solidFill>
                <a:latin typeface="Arial"/>
                <a:ea typeface="Arial"/>
                <a:cs typeface="Arial"/>
              </a:defRPr>
            </a:pPr>
            <a:r>
              <a:rPr sz="1200" b="1" i="0">
                <a:solidFill>
                  <a:srgbClr val="176082"/>
                </a:solidFill>
                <a:latin typeface="Arial"/>
                <a:ea typeface="Arial"/>
                <a:cs typeface="Arial"/>
              </a:rPr>
              <a:t>sequence explanations</a:t>
            </a:r>
          </a:p>
        </p:txBody>
      </p:sp>
      <p:sp>
        <p:nvSpPr>
          <p:cNvPr id="21" name="">
            <a:extLst xmlns:a="http://schemas.openxmlformats.org/drawingml/2006/main">
              <a:ext uri="{FF2B5EF4-FFF2-40B4-BE49-F238E27FC236}">
                <a16:creationId xmlns:a16="http://schemas.microsoft.com/office/drawing/2014/main" id="{37CA0BE7-F038-4058-B2F2-EA5247507C18}"/>
              </a:ext>
            </a:extLst>
          </p:cNvPr>
          <p:cNvSpPr>
            <a:spLocks xmlns:a="http://schemas.openxmlformats.org/drawingml/2006/main" noGrp="1"/>
          </p:cNvSpPr>
          <p:nvPr/>
        </p:nvSpPr>
        <p:spPr>
          <a:xfrm xmlns:a="http://schemas.openxmlformats.org/drawingml/2006/main">
            <a:off x="723900" y="5438775"/>
            <a:ext cx="3524250" cy="361950"/>
          </a:xfrm>
          <a:prstGeom xmlns:a="http://schemas.openxmlformats.org/drawingml/2006/main" prst="roundRect">
            <a:avLst>
              <a:gd name="adj" fmla="val 21053"/>
            </a:avLst>
          </a:prstGeom>
          <a:solidFill xmlns:a="http://schemas.openxmlformats.org/drawingml/2006/main">
            <a:srgbClr val="E6F0F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6EFD574-A98E-4610-886A-1132D774BB00}"/>
              </a:ext>
            </a:extLst>
          </p:cNvPr>
          <p:cNvSpPr>
            <a:spLocks xmlns:a="http://schemas.openxmlformats.org/drawingml/2006/main" noGrp="1"/>
          </p:cNvSpPr>
          <p:nvPr/>
        </p:nvSpPr>
        <p:spPr>
          <a:xfrm xmlns:a="http://schemas.openxmlformats.org/drawingml/2006/main">
            <a:off x="838200" y="5505450"/>
            <a:ext cx="3295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ctr">
              <a:defRPr sz="1200" b="1" i="0">
                <a:solidFill>
                  <a:srgbClr val="176082"/>
                </a:solidFill>
                <a:latin typeface="Arial"/>
                <a:ea typeface="Arial"/>
                <a:cs typeface="Arial"/>
              </a:defRPr>
            </a:pPr>
            <a:r>
              <a:rPr sz="1200" b="1" i="0">
                <a:solidFill>
                  <a:srgbClr val="176082"/>
                </a:solidFill>
                <a:latin typeface="Arial"/>
                <a:ea typeface="Arial"/>
                <a:cs typeface="Arial"/>
              </a:rPr>
              <a:t>add examples</a:t>
            </a:r>
          </a:p>
        </p:txBody>
      </p:sp>
      <p:sp>
        <p:nvSpPr>
          <p:cNvPr id="23" name="">
            <a:extLst xmlns:a="http://schemas.openxmlformats.org/drawingml/2006/main">
              <a:ext uri="{FF2B5EF4-FFF2-40B4-BE49-F238E27FC236}">
                <a16:creationId xmlns:a16="http://schemas.microsoft.com/office/drawing/2014/main" id="{3D1DDEE0-166B-4B5B-BE98-342D032B2816}"/>
              </a:ext>
            </a:extLst>
          </p:cNvPr>
          <p:cNvSpPr>
            <a:spLocks xmlns:a="http://schemas.openxmlformats.org/drawingml/2006/main" noGrp="1"/>
          </p:cNvSpPr>
          <p:nvPr/>
        </p:nvSpPr>
        <p:spPr>
          <a:xfrm xmlns:a="http://schemas.openxmlformats.org/drawingml/2006/main">
            <a:off x="4552950" y="5438775"/>
            <a:ext cx="3524250" cy="361950"/>
          </a:xfrm>
          <a:prstGeom xmlns:a="http://schemas.openxmlformats.org/drawingml/2006/main" prst="roundRect">
            <a:avLst>
              <a:gd name="adj" fmla="val 21053"/>
            </a:avLst>
          </a:prstGeom>
          <a:solidFill xmlns:a="http://schemas.openxmlformats.org/drawingml/2006/main">
            <a:srgbClr val="E6F0F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3F66744-BD4D-4F79-A53E-D840FD35DED0}"/>
              </a:ext>
            </a:extLst>
          </p:cNvPr>
          <p:cNvSpPr>
            <a:spLocks xmlns:a="http://schemas.openxmlformats.org/drawingml/2006/main" noGrp="1"/>
          </p:cNvSpPr>
          <p:nvPr/>
        </p:nvSpPr>
        <p:spPr>
          <a:xfrm xmlns:a="http://schemas.openxmlformats.org/drawingml/2006/main">
            <a:off x="4667250" y="5505450"/>
            <a:ext cx="3295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ctr">
              <a:defRPr sz="1200" b="1" i="0">
                <a:solidFill>
                  <a:srgbClr val="176082"/>
                </a:solidFill>
                <a:latin typeface="Arial"/>
                <a:ea typeface="Arial"/>
                <a:cs typeface="Arial"/>
              </a:defRPr>
            </a:pPr>
            <a:r>
              <a:rPr sz="1200" b="1" i="0">
                <a:solidFill>
                  <a:srgbClr val="176082"/>
                </a:solidFill>
                <a:latin typeface="Arial"/>
                <a:ea typeface="Arial"/>
                <a:cs typeface="Arial"/>
              </a:rPr>
              <a:t>reactivate context</a:t>
            </a:r>
          </a:p>
        </p:txBody>
      </p:sp>
      <p:sp>
        <p:nvSpPr>
          <p:cNvPr id="25" name="">
            <a:extLst xmlns:a="http://schemas.openxmlformats.org/drawingml/2006/main">
              <a:ext uri="{FF2B5EF4-FFF2-40B4-BE49-F238E27FC236}">
                <a16:creationId xmlns:a16="http://schemas.microsoft.com/office/drawing/2014/main" id="{B45A42C6-55CB-4614-966C-CABF8C08981A}"/>
              </a:ext>
            </a:extLst>
          </p:cNvPr>
          <p:cNvSpPr>
            <a:spLocks xmlns:a="http://schemas.openxmlformats.org/drawingml/2006/main" noGrp="1"/>
          </p:cNvSpPr>
          <p:nvPr/>
        </p:nvSpPr>
        <p:spPr>
          <a:xfrm xmlns:a="http://schemas.openxmlformats.org/drawingml/2006/main">
            <a:off x="8382000" y="5438775"/>
            <a:ext cx="3524250" cy="361950"/>
          </a:xfrm>
          <a:prstGeom xmlns:a="http://schemas.openxmlformats.org/drawingml/2006/main" prst="roundRect">
            <a:avLst>
              <a:gd name="adj" fmla="val 21053"/>
            </a:avLst>
          </a:prstGeom>
          <a:solidFill xmlns:a="http://schemas.openxmlformats.org/drawingml/2006/main">
            <a:srgbClr val="FFF4D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55E6A59-C86C-4FF3-AA70-9672169E6B3E}"/>
              </a:ext>
            </a:extLst>
          </p:cNvPr>
          <p:cNvSpPr>
            <a:spLocks xmlns:a="http://schemas.openxmlformats.org/drawingml/2006/main" noGrp="1"/>
          </p:cNvSpPr>
          <p:nvPr/>
        </p:nvSpPr>
        <p:spPr>
          <a:xfrm xmlns:a="http://schemas.openxmlformats.org/drawingml/2006/main">
            <a:off x="8496300" y="5505450"/>
            <a:ext cx="3295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ctr">
              <a:defRPr sz="1200" b="1" i="0">
                <a:solidFill>
                  <a:srgbClr val="D58C00"/>
                </a:solidFill>
                <a:latin typeface="Arial"/>
                <a:ea typeface="Arial"/>
                <a:cs typeface="Arial"/>
              </a:defRPr>
            </a:pPr>
            <a:r>
              <a:rPr sz="1200" b="1" i="0">
                <a:solidFill>
                  <a:srgbClr val="D58C00"/>
                </a:solidFill>
                <a:latin typeface="Arial"/>
                <a:ea typeface="Arial"/>
                <a:cs typeface="Arial"/>
              </a:rPr>
              <a:t>align prose + visuals</a:t>
            </a:r>
          </a:p>
        </p:txBody>
      </p:sp>
      <p:sp>
        <p:nvSpPr>
          <p:cNvPr id="27" name="">
            <a:extLst xmlns:a="http://schemas.openxmlformats.org/drawingml/2006/main">
              <a:ext uri="{FF2B5EF4-FFF2-40B4-BE49-F238E27FC236}">
                <a16:creationId xmlns:a16="http://schemas.microsoft.com/office/drawing/2014/main" id="{4D66B190-0345-422E-9D31-08491219BED9}"/>
              </a:ext>
            </a:extLst>
          </p:cNvPr>
          <p:cNvSpPr>
            <a:spLocks xmlns:a="http://schemas.openxmlformats.org/drawingml/2006/main" noGrp="1"/>
          </p:cNvSpPr>
          <p:nvPr/>
        </p:nvSpPr>
        <p:spPr>
          <a:xfrm xmlns:a="http://schemas.openxmlformats.org/drawingml/2006/main">
            <a:off x="1571625" y="5943600"/>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294"/>
          </a:bodyPr>
          <a:lstStyle xmlns:a="http://schemas.openxmlformats.org/drawingml/2006/main"/>
          <a:p xmlns:a="http://schemas.openxmlformats.org/drawingml/2006/main">
            <a:pPr algn="ctr">
              <a:defRPr sz="1275" b="1" i="0">
                <a:solidFill>
                  <a:srgbClr val="B94D35"/>
                </a:solidFill>
                <a:latin typeface="Arial"/>
                <a:ea typeface="Arial"/>
                <a:cs typeface="Arial"/>
              </a:defRPr>
            </a:pPr>
            <a:r>
              <a:rPr sz="1275" b="1" i="0">
                <a:solidFill>
                  <a:srgbClr val="B94D35"/>
                </a:solidFill>
                <a:latin typeface="Arial"/>
                <a:ea typeface="Arial"/>
                <a:cs typeface="Arial"/>
              </a:rPr>
              <a:t>Calibration may simplify locally, elaborate, or redistribute support; it must preserve technical precision.</a:t>
            </a:r>
          </a:p>
        </p:txBody>
      </p:sp>
      <p:sp>
        <p:nvSpPr>
          <p:cNvPr id="28" name="">
            <a:extLst xmlns:a="http://schemas.openxmlformats.org/drawingml/2006/main">
              <a:ext uri="{FF2B5EF4-FFF2-40B4-BE49-F238E27FC236}">
                <a16:creationId xmlns:a16="http://schemas.microsoft.com/office/drawing/2014/main" id="{DAA413C0-CD93-440E-B515-45F1837F8F8C}"/>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Li, Xu &amp; Wang, 2005, pp. 45–74; Council of Europe, 2020, pp. 116–123; MIWAE operational definition</a:t>
            </a:r>
          </a:p>
        </p:txBody>
      </p:sp>
      <p:sp>
        <p:nvSpPr>
          <p:cNvPr id="29" name="">
            <a:extLst xmlns:a="http://schemas.openxmlformats.org/drawingml/2006/main">
              <a:ext uri="{FF2B5EF4-FFF2-40B4-BE49-F238E27FC236}">
                <a16:creationId xmlns:a16="http://schemas.microsoft.com/office/drawing/2014/main" id="{D8ADF4B4-6B1B-4339-AF96-7DD9E6360A00}"/>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0" name="">
            <a:extLst xmlns:a="http://schemas.openxmlformats.org/drawingml/2006/main">
              <a:ext uri="{FF2B5EF4-FFF2-40B4-BE49-F238E27FC236}">
                <a16:creationId xmlns:a16="http://schemas.microsoft.com/office/drawing/2014/main" id="{C095652C-4E96-4DEC-9A7A-B5B068664DD6}"/>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104809710"/>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307C4AD-24D9-4EE4-89BB-B6510C85F1DD}"/>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E66C85-948F-4766-A82F-5FC3ECDB4C85}"/>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B8E389F0-8D48-4561-B1AA-05986D074B0B}"/>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Academic literacy links reader readiness to textbook design</a:t>
            </a:r>
          </a:p>
        </p:txBody>
      </p:sp>
      <p:sp>
        <p:nvSpPr>
          <p:cNvPr id="4" name="">
            <a:extLst xmlns:a="http://schemas.openxmlformats.org/drawingml/2006/main">
              <a:ext uri="{FF2B5EF4-FFF2-40B4-BE49-F238E27FC236}">
                <a16:creationId xmlns:a16="http://schemas.microsoft.com/office/drawing/2014/main" id="{8640ED0C-254A-4B9C-9D3B-A5D4999E0043}"/>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4A6E48CD-5D74-463B-B7AA-9500E7139A51}"/>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F76E928F-78A0-4F5B-8C4C-7D2F78A448C7}"/>
              </a:ext>
            </a:extLst>
          </p:cNvPr>
          <p:cNvSpPr>
            <a:spLocks xmlns:a="http://schemas.openxmlformats.org/drawingml/2006/main" noGrp="1"/>
          </p:cNvSpPr>
          <p:nvPr/>
        </p:nvSpPr>
        <p:spPr>
          <a:xfrm xmlns:a="http://schemas.openxmlformats.org/drawingml/2006/main">
            <a:off x="1200150" y="1676400"/>
            <a:ext cx="9791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405"/>
          </a:bodyPr>
          <a:lstStyle xmlns:a="http://schemas.openxmlformats.org/drawingml/2006/main"/>
          <a:p xmlns:a="http://schemas.openxmlformats.org/drawingml/2006/main">
            <a:pPr algn="ctr">
              <a:defRPr sz="2100" b="1" i="0">
                <a:solidFill>
                  <a:srgbClr val="33343F"/>
                </a:solidFill>
                <a:latin typeface="Arial"/>
                <a:ea typeface="Arial"/>
                <a:cs typeface="Arial"/>
              </a:defRPr>
            </a:pPr>
            <a:r>
              <a:rPr sz="2100" b="1" i="0">
                <a:solidFill>
                  <a:srgbClr val="33343F"/>
                </a:solidFill>
                <a:latin typeface="Arial"/>
                <a:ea typeface="Arial"/>
                <a:cs typeface="Arial"/>
              </a:rPr>
              <a:t>EMI preparedness cannot be reduced to a language score</a:t>
            </a:r>
          </a:p>
        </p:txBody>
      </p:sp>
      <p:sp>
        <p:nvSpPr>
          <p:cNvPr id="7" name="">
            <a:extLst xmlns:a="http://schemas.openxmlformats.org/drawingml/2006/main">
              <a:ext uri="{FF2B5EF4-FFF2-40B4-BE49-F238E27FC236}">
                <a16:creationId xmlns:a16="http://schemas.microsoft.com/office/drawing/2014/main" id="{1FB47497-E0A4-4574-9F02-43BCD4040C77}"/>
              </a:ext>
            </a:extLst>
          </p:cNvPr>
          <p:cNvSpPr>
            <a:spLocks xmlns:a="http://schemas.openxmlformats.org/drawingml/2006/main" noGrp="1"/>
          </p:cNvSpPr>
          <p:nvPr/>
        </p:nvSpPr>
        <p:spPr>
          <a:xfrm xmlns:a="http://schemas.openxmlformats.org/drawingml/2006/main">
            <a:off x="571500" y="2476500"/>
            <a:ext cx="34290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8C9D3"/>
            </a:solidFill>
          </a:ln>
        </p:spPr>
      </p:sp>
      <p:sp>
        <p:nvSpPr>
          <p:cNvPr id="8" name="">
            <a:extLst xmlns:a="http://schemas.openxmlformats.org/drawingml/2006/main">
              <a:ext uri="{FF2B5EF4-FFF2-40B4-BE49-F238E27FC236}">
                <a16:creationId xmlns:a16="http://schemas.microsoft.com/office/drawing/2014/main" id="{363EFB54-89C6-4BC6-9D4C-A68DDA71C2CF}"/>
              </a:ext>
            </a:extLst>
          </p:cNvPr>
          <p:cNvSpPr>
            <a:spLocks xmlns:a="http://schemas.openxmlformats.org/drawingml/2006/main" noGrp="1"/>
          </p:cNvSpPr>
          <p:nvPr/>
        </p:nvSpPr>
        <p:spPr>
          <a:xfrm xmlns:a="http://schemas.openxmlformats.org/drawingml/2006/main">
            <a:off x="571500" y="2476500"/>
            <a:ext cx="3429000" cy="1333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468D4C-59DA-48B6-B78E-EF9AA4D5F66F}"/>
              </a:ext>
            </a:extLst>
          </p:cNvPr>
          <p:cNvSpPr>
            <a:spLocks xmlns:a="http://schemas.openxmlformats.org/drawingml/2006/main" noGrp="1"/>
          </p:cNvSpPr>
          <p:nvPr/>
        </p:nvSpPr>
        <p:spPr>
          <a:xfrm xmlns:a="http://schemas.openxmlformats.org/drawingml/2006/main">
            <a:off x="838200" y="27717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LANGUAGE REPERTOIRE</a:t>
            </a:r>
          </a:p>
        </p:txBody>
      </p:sp>
      <p:sp>
        <p:nvSpPr>
          <p:cNvPr id="10" name="">
            <a:extLst xmlns:a="http://schemas.openxmlformats.org/drawingml/2006/main">
              <a:ext uri="{FF2B5EF4-FFF2-40B4-BE49-F238E27FC236}">
                <a16:creationId xmlns:a16="http://schemas.microsoft.com/office/drawing/2014/main" id="{2AE0C8FE-EBA6-4BA1-95B9-29523AF3DC2D}"/>
              </a:ext>
            </a:extLst>
          </p:cNvPr>
          <p:cNvSpPr>
            <a:spLocks xmlns:a="http://schemas.openxmlformats.org/drawingml/2006/main" noGrp="1"/>
          </p:cNvSpPr>
          <p:nvPr/>
        </p:nvSpPr>
        <p:spPr>
          <a:xfrm xmlns:a="http://schemas.openxmlformats.org/drawingml/2006/main">
            <a:off x="895350" y="3371850"/>
            <a:ext cx="27813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i="0">
                <a:solidFill>
                  <a:srgbClr val="33343F"/>
                </a:solidFill>
                <a:latin typeface="Arial"/>
                <a:ea typeface="Arial"/>
                <a:cs typeface="Arial"/>
              </a:defRPr>
            </a:pPr>
            <a:r>
              <a:rPr sz="1650" b="1" i="0">
                <a:solidFill>
                  <a:srgbClr val="33343F"/>
                </a:solidFill>
                <a:latin typeface="Arial"/>
                <a:ea typeface="Arial"/>
                <a:cs typeface="Arial"/>
              </a:rPr>
              <a:t>English resources available to the reader</a:t>
            </a:r>
          </a:p>
        </p:txBody>
      </p:sp>
      <p:sp>
        <p:nvSpPr>
          <p:cNvPr id="11" name="">
            <a:extLst xmlns:a="http://schemas.openxmlformats.org/drawingml/2006/main">
              <a:ext uri="{FF2B5EF4-FFF2-40B4-BE49-F238E27FC236}">
                <a16:creationId xmlns:a16="http://schemas.microsoft.com/office/drawing/2014/main" id="{8C45DC11-798B-42F9-9D21-8BDEE8CDAC6A}"/>
              </a:ext>
            </a:extLst>
          </p:cNvPr>
          <p:cNvSpPr>
            <a:spLocks xmlns:a="http://schemas.openxmlformats.org/drawingml/2006/main" noGrp="1"/>
          </p:cNvSpPr>
          <p:nvPr/>
        </p:nvSpPr>
        <p:spPr>
          <a:xfrm xmlns:a="http://schemas.openxmlformats.org/drawingml/2006/main">
            <a:off x="4000500" y="3505200"/>
            <a:ext cx="447675"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12" name="">
            <a:extLst xmlns:a="http://schemas.openxmlformats.org/drawingml/2006/main">
              <a:ext uri="{FF2B5EF4-FFF2-40B4-BE49-F238E27FC236}">
                <a16:creationId xmlns:a16="http://schemas.microsoft.com/office/drawing/2014/main" id="{06610B4D-7924-4E42-82A2-0102D1888528}"/>
              </a:ext>
            </a:extLst>
          </p:cNvPr>
          <p:cNvSpPr>
            <a:spLocks xmlns:a="http://schemas.openxmlformats.org/drawingml/2006/main" noGrp="1"/>
          </p:cNvSpPr>
          <p:nvPr/>
        </p:nvSpPr>
        <p:spPr>
          <a:xfrm xmlns:a="http://schemas.openxmlformats.org/drawingml/2006/main">
            <a:off x="4476750" y="2476500"/>
            <a:ext cx="34290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8C9D3"/>
            </a:solidFill>
          </a:ln>
        </p:spPr>
      </p:sp>
      <p:sp>
        <p:nvSpPr>
          <p:cNvPr id="13" name="">
            <a:extLst xmlns:a="http://schemas.openxmlformats.org/drawingml/2006/main">
              <a:ext uri="{FF2B5EF4-FFF2-40B4-BE49-F238E27FC236}">
                <a16:creationId xmlns:a16="http://schemas.microsoft.com/office/drawing/2014/main" id="{1245CBAA-BA6D-4455-A006-51E77B1DF1DA}"/>
              </a:ext>
            </a:extLst>
          </p:cNvPr>
          <p:cNvSpPr>
            <a:spLocks xmlns:a="http://schemas.openxmlformats.org/drawingml/2006/main" noGrp="1"/>
          </p:cNvSpPr>
          <p:nvPr/>
        </p:nvSpPr>
        <p:spPr>
          <a:xfrm xmlns:a="http://schemas.openxmlformats.org/drawingml/2006/main">
            <a:off x="4476750" y="2476500"/>
            <a:ext cx="3429000" cy="133350"/>
          </a:xfrm>
          <a:prstGeom xmlns:a="http://schemas.openxmlformats.org/drawingml/2006/main" prst="roundRect">
            <a:avLst>
              <a:gd name="adj" fmla="val 50000"/>
            </a:avLst>
          </a:prstGeom>
          <a:solidFill xmlns:a="http://schemas.openxmlformats.org/drawingml/2006/main">
            <a:srgbClr val="D58C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F1D27FC-800F-4F69-B4B9-EF59B0E0F226}"/>
              </a:ext>
            </a:extLst>
          </p:cNvPr>
          <p:cNvSpPr>
            <a:spLocks xmlns:a="http://schemas.openxmlformats.org/drawingml/2006/main" noGrp="1"/>
          </p:cNvSpPr>
          <p:nvPr/>
        </p:nvSpPr>
        <p:spPr>
          <a:xfrm xmlns:a="http://schemas.openxmlformats.org/drawingml/2006/main">
            <a:off x="4743450" y="27717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DISCIPLINARY LITERACY</a:t>
            </a:r>
          </a:p>
        </p:txBody>
      </p:sp>
      <p:sp>
        <p:nvSpPr>
          <p:cNvPr id="15" name="">
            <a:extLst xmlns:a="http://schemas.openxmlformats.org/drawingml/2006/main">
              <a:ext uri="{FF2B5EF4-FFF2-40B4-BE49-F238E27FC236}">
                <a16:creationId xmlns:a16="http://schemas.microsoft.com/office/drawing/2014/main" id="{2F944C21-A5E7-4894-8387-21F30CA57E71}"/>
              </a:ext>
            </a:extLst>
          </p:cNvPr>
          <p:cNvSpPr>
            <a:spLocks xmlns:a="http://schemas.openxmlformats.org/drawingml/2006/main" noGrp="1"/>
          </p:cNvSpPr>
          <p:nvPr/>
        </p:nvSpPr>
        <p:spPr>
          <a:xfrm xmlns:a="http://schemas.openxmlformats.org/drawingml/2006/main">
            <a:off x="4800600" y="3371850"/>
            <a:ext cx="27813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39"/>
          </a:bodyPr>
          <a:lstStyle xmlns:a="http://schemas.openxmlformats.org/drawingml/2006/main"/>
          <a:p xmlns:a="http://schemas.openxmlformats.org/drawingml/2006/main">
            <a:pPr algn="ctr">
              <a:defRPr sz="1650" b="1" i="0">
                <a:solidFill>
                  <a:srgbClr val="33343F"/>
                </a:solidFill>
                <a:latin typeface="Arial"/>
                <a:ea typeface="Arial"/>
                <a:cs typeface="Arial"/>
              </a:defRPr>
            </a:pPr>
            <a:r>
              <a:rPr sz="1650" b="1" i="0">
                <a:solidFill>
                  <a:srgbClr val="33343F"/>
                </a:solidFill>
                <a:latin typeface="Arial"/>
                <a:ea typeface="Arial"/>
                <a:cs typeface="Arial"/>
              </a:rPr>
              <a:t>Ways of reading, reasoning and interpreting evidence</a:t>
            </a:r>
          </a:p>
        </p:txBody>
      </p:sp>
      <p:sp>
        <p:nvSpPr>
          <p:cNvPr id="16" name="">
            <a:extLst xmlns:a="http://schemas.openxmlformats.org/drawingml/2006/main">
              <a:ext uri="{FF2B5EF4-FFF2-40B4-BE49-F238E27FC236}">
                <a16:creationId xmlns:a16="http://schemas.microsoft.com/office/drawing/2014/main" id="{A21E06F6-411E-44DF-9EF8-7A2D0EE2DCAD}"/>
              </a:ext>
            </a:extLst>
          </p:cNvPr>
          <p:cNvSpPr>
            <a:spLocks xmlns:a="http://schemas.openxmlformats.org/drawingml/2006/main" noGrp="1"/>
          </p:cNvSpPr>
          <p:nvPr/>
        </p:nvSpPr>
        <p:spPr>
          <a:xfrm xmlns:a="http://schemas.openxmlformats.org/drawingml/2006/main">
            <a:off x="7905750" y="3505200"/>
            <a:ext cx="447675"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17" name="">
            <a:extLst xmlns:a="http://schemas.openxmlformats.org/drawingml/2006/main">
              <a:ext uri="{FF2B5EF4-FFF2-40B4-BE49-F238E27FC236}">
                <a16:creationId xmlns:a16="http://schemas.microsoft.com/office/drawing/2014/main" id="{63F87B38-66C1-4A11-8E3F-3D4D49BBEF52}"/>
              </a:ext>
            </a:extLst>
          </p:cNvPr>
          <p:cNvSpPr>
            <a:spLocks xmlns:a="http://schemas.openxmlformats.org/drawingml/2006/main" noGrp="1"/>
          </p:cNvSpPr>
          <p:nvPr/>
        </p:nvSpPr>
        <p:spPr>
          <a:xfrm xmlns:a="http://schemas.openxmlformats.org/drawingml/2006/main">
            <a:off x="8382000" y="2476500"/>
            <a:ext cx="3429000" cy="2095500"/>
          </a:xfrm>
          <a:prstGeom xmlns:a="http://schemas.openxmlformats.org/drawingml/2006/main" prst="roundRect">
            <a:avLst>
              <a:gd name="adj" fmla="val 3636"/>
            </a:avLst>
          </a:prstGeom>
          <a:solidFill xmlns:a="http://schemas.openxmlformats.org/drawingml/2006/main">
            <a:srgbClr val="123B53"/>
          </a:solidFill>
          <a:ln xmlns:a="http://schemas.openxmlformats.org/drawingml/2006/main" w="9525">
            <a:solidFill>
              <a:srgbClr val="C8C9D3"/>
            </a:solidFill>
          </a:ln>
        </p:spPr>
      </p:sp>
      <p:sp>
        <p:nvSpPr>
          <p:cNvPr id="18" name="">
            <a:extLst xmlns:a="http://schemas.openxmlformats.org/drawingml/2006/main">
              <a:ext uri="{FF2B5EF4-FFF2-40B4-BE49-F238E27FC236}">
                <a16:creationId xmlns:a16="http://schemas.microsoft.com/office/drawing/2014/main" id="{DED06818-5279-42B9-90B6-8E9B19DCC50E}"/>
              </a:ext>
            </a:extLst>
          </p:cNvPr>
          <p:cNvSpPr>
            <a:spLocks xmlns:a="http://schemas.openxmlformats.org/drawingml/2006/main" noGrp="1"/>
          </p:cNvSpPr>
          <p:nvPr/>
        </p:nvSpPr>
        <p:spPr>
          <a:xfrm xmlns:a="http://schemas.openxmlformats.org/drawingml/2006/main">
            <a:off x="8382000" y="2476500"/>
            <a:ext cx="3429000" cy="133350"/>
          </a:xfrm>
          <a:prstGeom xmlns:a="http://schemas.openxmlformats.org/drawingml/2006/main" prst="roundRect">
            <a:avLst>
              <a:gd name="adj" fmla="val 50000"/>
            </a:avLst>
          </a:prstGeom>
          <a:solidFill xmlns:a="http://schemas.openxmlformats.org/drawingml/2006/main">
            <a:srgbClr val="123B5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28D13CA-F4F7-427B-8EED-87283E4F749E}"/>
              </a:ext>
            </a:extLst>
          </p:cNvPr>
          <p:cNvSpPr>
            <a:spLocks xmlns:a="http://schemas.openxmlformats.org/drawingml/2006/main" noGrp="1"/>
          </p:cNvSpPr>
          <p:nvPr/>
        </p:nvSpPr>
        <p:spPr>
          <a:xfrm xmlns:a="http://schemas.openxmlformats.org/drawingml/2006/main">
            <a:off x="8648700" y="27717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TEXTBOOK ENVIRONMENT</a:t>
            </a:r>
          </a:p>
        </p:txBody>
      </p:sp>
      <p:sp>
        <p:nvSpPr>
          <p:cNvPr id="20" name="">
            <a:extLst xmlns:a="http://schemas.openxmlformats.org/drawingml/2006/main">
              <a:ext uri="{FF2B5EF4-FFF2-40B4-BE49-F238E27FC236}">
                <a16:creationId xmlns:a16="http://schemas.microsoft.com/office/drawing/2014/main" id="{2C53EC8C-8C87-4F3F-8833-09D694B8DC80}"/>
              </a:ext>
            </a:extLst>
          </p:cNvPr>
          <p:cNvSpPr>
            <a:spLocks xmlns:a="http://schemas.openxmlformats.org/drawingml/2006/main" noGrp="1"/>
          </p:cNvSpPr>
          <p:nvPr/>
        </p:nvSpPr>
        <p:spPr>
          <a:xfrm xmlns:a="http://schemas.openxmlformats.org/drawingml/2006/main">
            <a:off x="8705850" y="3371850"/>
            <a:ext cx="27813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414"/>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How explanations, expectations and resources are staged</a:t>
            </a:r>
          </a:p>
        </p:txBody>
      </p:sp>
      <p:sp>
        <p:nvSpPr>
          <p:cNvPr id="21" name="">
            <a:extLst xmlns:a="http://schemas.openxmlformats.org/drawingml/2006/main">
              <a:ext uri="{FF2B5EF4-FFF2-40B4-BE49-F238E27FC236}">
                <a16:creationId xmlns:a16="http://schemas.microsoft.com/office/drawing/2014/main" id="{9EF23238-6BFC-47EA-88D2-A58CE350A4CF}"/>
              </a:ext>
            </a:extLst>
          </p:cNvPr>
          <p:cNvSpPr>
            <a:spLocks xmlns:a="http://schemas.openxmlformats.org/drawingml/2006/main" noGrp="1"/>
          </p:cNvSpPr>
          <p:nvPr/>
        </p:nvSpPr>
        <p:spPr>
          <a:xfrm xmlns:a="http://schemas.openxmlformats.org/drawingml/2006/main">
            <a:off x="1428750" y="5010150"/>
            <a:ext cx="9334500" cy="742950"/>
          </a:xfrm>
          <a:prstGeom xmlns:a="http://schemas.openxmlformats.org/drawingml/2006/main" prst="roundRect">
            <a:avLst>
              <a:gd name="adj" fmla="val 10256"/>
            </a:avLst>
          </a:prstGeom>
          <a:solidFill xmlns:a="http://schemas.openxmlformats.org/drawingml/2006/main">
            <a:srgbClr val="E6F0F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873D807-B26D-4722-9D7B-2AD7B492983D}"/>
              </a:ext>
            </a:extLst>
          </p:cNvPr>
          <p:cNvSpPr>
            <a:spLocks xmlns:a="http://schemas.openxmlformats.org/drawingml/2006/main" noGrp="1"/>
          </p:cNvSpPr>
          <p:nvPr/>
        </p:nvSpPr>
        <p:spPr>
          <a:xfrm xmlns:a="http://schemas.openxmlformats.org/drawingml/2006/main">
            <a:off x="1714500" y="5181600"/>
            <a:ext cx="876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736"/>
          </a:bodyPr>
          <a:lstStyle xmlns:a="http://schemas.openxmlformats.org/drawingml/2006/main"/>
          <a:p xmlns:a="http://schemas.openxmlformats.org/drawingml/2006/main">
            <a:pPr algn="ctr">
              <a:defRPr sz="1575" b="1" i="0">
                <a:solidFill>
                  <a:srgbClr val="176082"/>
                </a:solidFill>
                <a:latin typeface="Arial"/>
                <a:ea typeface="Arial"/>
                <a:cs typeface="Arial"/>
              </a:defRPr>
            </a:pPr>
            <a:r>
              <a:rPr sz="1575" b="1" i="0">
                <a:solidFill>
                  <a:srgbClr val="176082"/>
                </a:solidFill>
                <a:latin typeface="Arial"/>
                <a:ea typeface="Arial"/>
                <a:cs typeface="Arial"/>
              </a:rPr>
              <a:t>MIWAE asks whether the textbook supports the disciplinary reading practices that multilingual students are still learning.</a:t>
            </a:r>
          </a:p>
        </p:txBody>
      </p:sp>
      <p:sp>
        <p:nvSpPr>
          <p:cNvPr id="23" name="">
            <a:extLst xmlns:a="http://schemas.openxmlformats.org/drawingml/2006/main">
              <a:ext uri="{FF2B5EF4-FFF2-40B4-BE49-F238E27FC236}">
                <a16:creationId xmlns:a16="http://schemas.microsoft.com/office/drawing/2014/main" id="{545A12AA-2140-4FCE-AF87-EF949D835D79}"/>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McKinley, 2025, Beyond Proficiency: Rethinking Preparedness in English-Medium Instruction</a:t>
            </a:r>
          </a:p>
        </p:txBody>
      </p:sp>
      <p:sp>
        <p:nvSpPr>
          <p:cNvPr id="24" name="">
            <a:extLst xmlns:a="http://schemas.openxmlformats.org/drawingml/2006/main">
              <a:ext uri="{FF2B5EF4-FFF2-40B4-BE49-F238E27FC236}">
                <a16:creationId xmlns:a16="http://schemas.microsoft.com/office/drawing/2014/main" id="{446564CA-D38F-4192-8875-652D1A100389}"/>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5" name="">
            <a:extLst xmlns:a="http://schemas.openxmlformats.org/drawingml/2006/main">
              <a:ext uri="{FF2B5EF4-FFF2-40B4-BE49-F238E27FC236}">
                <a16:creationId xmlns:a16="http://schemas.microsoft.com/office/drawing/2014/main" id="{8D3DA13F-2790-4C42-867F-7495588EF442}"/>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338984907"/>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7411320-557E-44E0-B542-1DA6861E9A25}"/>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CC638F-9CA5-42D0-972D-561454C11CBA}"/>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456C3BC7-4125-43C7-A33E-75BCF62BD0EB}"/>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CEFR pragmatic competence offers a three-part design lens</a:t>
            </a:r>
          </a:p>
        </p:txBody>
      </p:sp>
      <p:sp>
        <p:nvSpPr>
          <p:cNvPr id="4" name="">
            <a:extLst xmlns:a="http://schemas.openxmlformats.org/drawingml/2006/main">
              <a:ext uri="{FF2B5EF4-FFF2-40B4-BE49-F238E27FC236}">
                <a16:creationId xmlns:a16="http://schemas.microsoft.com/office/drawing/2014/main" id="{99C58CAB-5D3B-455C-AB66-802252F421BC}"/>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28F9244D-2AD9-4EF7-97A4-54C9117C0786}"/>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BF84228B-1589-40A8-9909-C45D5DC9A6C0}"/>
              </a:ext>
            </a:extLst>
          </p:cNvPr>
          <p:cNvSpPr>
            <a:spLocks xmlns:a="http://schemas.openxmlformats.org/drawingml/2006/main" noGrp="1"/>
          </p:cNvSpPr>
          <p:nvPr/>
        </p:nvSpPr>
        <p:spPr>
          <a:xfrm xmlns:a="http://schemas.openxmlformats.org/drawingml/2006/main">
            <a:off x="762000" y="1628775"/>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626777"/>
                </a:solidFill>
                <a:latin typeface="Arial"/>
                <a:ea typeface="Arial"/>
                <a:cs typeface="Arial"/>
              </a:defRPr>
            </a:pPr>
            <a:r>
              <a:rPr sz="1500" b="1" i="0">
                <a:solidFill>
                  <a:srgbClr val="626777"/>
                </a:solidFill>
                <a:latin typeface="Arial"/>
                <a:ea typeface="Arial"/>
                <a:cs typeface="Arial"/>
              </a:rPr>
              <a:t>CEFR: competence of the user/learner</a:t>
            </a:r>
          </a:p>
        </p:txBody>
      </p:sp>
      <p:sp>
        <p:nvSpPr>
          <p:cNvPr id="7" name="">
            <a:extLst xmlns:a="http://schemas.openxmlformats.org/drawingml/2006/main">
              <a:ext uri="{FF2B5EF4-FFF2-40B4-BE49-F238E27FC236}">
                <a16:creationId xmlns:a16="http://schemas.microsoft.com/office/drawing/2014/main" id="{CC755E33-50AD-422D-B1EF-860F95EE53C5}"/>
              </a:ext>
            </a:extLst>
          </p:cNvPr>
          <p:cNvSpPr>
            <a:spLocks xmlns:a="http://schemas.openxmlformats.org/drawingml/2006/main" noGrp="1"/>
          </p:cNvSpPr>
          <p:nvPr/>
        </p:nvSpPr>
        <p:spPr>
          <a:xfrm xmlns:a="http://schemas.openxmlformats.org/drawingml/2006/main">
            <a:off x="6715125" y="1628775"/>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626777"/>
                </a:solidFill>
                <a:latin typeface="Arial"/>
                <a:ea typeface="Arial"/>
                <a:cs typeface="Arial"/>
              </a:defRPr>
            </a:pPr>
            <a:r>
              <a:rPr sz="1500" b="1" i="0">
                <a:solidFill>
                  <a:srgbClr val="626777"/>
                </a:solidFill>
                <a:latin typeface="Arial"/>
                <a:ea typeface="Arial"/>
                <a:cs typeface="Arial"/>
              </a:rPr>
              <a:t>MIWAE: production-side review questions</a:t>
            </a:r>
          </a:p>
        </p:txBody>
      </p:sp>
      <p:sp>
        <p:nvSpPr>
          <p:cNvPr id="8" name="">
            <a:extLst xmlns:a="http://schemas.openxmlformats.org/drawingml/2006/main">
              <a:ext uri="{FF2B5EF4-FFF2-40B4-BE49-F238E27FC236}">
                <a16:creationId xmlns:a16="http://schemas.microsoft.com/office/drawing/2014/main" id="{24E8ABE8-7F58-428B-8D6C-BB8505CD5CEA}"/>
              </a:ext>
            </a:extLst>
          </p:cNvPr>
          <p:cNvSpPr>
            <a:spLocks xmlns:a="http://schemas.openxmlformats.org/drawingml/2006/main" noGrp="1"/>
          </p:cNvSpPr>
          <p:nvPr/>
        </p:nvSpPr>
        <p:spPr>
          <a:xfrm xmlns:a="http://schemas.openxmlformats.org/drawingml/2006/main">
            <a:off x="723900" y="2200275"/>
            <a:ext cx="4857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66535F5A-F5C6-4810-AB71-AFB80C0359CC}"/>
              </a:ext>
            </a:extLst>
          </p:cNvPr>
          <p:cNvSpPr>
            <a:spLocks xmlns:a="http://schemas.openxmlformats.org/drawingml/2006/main" noGrp="1"/>
          </p:cNvSpPr>
          <p:nvPr/>
        </p:nvSpPr>
        <p:spPr>
          <a:xfrm xmlns:a="http://schemas.openxmlformats.org/drawingml/2006/main">
            <a:off x="6610350" y="2200275"/>
            <a:ext cx="4857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8C9D3"/>
            </a:solidFill>
          </a:ln>
        </p:spPr>
      </p:sp>
      <p:sp>
        <p:nvSpPr>
          <p:cNvPr id="10" name="">
            <a:extLst xmlns:a="http://schemas.openxmlformats.org/drawingml/2006/main">
              <a:ext uri="{FF2B5EF4-FFF2-40B4-BE49-F238E27FC236}">
                <a16:creationId xmlns:a16="http://schemas.microsoft.com/office/drawing/2014/main" id="{6104299B-12D6-4180-BDA7-3FF7C2E2F2AE}"/>
              </a:ext>
            </a:extLst>
          </p:cNvPr>
          <p:cNvSpPr>
            <a:spLocks xmlns:a="http://schemas.openxmlformats.org/drawingml/2006/main" noGrp="1"/>
          </p:cNvSpPr>
          <p:nvPr/>
        </p:nvSpPr>
        <p:spPr>
          <a:xfrm xmlns:a="http://schemas.openxmlformats.org/drawingml/2006/main">
            <a:off x="971550" y="232410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DISCOURSE</a:t>
            </a:r>
          </a:p>
        </p:txBody>
      </p:sp>
      <p:sp>
        <p:nvSpPr>
          <p:cNvPr id="11" name="">
            <a:extLst xmlns:a="http://schemas.openxmlformats.org/drawingml/2006/main">
              <a:ext uri="{FF2B5EF4-FFF2-40B4-BE49-F238E27FC236}">
                <a16:creationId xmlns:a16="http://schemas.microsoft.com/office/drawing/2014/main" id="{7BB2FF1D-8052-47F4-8B29-2B28D41A1272}"/>
              </a:ext>
            </a:extLst>
          </p:cNvPr>
          <p:cNvSpPr>
            <a:spLocks xmlns:a="http://schemas.openxmlformats.org/drawingml/2006/main" noGrp="1"/>
          </p:cNvSpPr>
          <p:nvPr/>
        </p:nvSpPr>
        <p:spPr>
          <a:xfrm xmlns:a="http://schemas.openxmlformats.org/drawingml/2006/main">
            <a:off x="2495550" y="23241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33343F"/>
                </a:solidFill>
                <a:latin typeface="Arial"/>
                <a:ea typeface="Arial"/>
                <a:cs typeface="Arial"/>
              </a:defRPr>
            </a:pPr>
            <a:r>
              <a:rPr sz="1275" b="1" i="0">
                <a:solidFill>
                  <a:srgbClr val="33343F"/>
                </a:solidFill>
                <a:latin typeface="Arial"/>
                <a:ea typeface="Arial"/>
                <a:cs typeface="Arial"/>
              </a:rPr>
              <a:t>messages organised, structured and arranged</a:t>
            </a:r>
          </a:p>
        </p:txBody>
      </p:sp>
      <p:sp>
        <p:nvSpPr>
          <p:cNvPr id="12" name="">
            <a:extLst xmlns:a="http://schemas.openxmlformats.org/drawingml/2006/main">
              <a:ext uri="{FF2B5EF4-FFF2-40B4-BE49-F238E27FC236}">
                <a16:creationId xmlns:a16="http://schemas.microsoft.com/office/drawing/2014/main" id="{9C35507F-0B31-422D-8B5D-1C8CE490AEE7}"/>
              </a:ext>
            </a:extLst>
          </p:cNvPr>
          <p:cNvSpPr>
            <a:spLocks xmlns:a="http://schemas.openxmlformats.org/drawingml/2006/main" noGrp="1"/>
          </p:cNvSpPr>
          <p:nvPr/>
        </p:nvSpPr>
        <p:spPr>
          <a:xfrm xmlns:a="http://schemas.openxmlformats.org/drawingml/2006/main">
            <a:off x="6848475" y="2314575"/>
            <a:ext cx="4381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Are cohesion, information structure and relations visible?</a:t>
            </a:r>
          </a:p>
        </p:txBody>
      </p:sp>
      <p:sp>
        <p:nvSpPr>
          <p:cNvPr id="13" name="">
            <a:extLst xmlns:a="http://schemas.openxmlformats.org/drawingml/2006/main">
              <a:ext uri="{FF2B5EF4-FFF2-40B4-BE49-F238E27FC236}">
                <a16:creationId xmlns:a16="http://schemas.microsoft.com/office/drawing/2014/main" id="{5A0D2BE8-FB92-4A00-B0DF-612182E15C9E}"/>
              </a:ext>
            </a:extLst>
          </p:cNvPr>
          <p:cNvSpPr>
            <a:spLocks xmlns:a="http://schemas.openxmlformats.org/drawingml/2006/main" noGrp="1"/>
          </p:cNvSpPr>
          <p:nvPr/>
        </p:nvSpPr>
        <p:spPr>
          <a:xfrm xmlns:a="http://schemas.openxmlformats.org/drawingml/2006/main">
            <a:off x="5581650" y="2638425"/>
            <a:ext cx="1028700" cy="0"/>
          </a:xfrm>
          <a:prstGeom xmlns:a="http://schemas.openxmlformats.org/drawingml/2006/main" prst="line">
            <a:avLst/>
          </a:prstGeom>
          <a:noFill xmlns:a="http://schemas.openxmlformats.org/drawingml/2006/main"/>
          <a:ln xmlns:a="http://schemas.openxmlformats.org/drawingml/2006/main" w="28575">
            <a:solidFill>
              <a:srgbClr val="176082"/>
            </a:solidFill>
          </a:ln>
        </p:spPr>
      </p:sp>
      <p:sp>
        <p:nvSpPr>
          <p:cNvPr id="14" name="">
            <a:extLst xmlns:a="http://schemas.openxmlformats.org/drawingml/2006/main">
              <a:ext uri="{FF2B5EF4-FFF2-40B4-BE49-F238E27FC236}">
                <a16:creationId xmlns:a16="http://schemas.microsoft.com/office/drawing/2014/main" id="{7D63C82B-73EA-4BF1-AA18-4DE71E712B15}"/>
              </a:ext>
            </a:extLst>
          </p:cNvPr>
          <p:cNvSpPr>
            <a:spLocks xmlns:a="http://schemas.openxmlformats.org/drawingml/2006/main" noGrp="1"/>
          </p:cNvSpPr>
          <p:nvPr/>
        </p:nvSpPr>
        <p:spPr>
          <a:xfrm xmlns:a="http://schemas.openxmlformats.org/drawingml/2006/main">
            <a:off x="723900" y="3295650"/>
            <a:ext cx="4857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1EBEF5E8-ED72-438A-AF4A-3CF2DAB366C9}"/>
              </a:ext>
            </a:extLst>
          </p:cNvPr>
          <p:cNvSpPr>
            <a:spLocks xmlns:a="http://schemas.openxmlformats.org/drawingml/2006/main" noGrp="1"/>
          </p:cNvSpPr>
          <p:nvPr/>
        </p:nvSpPr>
        <p:spPr>
          <a:xfrm xmlns:a="http://schemas.openxmlformats.org/drawingml/2006/main">
            <a:off x="6610350" y="3295650"/>
            <a:ext cx="4857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8C9D3"/>
            </a:solidFill>
          </a:ln>
        </p:spPr>
      </p:sp>
      <p:sp>
        <p:nvSpPr>
          <p:cNvPr id="16" name="">
            <a:extLst xmlns:a="http://schemas.openxmlformats.org/drawingml/2006/main">
              <a:ext uri="{FF2B5EF4-FFF2-40B4-BE49-F238E27FC236}">
                <a16:creationId xmlns:a16="http://schemas.microsoft.com/office/drawing/2014/main" id="{584F7770-7001-4531-B78D-0F6709C09BC0}"/>
              </a:ext>
            </a:extLst>
          </p:cNvPr>
          <p:cNvSpPr>
            <a:spLocks xmlns:a="http://schemas.openxmlformats.org/drawingml/2006/main" noGrp="1"/>
          </p:cNvSpPr>
          <p:nvPr/>
        </p:nvSpPr>
        <p:spPr>
          <a:xfrm xmlns:a="http://schemas.openxmlformats.org/drawingml/2006/main">
            <a:off x="971550" y="3419475"/>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FUNCTIONAL</a:t>
            </a:r>
          </a:p>
        </p:txBody>
      </p:sp>
      <p:sp>
        <p:nvSpPr>
          <p:cNvPr id="17" name="">
            <a:extLst xmlns:a="http://schemas.openxmlformats.org/drawingml/2006/main">
              <a:ext uri="{FF2B5EF4-FFF2-40B4-BE49-F238E27FC236}">
                <a16:creationId xmlns:a16="http://schemas.microsoft.com/office/drawing/2014/main" id="{53646285-6C69-4E27-B211-30E0351AA898}"/>
              </a:ext>
            </a:extLst>
          </p:cNvPr>
          <p:cNvSpPr>
            <a:spLocks xmlns:a="http://schemas.openxmlformats.org/drawingml/2006/main" noGrp="1"/>
          </p:cNvSpPr>
          <p:nvPr/>
        </p:nvSpPr>
        <p:spPr>
          <a:xfrm xmlns:a="http://schemas.openxmlformats.org/drawingml/2006/main">
            <a:off x="2495550" y="3419475"/>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33343F"/>
                </a:solidFill>
                <a:latin typeface="Arial"/>
                <a:ea typeface="Arial"/>
                <a:cs typeface="Arial"/>
              </a:defRPr>
            </a:pPr>
            <a:r>
              <a:rPr sz="1275" b="1" i="0">
                <a:solidFill>
                  <a:srgbClr val="33343F"/>
                </a:solidFill>
                <a:latin typeface="Arial"/>
                <a:ea typeface="Arial"/>
                <a:cs typeface="Arial"/>
              </a:rPr>
              <a:t>messages used to perform communicative functions</a:t>
            </a:r>
          </a:p>
        </p:txBody>
      </p:sp>
      <p:sp>
        <p:nvSpPr>
          <p:cNvPr id="18" name="">
            <a:extLst xmlns:a="http://schemas.openxmlformats.org/drawingml/2006/main">
              <a:ext uri="{FF2B5EF4-FFF2-40B4-BE49-F238E27FC236}">
                <a16:creationId xmlns:a16="http://schemas.microsoft.com/office/drawing/2014/main" id="{0035914C-F3F0-452F-A051-8D9054425AB7}"/>
              </a:ext>
            </a:extLst>
          </p:cNvPr>
          <p:cNvSpPr>
            <a:spLocks xmlns:a="http://schemas.openxmlformats.org/drawingml/2006/main" noGrp="1"/>
          </p:cNvSpPr>
          <p:nvPr/>
        </p:nvSpPr>
        <p:spPr>
          <a:xfrm xmlns:a="http://schemas.openxmlformats.org/drawingml/2006/main">
            <a:off x="6848475" y="3409950"/>
            <a:ext cx="4381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Do definitions, explanations, contrasts and guidance work for the reader?</a:t>
            </a:r>
          </a:p>
        </p:txBody>
      </p:sp>
      <p:sp>
        <p:nvSpPr>
          <p:cNvPr id="19" name="">
            <a:extLst xmlns:a="http://schemas.openxmlformats.org/drawingml/2006/main">
              <a:ext uri="{FF2B5EF4-FFF2-40B4-BE49-F238E27FC236}">
                <a16:creationId xmlns:a16="http://schemas.microsoft.com/office/drawing/2014/main" id="{742DE133-0053-42E6-A67D-5887B17FB632}"/>
              </a:ext>
            </a:extLst>
          </p:cNvPr>
          <p:cNvSpPr>
            <a:spLocks xmlns:a="http://schemas.openxmlformats.org/drawingml/2006/main" noGrp="1"/>
          </p:cNvSpPr>
          <p:nvPr/>
        </p:nvSpPr>
        <p:spPr>
          <a:xfrm xmlns:a="http://schemas.openxmlformats.org/drawingml/2006/main">
            <a:off x="5581650" y="3733800"/>
            <a:ext cx="1028700" cy="0"/>
          </a:xfrm>
          <a:prstGeom xmlns:a="http://schemas.openxmlformats.org/drawingml/2006/main" prst="line">
            <a:avLst/>
          </a:prstGeom>
          <a:noFill xmlns:a="http://schemas.openxmlformats.org/drawingml/2006/main"/>
          <a:ln xmlns:a="http://schemas.openxmlformats.org/drawingml/2006/main" w="28575">
            <a:solidFill>
              <a:srgbClr val="D58C00"/>
            </a:solidFill>
          </a:ln>
        </p:spPr>
      </p:sp>
      <p:sp>
        <p:nvSpPr>
          <p:cNvPr id="20" name="">
            <a:extLst xmlns:a="http://schemas.openxmlformats.org/drawingml/2006/main">
              <a:ext uri="{FF2B5EF4-FFF2-40B4-BE49-F238E27FC236}">
                <a16:creationId xmlns:a16="http://schemas.microsoft.com/office/drawing/2014/main" id="{B88F64E4-34B6-4CB9-89C4-FAC83465A0E6}"/>
              </a:ext>
            </a:extLst>
          </p:cNvPr>
          <p:cNvSpPr>
            <a:spLocks xmlns:a="http://schemas.openxmlformats.org/drawingml/2006/main" noGrp="1"/>
          </p:cNvSpPr>
          <p:nvPr/>
        </p:nvSpPr>
        <p:spPr>
          <a:xfrm xmlns:a="http://schemas.openxmlformats.org/drawingml/2006/main">
            <a:off x="723900" y="4391025"/>
            <a:ext cx="4857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8C9D3"/>
            </a:solidFill>
          </a:ln>
        </p:spPr>
      </p:sp>
      <p:sp>
        <p:nvSpPr>
          <p:cNvPr id="21" name="">
            <a:extLst xmlns:a="http://schemas.openxmlformats.org/drawingml/2006/main">
              <a:ext uri="{FF2B5EF4-FFF2-40B4-BE49-F238E27FC236}">
                <a16:creationId xmlns:a16="http://schemas.microsoft.com/office/drawing/2014/main" id="{CCC4D2FC-AA87-4880-ADFF-138AA599AE42}"/>
              </a:ext>
            </a:extLst>
          </p:cNvPr>
          <p:cNvSpPr>
            <a:spLocks xmlns:a="http://schemas.openxmlformats.org/drawingml/2006/main" noGrp="1"/>
          </p:cNvSpPr>
          <p:nvPr/>
        </p:nvSpPr>
        <p:spPr>
          <a:xfrm xmlns:a="http://schemas.openxmlformats.org/drawingml/2006/main">
            <a:off x="6610350" y="4391025"/>
            <a:ext cx="4857750" cy="876300"/>
          </a:xfrm>
          <a:prstGeom xmlns:a="http://schemas.openxmlformats.org/drawingml/2006/main" prst="roundRect">
            <a:avLst>
              <a:gd name="adj" fmla="val 8696"/>
            </a:avLst>
          </a:prstGeom>
          <a:solidFill xmlns:a="http://schemas.openxmlformats.org/drawingml/2006/main">
            <a:srgbClr val="FFF4D8"/>
          </a:solidFill>
          <a:ln xmlns:a="http://schemas.openxmlformats.org/drawingml/2006/main" w="9525">
            <a:solidFill>
              <a:srgbClr val="C8C9D3"/>
            </a:solidFill>
          </a:ln>
        </p:spPr>
      </p:sp>
      <p:sp>
        <p:nvSpPr>
          <p:cNvPr id="22" name="">
            <a:extLst xmlns:a="http://schemas.openxmlformats.org/drawingml/2006/main">
              <a:ext uri="{FF2B5EF4-FFF2-40B4-BE49-F238E27FC236}">
                <a16:creationId xmlns:a16="http://schemas.microsoft.com/office/drawing/2014/main" id="{0E0583D3-0004-47E5-885E-FDB619A21F4E}"/>
              </a:ext>
            </a:extLst>
          </p:cNvPr>
          <p:cNvSpPr>
            <a:spLocks xmlns:a="http://schemas.openxmlformats.org/drawingml/2006/main" noGrp="1"/>
          </p:cNvSpPr>
          <p:nvPr/>
        </p:nvSpPr>
        <p:spPr>
          <a:xfrm xmlns:a="http://schemas.openxmlformats.org/drawingml/2006/main">
            <a:off x="971550" y="451485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DESIGN</a:t>
            </a:r>
          </a:p>
        </p:txBody>
      </p:sp>
      <p:sp>
        <p:nvSpPr>
          <p:cNvPr id="23" name="">
            <a:extLst xmlns:a="http://schemas.openxmlformats.org/drawingml/2006/main">
              <a:ext uri="{FF2B5EF4-FFF2-40B4-BE49-F238E27FC236}">
                <a16:creationId xmlns:a16="http://schemas.microsoft.com/office/drawing/2014/main" id="{C2424088-1D50-48A5-97DC-93B6E7799770}"/>
              </a:ext>
            </a:extLst>
          </p:cNvPr>
          <p:cNvSpPr>
            <a:spLocks xmlns:a="http://schemas.openxmlformats.org/drawingml/2006/main" noGrp="1"/>
          </p:cNvSpPr>
          <p:nvPr/>
        </p:nvSpPr>
        <p:spPr>
          <a:xfrm xmlns:a="http://schemas.openxmlformats.org/drawingml/2006/main">
            <a:off x="2495550" y="451485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226"/>
          </a:bodyPr>
          <a:lstStyle xmlns:a="http://schemas.openxmlformats.org/drawingml/2006/main"/>
          <a:p xmlns:a="http://schemas.openxmlformats.org/drawingml/2006/main">
            <a:pPr algn="l">
              <a:defRPr sz="1275" b="1" i="0">
                <a:solidFill>
                  <a:srgbClr val="33343F"/>
                </a:solidFill>
                <a:latin typeface="Arial"/>
                <a:ea typeface="Arial"/>
                <a:cs typeface="Arial"/>
              </a:defRPr>
            </a:pPr>
            <a:r>
              <a:rPr sz="1275" b="1" i="0">
                <a:solidFill>
                  <a:srgbClr val="33343F"/>
                </a:solidFill>
                <a:latin typeface="Arial"/>
                <a:ea typeface="Arial"/>
                <a:cs typeface="Arial"/>
              </a:rPr>
              <a:t>messages sequenced through interactional or transactional schemata</a:t>
            </a:r>
          </a:p>
        </p:txBody>
      </p:sp>
      <p:sp>
        <p:nvSpPr>
          <p:cNvPr id="24" name="">
            <a:extLst xmlns:a="http://schemas.openxmlformats.org/drawingml/2006/main">
              <a:ext uri="{FF2B5EF4-FFF2-40B4-BE49-F238E27FC236}">
                <a16:creationId xmlns:a16="http://schemas.microsoft.com/office/drawing/2014/main" id="{1826D851-74A8-4A60-BCFA-E0733DF3A1E6}"/>
              </a:ext>
            </a:extLst>
          </p:cNvPr>
          <p:cNvSpPr>
            <a:spLocks xmlns:a="http://schemas.openxmlformats.org/drawingml/2006/main" noGrp="1"/>
          </p:cNvSpPr>
          <p:nvPr/>
        </p:nvSpPr>
        <p:spPr>
          <a:xfrm xmlns:a="http://schemas.openxmlformats.org/drawingml/2006/main">
            <a:off x="6848475" y="4505325"/>
            <a:ext cx="4381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Are support, examples and modes placed and coordinated at points of need?</a:t>
            </a:r>
          </a:p>
        </p:txBody>
      </p:sp>
      <p:sp>
        <p:nvSpPr>
          <p:cNvPr id="25" name="">
            <a:extLst xmlns:a="http://schemas.openxmlformats.org/drawingml/2006/main">
              <a:ext uri="{FF2B5EF4-FFF2-40B4-BE49-F238E27FC236}">
                <a16:creationId xmlns:a16="http://schemas.microsoft.com/office/drawing/2014/main" id="{00A6F46B-56E8-4B99-94D3-2D46F5A4DBBF}"/>
              </a:ext>
            </a:extLst>
          </p:cNvPr>
          <p:cNvSpPr>
            <a:spLocks xmlns:a="http://schemas.openxmlformats.org/drawingml/2006/main" noGrp="1"/>
          </p:cNvSpPr>
          <p:nvPr/>
        </p:nvSpPr>
        <p:spPr>
          <a:xfrm xmlns:a="http://schemas.openxmlformats.org/drawingml/2006/main">
            <a:off x="5581650" y="4829175"/>
            <a:ext cx="1028700" cy="0"/>
          </a:xfrm>
          <a:prstGeom xmlns:a="http://schemas.openxmlformats.org/drawingml/2006/main" prst="line">
            <a:avLst/>
          </a:prstGeom>
          <a:noFill xmlns:a="http://schemas.openxmlformats.org/drawingml/2006/main"/>
          <a:ln xmlns:a="http://schemas.openxmlformats.org/drawingml/2006/main" w="28575">
            <a:solidFill>
              <a:srgbClr val="FFD45A"/>
            </a:solidFill>
          </a:ln>
        </p:spPr>
      </p:sp>
      <p:sp>
        <p:nvSpPr>
          <p:cNvPr id="26" name="">
            <a:extLst xmlns:a="http://schemas.openxmlformats.org/drawingml/2006/main">
              <a:ext uri="{FF2B5EF4-FFF2-40B4-BE49-F238E27FC236}">
                <a16:creationId xmlns:a16="http://schemas.microsoft.com/office/drawing/2014/main" id="{2D954757-75C7-416A-9E39-90C00677E164}"/>
              </a:ext>
            </a:extLst>
          </p:cNvPr>
          <p:cNvSpPr>
            <a:spLocks xmlns:a="http://schemas.openxmlformats.org/drawingml/2006/main" noGrp="1"/>
          </p:cNvSpPr>
          <p:nvPr/>
        </p:nvSpPr>
        <p:spPr>
          <a:xfrm xmlns:a="http://schemas.openxmlformats.org/drawingml/2006/main">
            <a:off x="1390650" y="5667375"/>
            <a:ext cx="9410700" cy="457200"/>
          </a:xfrm>
          <a:prstGeom xmlns:a="http://schemas.openxmlformats.org/drawingml/2006/main" prst="roundRect">
            <a:avLst>
              <a:gd name="adj" fmla="val 16667"/>
            </a:avLst>
          </a:prstGeom>
          <a:solidFill xmlns:a="http://schemas.openxmlformats.org/drawingml/2006/main">
            <a:srgbClr val="E6F0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C57F042-9666-457D-9E6E-54CCFE7384D0}"/>
              </a:ext>
            </a:extLst>
          </p:cNvPr>
          <p:cNvSpPr>
            <a:spLocks xmlns:a="http://schemas.openxmlformats.org/drawingml/2006/main" noGrp="1"/>
          </p:cNvSpPr>
          <p:nvPr/>
        </p:nvSpPr>
        <p:spPr>
          <a:xfrm xmlns:a="http://schemas.openxmlformats.org/drawingml/2006/main">
            <a:off x="1676400" y="5772150"/>
            <a:ext cx="883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555"/>
          </a:bodyPr>
          <a:lstStyle xmlns:a="http://schemas.openxmlformats.org/drawingml/2006/main"/>
          <a:p xmlns:a="http://schemas.openxmlformats.org/drawingml/2006/main">
            <a:pPr algn="ctr">
              <a:defRPr sz="1350" b="1" i="0">
                <a:solidFill>
                  <a:srgbClr val="176082"/>
                </a:solidFill>
                <a:latin typeface="Arial"/>
                <a:ea typeface="Arial"/>
                <a:cs typeface="Arial"/>
              </a:defRPr>
            </a:pPr>
            <a:r>
              <a:rPr sz="1350" b="1" i="0">
                <a:solidFill>
                  <a:srgbClr val="176082"/>
                </a:solidFill>
                <a:latin typeface="Arial"/>
                <a:ea typeface="Arial"/>
                <a:cs typeface="Arial"/>
              </a:rPr>
              <a:t>This is an operational mapping from user competence to textbook choices—not a CEFR textbook scale.</a:t>
            </a:r>
          </a:p>
        </p:txBody>
      </p:sp>
      <p:sp>
        <p:nvSpPr>
          <p:cNvPr id="28" name="">
            <a:extLst xmlns:a="http://schemas.openxmlformats.org/drawingml/2006/main">
              <a:ext uri="{FF2B5EF4-FFF2-40B4-BE49-F238E27FC236}">
                <a16:creationId xmlns:a16="http://schemas.microsoft.com/office/drawing/2014/main" id="{6BDC9983-A9CA-4EE3-A599-3E8883BA35DA}"/>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Council of Europe, 2020, pp. 137–138; MIWAE operational extension</a:t>
            </a:r>
          </a:p>
        </p:txBody>
      </p:sp>
      <p:sp>
        <p:nvSpPr>
          <p:cNvPr id="29" name="">
            <a:extLst xmlns:a="http://schemas.openxmlformats.org/drawingml/2006/main">
              <a:ext uri="{FF2B5EF4-FFF2-40B4-BE49-F238E27FC236}">
                <a16:creationId xmlns:a16="http://schemas.microsoft.com/office/drawing/2014/main" id="{0759FE02-C531-4584-B9C2-3C4C863C3C7E}"/>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0" name="">
            <a:extLst xmlns:a="http://schemas.openxmlformats.org/drawingml/2006/main">
              <a:ext uri="{FF2B5EF4-FFF2-40B4-BE49-F238E27FC236}">
                <a16:creationId xmlns:a16="http://schemas.microsoft.com/office/drawing/2014/main" id="{BBE32B39-9DC3-4349-A478-1A0BA205D4EF}"/>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52141260"/>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42DB8E8-EEDC-473A-AE27-1748AFB49AD1}"/>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4139D6-82A2-4241-A68F-D7EC9F9E46C3}"/>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5B6D2153-6E51-4248-AC10-0E6E0E5AA9E2}"/>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Research problem and MIWAE contribution</a:t>
            </a:r>
          </a:p>
        </p:txBody>
      </p:sp>
      <p:sp>
        <p:nvSpPr>
          <p:cNvPr id="4" name="">
            <a:extLst xmlns:a="http://schemas.openxmlformats.org/drawingml/2006/main">
              <a:ext uri="{FF2B5EF4-FFF2-40B4-BE49-F238E27FC236}">
                <a16:creationId xmlns:a16="http://schemas.microsoft.com/office/drawing/2014/main" id="{B04DD0D5-304C-43B0-97F0-6BB6996FCEF4}"/>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F659D3D3-3CDB-4C77-AD4A-CECECC741802}"/>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81E1D861-C126-41E7-BC4D-126701E83147}"/>
              </a:ext>
            </a:extLst>
          </p:cNvPr>
          <p:cNvSpPr>
            <a:spLocks xmlns:a="http://schemas.openxmlformats.org/drawingml/2006/main" noGrp="1"/>
          </p:cNvSpPr>
          <p:nvPr/>
        </p:nvSpPr>
        <p:spPr>
          <a:xfrm xmlns:a="http://schemas.openxmlformats.org/drawingml/2006/main">
            <a:off x="800100" y="1647825"/>
            <a:ext cx="10591800" cy="914400"/>
          </a:xfrm>
          <a:prstGeom xmlns:a="http://schemas.openxmlformats.org/drawingml/2006/main" prst="roundRect">
            <a:avLst>
              <a:gd name="adj" fmla="val 8333"/>
            </a:avLst>
          </a:prstGeom>
          <a:solidFill xmlns:a="http://schemas.openxmlformats.org/drawingml/2006/main">
            <a:srgbClr val="17608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F0FA0F-2861-473B-967E-6DDDF9AC4A29}"/>
              </a:ext>
            </a:extLst>
          </p:cNvPr>
          <p:cNvSpPr>
            <a:spLocks xmlns:a="http://schemas.openxmlformats.org/drawingml/2006/main" noGrp="1"/>
          </p:cNvSpPr>
          <p:nvPr/>
        </p:nvSpPr>
        <p:spPr>
          <a:xfrm xmlns:a="http://schemas.openxmlformats.org/drawingml/2006/main">
            <a:off x="1257300" y="1838325"/>
            <a:ext cx="9677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691"/>
          </a:bodyPr>
          <a:lstStyle xmlns:a="http://schemas.openxmlformats.org/drawingml/2006/main"/>
          <a:p xmlns:a="http://schemas.openxmlformats.org/drawingml/2006/main">
            <a:pPr algn="ctr">
              <a:defRPr sz="2025" b="1" i="0">
                <a:solidFill>
                  <a:srgbClr val="FFFFFF"/>
                </a:solidFill>
                <a:latin typeface="Arial"/>
                <a:ea typeface="Arial"/>
                <a:cs typeface="Arial"/>
              </a:defRPr>
            </a:pPr>
            <a:r>
              <a:rPr sz="2025" b="1" i="0">
                <a:solidFill>
                  <a:srgbClr val="FFFFFF"/>
                </a:solidFill>
                <a:latin typeface="Arial"/>
                <a:ea typeface="Arial"/>
                <a:cs typeface="Arial"/>
              </a:rPr>
              <a:t>How can EMI textbooks be examined for the way they modify and organise written disciplinary input for multilingual readers?</a:t>
            </a:r>
          </a:p>
        </p:txBody>
      </p:sp>
      <p:sp>
        <p:nvSpPr>
          <p:cNvPr id="8" name="">
            <a:extLst xmlns:a="http://schemas.openxmlformats.org/drawingml/2006/main">
              <a:ext uri="{FF2B5EF4-FFF2-40B4-BE49-F238E27FC236}">
                <a16:creationId xmlns:a16="http://schemas.microsoft.com/office/drawing/2014/main" id="{2871D784-857D-472C-8F95-44CD0470F7C7}"/>
              </a:ext>
            </a:extLst>
          </p:cNvPr>
          <p:cNvSpPr>
            <a:spLocks xmlns:a="http://schemas.openxmlformats.org/drawingml/2006/main" noGrp="1"/>
          </p:cNvSpPr>
          <p:nvPr/>
        </p:nvSpPr>
        <p:spPr>
          <a:xfrm xmlns:a="http://schemas.openxmlformats.org/drawingml/2006/main">
            <a:off x="885825" y="299085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DOCUMENTED PROBLEM</a:t>
            </a:r>
          </a:p>
        </p:txBody>
      </p:sp>
      <p:sp>
        <p:nvSpPr>
          <p:cNvPr id="9" name="">
            <a:extLst xmlns:a="http://schemas.openxmlformats.org/drawingml/2006/main">
              <a:ext uri="{FF2B5EF4-FFF2-40B4-BE49-F238E27FC236}">
                <a16:creationId xmlns:a16="http://schemas.microsoft.com/office/drawing/2014/main" id="{7CA17E92-EB88-46E1-A592-5847B3097D18}"/>
              </a:ext>
            </a:extLst>
          </p:cNvPr>
          <p:cNvSpPr>
            <a:spLocks xmlns:a="http://schemas.openxmlformats.org/drawingml/2006/main" noGrp="1"/>
          </p:cNvSpPr>
          <p:nvPr/>
        </p:nvSpPr>
        <p:spPr>
          <a:xfrm xmlns:a="http://schemas.openxmlformats.org/drawingml/2006/main">
            <a:off x="6705600" y="299085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PROPOSED RESPONSE</a:t>
            </a:r>
          </a:p>
        </p:txBody>
      </p:sp>
      <p:sp>
        <p:nvSpPr>
          <p:cNvPr id="10" name="">
            <a:extLst xmlns:a="http://schemas.openxmlformats.org/drawingml/2006/main">
              <a:ext uri="{FF2B5EF4-FFF2-40B4-BE49-F238E27FC236}">
                <a16:creationId xmlns:a16="http://schemas.microsoft.com/office/drawing/2014/main" id="{5C34400C-2048-4DB5-882D-ABE4B4EC1C41}"/>
              </a:ext>
            </a:extLst>
          </p:cNvPr>
          <p:cNvSpPr>
            <a:spLocks xmlns:a="http://schemas.openxmlformats.org/drawingml/2006/main" noGrp="1"/>
          </p:cNvSpPr>
          <p:nvPr/>
        </p:nvSpPr>
        <p:spPr>
          <a:xfrm xmlns:a="http://schemas.openxmlformats.org/drawingml/2006/main">
            <a:off x="781050" y="3400425"/>
            <a:ext cx="4810125"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E197FD10-E4AD-4A03-A86C-3B8940D8A011}"/>
              </a:ext>
            </a:extLst>
          </p:cNvPr>
          <p:cNvSpPr>
            <a:spLocks xmlns:a="http://schemas.openxmlformats.org/drawingml/2006/main" noGrp="1"/>
          </p:cNvSpPr>
          <p:nvPr/>
        </p:nvSpPr>
        <p:spPr>
          <a:xfrm xmlns:a="http://schemas.openxmlformats.org/drawingml/2006/main">
            <a:off x="981075" y="3495675"/>
            <a:ext cx="4410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25"/>
          </a:bodyPr>
          <a:lstStyle xmlns:a="http://schemas.openxmlformats.org/drawingml/2006/main"/>
          <a:p xmlns:a="http://schemas.openxmlformats.org/drawingml/2006/main">
            <a:pPr algn="ctr">
              <a:defRPr sz="1200" b="1" i="0">
                <a:solidFill>
                  <a:srgbClr val="33343F"/>
                </a:solidFill>
                <a:latin typeface="Arial"/>
                <a:ea typeface="Arial"/>
                <a:cs typeface="Arial"/>
              </a:defRPr>
            </a:pPr>
            <a:r>
              <a:rPr sz="1200" b="1" i="0">
                <a:solidFill>
                  <a:srgbClr val="33343F"/>
                </a:solidFill>
                <a:latin typeface="Arial"/>
                <a:ea typeface="Arial"/>
                <a:cs typeface="Arial"/>
              </a:rPr>
              <a:t>Written academic ELF remains under-researched</a:t>
            </a:r>
          </a:p>
        </p:txBody>
      </p:sp>
      <p:sp>
        <p:nvSpPr>
          <p:cNvPr id="12" name="">
            <a:extLst xmlns:a="http://schemas.openxmlformats.org/drawingml/2006/main">
              <a:ext uri="{FF2B5EF4-FFF2-40B4-BE49-F238E27FC236}">
                <a16:creationId xmlns:a16="http://schemas.microsoft.com/office/drawing/2014/main" id="{45382A1A-7567-4FC7-AD65-03E1DEA36957}"/>
              </a:ext>
            </a:extLst>
          </p:cNvPr>
          <p:cNvSpPr>
            <a:spLocks xmlns:a="http://schemas.openxmlformats.org/drawingml/2006/main" noGrp="1"/>
          </p:cNvSpPr>
          <p:nvPr/>
        </p:nvSpPr>
        <p:spPr>
          <a:xfrm xmlns:a="http://schemas.openxmlformats.org/drawingml/2006/main">
            <a:off x="781050" y="4019550"/>
            <a:ext cx="4810125"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8C9D3"/>
            </a:solidFill>
          </a:ln>
        </p:spPr>
      </p:sp>
      <p:sp>
        <p:nvSpPr>
          <p:cNvPr id="13" name="">
            <a:extLst xmlns:a="http://schemas.openxmlformats.org/drawingml/2006/main">
              <a:ext uri="{FF2B5EF4-FFF2-40B4-BE49-F238E27FC236}">
                <a16:creationId xmlns:a16="http://schemas.microsoft.com/office/drawing/2014/main" id="{9EC12310-82E3-455C-9482-C29ED2396C4A}"/>
              </a:ext>
            </a:extLst>
          </p:cNvPr>
          <p:cNvSpPr>
            <a:spLocks xmlns:a="http://schemas.openxmlformats.org/drawingml/2006/main" noGrp="1"/>
          </p:cNvSpPr>
          <p:nvPr/>
        </p:nvSpPr>
        <p:spPr>
          <a:xfrm xmlns:a="http://schemas.openxmlformats.org/drawingml/2006/main">
            <a:off x="981075" y="4114800"/>
            <a:ext cx="4410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25"/>
          </a:bodyPr>
          <a:lstStyle xmlns:a="http://schemas.openxmlformats.org/drawingml/2006/main"/>
          <a:p xmlns:a="http://schemas.openxmlformats.org/drawingml/2006/main">
            <a:pPr algn="ctr">
              <a:defRPr sz="1200" b="1" i="0">
                <a:solidFill>
                  <a:srgbClr val="33343F"/>
                </a:solidFill>
                <a:latin typeface="Arial"/>
                <a:ea typeface="Arial"/>
                <a:cs typeface="Arial"/>
              </a:defRPr>
            </a:pPr>
            <a:r>
              <a:rPr sz="1200" b="1" i="0">
                <a:solidFill>
                  <a:srgbClr val="33343F"/>
                </a:solidFill>
                <a:latin typeface="Arial"/>
                <a:ea typeface="Arial"/>
                <a:cs typeface="Arial"/>
              </a:rPr>
              <a:t>Textbook discourse is rarely treated as communication</a:t>
            </a:r>
          </a:p>
        </p:txBody>
      </p:sp>
      <p:sp>
        <p:nvSpPr>
          <p:cNvPr id="14" name="">
            <a:extLst xmlns:a="http://schemas.openxmlformats.org/drawingml/2006/main">
              <a:ext uri="{FF2B5EF4-FFF2-40B4-BE49-F238E27FC236}">
                <a16:creationId xmlns:a16="http://schemas.microsoft.com/office/drawing/2014/main" id="{B80E10F2-18BD-47B2-805A-50C7DD4F140C}"/>
              </a:ext>
            </a:extLst>
          </p:cNvPr>
          <p:cNvSpPr>
            <a:spLocks xmlns:a="http://schemas.openxmlformats.org/drawingml/2006/main" noGrp="1"/>
          </p:cNvSpPr>
          <p:nvPr/>
        </p:nvSpPr>
        <p:spPr>
          <a:xfrm xmlns:a="http://schemas.openxmlformats.org/drawingml/2006/main">
            <a:off x="781050" y="4638675"/>
            <a:ext cx="4810125"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8BD7BEDC-904E-47C9-B90A-752E202D6C53}"/>
              </a:ext>
            </a:extLst>
          </p:cNvPr>
          <p:cNvSpPr>
            <a:spLocks xmlns:a="http://schemas.openxmlformats.org/drawingml/2006/main" noGrp="1"/>
          </p:cNvSpPr>
          <p:nvPr/>
        </p:nvSpPr>
        <p:spPr>
          <a:xfrm xmlns:a="http://schemas.openxmlformats.org/drawingml/2006/main">
            <a:off x="981075" y="4733925"/>
            <a:ext cx="4410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25"/>
          </a:bodyPr>
          <a:lstStyle xmlns:a="http://schemas.openxmlformats.org/drawingml/2006/main"/>
          <a:p xmlns:a="http://schemas.openxmlformats.org/drawingml/2006/main">
            <a:pPr algn="ctr">
              <a:defRPr sz="1200" b="1" i="0">
                <a:solidFill>
                  <a:srgbClr val="33343F"/>
                </a:solidFill>
                <a:latin typeface="Arial"/>
                <a:ea typeface="Arial"/>
                <a:cs typeface="Arial"/>
              </a:defRPr>
            </a:pPr>
            <a:r>
              <a:rPr sz="1200" b="1" i="0">
                <a:solidFill>
                  <a:srgbClr val="33343F"/>
                </a:solidFill>
                <a:latin typeface="Arial"/>
                <a:ea typeface="Arial"/>
                <a:cs typeface="Arial"/>
              </a:rPr>
              <a:t>Reader difficulty is seldom linked to located design choices</a:t>
            </a:r>
          </a:p>
        </p:txBody>
      </p:sp>
      <p:sp>
        <p:nvSpPr>
          <p:cNvPr id="16" name="">
            <a:extLst xmlns:a="http://schemas.openxmlformats.org/drawingml/2006/main">
              <a:ext uri="{FF2B5EF4-FFF2-40B4-BE49-F238E27FC236}">
                <a16:creationId xmlns:a16="http://schemas.microsoft.com/office/drawing/2014/main" id="{73899BB6-DEAE-48FA-816F-4F1A63091646}"/>
              </a:ext>
            </a:extLst>
          </p:cNvPr>
          <p:cNvSpPr>
            <a:spLocks xmlns:a="http://schemas.openxmlformats.org/drawingml/2006/main" noGrp="1"/>
          </p:cNvSpPr>
          <p:nvPr/>
        </p:nvSpPr>
        <p:spPr>
          <a:xfrm xmlns:a="http://schemas.openxmlformats.org/drawingml/2006/main">
            <a:off x="6600825" y="3400425"/>
            <a:ext cx="4810125" cy="457200"/>
          </a:xfrm>
          <a:prstGeom xmlns:a="http://schemas.openxmlformats.org/drawingml/2006/main" prst="roundRect">
            <a:avLst>
              <a:gd name="adj" fmla="val 16667"/>
            </a:avLst>
          </a:prstGeom>
          <a:solidFill xmlns:a="http://schemas.openxmlformats.org/drawingml/2006/main">
            <a:srgbClr val="E6F0F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9052320-289E-4898-8D0E-C11560712B78}"/>
              </a:ext>
            </a:extLst>
          </p:cNvPr>
          <p:cNvSpPr>
            <a:spLocks xmlns:a="http://schemas.openxmlformats.org/drawingml/2006/main" noGrp="1"/>
          </p:cNvSpPr>
          <p:nvPr/>
        </p:nvSpPr>
        <p:spPr>
          <a:xfrm xmlns:a="http://schemas.openxmlformats.org/drawingml/2006/main">
            <a:off x="6800850" y="3495675"/>
            <a:ext cx="4410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25"/>
          </a:bodyPr>
          <a:lstStyle xmlns:a="http://schemas.openxmlformats.org/drawingml/2006/main"/>
          <a:p xmlns:a="http://schemas.openxmlformats.org/drawingml/2006/main">
            <a:pPr algn="ctr">
              <a:defRPr sz="1200" b="1" i="0">
                <a:solidFill>
                  <a:srgbClr val="176082"/>
                </a:solidFill>
                <a:latin typeface="Arial"/>
                <a:ea typeface="Arial"/>
                <a:cs typeface="Arial"/>
              </a:defRPr>
            </a:pPr>
            <a:r>
              <a:rPr sz="1200" b="1" i="0">
                <a:solidFill>
                  <a:srgbClr val="176082"/>
                </a:solidFill>
                <a:latin typeface="Arial"/>
                <a:ea typeface="Arial"/>
                <a:cs typeface="Arial"/>
              </a:rPr>
              <a:t>Connect reader evidence to textual evidence</a:t>
            </a:r>
          </a:p>
        </p:txBody>
      </p:sp>
      <p:sp>
        <p:nvSpPr>
          <p:cNvPr id="18" name="">
            <a:extLst xmlns:a="http://schemas.openxmlformats.org/drawingml/2006/main">
              <a:ext uri="{FF2B5EF4-FFF2-40B4-BE49-F238E27FC236}">
                <a16:creationId xmlns:a16="http://schemas.microsoft.com/office/drawing/2014/main" id="{1DF4D30D-9CAE-4633-8106-9A1921186D13}"/>
              </a:ext>
            </a:extLst>
          </p:cNvPr>
          <p:cNvSpPr>
            <a:spLocks xmlns:a="http://schemas.openxmlformats.org/drawingml/2006/main" noGrp="1"/>
          </p:cNvSpPr>
          <p:nvPr/>
        </p:nvSpPr>
        <p:spPr>
          <a:xfrm xmlns:a="http://schemas.openxmlformats.org/drawingml/2006/main">
            <a:off x="6600825" y="4019550"/>
            <a:ext cx="4810125" cy="457200"/>
          </a:xfrm>
          <a:prstGeom xmlns:a="http://schemas.openxmlformats.org/drawingml/2006/main" prst="roundRect">
            <a:avLst>
              <a:gd name="adj" fmla="val 16667"/>
            </a:avLst>
          </a:prstGeom>
          <a:solidFill xmlns:a="http://schemas.openxmlformats.org/drawingml/2006/main">
            <a:srgbClr val="E6F0F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6975909-C94E-4C23-BAD3-66483AF4FE35}"/>
              </a:ext>
            </a:extLst>
          </p:cNvPr>
          <p:cNvSpPr>
            <a:spLocks xmlns:a="http://schemas.openxmlformats.org/drawingml/2006/main" noGrp="1"/>
          </p:cNvSpPr>
          <p:nvPr/>
        </p:nvSpPr>
        <p:spPr>
          <a:xfrm xmlns:a="http://schemas.openxmlformats.org/drawingml/2006/main">
            <a:off x="6800850" y="4114800"/>
            <a:ext cx="4410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25"/>
          </a:bodyPr>
          <a:lstStyle xmlns:a="http://schemas.openxmlformats.org/drawingml/2006/main"/>
          <a:p xmlns:a="http://schemas.openxmlformats.org/drawingml/2006/main">
            <a:pPr algn="ctr">
              <a:defRPr sz="1200" b="1" i="0">
                <a:solidFill>
                  <a:srgbClr val="176082"/>
                </a:solidFill>
                <a:latin typeface="Arial"/>
                <a:ea typeface="Arial"/>
                <a:cs typeface="Arial"/>
              </a:defRPr>
            </a:pPr>
            <a:r>
              <a:rPr sz="1200" b="1" i="0">
                <a:solidFill>
                  <a:srgbClr val="176082"/>
                </a:solidFill>
                <a:latin typeface="Arial"/>
                <a:ea typeface="Arial"/>
                <a:cs typeface="Arial"/>
              </a:rPr>
              <a:t>Profile function · form · distribution</a:t>
            </a:r>
          </a:p>
        </p:txBody>
      </p:sp>
      <p:sp>
        <p:nvSpPr>
          <p:cNvPr id="20" name="">
            <a:extLst xmlns:a="http://schemas.openxmlformats.org/drawingml/2006/main">
              <a:ext uri="{FF2B5EF4-FFF2-40B4-BE49-F238E27FC236}">
                <a16:creationId xmlns:a16="http://schemas.microsoft.com/office/drawing/2014/main" id="{D9484B75-720B-4EB4-A4CB-2CDE41326E1B}"/>
              </a:ext>
            </a:extLst>
          </p:cNvPr>
          <p:cNvSpPr>
            <a:spLocks xmlns:a="http://schemas.openxmlformats.org/drawingml/2006/main" noGrp="1"/>
          </p:cNvSpPr>
          <p:nvPr/>
        </p:nvSpPr>
        <p:spPr>
          <a:xfrm xmlns:a="http://schemas.openxmlformats.org/drawingml/2006/main">
            <a:off x="6600825" y="4638675"/>
            <a:ext cx="4810125" cy="457200"/>
          </a:xfrm>
          <a:prstGeom xmlns:a="http://schemas.openxmlformats.org/drawingml/2006/main" prst="roundRect">
            <a:avLst>
              <a:gd name="adj" fmla="val 16667"/>
            </a:avLst>
          </a:prstGeom>
          <a:solidFill xmlns:a="http://schemas.openxmlformats.org/drawingml/2006/main">
            <a:srgbClr val="FFF4D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56D636A-B591-492F-8939-09DC6865D704}"/>
              </a:ext>
            </a:extLst>
          </p:cNvPr>
          <p:cNvSpPr>
            <a:spLocks xmlns:a="http://schemas.openxmlformats.org/drawingml/2006/main" noGrp="1"/>
          </p:cNvSpPr>
          <p:nvPr/>
        </p:nvSpPr>
        <p:spPr>
          <a:xfrm xmlns:a="http://schemas.openxmlformats.org/drawingml/2006/main">
            <a:off x="6800850" y="4733925"/>
            <a:ext cx="4410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25"/>
          </a:bodyPr>
          <a:lstStyle xmlns:a="http://schemas.openxmlformats.org/drawingml/2006/main"/>
          <a:p xmlns:a="http://schemas.openxmlformats.org/drawingml/2006/main">
            <a:pPr algn="ctr">
              <a:defRPr sz="1200" b="1" i="0">
                <a:solidFill>
                  <a:srgbClr val="D58C00"/>
                </a:solidFill>
                <a:latin typeface="Arial"/>
                <a:ea typeface="Arial"/>
                <a:cs typeface="Arial"/>
              </a:defRPr>
            </a:pPr>
            <a:r>
              <a:rPr sz="1200" b="1" i="0">
                <a:solidFill>
                  <a:srgbClr val="D58C00"/>
                </a:solidFill>
                <a:latin typeface="Arial"/>
                <a:ea typeface="Arial"/>
                <a:cs typeface="Arial"/>
              </a:rPr>
              <a:t>Support authoring, publishing and coursebook-fit decisions</a:t>
            </a:r>
          </a:p>
        </p:txBody>
      </p:sp>
      <p:sp>
        <p:nvSpPr>
          <p:cNvPr id="22" name="">
            <a:extLst xmlns:a="http://schemas.openxmlformats.org/drawingml/2006/main">
              <a:ext uri="{FF2B5EF4-FFF2-40B4-BE49-F238E27FC236}">
                <a16:creationId xmlns:a16="http://schemas.microsoft.com/office/drawing/2014/main" id="{B79645E9-38D0-40B5-9FB5-1C41BFB9B2F2}"/>
              </a:ext>
            </a:extLst>
          </p:cNvPr>
          <p:cNvSpPr>
            <a:spLocks xmlns:a="http://schemas.openxmlformats.org/drawingml/2006/main" noGrp="1"/>
          </p:cNvSpPr>
          <p:nvPr/>
        </p:nvSpPr>
        <p:spPr>
          <a:xfrm xmlns:a="http://schemas.openxmlformats.org/drawingml/2006/main">
            <a:off x="5724525" y="4029075"/>
            <a:ext cx="742950"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23" name="">
            <a:extLst xmlns:a="http://schemas.openxmlformats.org/drawingml/2006/main">
              <a:ext uri="{FF2B5EF4-FFF2-40B4-BE49-F238E27FC236}">
                <a16:creationId xmlns:a16="http://schemas.microsoft.com/office/drawing/2014/main" id="{09C0A20B-C325-4A4B-8732-8EEDEF48D56F}"/>
              </a:ext>
            </a:extLst>
          </p:cNvPr>
          <p:cNvSpPr>
            <a:spLocks xmlns:a="http://schemas.openxmlformats.org/drawingml/2006/main" noGrp="1"/>
          </p:cNvSpPr>
          <p:nvPr/>
        </p:nvSpPr>
        <p:spPr>
          <a:xfrm xmlns:a="http://schemas.openxmlformats.org/drawingml/2006/main">
            <a:off x="5753100" y="3686175"/>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ctr">
              <a:defRPr sz="975" b="1" i="0">
                <a:solidFill>
                  <a:srgbClr val="176082"/>
                </a:solidFill>
                <a:latin typeface="Arial"/>
                <a:ea typeface="Arial"/>
                <a:cs typeface="Arial"/>
              </a:defRPr>
            </a:pPr>
            <a:r>
              <a:rPr sz="975" b="1" i="0">
                <a:solidFill>
                  <a:srgbClr val="176082"/>
                </a:solidFill>
                <a:latin typeface="Arial"/>
                <a:ea typeface="Arial"/>
                <a:cs typeface="Arial"/>
              </a:rPr>
              <a:t>MIWAE</a:t>
            </a:r>
          </a:p>
        </p:txBody>
      </p:sp>
      <p:sp>
        <p:nvSpPr>
          <p:cNvPr id="24" name="">
            <a:extLst xmlns:a="http://schemas.openxmlformats.org/drawingml/2006/main">
              <a:ext uri="{FF2B5EF4-FFF2-40B4-BE49-F238E27FC236}">
                <a16:creationId xmlns:a16="http://schemas.microsoft.com/office/drawing/2014/main" id="{44C5AFBD-2224-47CF-A738-3820EE4F5973}"/>
              </a:ext>
            </a:extLst>
          </p:cNvPr>
          <p:cNvSpPr>
            <a:spLocks xmlns:a="http://schemas.openxmlformats.org/drawingml/2006/main" noGrp="1"/>
          </p:cNvSpPr>
          <p:nvPr/>
        </p:nvSpPr>
        <p:spPr>
          <a:xfrm xmlns:a="http://schemas.openxmlformats.org/drawingml/2006/main">
            <a:off x="1381125" y="5600700"/>
            <a:ext cx="942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45"/>
          </a:bodyPr>
          <a:lstStyle xmlns:a="http://schemas.openxmlformats.org/drawingml/2006/main"/>
          <a:p xmlns:a="http://schemas.openxmlformats.org/drawingml/2006/main">
            <a:pPr algn="ctr">
              <a:defRPr sz="1425" b="1" i="0">
                <a:solidFill>
                  <a:srgbClr val="33343F"/>
                </a:solidFill>
                <a:latin typeface="Arial"/>
                <a:ea typeface="Arial"/>
                <a:cs typeface="Arial"/>
              </a:defRPr>
            </a:pPr>
            <a:r>
              <a:rPr sz="1425" b="1" i="0">
                <a:solidFill>
                  <a:srgbClr val="33343F"/>
                </a:solidFill>
                <a:latin typeface="Arial"/>
                <a:ea typeface="Arial"/>
                <a:cs typeface="Arial"/>
              </a:rPr>
              <a:t>Working meaning: ELFA-friendly design anticipates multilingual readers while preserving disciplinary precision.</a:t>
            </a:r>
          </a:p>
        </p:txBody>
      </p:sp>
      <p:sp>
        <p:nvSpPr>
          <p:cNvPr id="25" name="">
            <a:extLst xmlns:a="http://schemas.openxmlformats.org/drawingml/2006/main">
              <a:ext uri="{FF2B5EF4-FFF2-40B4-BE49-F238E27FC236}">
                <a16:creationId xmlns:a16="http://schemas.microsoft.com/office/drawing/2014/main" id="{BA0FB1B1-95B2-47EF-97E1-1FBDC0A432B5}"/>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6" name="">
            <a:extLst xmlns:a="http://schemas.openxmlformats.org/drawingml/2006/main">
              <a:ext uri="{FF2B5EF4-FFF2-40B4-BE49-F238E27FC236}">
                <a16:creationId xmlns:a16="http://schemas.microsoft.com/office/drawing/2014/main" id="{4DDA7AC0-5A37-4B2D-8932-3BCE0A13828A}"/>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581064329"/>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FD4104-5D9E-4BEF-A00F-99ADC31BBF78}"/>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D58C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545532-55A8-473D-AE5D-8BC60427AA99}"/>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
            <a:extLst xmlns:a="http://schemas.openxmlformats.org/drawingml/2006/main">
              <a:ext uri="{FF2B5EF4-FFF2-40B4-BE49-F238E27FC236}">
                <a16:creationId xmlns:a16="http://schemas.microsoft.com/office/drawing/2014/main" id="{A5BA9A74-ECF3-4820-8BA8-CF75A9DBE1ED}"/>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Demonstration design and corpus scope</a:t>
            </a:r>
          </a:p>
        </p:txBody>
      </p:sp>
      <p:sp>
        <p:nvSpPr>
          <p:cNvPr id="4" name="">
            <a:extLst xmlns:a="http://schemas.openxmlformats.org/drawingml/2006/main">
              <a:ext uri="{FF2B5EF4-FFF2-40B4-BE49-F238E27FC236}">
                <a16:creationId xmlns:a16="http://schemas.microsoft.com/office/drawing/2014/main" id="{833CF556-1B53-461A-AD14-5E38907ADE66}"/>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C787CF9D-C190-4819-A2C2-2CC02F049981}"/>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7ED00BFF-06FC-424C-9F6B-24B4B759C700}"/>
              </a:ext>
            </a:extLst>
          </p:cNvPr>
          <p:cNvSpPr>
            <a:spLocks xmlns:a="http://schemas.openxmlformats.org/drawingml/2006/main" noGrp="1"/>
          </p:cNvSpPr>
          <p:nvPr/>
        </p:nvSpPr>
        <p:spPr>
          <a:xfrm xmlns:a="http://schemas.openxmlformats.org/drawingml/2006/main">
            <a:off x="9239250" y="381000"/>
            <a:ext cx="2143125" cy="266700"/>
          </a:xfrm>
          <a:prstGeom xmlns:a="http://schemas.openxmlformats.org/drawingml/2006/main" prst="roundRect">
            <a:avLst>
              <a:gd name="adj" fmla="val 28571"/>
            </a:avLst>
          </a:prstGeom>
          <a:solidFill xmlns:a="http://schemas.openxmlformats.org/drawingml/2006/main">
            <a:srgbClr val="D58C0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18DAEC-7E77-4291-ACE7-9A814ADDEEBE}"/>
              </a:ext>
            </a:extLst>
          </p:cNvPr>
          <p:cNvSpPr>
            <a:spLocks xmlns:a="http://schemas.openxmlformats.org/drawingml/2006/main" noGrp="1"/>
          </p:cNvSpPr>
          <p:nvPr/>
        </p:nvSpPr>
        <p:spPr>
          <a:xfrm xmlns:a="http://schemas.openxmlformats.org/drawingml/2006/main">
            <a:off x="9315450" y="409575"/>
            <a:ext cx="1990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STUDENT DATA</a:t>
            </a:r>
          </a:p>
        </p:txBody>
      </p:sp>
      <p:sp>
        <p:nvSpPr>
          <p:cNvPr id="8" name="">
            <a:extLst xmlns:a="http://schemas.openxmlformats.org/drawingml/2006/main">
              <a:ext uri="{FF2B5EF4-FFF2-40B4-BE49-F238E27FC236}">
                <a16:creationId xmlns:a16="http://schemas.microsoft.com/office/drawing/2014/main" id="{2F95D77A-4546-45A3-9DE8-74F1CB5B03B4}"/>
              </a:ext>
            </a:extLst>
          </p:cNvPr>
          <p:cNvSpPr>
            <a:spLocks xmlns:a="http://schemas.openxmlformats.org/drawingml/2006/main" noGrp="1"/>
          </p:cNvSpPr>
          <p:nvPr/>
        </p:nvSpPr>
        <p:spPr>
          <a:xfrm xmlns:a="http://schemas.openxmlformats.org/drawingml/2006/main">
            <a:off x="781050" y="1714500"/>
            <a:ext cx="219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63"/>
          </a:bodyPr>
          <a:lstStyle xmlns:a="http://schemas.openxmlformats.org/drawingml/2006/main"/>
          <a:p xmlns:a="http://schemas.openxmlformats.org/drawingml/2006/main">
            <a:pPr algn="l">
              <a:defRPr sz="3150" b="1" i="0">
                <a:solidFill>
                  <a:srgbClr val="176082"/>
                </a:solidFill>
                <a:latin typeface="Arial"/>
                <a:ea typeface="Arial"/>
                <a:cs typeface="Arial"/>
              </a:defRPr>
            </a:pPr>
            <a:r>
              <a:rPr sz="3150" b="1" i="0">
                <a:solidFill>
                  <a:srgbClr val="176082"/>
                </a:solidFill>
                <a:latin typeface="Arial"/>
                <a:ea typeface="Arial"/>
                <a:cs typeface="Arial"/>
              </a:rPr>
              <a:t>100</a:t>
            </a:r>
          </a:p>
        </p:txBody>
      </p:sp>
      <p:sp>
        <p:nvSpPr>
          <p:cNvPr id="9" name="">
            <a:extLst xmlns:a="http://schemas.openxmlformats.org/drawingml/2006/main">
              <a:ext uri="{FF2B5EF4-FFF2-40B4-BE49-F238E27FC236}">
                <a16:creationId xmlns:a16="http://schemas.microsoft.com/office/drawing/2014/main" id="{92F43A09-8A75-4519-B4AB-4198DB05070D}"/>
              </a:ext>
            </a:extLst>
          </p:cNvPr>
          <p:cNvSpPr>
            <a:spLocks xmlns:a="http://schemas.openxmlformats.org/drawingml/2006/main" noGrp="1"/>
          </p:cNvSpPr>
          <p:nvPr/>
        </p:nvSpPr>
        <p:spPr>
          <a:xfrm xmlns:a="http://schemas.openxmlformats.org/drawingml/2006/main">
            <a:off x="781050" y="22669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second-year students</a:t>
            </a:r>
          </a:p>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50 EE + 50 IR</a:t>
            </a:r>
          </a:p>
        </p:txBody>
      </p:sp>
      <p:sp>
        <p:nvSpPr>
          <p:cNvPr id="10" name="">
            <a:extLst xmlns:a="http://schemas.openxmlformats.org/drawingml/2006/main">
              <a:ext uri="{FF2B5EF4-FFF2-40B4-BE49-F238E27FC236}">
                <a16:creationId xmlns:a16="http://schemas.microsoft.com/office/drawing/2014/main" id="{D3DD040B-9DCC-4715-BA5C-66CEF422DB4D}"/>
              </a:ext>
            </a:extLst>
          </p:cNvPr>
          <p:cNvSpPr>
            <a:spLocks xmlns:a="http://schemas.openxmlformats.org/drawingml/2006/main" noGrp="1"/>
          </p:cNvSpPr>
          <p:nvPr/>
        </p:nvSpPr>
        <p:spPr>
          <a:xfrm xmlns:a="http://schemas.openxmlformats.org/drawingml/2006/main">
            <a:off x="3238500" y="171450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63"/>
          </a:bodyPr>
          <a:lstStyle xmlns:a="http://schemas.openxmlformats.org/drawingml/2006/main"/>
          <a:p xmlns:a="http://schemas.openxmlformats.org/drawingml/2006/main">
            <a:pPr algn="l">
              <a:defRPr sz="3150" b="1" i="0">
                <a:solidFill>
                  <a:srgbClr val="176082"/>
                </a:solidFill>
                <a:latin typeface="Arial"/>
                <a:ea typeface="Arial"/>
                <a:cs typeface="Arial"/>
              </a:defRPr>
            </a:pPr>
            <a:r>
              <a:rPr sz="3150" b="1" i="0">
                <a:solidFill>
                  <a:srgbClr val="176082"/>
                </a:solidFill>
                <a:latin typeface="Arial"/>
                <a:ea typeface="Arial"/>
                <a:cs typeface="Arial"/>
              </a:rPr>
              <a:t>20</a:t>
            </a:r>
          </a:p>
        </p:txBody>
      </p:sp>
      <p:sp>
        <p:nvSpPr>
          <p:cNvPr id="11" name="">
            <a:extLst xmlns:a="http://schemas.openxmlformats.org/drawingml/2006/main">
              <a:ext uri="{FF2B5EF4-FFF2-40B4-BE49-F238E27FC236}">
                <a16:creationId xmlns:a16="http://schemas.microsoft.com/office/drawing/2014/main" id="{069398BE-70A3-42D5-BCC9-DF6751171A9E}"/>
              </a:ext>
            </a:extLst>
          </p:cNvPr>
          <p:cNvSpPr>
            <a:spLocks xmlns:a="http://schemas.openxmlformats.org/drawingml/2006/main" noGrp="1"/>
          </p:cNvSpPr>
          <p:nvPr/>
        </p:nvSpPr>
        <p:spPr>
          <a:xfrm xmlns:a="http://schemas.openxmlformats.org/drawingml/2006/main">
            <a:off x="3238500" y="22669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semi-structured interviews</a:t>
            </a:r>
          </a:p>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10 per discipline</a:t>
            </a:r>
          </a:p>
        </p:txBody>
      </p:sp>
      <p:sp>
        <p:nvSpPr>
          <p:cNvPr id="12" name="">
            <a:extLst xmlns:a="http://schemas.openxmlformats.org/drawingml/2006/main">
              <a:ext uri="{FF2B5EF4-FFF2-40B4-BE49-F238E27FC236}">
                <a16:creationId xmlns:a16="http://schemas.microsoft.com/office/drawing/2014/main" id="{CFA3AFBD-2625-44A2-BED7-C26AB76ED32F}"/>
              </a:ext>
            </a:extLst>
          </p:cNvPr>
          <p:cNvSpPr>
            <a:spLocks xmlns:a="http://schemas.openxmlformats.org/drawingml/2006/main" noGrp="1"/>
          </p:cNvSpPr>
          <p:nvPr/>
        </p:nvSpPr>
        <p:spPr>
          <a:xfrm xmlns:a="http://schemas.openxmlformats.org/drawingml/2006/main">
            <a:off x="5905500" y="171450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63"/>
          </a:bodyPr>
          <a:lstStyle xmlns:a="http://schemas.openxmlformats.org/drawingml/2006/main"/>
          <a:p xmlns:a="http://schemas.openxmlformats.org/drawingml/2006/main">
            <a:pPr algn="l">
              <a:defRPr sz="3150" b="1" i="0">
                <a:solidFill>
                  <a:srgbClr val="176082"/>
                </a:solidFill>
                <a:latin typeface="Arial"/>
                <a:ea typeface="Arial"/>
                <a:cs typeface="Arial"/>
              </a:defRPr>
            </a:pPr>
            <a:r>
              <a:rPr sz="3150" b="1" i="0">
                <a:solidFill>
                  <a:srgbClr val="176082"/>
                </a:solidFill>
                <a:latin typeface="Arial"/>
                <a:ea typeface="Arial"/>
                <a:cs typeface="Arial"/>
              </a:rPr>
              <a:t>10</a:t>
            </a:r>
          </a:p>
        </p:txBody>
      </p:sp>
      <p:sp>
        <p:nvSpPr>
          <p:cNvPr id="13" name="">
            <a:extLst xmlns:a="http://schemas.openxmlformats.org/drawingml/2006/main">
              <a:ext uri="{FF2B5EF4-FFF2-40B4-BE49-F238E27FC236}">
                <a16:creationId xmlns:a16="http://schemas.microsoft.com/office/drawing/2014/main" id="{95DB8CCE-A496-490B-A3C4-D49DF35005C7}"/>
              </a:ext>
            </a:extLst>
          </p:cNvPr>
          <p:cNvSpPr>
            <a:spLocks xmlns:a="http://schemas.openxmlformats.org/drawingml/2006/main" noGrp="1"/>
          </p:cNvSpPr>
          <p:nvPr/>
        </p:nvSpPr>
        <p:spPr>
          <a:xfrm xmlns:a="http://schemas.openxmlformats.org/drawingml/2006/main">
            <a:off x="5905500" y="22669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reviewed textbooks</a:t>
            </a:r>
          </a:p>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5 EE + 5 IR</a:t>
            </a:r>
          </a:p>
        </p:txBody>
      </p:sp>
      <p:sp>
        <p:nvSpPr>
          <p:cNvPr id="14" name="">
            <a:extLst xmlns:a="http://schemas.openxmlformats.org/drawingml/2006/main">
              <a:ext uri="{FF2B5EF4-FFF2-40B4-BE49-F238E27FC236}">
                <a16:creationId xmlns:a16="http://schemas.microsoft.com/office/drawing/2014/main" id="{0891912F-23E4-4637-884F-F2B2AC6144AE}"/>
              </a:ext>
            </a:extLst>
          </p:cNvPr>
          <p:cNvSpPr>
            <a:spLocks xmlns:a="http://schemas.openxmlformats.org/drawingml/2006/main" noGrp="1"/>
          </p:cNvSpPr>
          <p:nvPr/>
        </p:nvSpPr>
        <p:spPr>
          <a:xfrm xmlns:a="http://schemas.openxmlformats.org/drawingml/2006/main">
            <a:off x="8572500" y="17145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63"/>
          </a:bodyPr>
          <a:lstStyle xmlns:a="http://schemas.openxmlformats.org/drawingml/2006/main"/>
          <a:p xmlns:a="http://schemas.openxmlformats.org/drawingml/2006/main">
            <a:pPr algn="l">
              <a:defRPr sz="3150" b="1" i="0">
                <a:solidFill>
                  <a:srgbClr val="176082"/>
                </a:solidFill>
                <a:latin typeface="Arial"/>
                <a:ea typeface="Arial"/>
                <a:cs typeface="Arial"/>
              </a:defRPr>
            </a:pPr>
            <a:r>
              <a:rPr sz="3150" b="1" i="0">
                <a:solidFill>
                  <a:srgbClr val="176082"/>
                </a:solidFill>
                <a:latin typeface="Arial"/>
                <a:ea typeface="Arial"/>
                <a:cs typeface="Arial"/>
              </a:rPr>
              <a:t>50</a:t>
            </a:r>
          </a:p>
        </p:txBody>
      </p:sp>
      <p:sp>
        <p:nvSpPr>
          <p:cNvPr id="15" name="">
            <a:extLst xmlns:a="http://schemas.openxmlformats.org/drawingml/2006/main">
              <a:ext uri="{FF2B5EF4-FFF2-40B4-BE49-F238E27FC236}">
                <a16:creationId xmlns:a16="http://schemas.microsoft.com/office/drawing/2014/main" id="{5419C7C6-70B0-48DF-A4BA-45801AB4D67D}"/>
              </a:ext>
            </a:extLst>
          </p:cNvPr>
          <p:cNvSpPr>
            <a:spLocks xmlns:a="http://schemas.openxmlformats.org/drawingml/2006/main" noGrp="1"/>
          </p:cNvSpPr>
          <p:nvPr/>
        </p:nvSpPr>
        <p:spPr>
          <a:xfrm xmlns:a="http://schemas.openxmlformats.org/drawingml/2006/main">
            <a:off x="8572500" y="22669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matched passages</a:t>
            </a:r>
          </a:p>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5 per textbook</a:t>
            </a:r>
          </a:p>
        </p:txBody>
      </p:sp>
      <p:sp>
        <p:nvSpPr>
          <p:cNvPr id="16" name="">
            <a:extLst xmlns:a="http://schemas.openxmlformats.org/drawingml/2006/main">
              <a:ext uri="{FF2B5EF4-FFF2-40B4-BE49-F238E27FC236}">
                <a16:creationId xmlns:a16="http://schemas.microsoft.com/office/drawing/2014/main" id="{AD453582-0518-454D-906B-E64F73A72C09}"/>
              </a:ext>
            </a:extLst>
          </p:cNvPr>
          <p:cNvSpPr>
            <a:spLocks xmlns:a="http://schemas.openxmlformats.org/drawingml/2006/main" noGrp="1"/>
          </p:cNvSpPr>
          <p:nvPr/>
        </p:nvSpPr>
        <p:spPr>
          <a:xfrm xmlns:a="http://schemas.openxmlformats.org/drawingml/2006/main">
            <a:off x="781050" y="3238500"/>
            <a:ext cx="1055370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17" name="">
            <a:extLst xmlns:a="http://schemas.openxmlformats.org/drawingml/2006/main">
              <a:ext uri="{FF2B5EF4-FFF2-40B4-BE49-F238E27FC236}">
                <a16:creationId xmlns:a16="http://schemas.microsoft.com/office/drawing/2014/main" id="{F03EABB5-45FC-4036-B9D5-3C1A99E2F6C8}"/>
              </a:ext>
            </a:extLst>
          </p:cNvPr>
          <p:cNvSpPr>
            <a:spLocks xmlns:a="http://schemas.openxmlformats.org/drawingml/2006/main" noGrp="1"/>
          </p:cNvSpPr>
          <p:nvPr/>
        </p:nvSpPr>
        <p:spPr>
          <a:xfrm xmlns:a="http://schemas.openxmlformats.org/drawingml/2006/main">
            <a:off x="857250" y="35242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lgn="l">
              <a:defRPr sz="1350" b="1" i="0">
                <a:solidFill>
                  <a:srgbClr val="D58C00"/>
                </a:solidFill>
                <a:latin typeface="Arial"/>
                <a:ea typeface="Arial"/>
                <a:cs typeface="Arial"/>
              </a:defRPr>
            </a:pPr>
            <a:r>
              <a:rPr sz="1350" b="1" i="0">
                <a:solidFill>
                  <a:srgbClr val="D58C00"/>
                </a:solidFill>
                <a:latin typeface="Arial"/>
                <a:ea typeface="Arial"/>
                <a:cs typeface="Arial"/>
              </a:rPr>
              <a:t>Text corpus</a:t>
            </a:r>
          </a:p>
        </p:txBody>
      </p:sp>
      <p:sp>
        <p:nvSpPr>
          <p:cNvPr id="18" name="">
            <a:extLst xmlns:a="http://schemas.openxmlformats.org/drawingml/2006/main">
              <a:ext uri="{FF2B5EF4-FFF2-40B4-BE49-F238E27FC236}">
                <a16:creationId xmlns:a16="http://schemas.microsoft.com/office/drawing/2014/main" id="{A191E80C-FAEE-4774-8864-DA0ED405AF28}"/>
              </a:ext>
            </a:extLst>
          </p:cNvPr>
          <p:cNvSpPr>
            <a:spLocks xmlns:a="http://schemas.openxmlformats.org/drawingml/2006/main" noGrp="1"/>
          </p:cNvSpPr>
          <p:nvPr/>
        </p:nvSpPr>
        <p:spPr>
          <a:xfrm xmlns:a="http://schemas.openxmlformats.org/drawingml/2006/main">
            <a:off x="857250" y="39052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718"/>
          </a:bodyPr>
          <a:lstStyle xmlns:a="http://schemas.openxmlformats.org/drawingml/2006/main"/>
          <a:p xmlns:a="http://schemas.openxmlformats.org/drawingml/2006/main">
            <a:pPr algn="l">
              <a:defRPr sz="1425" b="1" i="0">
                <a:solidFill>
                  <a:srgbClr val="33343F"/>
                </a:solidFill>
                <a:latin typeface="Arial"/>
                <a:ea typeface="Arial"/>
                <a:cs typeface="Arial"/>
              </a:defRPr>
            </a:pPr>
            <a:r>
              <a:rPr sz="1425" b="1" i="0">
                <a:solidFill>
                  <a:srgbClr val="33343F"/>
                </a:solidFill>
                <a:latin typeface="Arial"/>
                <a:ea typeface="Arial"/>
                <a:cs typeface="Arial"/>
              </a:rPr>
              <a:t>Nine books support whole-text concordance and figure-reference analyses. All ten books enter the matched Text Inspector sample.</a:t>
            </a:r>
          </a:p>
        </p:txBody>
      </p:sp>
      <p:sp>
        <p:nvSpPr>
          <p:cNvPr id="19" name="">
            <a:extLst xmlns:a="http://schemas.openxmlformats.org/drawingml/2006/main">
              <a:ext uri="{FF2B5EF4-FFF2-40B4-BE49-F238E27FC236}">
                <a16:creationId xmlns:a16="http://schemas.microsoft.com/office/drawing/2014/main" id="{E64E7A9C-7C45-4779-884E-0083AC676987}"/>
              </a:ext>
            </a:extLst>
          </p:cNvPr>
          <p:cNvSpPr>
            <a:spLocks xmlns:a="http://schemas.openxmlformats.org/drawingml/2006/main" noGrp="1"/>
          </p:cNvSpPr>
          <p:nvPr/>
        </p:nvSpPr>
        <p:spPr>
          <a:xfrm xmlns:a="http://schemas.openxmlformats.org/drawingml/2006/main">
            <a:off x="857250" y="44767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3"/>
          </a:bodyPr>
          <a:lstStyle xmlns:a="http://schemas.openxmlformats.org/drawingml/2006/main"/>
          <a:p xmlns:a="http://schemas.openxmlformats.org/drawingml/2006/main">
            <a:pPr algn="l">
              <a:defRPr sz="1350" b="0" i="0">
                <a:solidFill>
                  <a:srgbClr val="626777"/>
                </a:solidFill>
                <a:latin typeface="Arial"/>
                <a:ea typeface="Arial"/>
                <a:cs typeface="Arial"/>
              </a:defRPr>
            </a:pPr>
            <a:r>
              <a:rPr sz="1350" b="0" i="0">
                <a:solidFill>
                  <a:srgbClr val="626777"/>
                </a:solidFill>
                <a:latin typeface="Arial"/>
                <a:ea typeface="Arial"/>
                <a:cs typeface="Arial"/>
              </a:rPr>
              <a:t>Hambley replaces the Nilsson instructor solution manual. Mano is an image-only scan, so five stratified passages were recovered with OCR.</a:t>
            </a:r>
          </a:p>
        </p:txBody>
      </p:sp>
      <p:sp>
        <p:nvSpPr>
          <p:cNvPr id="20" name="">
            <a:extLst xmlns:a="http://schemas.openxmlformats.org/drawingml/2006/main">
              <a:ext uri="{FF2B5EF4-FFF2-40B4-BE49-F238E27FC236}">
                <a16:creationId xmlns:a16="http://schemas.microsoft.com/office/drawing/2014/main" id="{3783876F-000D-4789-960E-E3448DA3EBDD}"/>
              </a:ext>
            </a:extLst>
          </p:cNvPr>
          <p:cNvSpPr>
            <a:spLocks xmlns:a="http://schemas.openxmlformats.org/drawingml/2006/main" noGrp="1"/>
          </p:cNvSpPr>
          <p:nvPr/>
        </p:nvSpPr>
        <p:spPr>
          <a:xfrm xmlns:a="http://schemas.openxmlformats.org/drawingml/2006/main">
            <a:off x="1857375" y="5505450"/>
            <a:ext cx="847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B94D35"/>
                </a:solidFill>
                <a:latin typeface="Arial"/>
                <a:ea typeface="Arial"/>
                <a:cs typeface="Arial"/>
              </a:defRPr>
            </a:pPr>
            <a:r>
              <a:rPr sz="1425" b="1" i="0">
                <a:solidFill>
                  <a:srgbClr val="B94D35"/>
                </a:solidFill>
                <a:latin typeface="Arial"/>
                <a:ea typeface="Arial"/>
                <a:cs typeface="Arial"/>
              </a:rPr>
              <a:t>Student records and interview quotations are from the study participants.</a:t>
            </a:r>
          </a:p>
        </p:txBody>
      </p:sp>
      <p:sp>
        <p:nvSpPr>
          <p:cNvPr id="21" name="">
            <a:extLst xmlns:a="http://schemas.openxmlformats.org/drawingml/2006/main">
              <a:ext uri="{FF2B5EF4-FFF2-40B4-BE49-F238E27FC236}">
                <a16:creationId xmlns:a16="http://schemas.microsoft.com/office/drawing/2014/main" id="{6D250B9B-6EDB-4701-82E5-C20685F5E4A0}"/>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2" name="">
            <a:extLst xmlns:a="http://schemas.openxmlformats.org/drawingml/2006/main">
              <a:ext uri="{FF2B5EF4-FFF2-40B4-BE49-F238E27FC236}">
                <a16:creationId xmlns:a16="http://schemas.microsoft.com/office/drawing/2014/main" id="{5DE8D2B9-0BE3-413F-8E4E-0B10DA007F05}"/>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342065290"/>
      </p:ext>
    </p:extLst>
  </p:cSld>
</p:sld>
</file>

<file path=ppt/slides/slide10.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4291A7C-C468-4763-A590-8C71DAA9B20D}"/>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D58C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CBF0D5-A263-4F85-A7DA-926B00722172}"/>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
            <a:extLst xmlns:a="http://schemas.openxmlformats.org/drawingml/2006/main">
              <a:ext uri="{FF2B5EF4-FFF2-40B4-BE49-F238E27FC236}">
                <a16:creationId xmlns:a16="http://schemas.microsoft.com/office/drawing/2014/main" id="{3AAE232D-DEF8-4335-B93D-D1EED6853046}"/>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MIWAE Corpus Analysis API</a:t>
            </a:r>
          </a:p>
        </p:txBody>
      </p:sp>
      <p:sp>
        <p:nvSpPr>
          <p:cNvPr id="4" name="">
            <a:extLst xmlns:a="http://schemas.openxmlformats.org/drawingml/2006/main">
              <a:ext uri="{FF2B5EF4-FFF2-40B4-BE49-F238E27FC236}">
                <a16:creationId xmlns:a16="http://schemas.microsoft.com/office/drawing/2014/main" id="{8A815010-A5BB-4D50-9F38-4B6222D37B90}"/>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723075EB-6DDE-4A2A-9BD6-051086732635}"/>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82D27A9A-805F-4885-BBB8-2432D18B600F}"/>
              </a:ext>
            </a:extLst>
          </p:cNvPr>
          <p:cNvSpPr>
            <a:spLocks xmlns:a="http://schemas.openxmlformats.org/drawingml/2006/main" noGrp="1"/>
          </p:cNvSpPr>
          <p:nvPr/>
        </p:nvSpPr>
        <p:spPr>
          <a:xfrm xmlns:a="http://schemas.openxmlformats.org/drawingml/2006/main">
            <a:off x="9620250" y="381000"/>
            <a:ext cx="1714500" cy="266700"/>
          </a:xfrm>
          <a:prstGeom xmlns:a="http://schemas.openxmlformats.org/drawingml/2006/main" prst="roundRect">
            <a:avLst>
              <a:gd name="adj" fmla="val 28571"/>
            </a:avLst>
          </a:prstGeom>
          <a:solidFill xmlns:a="http://schemas.openxmlformats.org/drawingml/2006/main">
            <a:srgbClr val="17608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A5EE6EB-93FD-46B5-84AC-69C53DEDF523}"/>
              </a:ext>
            </a:extLst>
          </p:cNvPr>
          <p:cNvSpPr>
            <a:spLocks xmlns:a="http://schemas.openxmlformats.org/drawingml/2006/main" noGrp="1"/>
          </p:cNvSpPr>
          <p:nvPr/>
        </p:nvSpPr>
        <p:spPr>
          <a:xfrm xmlns:a="http://schemas.openxmlformats.org/drawingml/2006/main">
            <a:off x="9696450" y="409575"/>
            <a:ext cx="1562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OPEN PROTOTYPE</a:t>
            </a:r>
          </a:p>
        </p:txBody>
      </p:sp>
      <p:sp>
        <p:nvSpPr>
          <p:cNvPr id="8" name="">
            <a:extLst xmlns:a="http://schemas.openxmlformats.org/drawingml/2006/main">
              <a:ext uri="{FF2B5EF4-FFF2-40B4-BE49-F238E27FC236}">
                <a16:creationId xmlns:a16="http://schemas.microsoft.com/office/drawing/2014/main" id="{8882F47B-2324-443F-84EE-0D6A38053066}"/>
              </a:ext>
            </a:extLst>
          </p:cNvPr>
          <p:cNvSpPr>
            <a:spLocks xmlns:a="http://schemas.openxmlformats.org/drawingml/2006/main" noGrp="1"/>
          </p:cNvSpPr>
          <p:nvPr/>
        </p:nvSpPr>
        <p:spPr>
          <a:xfrm xmlns:a="http://schemas.openxmlformats.org/drawingml/2006/main">
            <a:off x="400050" y="1752600"/>
            <a:ext cx="20955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03E6830C-B172-4292-893B-87AF0471E80C}"/>
              </a:ext>
            </a:extLst>
          </p:cNvPr>
          <p:cNvSpPr>
            <a:spLocks xmlns:a="http://schemas.openxmlformats.org/drawingml/2006/main" noGrp="1"/>
          </p:cNvSpPr>
          <p:nvPr/>
        </p:nvSpPr>
        <p:spPr>
          <a:xfrm xmlns:a="http://schemas.openxmlformats.org/drawingml/2006/main">
            <a:off x="581025" y="1981200"/>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SOURCE</a:t>
            </a:r>
          </a:p>
        </p:txBody>
      </p:sp>
      <p:sp>
        <p:nvSpPr>
          <p:cNvPr id="10" name="">
            <a:extLst xmlns:a="http://schemas.openxmlformats.org/drawingml/2006/main">
              <a:ext uri="{FF2B5EF4-FFF2-40B4-BE49-F238E27FC236}">
                <a16:creationId xmlns:a16="http://schemas.microsoft.com/office/drawing/2014/main" id="{861FE4A2-210E-4144-9DF3-392630BACD65}"/>
              </a:ext>
            </a:extLst>
          </p:cNvPr>
          <p:cNvSpPr>
            <a:spLocks xmlns:a="http://schemas.openxmlformats.org/drawingml/2006/main" noGrp="1"/>
          </p:cNvSpPr>
          <p:nvPr/>
        </p:nvSpPr>
        <p:spPr>
          <a:xfrm xmlns:a="http://schemas.openxmlformats.org/drawingml/2006/main">
            <a:off x="590550" y="2476500"/>
            <a:ext cx="171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TXT, Markdown, PDF, DOCX or grouped CSV</a:t>
            </a:r>
          </a:p>
        </p:txBody>
      </p:sp>
      <p:sp>
        <p:nvSpPr>
          <p:cNvPr id="11" name="">
            <a:extLst xmlns:a="http://schemas.openxmlformats.org/drawingml/2006/main">
              <a:ext uri="{FF2B5EF4-FFF2-40B4-BE49-F238E27FC236}">
                <a16:creationId xmlns:a16="http://schemas.microsoft.com/office/drawing/2014/main" id="{6C29B927-FF82-4EC3-A5A5-2D222FC8FCBC}"/>
              </a:ext>
            </a:extLst>
          </p:cNvPr>
          <p:cNvSpPr>
            <a:spLocks xmlns:a="http://schemas.openxmlformats.org/drawingml/2006/main" noGrp="1"/>
          </p:cNvSpPr>
          <p:nvPr/>
        </p:nvSpPr>
        <p:spPr>
          <a:xfrm xmlns:a="http://schemas.openxmlformats.org/drawingml/2006/main">
            <a:off x="2495550" y="2609850"/>
            <a:ext cx="247650" cy="0"/>
          </a:xfrm>
          <a:prstGeom xmlns:a="http://schemas.openxmlformats.org/drawingml/2006/main" prst="line">
            <a:avLst/>
          </a:prstGeom>
          <a:noFill xmlns:a="http://schemas.openxmlformats.org/drawingml/2006/main"/>
          <a:ln xmlns:a="http://schemas.openxmlformats.org/drawingml/2006/main" w="28575">
            <a:solidFill>
              <a:srgbClr val="176082"/>
            </a:solidFill>
          </a:ln>
        </p:spPr>
      </p:sp>
      <p:sp>
        <p:nvSpPr>
          <p:cNvPr id="12" name="">
            <a:extLst xmlns:a="http://schemas.openxmlformats.org/drawingml/2006/main">
              <a:ext uri="{FF2B5EF4-FFF2-40B4-BE49-F238E27FC236}">
                <a16:creationId xmlns:a16="http://schemas.microsoft.com/office/drawing/2014/main" id="{86A4C751-E618-4078-8B1C-C31102134C49}"/>
              </a:ext>
            </a:extLst>
          </p:cNvPr>
          <p:cNvSpPr>
            <a:spLocks xmlns:a="http://schemas.openxmlformats.org/drawingml/2006/main" noGrp="1"/>
          </p:cNvSpPr>
          <p:nvPr/>
        </p:nvSpPr>
        <p:spPr>
          <a:xfrm xmlns:a="http://schemas.openxmlformats.org/drawingml/2006/main">
            <a:off x="2762250" y="1752600"/>
            <a:ext cx="20955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C8C9D3"/>
            </a:solidFill>
          </a:ln>
        </p:spPr>
      </p:sp>
      <p:sp>
        <p:nvSpPr>
          <p:cNvPr id="13" name="">
            <a:extLst xmlns:a="http://schemas.openxmlformats.org/drawingml/2006/main">
              <a:ext uri="{FF2B5EF4-FFF2-40B4-BE49-F238E27FC236}">
                <a16:creationId xmlns:a16="http://schemas.microsoft.com/office/drawing/2014/main" id="{8FD505C3-D42B-4D44-A307-1DA273112CF5}"/>
              </a:ext>
            </a:extLst>
          </p:cNvPr>
          <p:cNvSpPr>
            <a:spLocks xmlns:a="http://schemas.openxmlformats.org/drawingml/2006/main" noGrp="1"/>
          </p:cNvSpPr>
          <p:nvPr/>
        </p:nvSpPr>
        <p:spPr>
          <a:xfrm xmlns:a="http://schemas.openxmlformats.org/drawingml/2006/main">
            <a:off x="2943225" y="1981200"/>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SEGMENT</a:t>
            </a:r>
          </a:p>
        </p:txBody>
      </p:sp>
      <p:sp>
        <p:nvSpPr>
          <p:cNvPr id="14" name="">
            <a:extLst xmlns:a="http://schemas.openxmlformats.org/drawingml/2006/main">
              <a:ext uri="{FF2B5EF4-FFF2-40B4-BE49-F238E27FC236}">
                <a16:creationId xmlns:a16="http://schemas.microsoft.com/office/drawing/2014/main" id="{9743DF8C-FB81-438D-9BC2-22D88103A22B}"/>
              </a:ext>
            </a:extLst>
          </p:cNvPr>
          <p:cNvSpPr>
            <a:spLocks xmlns:a="http://schemas.openxmlformats.org/drawingml/2006/main" noGrp="1"/>
          </p:cNvSpPr>
          <p:nvPr/>
        </p:nvSpPr>
        <p:spPr>
          <a:xfrm xmlns:a="http://schemas.openxmlformats.org/drawingml/2006/main">
            <a:off x="2952750" y="2476500"/>
            <a:ext cx="171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Pages, paragraphs or matched passages</a:t>
            </a:r>
          </a:p>
        </p:txBody>
      </p:sp>
      <p:sp>
        <p:nvSpPr>
          <p:cNvPr id="15" name="">
            <a:extLst xmlns:a="http://schemas.openxmlformats.org/drawingml/2006/main">
              <a:ext uri="{FF2B5EF4-FFF2-40B4-BE49-F238E27FC236}">
                <a16:creationId xmlns:a16="http://schemas.microsoft.com/office/drawing/2014/main" id="{87BE2DE5-BA08-4CEA-9C49-DEAECB1CB61B}"/>
              </a:ext>
            </a:extLst>
          </p:cNvPr>
          <p:cNvSpPr>
            <a:spLocks xmlns:a="http://schemas.openxmlformats.org/drawingml/2006/main" noGrp="1"/>
          </p:cNvSpPr>
          <p:nvPr/>
        </p:nvSpPr>
        <p:spPr>
          <a:xfrm xmlns:a="http://schemas.openxmlformats.org/drawingml/2006/main">
            <a:off x="4857750" y="2609850"/>
            <a:ext cx="247650" cy="0"/>
          </a:xfrm>
          <a:prstGeom xmlns:a="http://schemas.openxmlformats.org/drawingml/2006/main" prst="line">
            <a:avLst/>
          </a:prstGeom>
          <a:noFill xmlns:a="http://schemas.openxmlformats.org/drawingml/2006/main"/>
          <a:ln xmlns:a="http://schemas.openxmlformats.org/drawingml/2006/main" w="28575">
            <a:solidFill>
              <a:srgbClr val="176082"/>
            </a:solidFill>
          </a:ln>
        </p:spPr>
      </p:sp>
      <p:sp>
        <p:nvSpPr>
          <p:cNvPr id="16" name="">
            <a:extLst xmlns:a="http://schemas.openxmlformats.org/drawingml/2006/main">
              <a:ext uri="{FF2B5EF4-FFF2-40B4-BE49-F238E27FC236}">
                <a16:creationId xmlns:a16="http://schemas.microsoft.com/office/drawing/2014/main" id="{5A6A8B9B-5A25-46CB-9DA3-6D36E1794B23}"/>
              </a:ext>
            </a:extLst>
          </p:cNvPr>
          <p:cNvSpPr>
            <a:spLocks xmlns:a="http://schemas.openxmlformats.org/drawingml/2006/main" noGrp="1"/>
          </p:cNvSpPr>
          <p:nvPr/>
        </p:nvSpPr>
        <p:spPr>
          <a:xfrm xmlns:a="http://schemas.openxmlformats.org/drawingml/2006/main">
            <a:off x="5124450" y="1752600"/>
            <a:ext cx="20955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C8C9D3"/>
            </a:solidFill>
          </a:ln>
        </p:spPr>
      </p:sp>
      <p:sp>
        <p:nvSpPr>
          <p:cNvPr id="17" name="">
            <a:extLst xmlns:a="http://schemas.openxmlformats.org/drawingml/2006/main">
              <a:ext uri="{FF2B5EF4-FFF2-40B4-BE49-F238E27FC236}">
                <a16:creationId xmlns:a16="http://schemas.microsoft.com/office/drawing/2014/main" id="{0BD1F99A-4F0C-43AF-ACC2-40733D6D0A57}"/>
              </a:ext>
            </a:extLst>
          </p:cNvPr>
          <p:cNvSpPr>
            <a:spLocks xmlns:a="http://schemas.openxmlformats.org/drawingml/2006/main" noGrp="1"/>
          </p:cNvSpPr>
          <p:nvPr/>
        </p:nvSpPr>
        <p:spPr>
          <a:xfrm xmlns:a="http://schemas.openxmlformats.org/drawingml/2006/main">
            <a:off x="5305425" y="1981200"/>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PROFILE</a:t>
            </a:r>
          </a:p>
        </p:txBody>
      </p:sp>
      <p:sp>
        <p:nvSpPr>
          <p:cNvPr id="18" name="">
            <a:extLst xmlns:a="http://schemas.openxmlformats.org/drawingml/2006/main">
              <a:ext uri="{FF2B5EF4-FFF2-40B4-BE49-F238E27FC236}">
                <a16:creationId xmlns:a16="http://schemas.microsoft.com/office/drawing/2014/main" id="{548D1045-FF6F-4072-98BD-4BB1AD2C7300}"/>
              </a:ext>
            </a:extLst>
          </p:cNvPr>
          <p:cNvSpPr>
            <a:spLocks xmlns:a="http://schemas.openxmlformats.org/drawingml/2006/main" noGrp="1"/>
          </p:cNvSpPr>
          <p:nvPr/>
        </p:nvSpPr>
        <p:spPr>
          <a:xfrm xmlns:a="http://schemas.openxmlformats.org/drawingml/2006/main">
            <a:off x="5314950" y="2476500"/>
            <a:ext cx="171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7 functions and 19 form candidates</a:t>
            </a:r>
          </a:p>
        </p:txBody>
      </p:sp>
      <p:sp>
        <p:nvSpPr>
          <p:cNvPr id="19" name="">
            <a:extLst xmlns:a="http://schemas.openxmlformats.org/drawingml/2006/main">
              <a:ext uri="{FF2B5EF4-FFF2-40B4-BE49-F238E27FC236}">
                <a16:creationId xmlns:a16="http://schemas.microsoft.com/office/drawing/2014/main" id="{73A0D523-EB38-432C-AA72-125D8A78F3CF}"/>
              </a:ext>
            </a:extLst>
          </p:cNvPr>
          <p:cNvSpPr>
            <a:spLocks xmlns:a="http://schemas.openxmlformats.org/drawingml/2006/main" noGrp="1"/>
          </p:cNvSpPr>
          <p:nvPr/>
        </p:nvSpPr>
        <p:spPr>
          <a:xfrm xmlns:a="http://schemas.openxmlformats.org/drawingml/2006/main">
            <a:off x="7219950" y="2609850"/>
            <a:ext cx="247650" cy="0"/>
          </a:xfrm>
          <a:prstGeom xmlns:a="http://schemas.openxmlformats.org/drawingml/2006/main" prst="line">
            <a:avLst/>
          </a:prstGeom>
          <a:noFill xmlns:a="http://schemas.openxmlformats.org/drawingml/2006/main"/>
          <a:ln xmlns:a="http://schemas.openxmlformats.org/drawingml/2006/main" w="28575">
            <a:solidFill>
              <a:srgbClr val="176082"/>
            </a:solidFill>
          </a:ln>
        </p:spPr>
      </p:sp>
      <p:sp>
        <p:nvSpPr>
          <p:cNvPr id="20" name="">
            <a:extLst xmlns:a="http://schemas.openxmlformats.org/drawingml/2006/main">
              <a:ext uri="{FF2B5EF4-FFF2-40B4-BE49-F238E27FC236}">
                <a16:creationId xmlns:a16="http://schemas.microsoft.com/office/drawing/2014/main" id="{564D383F-E1BC-4593-B318-1B9B9AD1AE8C}"/>
              </a:ext>
            </a:extLst>
          </p:cNvPr>
          <p:cNvSpPr>
            <a:spLocks xmlns:a="http://schemas.openxmlformats.org/drawingml/2006/main" noGrp="1"/>
          </p:cNvSpPr>
          <p:nvPr/>
        </p:nvSpPr>
        <p:spPr>
          <a:xfrm xmlns:a="http://schemas.openxmlformats.org/drawingml/2006/main">
            <a:off x="7486650" y="1752600"/>
            <a:ext cx="209550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C8C9D3"/>
            </a:solidFill>
          </a:ln>
        </p:spPr>
      </p:sp>
      <p:sp>
        <p:nvSpPr>
          <p:cNvPr id="21" name="">
            <a:extLst xmlns:a="http://schemas.openxmlformats.org/drawingml/2006/main">
              <a:ext uri="{FF2B5EF4-FFF2-40B4-BE49-F238E27FC236}">
                <a16:creationId xmlns:a16="http://schemas.microsoft.com/office/drawing/2014/main" id="{BAB3AA67-9269-477C-8C93-CF51E5A5E6D0}"/>
              </a:ext>
            </a:extLst>
          </p:cNvPr>
          <p:cNvSpPr>
            <a:spLocks xmlns:a="http://schemas.openxmlformats.org/drawingml/2006/main" noGrp="1"/>
          </p:cNvSpPr>
          <p:nvPr/>
        </p:nvSpPr>
        <p:spPr>
          <a:xfrm xmlns:a="http://schemas.openxmlformats.org/drawingml/2006/main">
            <a:off x="7667625" y="1981200"/>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DISTRIBUTE</a:t>
            </a:r>
          </a:p>
        </p:txBody>
      </p:sp>
      <p:sp>
        <p:nvSpPr>
          <p:cNvPr id="22" name="">
            <a:extLst xmlns:a="http://schemas.openxmlformats.org/drawingml/2006/main">
              <a:ext uri="{FF2B5EF4-FFF2-40B4-BE49-F238E27FC236}">
                <a16:creationId xmlns:a16="http://schemas.microsoft.com/office/drawing/2014/main" id="{263C4B06-1BD8-4477-A6D2-3172CC5660C7}"/>
              </a:ext>
            </a:extLst>
          </p:cNvPr>
          <p:cNvSpPr>
            <a:spLocks xmlns:a="http://schemas.openxmlformats.org/drawingml/2006/main" noGrp="1"/>
          </p:cNvSpPr>
          <p:nvPr/>
        </p:nvSpPr>
        <p:spPr>
          <a:xfrm xmlns:a="http://schemas.openxmlformats.org/drawingml/2006/main">
            <a:off x="7677150" y="2476500"/>
            <a:ext cx="171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773"/>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Rate, coverage, evenness and optional opportunities</a:t>
            </a:r>
          </a:p>
        </p:txBody>
      </p:sp>
      <p:sp>
        <p:nvSpPr>
          <p:cNvPr id="23" name="">
            <a:extLst xmlns:a="http://schemas.openxmlformats.org/drawingml/2006/main">
              <a:ext uri="{FF2B5EF4-FFF2-40B4-BE49-F238E27FC236}">
                <a16:creationId xmlns:a16="http://schemas.microsoft.com/office/drawing/2014/main" id="{C1BFDDEE-C53D-4EB7-9CEE-BE505AEDF71A}"/>
              </a:ext>
            </a:extLst>
          </p:cNvPr>
          <p:cNvSpPr>
            <a:spLocks xmlns:a="http://schemas.openxmlformats.org/drawingml/2006/main" noGrp="1"/>
          </p:cNvSpPr>
          <p:nvPr/>
        </p:nvSpPr>
        <p:spPr>
          <a:xfrm xmlns:a="http://schemas.openxmlformats.org/drawingml/2006/main">
            <a:off x="9582150" y="2609850"/>
            <a:ext cx="247650" cy="0"/>
          </a:xfrm>
          <a:prstGeom xmlns:a="http://schemas.openxmlformats.org/drawingml/2006/main" prst="line">
            <a:avLst/>
          </a:prstGeom>
          <a:noFill xmlns:a="http://schemas.openxmlformats.org/drawingml/2006/main"/>
          <a:ln xmlns:a="http://schemas.openxmlformats.org/drawingml/2006/main" w="28575">
            <a:solidFill>
              <a:srgbClr val="176082"/>
            </a:solidFill>
          </a:ln>
        </p:spPr>
      </p:sp>
      <p:sp>
        <p:nvSpPr>
          <p:cNvPr id="24" name="">
            <a:extLst xmlns:a="http://schemas.openxmlformats.org/drawingml/2006/main">
              <a:ext uri="{FF2B5EF4-FFF2-40B4-BE49-F238E27FC236}">
                <a16:creationId xmlns:a16="http://schemas.microsoft.com/office/drawing/2014/main" id="{6F50C32B-61A8-4352-8DD6-59285D8A235A}"/>
              </a:ext>
            </a:extLst>
          </p:cNvPr>
          <p:cNvSpPr>
            <a:spLocks xmlns:a="http://schemas.openxmlformats.org/drawingml/2006/main" noGrp="1"/>
          </p:cNvSpPr>
          <p:nvPr/>
        </p:nvSpPr>
        <p:spPr>
          <a:xfrm xmlns:a="http://schemas.openxmlformats.org/drawingml/2006/main">
            <a:off x="9848850" y="1752600"/>
            <a:ext cx="2095500" cy="1695450"/>
          </a:xfrm>
          <a:prstGeom xmlns:a="http://schemas.openxmlformats.org/drawingml/2006/main" prst="roundRect">
            <a:avLst>
              <a:gd name="adj" fmla="val 4494"/>
            </a:avLst>
          </a:prstGeom>
          <a:solidFill xmlns:a="http://schemas.openxmlformats.org/drawingml/2006/main">
            <a:srgbClr val="123B53"/>
          </a:solidFill>
          <a:ln xmlns:a="http://schemas.openxmlformats.org/drawingml/2006/main" w="9525">
            <a:solidFill>
              <a:srgbClr val="C8C9D3"/>
            </a:solidFill>
          </a:ln>
        </p:spPr>
      </p:sp>
      <p:sp>
        <p:nvSpPr>
          <p:cNvPr id="25" name="">
            <a:extLst xmlns:a="http://schemas.openxmlformats.org/drawingml/2006/main">
              <a:ext uri="{FF2B5EF4-FFF2-40B4-BE49-F238E27FC236}">
                <a16:creationId xmlns:a16="http://schemas.microsoft.com/office/drawing/2014/main" id="{870B47E4-C21C-416F-89D1-3C48886D33FA}"/>
              </a:ext>
            </a:extLst>
          </p:cNvPr>
          <p:cNvSpPr>
            <a:spLocks xmlns:a="http://schemas.openxmlformats.org/drawingml/2006/main" noGrp="1"/>
          </p:cNvSpPr>
          <p:nvPr/>
        </p:nvSpPr>
        <p:spPr>
          <a:xfrm xmlns:a="http://schemas.openxmlformats.org/drawingml/2006/main">
            <a:off x="10029825" y="1981200"/>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23B53"/>
                </a:solidFill>
                <a:latin typeface="Arial"/>
                <a:ea typeface="Arial"/>
                <a:cs typeface="Arial"/>
              </a:defRPr>
            </a:pPr>
            <a:r>
              <a:rPr sz="975" b="1" i="0">
                <a:solidFill>
                  <a:srgbClr val="123B53"/>
                </a:solidFill>
                <a:latin typeface="Arial"/>
                <a:ea typeface="Arial"/>
                <a:cs typeface="Arial"/>
              </a:rPr>
              <a:t>REVIEW</a:t>
            </a:r>
          </a:p>
        </p:txBody>
      </p:sp>
      <p:sp>
        <p:nvSpPr>
          <p:cNvPr id="26" name="">
            <a:extLst xmlns:a="http://schemas.openxmlformats.org/drawingml/2006/main">
              <a:ext uri="{FF2B5EF4-FFF2-40B4-BE49-F238E27FC236}">
                <a16:creationId xmlns:a16="http://schemas.microsoft.com/office/drawing/2014/main" id="{9385FC33-CFFA-4A6F-B03C-4670A72F4B47}"/>
              </a:ext>
            </a:extLst>
          </p:cNvPr>
          <p:cNvSpPr>
            <a:spLocks xmlns:a="http://schemas.openxmlformats.org/drawingml/2006/main" noGrp="1"/>
          </p:cNvSpPr>
          <p:nvPr/>
        </p:nvSpPr>
        <p:spPr>
          <a:xfrm xmlns:a="http://schemas.openxmlformats.org/drawingml/2006/main">
            <a:off x="10039350" y="2476500"/>
            <a:ext cx="171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Contextual verification and export</a:t>
            </a:r>
          </a:p>
        </p:txBody>
      </p:sp>
      <p:sp>
        <p:nvSpPr>
          <p:cNvPr id="27" name="">
            <a:extLst xmlns:a="http://schemas.openxmlformats.org/drawingml/2006/main">
              <a:ext uri="{FF2B5EF4-FFF2-40B4-BE49-F238E27FC236}">
                <a16:creationId xmlns:a16="http://schemas.microsoft.com/office/drawing/2014/main" id="{086511FF-8FCF-4998-AF09-84D1E8C8A130}"/>
              </a:ext>
            </a:extLst>
          </p:cNvPr>
          <p:cNvSpPr>
            <a:spLocks xmlns:a="http://schemas.openxmlformats.org/drawingml/2006/main" noGrp="1"/>
          </p:cNvSpPr>
          <p:nvPr/>
        </p:nvSpPr>
        <p:spPr>
          <a:xfrm xmlns:a="http://schemas.openxmlformats.org/drawingml/2006/main">
            <a:off x="685800" y="3790950"/>
            <a:ext cx="10820400" cy="971550"/>
          </a:xfrm>
          <a:prstGeom xmlns:a="http://schemas.openxmlformats.org/drawingml/2006/main" prst="roundRect">
            <a:avLst>
              <a:gd name="adj" fmla="val 7843"/>
            </a:avLst>
          </a:prstGeom>
          <a:solidFill xmlns:a="http://schemas.openxmlformats.org/drawingml/2006/main">
            <a:srgbClr val="E6F0F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2E49243-DC69-4B32-B0C3-46DD15B6E48D}"/>
              </a:ext>
            </a:extLst>
          </p:cNvPr>
          <p:cNvSpPr>
            <a:spLocks xmlns:a="http://schemas.openxmlformats.org/drawingml/2006/main" noGrp="1"/>
          </p:cNvSpPr>
          <p:nvPr/>
        </p:nvSpPr>
        <p:spPr>
          <a:xfrm xmlns:a="http://schemas.openxmlformats.org/drawingml/2006/main">
            <a:off x="933450" y="40005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lgn="l">
              <a:defRPr sz="1200" b="1" i="0">
                <a:solidFill>
                  <a:srgbClr val="176082"/>
                </a:solidFill>
                <a:latin typeface="Arial"/>
                <a:ea typeface="Arial"/>
                <a:cs typeface="Arial"/>
              </a:defRPr>
            </a:pPr>
            <a:r>
              <a:rPr sz="1200" b="1" i="0">
                <a:solidFill>
                  <a:srgbClr val="176082"/>
                </a:solidFill>
                <a:latin typeface="Arial"/>
                <a:ea typeface="Arial"/>
                <a:cs typeface="Arial"/>
              </a:rPr>
              <a:t>Optional adapters</a:t>
            </a:r>
          </a:p>
        </p:txBody>
      </p:sp>
      <p:sp>
        <p:nvSpPr>
          <p:cNvPr id="29" name="">
            <a:extLst xmlns:a="http://schemas.openxmlformats.org/drawingml/2006/main">
              <a:ext uri="{FF2B5EF4-FFF2-40B4-BE49-F238E27FC236}">
                <a16:creationId xmlns:a16="http://schemas.microsoft.com/office/drawing/2014/main" id="{CEFA9982-11EB-4912-ACCF-263564B2390A}"/>
              </a:ext>
            </a:extLst>
          </p:cNvPr>
          <p:cNvSpPr>
            <a:spLocks xmlns:a="http://schemas.openxmlformats.org/drawingml/2006/main" noGrp="1"/>
          </p:cNvSpPr>
          <p:nvPr/>
        </p:nvSpPr>
        <p:spPr>
          <a:xfrm xmlns:a="http://schemas.openxmlformats.org/drawingml/2006/main">
            <a:off x="3067050" y="39433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345"/>
          </a:bodyPr>
          <a:lstStyle xmlns:a="http://schemas.openxmlformats.org/drawingml/2006/main"/>
          <a:p xmlns:a="http://schemas.openxmlformats.org/drawingml/2006/main">
            <a:pPr algn="ctr">
              <a:defRPr sz="1425" b="1" i="0">
                <a:solidFill>
                  <a:srgbClr val="33343F"/>
                </a:solidFill>
                <a:latin typeface="Arial"/>
                <a:ea typeface="Arial"/>
                <a:cs typeface="Arial"/>
              </a:defRPr>
            </a:pPr>
            <a:r>
              <a:rPr sz="1425" b="1" i="0">
                <a:solidFill>
                  <a:srgbClr val="33343F"/>
                </a:solidFill>
                <a:latin typeface="Arial"/>
                <a:ea typeface="Arial"/>
                <a:cs typeface="Arial"/>
              </a:rPr>
              <a:t>Authorized Text Inspector exports</a:t>
            </a:r>
          </a:p>
        </p:txBody>
      </p:sp>
      <p:sp>
        <p:nvSpPr>
          <p:cNvPr id="30" name="">
            <a:extLst xmlns:a="http://schemas.openxmlformats.org/drawingml/2006/main">
              <a:ext uri="{FF2B5EF4-FFF2-40B4-BE49-F238E27FC236}">
                <a16:creationId xmlns:a16="http://schemas.microsoft.com/office/drawing/2014/main" id="{AE8DE605-B75A-412E-948A-61419B5B47D9}"/>
              </a:ext>
            </a:extLst>
          </p:cNvPr>
          <p:cNvSpPr>
            <a:spLocks xmlns:a="http://schemas.openxmlformats.org/drawingml/2006/main" noGrp="1"/>
          </p:cNvSpPr>
          <p:nvPr/>
        </p:nvSpPr>
        <p:spPr>
          <a:xfrm xmlns:a="http://schemas.openxmlformats.org/drawingml/2006/main">
            <a:off x="6743700" y="39433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33343F"/>
                </a:solidFill>
                <a:latin typeface="Arial"/>
                <a:ea typeface="Arial"/>
                <a:cs typeface="Arial"/>
              </a:defRPr>
            </a:pPr>
            <a:r>
              <a:rPr sz="1425" b="1" i="0">
                <a:solidFill>
                  <a:srgbClr val="33343F"/>
                </a:solidFill>
                <a:latin typeface="Arial"/>
                <a:ea typeface="Arial"/>
                <a:cs typeface="Arial"/>
              </a:rPr>
              <a:t>User-supplied EVP or EGP mappings</a:t>
            </a:r>
          </a:p>
        </p:txBody>
      </p:sp>
      <p:sp>
        <p:nvSpPr>
          <p:cNvPr id="31" name="">
            <a:extLst xmlns:a="http://schemas.openxmlformats.org/drawingml/2006/main">
              <a:ext uri="{FF2B5EF4-FFF2-40B4-BE49-F238E27FC236}">
                <a16:creationId xmlns:a16="http://schemas.microsoft.com/office/drawing/2014/main" id="{66CA8C3A-B9BD-4849-B960-EC92559533BE}"/>
              </a:ext>
            </a:extLst>
          </p:cNvPr>
          <p:cNvSpPr>
            <a:spLocks xmlns:a="http://schemas.openxmlformats.org/drawingml/2006/main" noGrp="1"/>
          </p:cNvSpPr>
          <p:nvPr/>
        </p:nvSpPr>
        <p:spPr>
          <a:xfrm xmlns:a="http://schemas.openxmlformats.org/drawingml/2006/main">
            <a:off x="6305550" y="3943350"/>
            <a:ext cx="0" cy="619125"/>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2" name="">
            <a:extLst xmlns:a="http://schemas.openxmlformats.org/drawingml/2006/main">
              <a:ext uri="{FF2B5EF4-FFF2-40B4-BE49-F238E27FC236}">
                <a16:creationId xmlns:a16="http://schemas.microsoft.com/office/drawing/2014/main" id="{E19D0B78-FD03-4870-9698-B25A0DEFF5E9}"/>
              </a:ext>
            </a:extLst>
          </p:cNvPr>
          <p:cNvSpPr>
            <a:spLocks xmlns:a="http://schemas.openxmlformats.org/drawingml/2006/main" noGrp="1"/>
          </p:cNvSpPr>
          <p:nvPr/>
        </p:nvSpPr>
        <p:spPr>
          <a:xfrm xmlns:a="http://schemas.openxmlformats.org/drawingml/2006/main">
            <a:off x="895350" y="507682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lgn="ctr">
              <a:defRPr sz="2250" b="1" i="0">
                <a:solidFill>
                  <a:srgbClr val="176082"/>
                </a:solidFill>
                <a:latin typeface="Arial"/>
                <a:ea typeface="Arial"/>
                <a:cs typeface="Arial"/>
              </a:defRPr>
            </a:pPr>
            <a:r>
              <a:rPr sz="2250" b="1" i="0">
                <a:solidFill>
                  <a:srgbClr val="176082"/>
                </a:solidFill>
                <a:latin typeface="Arial"/>
                <a:ea typeface="Arial"/>
                <a:cs typeface="Arial"/>
              </a:rPr>
              <a:t>10</a:t>
            </a:r>
          </a:p>
        </p:txBody>
      </p:sp>
      <p:sp>
        <p:nvSpPr>
          <p:cNvPr id="33" name="">
            <a:extLst xmlns:a="http://schemas.openxmlformats.org/drawingml/2006/main">
              <a:ext uri="{FF2B5EF4-FFF2-40B4-BE49-F238E27FC236}">
                <a16:creationId xmlns:a16="http://schemas.microsoft.com/office/drawing/2014/main" id="{82A4C3E5-B735-4400-8465-1AE2A876CDFB}"/>
              </a:ext>
            </a:extLst>
          </p:cNvPr>
          <p:cNvSpPr>
            <a:spLocks xmlns:a="http://schemas.openxmlformats.org/drawingml/2006/main" noGrp="1"/>
          </p:cNvSpPr>
          <p:nvPr/>
        </p:nvSpPr>
        <p:spPr>
          <a:xfrm xmlns:a="http://schemas.openxmlformats.org/drawingml/2006/main">
            <a:off x="895350" y="54768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626777"/>
                </a:solidFill>
                <a:latin typeface="Arial"/>
                <a:ea typeface="Arial"/>
                <a:cs typeface="Arial"/>
              </a:defRPr>
            </a:pPr>
            <a:r>
              <a:rPr sz="1125" b="1" i="0">
                <a:solidFill>
                  <a:srgbClr val="626777"/>
                </a:solidFill>
                <a:latin typeface="Arial"/>
                <a:ea typeface="Arial"/>
                <a:cs typeface="Arial"/>
              </a:rPr>
              <a:t>books</a:t>
            </a:r>
          </a:p>
        </p:txBody>
      </p:sp>
      <p:sp>
        <p:nvSpPr>
          <p:cNvPr id="34" name="">
            <a:extLst xmlns:a="http://schemas.openxmlformats.org/drawingml/2006/main">
              <a:ext uri="{FF2B5EF4-FFF2-40B4-BE49-F238E27FC236}">
                <a16:creationId xmlns:a16="http://schemas.microsoft.com/office/drawing/2014/main" id="{C948516A-5D94-48BB-A33F-DB2012909EB9}"/>
              </a:ext>
            </a:extLst>
          </p:cNvPr>
          <p:cNvSpPr>
            <a:spLocks xmlns:a="http://schemas.openxmlformats.org/drawingml/2006/main" noGrp="1"/>
          </p:cNvSpPr>
          <p:nvPr/>
        </p:nvSpPr>
        <p:spPr>
          <a:xfrm xmlns:a="http://schemas.openxmlformats.org/drawingml/2006/main">
            <a:off x="3609975" y="507682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lgn="ctr">
              <a:defRPr sz="2250" b="1" i="0">
                <a:solidFill>
                  <a:srgbClr val="176082"/>
                </a:solidFill>
                <a:latin typeface="Arial"/>
                <a:ea typeface="Arial"/>
                <a:cs typeface="Arial"/>
              </a:defRPr>
            </a:pPr>
            <a:r>
              <a:rPr sz="2250" b="1" i="0">
                <a:solidFill>
                  <a:srgbClr val="176082"/>
                </a:solidFill>
                <a:latin typeface="Arial"/>
                <a:ea typeface="Arial"/>
                <a:cs typeface="Arial"/>
              </a:rPr>
              <a:t>50</a:t>
            </a:r>
          </a:p>
        </p:txBody>
      </p:sp>
      <p:sp>
        <p:nvSpPr>
          <p:cNvPr id="35" name="">
            <a:extLst xmlns:a="http://schemas.openxmlformats.org/drawingml/2006/main">
              <a:ext uri="{FF2B5EF4-FFF2-40B4-BE49-F238E27FC236}">
                <a16:creationId xmlns:a16="http://schemas.microsoft.com/office/drawing/2014/main" id="{0FD47262-D8A2-428E-B4AD-A7975B5F7C57}"/>
              </a:ext>
            </a:extLst>
          </p:cNvPr>
          <p:cNvSpPr>
            <a:spLocks xmlns:a="http://schemas.openxmlformats.org/drawingml/2006/main" noGrp="1"/>
          </p:cNvSpPr>
          <p:nvPr/>
        </p:nvSpPr>
        <p:spPr>
          <a:xfrm xmlns:a="http://schemas.openxmlformats.org/drawingml/2006/main">
            <a:off x="3609975" y="54768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626777"/>
                </a:solidFill>
                <a:latin typeface="Arial"/>
                <a:ea typeface="Arial"/>
                <a:cs typeface="Arial"/>
              </a:defRPr>
            </a:pPr>
            <a:r>
              <a:rPr sz="1125" b="1" i="0">
                <a:solidFill>
                  <a:srgbClr val="626777"/>
                </a:solidFill>
                <a:latin typeface="Arial"/>
                <a:ea typeface="Arial"/>
                <a:cs typeface="Arial"/>
              </a:rPr>
              <a:t>stratified passages</a:t>
            </a:r>
          </a:p>
        </p:txBody>
      </p:sp>
      <p:sp>
        <p:nvSpPr>
          <p:cNvPr id="36" name="">
            <a:extLst xmlns:a="http://schemas.openxmlformats.org/drawingml/2006/main">
              <a:ext uri="{FF2B5EF4-FFF2-40B4-BE49-F238E27FC236}">
                <a16:creationId xmlns:a16="http://schemas.microsoft.com/office/drawing/2014/main" id="{61BD5B06-40D5-440C-9B3E-5B728830839E}"/>
              </a:ext>
            </a:extLst>
          </p:cNvPr>
          <p:cNvSpPr>
            <a:spLocks xmlns:a="http://schemas.openxmlformats.org/drawingml/2006/main" noGrp="1"/>
          </p:cNvSpPr>
          <p:nvPr/>
        </p:nvSpPr>
        <p:spPr>
          <a:xfrm xmlns:a="http://schemas.openxmlformats.org/drawingml/2006/main">
            <a:off x="6324600" y="507682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lgn="ctr">
              <a:defRPr sz="2250" b="1" i="0">
                <a:solidFill>
                  <a:srgbClr val="176082"/>
                </a:solidFill>
                <a:latin typeface="Arial"/>
                <a:ea typeface="Arial"/>
                <a:cs typeface="Arial"/>
              </a:defRPr>
            </a:pPr>
            <a:r>
              <a:rPr sz="2250" b="1" i="0">
                <a:solidFill>
                  <a:srgbClr val="176082"/>
                </a:solidFill>
                <a:latin typeface="Arial"/>
                <a:ea typeface="Arial"/>
                <a:cs typeface="Arial"/>
              </a:rPr>
              <a:t>9,810</a:t>
            </a:r>
          </a:p>
        </p:txBody>
      </p:sp>
      <p:sp>
        <p:nvSpPr>
          <p:cNvPr id="37" name="">
            <a:extLst xmlns:a="http://schemas.openxmlformats.org/drawingml/2006/main">
              <a:ext uri="{FF2B5EF4-FFF2-40B4-BE49-F238E27FC236}">
                <a16:creationId xmlns:a16="http://schemas.microsoft.com/office/drawing/2014/main" id="{7B1F6A3C-4CD7-47DD-B052-E921F3C0FDCB}"/>
              </a:ext>
            </a:extLst>
          </p:cNvPr>
          <p:cNvSpPr>
            <a:spLocks xmlns:a="http://schemas.openxmlformats.org/drawingml/2006/main" noGrp="1"/>
          </p:cNvSpPr>
          <p:nvPr/>
        </p:nvSpPr>
        <p:spPr>
          <a:xfrm xmlns:a="http://schemas.openxmlformats.org/drawingml/2006/main">
            <a:off x="6324600" y="54768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626777"/>
                </a:solidFill>
                <a:latin typeface="Arial"/>
                <a:ea typeface="Arial"/>
                <a:cs typeface="Arial"/>
              </a:defRPr>
            </a:pPr>
            <a:r>
              <a:rPr sz="1125" b="1" i="0">
                <a:solidFill>
                  <a:srgbClr val="626777"/>
                </a:solidFill>
                <a:latin typeface="Arial"/>
                <a:ea typeface="Arial"/>
                <a:cs typeface="Arial"/>
              </a:rPr>
              <a:t>words</a:t>
            </a:r>
          </a:p>
        </p:txBody>
      </p:sp>
      <p:sp>
        <p:nvSpPr>
          <p:cNvPr id="38" name="">
            <a:extLst xmlns:a="http://schemas.openxmlformats.org/drawingml/2006/main">
              <a:ext uri="{FF2B5EF4-FFF2-40B4-BE49-F238E27FC236}">
                <a16:creationId xmlns:a16="http://schemas.microsoft.com/office/drawing/2014/main" id="{0B5E534D-8151-437A-AC59-1C88E6602FF0}"/>
              </a:ext>
            </a:extLst>
          </p:cNvPr>
          <p:cNvSpPr>
            <a:spLocks xmlns:a="http://schemas.openxmlformats.org/drawingml/2006/main" noGrp="1"/>
          </p:cNvSpPr>
          <p:nvPr/>
        </p:nvSpPr>
        <p:spPr>
          <a:xfrm xmlns:a="http://schemas.openxmlformats.org/drawingml/2006/main">
            <a:off x="9039225" y="507682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lgn="ctr">
              <a:defRPr sz="2250" b="1" i="0">
                <a:solidFill>
                  <a:srgbClr val="D58C00"/>
                </a:solidFill>
                <a:latin typeface="Arial"/>
                <a:ea typeface="Arial"/>
                <a:cs typeface="Arial"/>
              </a:defRPr>
            </a:pPr>
            <a:r>
              <a:rPr sz="2250" b="1" i="0">
                <a:solidFill>
                  <a:srgbClr val="D58C00"/>
                </a:solidFill>
                <a:latin typeface="Arial"/>
                <a:ea typeface="Arial"/>
                <a:cs typeface="Arial"/>
              </a:rPr>
              <a:t>260</a:t>
            </a:r>
          </a:p>
        </p:txBody>
      </p:sp>
      <p:sp>
        <p:nvSpPr>
          <p:cNvPr id="39" name="">
            <a:extLst xmlns:a="http://schemas.openxmlformats.org/drawingml/2006/main">
              <a:ext uri="{FF2B5EF4-FFF2-40B4-BE49-F238E27FC236}">
                <a16:creationId xmlns:a16="http://schemas.microsoft.com/office/drawing/2014/main" id="{8D2762FD-A0F6-4899-BAE7-FD90FD530BE2}"/>
              </a:ext>
            </a:extLst>
          </p:cNvPr>
          <p:cNvSpPr>
            <a:spLocks xmlns:a="http://schemas.openxmlformats.org/drawingml/2006/main" noGrp="1"/>
          </p:cNvSpPr>
          <p:nvPr/>
        </p:nvSpPr>
        <p:spPr>
          <a:xfrm xmlns:a="http://schemas.openxmlformats.org/drawingml/2006/main">
            <a:off x="9039225" y="54768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1" i="0">
                <a:solidFill>
                  <a:srgbClr val="626777"/>
                </a:solidFill>
                <a:latin typeface="Arial"/>
                <a:ea typeface="Arial"/>
                <a:cs typeface="Arial"/>
              </a:defRPr>
            </a:pPr>
            <a:r>
              <a:rPr sz="1125" b="1" i="0">
                <a:solidFill>
                  <a:srgbClr val="626777"/>
                </a:solidFill>
                <a:latin typeface="Arial"/>
                <a:ea typeface="Arial"/>
                <a:cs typeface="Arial"/>
              </a:rPr>
              <a:t>book-feature rows</a:t>
            </a:r>
          </a:p>
        </p:txBody>
      </p:sp>
      <p:sp>
        <p:nvSpPr>
          <p:cNvPr id="40" name="">
            <a:extLst xmlns:a="http://schemas.openxmlformats.org/drawingml/2006/main">
              <a:ext uri="{FF2B5EF4-FFF2-40B4-BE49-F238E27FC236}">
                <a16:creationId xmlns:a16="http://schemas.microsoft.com/office/drawing/2014/main" id="{87B516EE-AC45-4C16-8F07-42B194DDE740}"/>
              </a:ext>
            </a:extLst>
          </p:cNvPr>
          <p:cNvSpPr>
            <a:spLocks xmlns:a="http://schemas.openxmlformats.org/drawingml/2006/main" noGrp="1"/>
          </p:cNvSpPr>
          <p:nvPr/>
        </p:nvSpPr>
        <p:spPr>
          <a:xfrm xmlns:a="http://schemas.openxmlformats.org/drawingml/2006/main">
            <a:off x="2333625" y="5829300"/>
            <a:ext cx="752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B94D35"/>
                </a:solidFill>
                <a:latin typeface="Arial"/>
                <a:ea typeface="Arial"/>
                <a:cs typeface="Arial"/>
              </a:defRPr>
            </a:pPr>
            <a:r>
              <a:rPr sz="1350" b="1" i="0">
                <a:solidFill>
                  <a:srgbClr val="B94D35"/>
                </a:solidFill>
                <a:latin typeface="Arial"/>
                <a:ea typeface="Arial"/>
                <a:cs typeface="Arial"/>
              </a:rPr>
              <a:t>Automatic matches remain candidates until contextual verification.</a:t>
            </a:r>
          </a:p>
        </p:txBody>
      </p:sp>
      <p:sp>
        <p:nvSpPr>
          <p:cNvPr id="41" name="">
            <a:extLst xmlns:a="http://schemas.openxmlformats.org/drawingml/2006/main">
              <a:ext uri="{FF2B5EF4-FFF2-40B4-BE49-F238E27FC236}">
                <a16:creationId xmlns:a16="http://schemas.microsoft.com/office/drawing/2014/main" id="{60ABE388-3A9D-4CEF-BA62-F428CCB90382}"/>
              </a:ext>
            </a:extLst>
          </p:cNvPr>
          <p:cNvSpPr>
            <a:spLocks xmlns:a="http://schemas.openxmlformats.org/drawingml/2006/main" noGrp="1"/>
          </p:cNvSpPr>
          <p:nvPr/>
        </p:nvSpPr>
        <p:spPr>
          <a:xfrm xmlns:a="http://schemas.openxmlformats.org/drawingml/2006/main">
            <a:off x="4619625" y="6153150"/>
            <a:ext cx="600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176082"/>
                </a:solidFill>
                <a:latin typeface="Arial"/>
                <a:ea typeface="Arial"/>
                <a:cs typeface="Arial"/>
              </a:defRPr>
            </a:pPr>
            <a:r>
              <a:rPr sz="1275" b="1" i="0">
                <a:solidFill>
                  <a:srgbClr val="176082"/>
                </a:solidFill>
                <a:latin typeface="Arial"/>
                <a:ea typeface="Arial"/>
                <a:cs typeface="Arial"/>
              </a:rPr>
              <a:t>github.com/MehmetDEU/MIWAE</a:t>
            </a:r>
          </a:p>
        </p:txBody>
      </p:sp>
      <p:sp>
        <p:nvSpPr>
          <p:cNvPr id="42" name="">
            <a:extLst xmlns:a="http://schemas.openxmlformats.org/drawingml/2006/main">
              <a:ext uri="{FF2B5EF4-FFF2-40B4-BE49-F238E27FC236}">
                <a16:creationId xmlns:a16="http://schemas.microsoft.com/office/drawing/2014/main" id="{F207FB68-7B76-4730-A85C-09FC2C035A91}"/>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43" name="">
            <a:extLst xmlns:a="http://schemas.openxmlformats.org/drawingml/2006/main">
              <a:ext uri="{FF2B5EF4-FFF2-40B4-BE49-F238E27FC236}">
                <a16:creationId xmlns:a16="http://schemas.microsoft.com/office/drawing/2014/main" id="{FD35E364-21EE-4324-93A2-F73A0AB1084D}"/>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44" name="">
            <a:extLst xmlns:a="http://schemas.openxmlformats.org/drawingml/2006/main">
              <a:ext uri="{FF2B5EF4-FFF2-40B4-BE49-F238E27FC236}">
                <a16:creationId xmlns:a16="http://schemas.microsoft.com/office/drawing/2014/main" id="{96C6E2D9-31EE-4ED7-9D3D-DAA2BB566C34}"/>
              </a:ext>
            </a:extLst>
          </p:cNvPr>
          <p:cNvSpPr>
            <a:spLocks xmlns:a="http://schemas.openxmlformats.org/drawingml/2006/main" noGrp="1"/>
          </p:cNvSpPr>
          <p:nvPr/>
        </p:nvSpPr>
        <p:spPr>
          <a:xfrm xmlns:a="http://schemas.openxmlformats.org/drawingml/2006/main">
            <a:off x="2047875" y="65246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000"/>
          </a:bodyPr>
          <a:lstStyle xmlns:a="http://schemas.openxmlformats.org/drawingml/2006/main"/>
          <a:p xmlns:a="http://schemas.openxmlformats.org/drawingml/2006/main">
            <a:pPr algn="ctr">
              <a:defRPr sz="750" b="0" i="0">
                <a:solidFill>
                  <a:srgbClr val="626777"/>
                </a:solidFill>
                <a:latin typeface="Arial"/>
                <a:ea typeface="Arial"/>
                <a:cs typeface="Arial"/>
              </a:defRPr>
            </a:pPr>
            <a:r>
              <a:rPr sz="750" b="0" i="0">
                <a:solidFill>
                  <a:srgbClr val="626777"/>
                </a:solidFill>
                <a:latin typeface="Arial"/>
                <a:ea typeface="Arial"/>
                <a:cs typeface="Arial"/>
              </a:rPr>
              <a:t>MIWAE Corpus Analysis API v0.1</a:t>
            </a:r>
          </a:p>
        </p:txBody>
      </p:sp>
    </p:spTree>
    <p:extLst>
      <p:ext uri="{BB962C8B-B14F-4D97-AF65-F5344CB8AC3E}">
        <p14:creationId xmlns:p14="http://schemas.microsoft.com/office/powerpoint/2010/main" val="572442064"/>
      </p:ext>
    </p:extLst>
  </p:cSld>
</p:sld>
</file>

<file path=ppt/slides/slide11.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CD74F09-C1E2-4DF1-A1CA-1A992DED6025}"/>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D58C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4E2750-E32E-4194-9F94-B7496AB3646A}"/>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
            <a:extLst xmlns:a="http://schemas.openxmlformats.org/drawingml/2006/main">
              <a:ext uri="{FF2B5EF4-FFF2-40B4-BE49-F238E27FC236}">
                <a16:creationId xmlns:a16="http://schemas.microsoft.com/office/drawing/2014/main" id="{45E2FE95-8123-4802-BF2B-A69CB9467C68}"/>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From GitHub to a running local API</a:t>
            </a:r>
          </a:p>
        </p:txBody>
      </p:sp>
      <p:sp>
        <p:nvSpPr>
          <p:cNvPr id="4" name="">
            <a:extLst xmlns:a="http://schemas.openxmlformats.org/drawingml/2006/main">
              <a:ext uri="{FF2B5EF4-FFF2-40B4-BE49-F238E27FC236}">
                <a16:creationId xmlns:a16="http://schemas.microsoft.com/office/drawing/2014/main" id="{829F4708-8976-414B-8A48-E405CAC40491}"/>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9D42E687-3260-4EC3-96B6-3FE9C2FFC837}"/>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82A342B8-B759-43C9-9F2F-FC117AE23B4E}"/>
              </a:ext>
            </a:extLst>
          </p:cNvPr>
          <p:cNvSpPr>
            <a:spLocks xmlns:a="http://schemas.openxmlformats.org/drawingml/2006/main" noGrp="1"/>
          </p:cNvSpPr>
          <p:nvPr/>
        </p:nvSpPr>
        <p:spPr>
          <a:xfrm xmlns:a="http://schemas.openxmlformats.org/drawingml/2006/main">
            <a:off x="9429750" y="381000"/>
            <a:ext cx="1762125" cy="266700"/>
          </a:xfrm>
          <a:prstGeom xmlns:a="http://schemas.openxmlformats.org/drawingml/2006/main" prst="roundRect">
            <a:avLst>
              <a:gd name="adj" fmla="val 28571"/>
            </a:avLst>
          </a:prstGeom>
          <a:solidFill xmlns:a="http://schemas.openxmlformats.org/drawingml/2006/main">
            <a:srgbClr val="17608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057314B-E7C1-47D5-9D1D-0B49F4161F90}"/>
              </a:ext>
            </a:extLst>
          </p:cNvPr>
          <p:cNvSpPr>
            <a:spLocks xmlns:a="http://schemas.openxmlformats.org/drawingml/2006/main" noGrp="1"/>
          </p:cNvSpPr>
          <p:nvPr/>
        </p:nvSpPr>
        <p:spPr>
          <a:xfrm xmlns:a="http://schemas.openxmlformats.org/drawingml/2006/main">
            <a:off x="9505950" y="409575"/>
            <a:ext cx="1609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PUBLIC REPOSITORY</a:t>
            </a:r>
          </a:p>
        </p:txBody>
      </p:sp>
      <p:sp>
        <p:nvSpPr>
          <p:cNvPr id="8" name="">
            <a:extLst xmlns:a="http://schemas.openxmlformats.org/drawingml/2006/main">
              <a:ext uri="{FF2B5EF4-FFF2-40B4-BE49-F238E27FC236}">
                <a16:creationId xmlns:a16="http://schemas.microsoft.com/office/drawing/2014/main" id="{CF9DB11E-D0A9-4872-8AC6-DF4F18039B57}"/>
              </a:ext>
            </a:extLst>
          </p:cNvPr>
          <p:cNvSpPr>
            <a:spLocks xmlns:a="http://schemas.openxmlformats.org/drawingml/2006/main" noGrp="1"/>
          </p:cNvSpPr>
          <p:nvPr/>
        </p:nvSpPr>
        <p:spPr>
          <a:xfrm xmlns:a="http://schemas.openxmlformats.org/drawingml/2006/main">
            <a:off x="590550" y="1752600"/>
            <a:ext cx="3219450" cy="33337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4CC028F4-6EBA-4F73-A013-9F2C83633936}"/>
              </a:ext>
            </a:extLst>
          </p:cNvPr>
          <p:cNvSpPr>
            <a:spLocks xmlns:a="http://schemas.openxmlformats.org/drawingml/2006/main" noGrp="1"/>
          </p:cNvSpPr>
          <p:nvPr/>
        </p:nvSpPr>
        <p:spPr>
          <a:xfrm xmlns:a="http://schemas.openxmlformats.org/drawingml/2006/main">
            <a:off x="876300" y="2009775"/>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1  ACCESS</a:t>
            </a:r>
          </a:p>
        </p:txBody>
      </p:sp>
      <p:sp>
        <p:nvSpPr>
          <p:cNvPr id="10" name="">
            <a:extLst xmlns:a="http://schemas.openxmlformats.org/drawingml/2006/main">
              <a:ext uri="{FF2B5EF4-FFF2-40B4-BE49-F238E27FC236}">
                <a16:creationId xmlns:a16="http://schemas.microsoft.com/office/drawing/2014/main" id="{B3BDEC0A-65EA-4E29-BDFD-C32846905D5D}"/>
              </a:ext>
            </a:extLst>
          </p:cNvPr>
          <p:cNvSpPr>
            <a:spLocks xmlns:a="http://schemas.openxmlformats.org/drawingml/2006/main" noGrp="1"/>
          </p:cNvSpPr>
          <p:nvPr/>
        </p:nvSpPr>
        <p:spPr>
          <a:xfrm xmlns:a="http://schemas.openxmlformats.org/drawingml/2006/main">
            <a:off x="781050" y="2419350"/>
            <a:ext cx="2838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33343F"/>
                </a:solidFill>
                <a:latin typeface="Arial"/>
                <a:ea typeface="Arial"/>
                <a:cs typeface="Arial"/>
              </a:defRPr>
            </a:pPr>
            <a:r>
              <a:rPr sz="1500" b="1" i="0">
                <a:solidFill>
                  <a:srgbClr val="33343F"/>
                </a:solidFill>
                <a:latin typeface="Arial"/>
                <a:ea typeface="Arial"/>
                <a:cs typeface="Arial"/>
              </a:rPr>
              <a:t>github.com/</a:t>
            </a:r>
          </a:p>
          <a:p xmlns:a="http://schemas.openxmlformats.org/drawingml/2006/main">
            <a:pPr algn="ctr">
              <a:defRPr sz="1500" b="1" i="0">
                <a:solidFill>
                  <a:srgbClr val="33343F"/>
                </a:solidFill>
                <a:latin typeface="Arial"/>
                <a:ea typeface="Arial"/>
                <a:cs typeface="Arial"/>
              </a:defRPr>
            </a:pPr>
            <a:r>
              <a:rPr sz="1500" b="1" i="0">
                <a:solidFill>
                  <a:srgbClr val="33343F"/>
                </a:solidFill>
                <a:latin typeface="Arial"/>
                <a:ea typeface="Arial"/>
                <a:cs typeface="Arial"/>
              </a:rPr>
              <a:t>MehmetDEU/MIWAE</a:t>
            </a:r>
          </a:p>
        </p:txBody>
      </p:sp>
      <p:sp>
        <p:nvSpPr>
          <p:cNvPr id="11" name="">
            <a:extLst xmlns:a="http://schemas.openxmlformats.org/drawingml/2006/main">
              <a:ext uri="{FF2B5EF4-FFF2-40B4-BE49-F238E27FC236}">
                <a16:creationId xmlns:a16="http://schemas.microsoft.com/office/drawing/2014/main" id="{DA3A6A7B-2FED-4CF9-A5E6-F001782EA89A}"/>
              </a:ext>
            </a:extLst>
          </p:cNvPr>
          <p:cNvSpPr>
            <a:spLocks xmlns:a="http://schemas.openxmlformats.org/drawingml/2006/main" noGrp="1"/>
          </p:cNvSpPr>
          <p:nvPr/>
        </p:nvSpPr>
        <p:spPr>
          <a:xfrm xmlns:a="http://schemas.openxmlformats.org/drawingml/2006/main">
            <a:off x="952500" y="3267075"/>
            <a:ext cx="2495550" cy="400050"/>
          </a:xfrm>
          <a:prstGeom xmlns:a="http://schemas.openxmlformats.org/drawingml/2006/main" prst="roundRect">
            <a:avLst>
              <a:gd name="adj" fmla="val 19048"/>
            </a:avLst>
          </a:prstGeom>
          <a:solidFill xmlns:a="http://schemas.openxmlformats.org/drawingml/2006/main">
            <a:srgbClr val="E6F0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0922506-2F7E-45D0-929D-DD5A1F66549B}"/>
              </a:ext>
            </a:extLst>
          </p:cNvPr>
          <p:cNvSpPr>
            <a:spLocks xmlns:a="http://schemas.openxmlformats.org/drawingml/2006/main" noGrp="1"/>
          </p:cNvSpPr>
          <p:nvPr/>
        </p:nvSpPr>
        <p:spPr>
          <a:xfrm xmlns:a="http://schemas.openxmlformats.org/drawingml/2006/main">
            <a:off x="1047750" y="3352800"/>
            <a:ext cx="2305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889"/>
          </a:bodyPr>
          <a:lstStyle xmlns:a="http://schemas.openxmlformats.org/drawingml/2006/main"/>
          <a:p xmlns:a="http://schemas.openxmlformats.org/drawingml/2006/main">
            <a:pPr algn="ctr">
              <a:defRPr sz="1125" b="1" i="0">
                <a:solidFill>
                  <a:srgbClr val="176082"/>
                </a:solidFill>
                <a:latin typeface="Arial"/>
                <a:ea typeface="Arial"/>
                <a:cs typeface="Arial"/>
              </a:defRPr>
            </a:pPr>
            <a:r>
              <a:rPr sz="1125" b="1" i="0">
                <a:solidFill>
                  <a:srgbClr val="176082"/>
                </a:solidFill>
                <a:latin typeface="Arial"/>
                <a:ea typeface="Arial"/>
                <a:cs typeface="Arial"/>
              </a:rPr>
              <a:t>source · methods · examples</a:t>
            </a:r>
          </a:p>
        </p:txBody>
      </p:sp>
      <p:sp>
        <p:nvSpPr>
          <p:cNvPr id="13" name="">
            <a:extLst xmlns:a="http://schemas.openxmlformats.org/drawingml/2006/main">
              <a:ext uri="{FF2B5EF4-FFF2-40B4-BE49-F238E27FC236}">
                <a16:creationId xmlns:a16="http://schemas.microsoft.com/office/drawing/2014/main" id="{DCF79877-807C-49B6-8D8E-76585C135518}"/>
              </a:ext>
            </a:extLst>
          </p:cNvPr>
          <p:cNvSpPr>
            <a:spLocks xmlns:a="http://schemas.openxmlformats.org/drawingml/2006/main" noGrp="1"/>
          </p:cNvSpPr>
          <p:nvPr/>
        </p:nvSpPr>
        <p:spPr>
          <a:xfrm xmlns:a="http://schemas.openxmlformats.org/drawingml/2006/main">
            <a:off x="952500" y="4000500"/>
            <a:ext cx="2495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0">
                <a:solidFill>
                  <a:srgbClr val="626777"/>
                </a:solidFill>
                <a:latin typeface="Arial"/>
                <a:ea typeface="Arial"/>
                <a:cs typeface="Arial"/>
              </a:defRPr>
            </a:pPr>
            <a:r>
              <a:rPr sz="1350" b="0" i="0">
                <a:solidFill>
                  <a:srgbClr val="626777"/>
                </a:solidFill>
                <a:latin typeface="Arial"/>
                <a:ea typeface="Arial"/>
                <a:cs typeface="Arial"/>
              </a:rPr>
              <a:t>Clone or download the public MIT-licensed prototype.</a:t>
            </a:r>
          </a:p>
        </p:txBody>
      </p:sp>
      <p:sp>
        <p:nvSpPr>
          <p:cNvPr id="14" name="">
            <a:extLst xmlns:a="http://schemas.openxmlformats.org/drawingml/2006/main">
              <a:ext uri="{FF2B5EF4-FFF2-40B4-BE49-F238E27FC236}">
                <a16:creationId xmlns:a16="http://schemas.microsoft.com/office/drawing/2014/main" id="{7F99D5D1-9672-4EA3-98C6-95443AAD79E9}"/>
              </a:ext>
            </a:extLst>
          </p:cNvPr>
          <p:cNvSpPr>
            <a:spLocks xmlns:a="http://schemas.openxmlformats.org/drawingml/2006/main" noGrp="1"/>
          </p:cNvSpPr>
          <p:nvPr/>
        </p:nvSpPr>
        <p:spPr>
          <a:xfrm xmlns:a="http://schemas.openxmlformats.org/drawingml/2006/main">
            <a:off x="4457700" y="1752600"/>
            <a:ext cx="4000500" cy="3333750"/>
          </a:xfrm>
          <a:prstGeom xmlns:a="http://schemas.openxmlformats.org/drawingml/2006/main" prst="roundRect">
            <a:avLst>
              <a:gd name="adj" fmla="val 2286"/>
            </a:avLst>
          </a:prstGeom>
          <a:solidFill xmlns:a="http://schemas.openxmlformats.org/drawingml/2006/main">
            <a:srgbClr val="123B5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E3E9F77-6BBA-44AB-AA0B-5F27052D5294}"/>
              </a:ext>
            </a:extLst>
          </p:cNvPr>
          <p:cNvSpPr>
            <a:spLocks xmlns:a="http://schemas.openxmlformats.org/drawingml/2006/main" noGrp="1"/>
          </p:cNvSpPr>
          <p:nvPr/>
        </p:nvSpPr>
        <p:spPr>
          <a:xfrm xmlns:a="http://schemas.openxmlformats.org/drawingml/2006/main">
            <a:off x="4762500" y="2009775"/>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2  LAUNCH IN TERMINAL</a:t>
            </a:r>
          </a:p>
        </p:txBody>
      </p:sp>
      <p:sp>
        <p:nvSpPr>
          <p:cNvPr id="16" name="">
            <a:extLst xmlns:a="http://schemas.openxmlformats.org/drawingml/2006/main">
              <a:ext uri="{FF2B5EF4-FFF2-40B4-BE49-F238E27FC236}">
                <a16:creationId xmlns:a16="http://schemas.microsoft.com/office/drawing/2014/main" id="{B7980A48-5230-4B33-B183-3357F75DFDCC}"/>
              </a:ext>
            </a:extLst>
          </p:cNvPr>
          <p:cNvSpPr>
            <a:spLocks xmlns:a="http://schemas.openxmlformats.org/drawingml/2006/main" noGrp="1"/>
          </p:cNvSpPr>
          <p:nvPr/>
        </p:nvSpPr>
        <p:spPr>
          <a:xfrm xmlns:a="http://schemas.openxmlformats.org/drawingml/2006/main">
            <a:off x="4762500" y="2457450"/>
            <a:ext cx="3381375"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git clone https://github.com/MehmetDEU/MIWAE.git</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cd MIWAE</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python3 -m venv .venv</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source .venv/bin/activate</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pip install '.[dev]'</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uvicorn miwae_api.app:app --reload</a:t>
            </a:r>
          </a:p>
        </p:txBody>
      </p:sp>
      <p:sp>
        <p:nvSpPr>
          <p:cNvPr id="17" name="">
            <a:extLst xmlns:a="http://schemas.openxmlformats.org/drawingml/2006/main">
              <a:ext uri="{FF2B5EF4-FFF2-40B4-BE49-F238E27FC236}">
                <a16:creationId xmlns:a16="http://schemas.microsoft.com/office/drawing/2014/main" id="{1619AA54-6F25-4916-946E-2FD6B92BBAC7}"/>
              </a:ext>
            </a:extLst>
          </p:cNvPr>
          <p:cNvSpPr>
            <a:spLocks xmlns:a="http://schemas.openxmlformats.org/drawingml/2006/main" noGrp="1"/>
          </p:cNvSpPr>
          <p:nvPr/>
        </p:nvSpPr>
        <p:spPr>
          <a:xfrm xmlns:a="http://schemas.openxmlformats.org/drawingml/2006/main">
            <a:off x="4857750" y="4552950"/>
            <a:ext cx="3200400" cy="304800"/>
          </a:xfrm>
          <a:prstGeom xmlns:a="http://schemas.openxmlformats.org/drawingml/2006/main" prst="roundRect">
            <a:avLst>
              <a:gd name="adj" fmla="val 25000"/>
            </a:avLst>
          </a:prstGeom>
          <a:solidFill xmlns:a="http://schemas.openxmlformats.org/drawingml/2006/main">
            <a:srgbClr val="21465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3E22679-64FA-4F8A-935E-B52F4822E6FC}"/>
              </a:ext>
            </a:extLst>
          </p:cNvPr>
          <p:cNvSpPr>
            <a:spLocks xmlns:a="http://schemas.openxmlformats.org/drawingml/2006/main" noGrp="1"/>
          </p:cNvSpPr>
          <p:nvPr/>
        </p:nvSpPr>
        <p:spPr>
          <a:xfrm xmlns:a="http://schemas.openxmlformats.org/drawingml/2006/main">
            <a:off x="4972050" y="4610100"/>
            <a:ext cx="297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78A9C0"/>
                </a:solidFill>
                <a:latin typeface="Arial"/>
                <a:ea typeface="Arial"/>
                <a:cs typeface="Arial"/>
              </a:defRPr>
            </a:pPr>
            <a:r>
              <a:rPr sz="975" b="1" i="0">
                <a:solidFill>
                  <a:srgbClr val="78A9C0"/>
                </a:solidFill>
                <a:latin typeface="Arial"/>
                <a:ea typeface="Arial"/>
                <a:cs typeface="Arial"/>
              </a:rPr>
              <a:t>Keep the Terminal process running</a:t>
            </a:r>
          </a:p>
        </p:txBody>
      </p:sp>
      <p:sp>
        <p:nvSpPr>
          <p:cNvPr id="19" name="">
            <a:extLst xmlns:a="http://schemas.openxmlformats.org/drawingml/2006/main">
              <a:ext uri="{FF2B5EF4-FFF2-40B4-BE49-F238E27FC236}">
                <a16:creationId xmlns:a16="http://schemas.microsoft.com/office/drawing/2014/main" id="{46536593-3131-4B57-927B-47DA7A899422}"/>
              </a:ext>
            </a:extLst>
          </p:cNvPr>
          <p:cNvSpPr>
            <a:spLocks xmlns:a="http://schemas.openxmlformats.org/drawingml/2006/main" noGrp="1"/>
          </p:cNvSpPr>
          <p:nvPr/>
        </p:nvSpPr>
        <p:spPr>
          <a:xfrm xmlns:a="http://schemas.openxmlformats.org/drawingml/2006/main">
            <a:off x="9105900" y="1752600"/>
            <a:ext cx="2495550" cy="3333750"/>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C8C9D3"/>
            </a:solidFill>
          </a:ln>
        </p:spPr>
      </p:sp>
      <p:sp>
        <p:nvSpPr>
          <p:cNvPr id="20" name="">
            <a:extLst xmlns:a="http://schemas.openxmlformats.org/drawingml/2006/main">
              <a:ext uri="{FF2B5EF4-FFF2-40B4-BE49-F238E27FC236}">
                <a16:creationId xmlns:a16="http://schemas.microsoft.com/office/drawing/2014/main" id="{4DBE40A8-98A6-408E-BB36-3761F4EBB27B}"/>
              </a:ext>
            </a:extLst>
          </p:cNvPr>
          <p:cNvSpPr>
            <a:spLocks xmlns:a="http://schemas.openxmlformats.org/drawingml/2006/main" noGrp="1"/>
          </p:cNvSpPr>
          <p:nvPr/>
        </p:nvSpPr>
        <p:spPr>
          <a:xfrm xmlns:a="http://schemas.openxmlformats.org/drawingml/2006/main">
            <a:off x="9391650" y="2009775"/>
            <a:ext cx="1857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3  OPEN</a:t>
            </a:r>
          </a:p>
        </p:txBody>
      </p:sp>
      <p:sp>
        <p:nvSpPr>
          <p:cNvPr id="21" name="">
            <a:extLst xmlns:a="http://schemas.openxmlformats.org/drawingml/2006/main">
              <a:ext uri="{FF2B5EF4-FFF2-40B4-BE49-F238E27FC236}">
                <a16:creationId xmlns:a16="http://schemas.microsoft.com/office/drawing/2014/main" id="{4E7E8C6E-E7C4-4E3B-B5B7-02C0DB82063A}"/>
              </a:ext>
            </a:extLst>
          </p:cNvPr>
          <p:cNvSpPr>
            <a:spLocks xmlns:a="http://schemas.openxmlformats.org/drawingml/2006/main" noGrp="1"/>
          </p:cNvSpPr>
          <p:nvPr/>
        </p:nvSpPr>
        <p:spPr>
          <a:xfrm xmlns:a="http://schemas.openxmlformats.org/drawingml/2006/main">
            <a:off x="9363075" y="2581275"/>
            <a:ext cx="1981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97"/>
          </a:bodyPr>
          <a:lstStyle xmlns:a="http://schemas.openxmlformats.org/drawingml/2006/main"/>
          <a:p xmlns:a="http://schemas.openxmlformats.org/drawingml/2006/main">
            <a:pPr algn="ctr">
              <a:defRPr sz="1500" b="1" i="0">
                <a:solidFill>
                  <a:srgbClr val="33343F"/>
                </a:solidFill>
                <a:latin typeface="Arial"/>
                <a:ea typeface="Arial"/>
                <a:cs typeface="Arial"/>
              </a:defRPr>
            </a:pPr>
            <a:r>
              <a:rPr sz="1500" b="1" i="0">
                <a:solidFill>
                  <a:srgbClr val="33343F"/>
                </a:solidFill>
                <a:latin typeface="Arial"/>
                <a:ea typeface="Arial"/>
                <a:cs typeface="Arial"/>
              </a:rPr>
              <a:t>localhost:8000/docs</a:t>
            </a:r>
          </a:p>
        </p:txBody>
      </p:sp>
      <p:sp>
        <p:nvSpPr>
          <p:cNvPr id="22" name="">
            <a:extLst xmlns:a="http://schemas.openxmlformats.org/drawingml/2006/main">
              <a:ext uri="{FF2B5EF4-FFF2-40B4-BE49-F238E27FC236}">
                <a16:creationId xmlns:a16="http://schemas.microsoft.com/office/drawing/2014/main" id="{1CBF5142-970D-4D14-8B7B-19DCAD45C238}"/>
              </a:ext>
            </a:extLst>
          </p:cNvPr>
          <p:cNvSpPr>
            <a:spLocks xmlns:a="http://schemas.openxmlformats.org/drawingml/2006/main" noGrp="1"/>
          </p:cNvSpPr>
          <p:nvPr/>
        </p:nvSpPr>
        <p:spPr>
          <a:xfrm xmlns:a="http://schemas.openxmlformats.org/drawingml/2006/main">
            <a:off x="9401175" y="3305175"/>
            <a:ext cx="1905000" cy="552450"/>
          </a:xfrm>
          <a:prstGeom xmlns:a="http://schemas.openxmlformats.org/drawingml/2006/main" prst="roundRect">
            <a:avLst>
              <a:gd name="adj" fmla="val 13793"/>
            </a:avLst>
          </a:prstGeom>
          <a:solidFill xmlns:a="http://schemas.openxmlformats.org/drawingml/2006/main">
            <a:srgbClr val="D58C0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44BD6BB-FE0D-4D00-B330-3BB372AB05BF}"/>
              </a:ext>
            </a:extLst>
          </p:cNvPr>
          <p:cNvSpPr>
            <a:spLocks xmlns:a="http://schemas.openxmlformats.org/drawingml/2006/main" noGrp="1"/>
          </p:cNvSpPr>
          <p:nvPr/>
        </p:nvSpPr>
        <p:spPr>
          <a:xfrm xmlns:a="http://schemas.openxmlformats.org/drawingml/2006/main">
            <a:off x="9544050" y="34480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SWAGGER UI</a:t>
            </a:r>
          </a:p>
        </p:txBody>
      </p:sp>
      <p:sp>
        <p:nvSpPr>
          <p:cNvPr id="24" name="">
            <a:extLst xmlns:a="http://schemas.openxmlformats.org/drawingml/2006/main">
              <a:ext uri="{FF2B5EF4-FFF2-40B4-BE49-F238E27FC236}">
                <a16:creationId xmlns:a16="http://schemas.microsoft.com/office/drawing/2014/main" id="{F6C7307E-C39F-453F-A1D7-C162F9ED643A}"/>
              </a:ext>
            </a:extLst>
          </p:cNvPr>
          <p:cNvSpPr>
            <a:spLocks xmlns:a="http://schemas.openxmlformats.org/drawingml/2006/main" noGrp="1"/>
          </p:cNvSpPr>
          <p:nvPr/>
        </p:nvSpPr>
        <p:spPr>
          <a:xfrm xmlns:a="http://schemas.openxmlformats.org/drawingml/2006/main">
            <a:off x="9391650" y="40957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ctr">
              <a:defRPr sz="1275" b="0" i="0">
                <a:solidFill>
                  <a:srgbClr val="626777"/>
                </a:solidFill>
                <a:latin typeface="Arial"/>
                <a:ea typeface="Arial"/>
                <a:cs typeface="Arial"/>
              </a:defRPr>
            </a:pPr>
            <a:r>
              <a:rPr sz="1275" b="0" i="0">
                <a:solidFill>
                  <a:srgbClr val="626777"/>
                </a:solidFill>
                <a:latin typeface="Arial"/>
                <a:ea typeface="Arial"/>
                <a:cs typeface="Arial"/>
              </a:rPr>
              <a:t>Choose an endpoint, submit text or a file, and inspect the response.</a:t>
            </a:r>
          </a:p>
        </p:txBody>
      </p:sp>
      <p:sp>
        <p:nvSpPr>
          <p:cNvPr id="25" name="">
            <a:extLst xmlns:a="http://schemas.openxmlformats.org/drawingml/2006/main">
              <a:ext uri="{FF2B5EF4-FFF2-40B4-BE49-F238E27FC236}">
                <a16:creationId xmlns:a16="http://schemas.microsoft.com/office/drawing/2014/main" id="{D9DF6A96-4E99-408D-B180-9985F1A4ED6B}"/>
              </a:ext>
            </a:extLst>
          </p:cNvPr>
          <p:cNvSpPr>
            <a:spLocks xmlns:a="http://schemas.openxmlformats.org/drawingml/2006/main" noGrp="1"/>
          </p:cNvSpPr>
          <p:nvPr/>
        </p:nvSpPr>
        <p:spPr>
          <a:xfrm xmlns:a="http://schemas.openxmlformats.org/drawingml/2006/main">
            <a:off x="3829050" y="3381375"/>
            <a:ext cx="590550"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26" name="">
            <a:extLst xmlns:a="http://schemas.openxmlformats.org/drawingml/2006/main">
              <a:ext uri="{FF2B5EF4-FFF2-40B4-BE49-F238E27FC236}">
                <a16:creationId xmlns:a16="http://schemas.microsoft.com/office/drawing/2014/main" id="{BF3C6B93-D36A-4A5D-BF4A-686C85A798E9}"/>
              </a:ext>
            </a:extLst>
          </p:cNvPr>
          <p:cNvSpPr>
            <a:spLocks xmlns:a="http://schemas.openxmlformats.org/drawingml/2006/main" noGrp="1"/>
          </p:cNvSpPr>
          <p:nvPr/>
        </p:nvSpPr>
        <p:spPr>
          <a:xfrm xmlns:a="http://schemas.openxmlformats.org/drawingml/2006/main">
            <a:off x="8477250" y="3381375"/>
            <a:ext cx="590550" cy="0"/>
          </a:xfrm>
          <a:prstGeom xmlns:a="http://schemas.openxmlformats.org/drawingml/2006/main" prst="line">
            <a:avLst/>
          </a:prstGeom>
          <a:noFill xmlns:a="http://schemas.openxmlformats.org/drawingml/2006/main"/>
          <a:ln xmlns:a="http://schemas.openxmlformats.org/drawingml/2006/main" w="38100">
            <a:solidFill>
              <a:srgbClr val="176082"/>
            </a:solidFill>
          </a:ln>
        </p:spPr>
      </p:sp>
      <p:sp>
        <p:nvSpPr>
          <p:cNvPr id="27" name="">
            <a:extLst xmlns:a="http://schemas.openxmlformats.org/drawingml/2006/main">
              <a:ext uri="{FF2B5EF4-FFF2-40B4-BE49-F238E27FC236}">
                <a16:creationId xmlns:a16="http://schemas.microsoft.com/office/drawing/2014/main" id="{8E25E75C-01A5-4CB0-9102-6BE48B34DA48}"/>
              </a:ext>
            </a:extLst>
          </p:cNvPr>
          <p:cNvSpPr>
            <a:spLocks xmlns:a="http://schemas.openxmlformats.org/drawingml/2006/main" noGrp="1"/>
          </p:cNvSpPr>
          <p:nvPr/>
        </p:nvSpPr>
        <p:spPr>
          <a:xfrm xmlns:a="http://schemas.openxmlformats.org/drawingml/2006/main">
            <a:off x="1238250" y="54673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176082"/>
                </a:solidFill>
                <a:latin typeface="Arial"/>
                <a:ea typeface="Arial"/>
                <a:cs typeface="Arial"/>
              </a:defRPr>
            </a:pPr>
            <a:r>
              <a:rPr sz="1275" b="1" i="0">
                <a:solidFill>
                  <a:srgbClr val="176082"/>
                </a:solidFill>
                <a:latin typeface="Arial"/>
                <a:ea typeface="Arial"/>
                <a:cs typeface="Arial"/>
              </a:rPr>
              <a:t>Public source</a:t>
            </a:r>
          </a:p>
        </p:txBody>
      </p:sp>
      <p:sp>
        <p:nvSpPr>
          <p:cNvPr id="28" name="">
            <a:extLst xmlns:a="http://schemas.openxmlformats.org/drawingml/2006/main">
              <a:ext uri="{FF2B5EF4-FFF2-40B4-BE49-F238E27FC236}">
                <a16:creationId xmlns:a16="http://schemas.microsoft.com/office/drawing/2014/main" id="{DE5140A2-DCA6-49F5-B77F-6D99DC6C6F9E}"/>
              </a:ext>
            </a:extLst>
          </p:cNvPr>
          <p:cNvSpPr>
            <a:spLocks xmlns:a="http://schemas.openxmlformats.org/drawingml/2006/main" noGrp="1"/>
          </p:cNvSpPr>
          <p:nvPr/>
        </p:nvSpPr>
        <p:spPr>
          <a:xfrm xmlns:a="http://schemas.openxmlformats.org/drawingml/2006/main">
            <a:off x="5457825" y="54673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D58C00"/>
                </a:solidFill>
                <a:latin typeface="Arial"/>
                <a:ea typeface="Arial"/>
                <a:cs typeface="Arial"/>
              </a:defRPr>
            </a:pPr>
            <a:r>
              <a:rPr sz="1275" b="1" i="0">
                <a:solidFill>
                  <a:srgbClr val="D58C00"/>
                </a:solidFill>
                <a:latin typeface="Arial"/>
                <a:ea typeface="Arial"/>
                <a:cs typeface="Arial"/>
              </a:rPr>
              <a:t>Local processing</a:t>
            </a:r>
          </a:p>
        </p:txBody>
      </p:sp>
      <p:sp>
        <p:nvSpPr>
          <p:cNvPr id="29" name="">
            <a:extLst xmlns:a="http://schemas.openxmlformats.org/drawingml/2006/main">
              <a:ext uri="{FF2B5EF4-FFF2-40B4-BE49-F238E27FC236}">
                <a16:creationId xmlns:a16="http://schemas.microsoft.com/office/drawing/2014/main" id="{F56F80A5-5A79-4EA0-AAFC-A3A6F27ECE82}"/>
              </a:ext>
            </a:extLst>
          </p:cNvPr>
          <p:cNvSpPr>
            <a:spLocks xmlns:a="http://schemas.openxmlformats.org/drawingml/2006/main" noGrp="1"/>
          </p:cNvSpPr>
          <p:nvPr/>
        </p:nvSpPr>
        <p:spPr>
          <a:xfrm xmlns:a="http://schemas.openxmlformats.org/drawingml/2006/main">
            <a:off x="9353550" y="54673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176082"/>
                </a:solidFill>
                <a:latin typeface="Arial"/>
                <a:ea typeface="Arial"/>
                <a:cs typeface="Arial"/>
              </a:defRPr>
            </a:pPr>
            <a:r>
              <a:rPr sz="1275" b="1" i="0">
                <a:solidFill>
                  <a:srgbClr val="176082"/>
                </a:solidFill>
                <a:latin typeface="Arial"/>
                <a:ea typeface="Arial"/>
                <a:cs typeface="Arial"/>
              </a:rPr>
              <a:t>Interactive interface</a:t>
            </a:r>
          </a:p>
        </p:txBody>
      </p:sp>
      <p:sp>
        <p:nvSpPr>
          <p:cNvPr id="30" name="">
            <a:extLst xmlns:a="http://schemas.openxmlformats.org/drawingml/2006/main">
              <a:ext uri="{FF2B5EF4-FFF2-40B4-BE49-F238E27FC236}">
                <a16:creationId xmlns:a16="http://schemas.microsoft.com/office/drawing/2014/main" id="{5C362940-C91D-4A21-A39D-8B5F953391BC}"/>
              </a:ext>
            </a:extLst>
          </p:cNvPr>
          <p:cNvSpPr>
            <a:spLocks xmlns:a="http://schemas.openxmlformats.org/drawingml/2006/main" noGrp="1"/>
          </p:cNvSpPr>
          <p:nvPr/>
        </p:nvSpPr>
        <p:spPr>
          <a:xfrm xmlns:a="http://schemas.openxmlformats.org/drawingml/2006/main">
            <a:off x="1571625" y="59531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B94D35"/>
                </a:solidFill>
                <a:latin typeface="Arial"/>
                <a:ea typeface="Arial"/>
                <a:cs typeface="Arial"/>
              </a:defRPr>
            </a:pPr>
            <a:r>
              <a:rPr sz="1275" b="1" i="0">
                <a:solidFill>
                  <a:srgbClr val="B94D35"/>
                </a:solidFill>
                <a:latin typeface="Arial"/>
                <a:ea typeface="Arial"/>
                <a:cs typeface="Arial"/>
              </a:rPr>
              <a:t>The GitHub URL is public. The localhost URL works only while the API is running on that computer.</a:t>
            </a:r>
          </a:p>
        </p:txBody>
      </p:sp>
      <p:sp>
        <p:nvSpPr>
          <p:cNvPr id="31" name="">
            <a:extLst xmlns:a="http://schemas.openxmlformats.org/drawingml/2006/main">
              <a:ext uri="{FF2B5EF4-FFF2-40B4-BE49-F238E27FC236}">
                <a16:creationId xmlns:a16="http://schemas.microsoft.com/office/drawing/2014/main" id="{D11324A1-E1B7-42DB-88EC-0CE55539B943}"/>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2" name="">
            <a:extLst xmlns:a="http://schemas.openxmlformats.org/drawingml/2006/main">
              <a:ext uri="{FF2B5EF4-FFF2-40B4-BE49-F238E27FC236}">
                <a16:creationId xmlns:a16="http://schemas.microsoft.com/office/drawing/2014/main" id="{64C586C5-E4B3-46F8-B79F-CA79A27B5138}"/>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33" name="">
            <a:extLst xmlns:a="http://schemas.openxmlformats.org/drawingml/2006/main">
              <a:ext uri="{FF2B5EF4-FFF2-40B4-BE49-F238E27FC236}">
                <a16:creationId xmlns:a16="http://schemas.microsoft.com/office/drawing/2014/main" id="{9E137FB8-0F5F-4F2B-BFCC-6BADE71E1A13}"/>
              </a:ext>
            </a:extLst>
          </p:cNvPr>
          <p:cNvSpPr>
            <a:spLocks xmlns:a="http://schemas.openxmlformats.org/drawingml/2006/main" noGrp="1"/>
          </p:cNvSpPr>
          <p:nvPr/>
        </p:nvSpPr>
        <p:spPr>
          <a:xfrm xmlns:a="http://schemas.openxmlformats.org/drawingml/2006/main">
            <a:off x="2047875" y="65246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000"/>
          </a:bodyPr>
          <a:lstStyle xmlns:a="http://schemas.openxmlformats.org/drawingml/2006/main"/>
          <a:p xmlns:a="http://schemas.openxmlformats.org/drawingml/2006/main">
            <a:pPr algn="ctr">
              <a:defRPr sz="750" b="0" i="0">
                <a:solidFill>
                  <a:srgbClr val="626777"/>
                </a:solidFill>
                <a:latin typeface="Arial"/>
                <a:ea typeface="Arial"/>
                <a:cs typeface="Arial"/>
              </a:defRPr>
            </a:pPr>
            <a:r>
              <a:rPr sz="750" b="0" i="0">
                <a:solidFill>
                  <a:srgbClr val="626777"/>
                </a:solidFill>
                <a:latin typeface="Arial"/>
                <a:ea typeface="Arial"/>
                <a:cs typeface="Arial"/>
              </a:rPr>
              <a:t>MIWAE Corpus Analysis API v0.1</a:t>
            </a:r>
          </a:p>
        </p:txBody>
      </p:sp>
    </p:spTree>
    <p:extLst>
      <p:ext uri="{BB962C8B-B14F-4D97-AF65-F5344CB8AC3E}">
        <p14:creationId xmlns:p14="http://schemas.microsoft.com/office/powerpoint/2010/main" val="7695212"/>
      </p:ext>
    </p:extLst>
  </p:cSld>
</p:sld>
</file>

<file path=ppt/slides/slide1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900CED60-22E0-496C-B59E-8BE7CD15195B}"/>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D58C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5FC919-6411-4FAB-84DA-4D65F290D0FD}"/>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
            <a:extLst xmlns:a="http://schemas.openxmlformats.org/drawingml/2006/main">
              <a:ext uri="{FF2B5EF4-FFF2-40B4-BE49-F238E27FC236}">
                <a16:creationId xmlns:a16="http://schemas.microsoft.com/office/drawing/2014/main" id="{74CE6141-78D0-44A9-BBF9-E7F2DCC13DE9}"/>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Four steps turn a passage into an analysis</a:t>
            </a:r>
          </a:p>
        </p:txBody>
      </p:sp>
      <p:sp>
        <p:nvSpPr>
          <p:cNvPr id="4" name="">
            <a:extLst xmlns:a="http://schemas.openxmlformats.org/drawingml/2006/main">
              <a:ext uri="{FF2B5EF4-FFF2-40B4-BE49-F238E27FC236}">
                <a16:creationId xmlns:a16="http://schemas.microsoft.com/office/drawing/2014/main" id="{AFF02E70-4ACA-4F85-80D9-5B1CC6B1833E}"/>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82D61C0D-62DC-40DB-9704-E3F1FBF232C3}"/>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E560C5E2-BFB9-4A87-BDF6-F1E13460757C}"/>
              </a:ext>
            </a:extLst>
          </p:cNvPr>
          <p:cNvSpPr>
            <a:spLocks xmlns:a="http://schemas.openxmlformats.org/drawingml/2006/main" noGrp="1"/>
          </p:cNvSpPr>
          <p:nvPr/>
        </p:nvSpPr>
        <p:spPr>
          <a:xfrm xmlns:a="http://schemas.openxmlformats.org/drawingml/2006/main">
            <a:off x="542925" y="1571625"/>
            <a:ext cx="2647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B7DC779B-B76E-452A-A9F9-F1E95D498A78}"/>
              </a:ext>
            </a:extLst>
          </p:cNvPr>
          <p:cNvSpPr>
            <a:spLocks xmlns:a="http://schemas.openxmlformats.org/drawingml/2006/main" noGrp="1"/>
          </p:cNvSpPr>
          <p:nvPr/>
        </p:nvSpPr>
        <p:spPr>
          <a:xfrm xmlns:a="http://schemas.openxmlformats.org/drawingml/2006/main">
            <a:off x="657225" y="1676400"/>
            <a:ext cx="304800" cy="304800"/>
          </a:xfrm>
          <a:prstGeom xmlns:a="http://schemas.openxmlformats.org/drawingml/2006/main" prst="roundRect">
            <a:avLst>
              <a:gd name="adj" fmla="val 25000"/>
            </a:avLst>
          </a:prstGeom>
          <a:solidFill xmlns:a="http://schemas.openxmlformats.org/drawingml/2006/main">
            <a:srgbClr val="1760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C6AEE2-4EB6-47CA-B82E-6845511841AC}"/>
              </a:ext>
            </a:extLst>
          </p:cNvPr>
          <p:cNvSpPr>
            <a:spLocks xmlns:a="http://schemas.openxmlformats.org/drawingml/2006/main" noGrp="1"/>
          </p:cNvSpPr>
          <p:nvPr/>
        </p:nvSpPr>
        <p:spPr>
          <a:xfrm xmlns:a="http://schemas.openxmlformats.org/drawingml/2006/main">
            <a:off x="657225" y="1704975"/>
            <a:ext cx="304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7C5DF621-399F-44B0-B661-B2CCD5D645CC}"/>
              </a:ext>
            </a:extLst>
          </p:cNvPr>
          <p:cNvSpPr>
            <a:spLocks xmlns:a="http://schemas.openxmlformats.org/drawingml/2006/main" noGrp="1"/>
          </p:cNvSpPr>
          <p:nvPr/>
        </p:nvSpPr>
        <p:spPr>
          <a:xfrm xmlns:a="http://schemas.openxmlformats.org/drawingml/2006/main">
            <a:off x="1066800" y="16954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33343F"/>
                </a:solidFill>
                <a:latin typeface="Arial"/>
                <a:ea typeface="Arial"/>
                <a:cs typeface="Arial"/>
              </a:defRPr>
            </a:pPr>
            <a:r>
              <a:rPr sz="1050" b="1" i="0">
                <a:solidFill>
                  <a:srgbClr val="33343F"/>
                </a:solidFill>
                <a:latin typeface="Arial"/>
                <a:ea typeface="Arial"/>
                <a:cs typeface="Arial"/>
              </a:rPr>
              <a:t>Open POST /v1/analyze/text</a:t>
            </a:r>
          </a:p>
        </p:txBody>
      </p:sp>
      <p:sp>
        <p:nvSpPr>
          <p:cNvPr id="10" name="">
            <a:extLst xmlns:a="http://schemas.openxmlformats.org/drawingml/2006/main">
              <a:ext uri="{FF2B5EF4-FFF2-40B4-BE49-F238E27FC236}">
                <a16:creationId xmlns:a16="http://schemas.microsoft.com/office/drawing/2014/main" id="{3DE01BB2-FCB8-4484-9C6A-36545AE0C8F9}"/>
              </a:ext>
            </a:extLst>
          </p:cNvPr>
          <p:cNvSpPr>
            <a:spLocks xmlns:a="http://schemas.openxmlformats.org/drawingml/2006/main" noGrp="1"/>
          </p:cNvSpPr>
          <p:nvPr/>
        </p:nvSpPr>
        <p:spPr>
          <a:xfrm xmlns:a="http://schemas.openxmlformats.org/drawingml/2006/main">
            <a:off x="3448050" y="1571625"/>
            <a:ext cx="2647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DF6082D3-5638-4C1F-823A-EB1BC92C9692}"/>
              </a:ext>
            </a:extLst>
          </p:cNvPr>
          <p:cNvSpPr>
            <a:spLocks xmlns:a="http://schemas.openxmlformats.org/drawingml/2006/main" noGrp="1"/>
          </p:cNvSpPr>
          <p:nvPr/>
        </p:nvSpPr>
        <p:spPr>
          <a:xfrm xmlns:a="http://schemas.openxmlformats.org/drawingml/2006/main">
            <a:off x="3562350" y="1676400"/>
            <a:ext cx="304800" cy="304800"/>
          </a:xfrm>
          <a:prstGeom xmlns:a="http://schemas.openxmlformats.org/drawingml/2006/main" prst="roundRect">
            <a:avLst>
              <a:gd name="adj" fmla="val 25000"/>
            </a:avLst>
          </a:prstGeom>
          <a:solidFill xmlns:a="http://schemas.openxmlformats.org/drawingml/2006/main">
            <a:srgbClr val="17608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D2E18F5-471F-4357-808E-6DF93914C59A}"/>
              </a:ext>
            </a:extLst>
          </p:cNvPr>
          <p:cNvSpPr>
            <a:spLocks xmlns:a="http://schemas.openxmlformats.org/drawingml/2006/main" noGrp="1"/>
          </p:cNvSpPr>
          <p:nvPr/>
        </p:nvSpPr>
        <p:spPr>
          <a:xfrm xmlns:a="http://schemas.openxmlformats.org/drawingml/2006/main">
            <a:off x="3562350" y="1704975"/>
            <a:ext cx="304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75800C8-365C-4C7E-9E28-393A4C926D8E}"/>
              </a:ext>
            </a:extLst>
          </p:cNvPr>
          <p:cNvSpPr>
            <a:spLocks xmlns:a="http://schemas.openxmlformats.org/drawingml/2006/main" noGrp="1"/>
          </p:cNvSpPr>
          <p:nvPr/>
        </p:nvSpPr>
        <p:spPr>
          <a:xfrm xmlns:a="http://schemas.openxmlformats.org/drawingml/2006/main">
            <a:off x="3971925" y="16954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33343F"/>
                </a:solidFill>
                <a:latin typeface="Arial"/>
                <a:ea typeface="Arial"/>
                <a:cs typeface="Arial"/>
              </a:defRPr>
            </a:pPr>
            <a:r>
              <a:rPr sz="1050" b="1" i="0">
                <a:solidFill>
                  <a:srgbClr val="33343F"/>
                </a:solidFill>
                <a:latin typeface="Arial"/>
                <a:ea typeface="Arial"/>
                <a:cs typeface="Arial"/>
              </a:rPr>
              <a:t>Select Try it out</a:t>
            </a:r>
          </a:p>
        </p:txBody>
      </p:sp>
      <p:sp>
        <p:nvSpPr>
          <p:cNvPr id="14" name="">
            <a:extLst xmlns:a="http://schemas.openxmlformats.org/drawingml/2006/main">
              <a:ext uri="{FF2B5EF4-FFF2-40B4-BE49-F238E27FC236}">
                <a16:creationId xmlns:a16="http://schemas.microsoft.com/office/drawing/2014/main" id="{4B5A9DE5-69D3-4187-A2C9-3D76660F4650}"/>
              </a:ext>
            </a:extLst>
          </p:cNvPr>
          <p:cNvSpPr>
            <a:spLocks xmlns:a="http://schemas.openxmlformats.org/drawingml/2006/main" noGrp="1"/>
          </p:cNvSpPr>
          <p:nvPr/>
        </p:nvSpPr>
        <p:spPr>
          <a:xfrm xmlns:a="http://schemas.openxmlformats.org/drawingml/2006/main">
            <a:off x="6353175" y="1571625"/>
            <a:ext cx="26479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856A68CF-24A2-4EFA-BF10-28DD734C1FB8}"/>
              </a:ext>
            </a:extLst>
          </p:cNvPr>
          <p:cNvSpPr>
            <a:spLocks xmlns:a="http://schemas.openxmlformats.org/drawingml/2006/main" noGrp="1"/>
          </p:cNvSpPr>
          <p:nvPr/>
        </p:nvSpPr>
        <p:spPr>
          <a:xfrm xmlns:a="http://schemas.openxmlformats.org/drawingml/2006/main">
            <a:off x="6467475" y="1676400"/>
            <a:ext cx="304800" cy="304800"/>
          </a:xfrm>
          <a:prstGeom xmlns:a="http://schemas.openxmlformats.org/drawingml/2006/main" prst="roundRect">
            <a:avLst>
              <a:gd name="adj" fmla="val 25000"/>
            </a:avLst>
          </a:prstGeom>
          <a:solidFill xmlns:a="http://schemas.openxmlformats.org/drawingml/2006/main">
            <a:srgbClr val="17608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BCACADE-5B91-45CE-B728-8779CC503ED8}"/>
              </a:ext>
            </a:extLst>
          </p:cNvPr>
          <p:cNvSpPr>
            <a:spLocks xmlns:a="http://schemas.openxmlformats.org/drawingml/2006/main" noGrp="1"/>
          </p:cNvSpPr>
          <p:nvPr/>
        </p:nvSpPr>
        <p:spPr>
          <a:xfrm xmlns:a="http://schemas.openxmlformats.org/drawingml/2006/main">
            <a:off x="6467475" y="1704975"/>
            <a:ext cx="304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BB57A523-7CED-4A96-AA0C-903C826757C6}"/>
              </a:ext>
            </a:extLst>
          </p:cNvPr>
          <p:cNvSpPr>
            <a:spLocks xmlns:a="http://schemas.openxmlformats.org/drawingml/2006/main" noGrp="1"/>
          </p:cNvSpPr>
          <p:nvPr/>
        </p:nvSpPr>
        <p:spPr>
          <a:xfrm xmlns:a="http://schemas.openxmlformats.org/drawingml/2006/main">
            <a:off x="6877050" y="16954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33343F"/>
                </a:solidFill>
                <a:latin typeface="Arial"/>
                <a:ea typeface="Arial"/>
                <a:cs typeface="Arial"/>
              </a:defRPr>
            </a:pPr>
            <a:r>
              <a:rPr sz="1050" b="1" i="0">
                <a:solidFill>
                  <a:srgbClr val="33343F"/>
                </a:solidFill>
                <a:latin typeface="Arial"/>
                <a:ea typeface="Arial"/>
                <a:cs typeface="Arial"/>
              </a:rPr>
              <a:t>Paste the request JSON</a:t>
            </a:r>
          </a:p>
        </p:txBody>
      </p:sp>
      <p:sp>
        <p:nvSpPr>
          <p:cNvPr id="18" name="">
            <a:extLst xmlns:a="http://schemas.openxmlformats.org/drawingml/2006/main">
              <a:ext uri="{FF2B5EF4-FFF2-40B4-BE49-F238E27FC236}">
                <a16:creationId xmlns:a16="http://schemas.microsoft.com/office/drawing/2014/main" id="{FA630334-4020-44C0-80AC-7715FB721B14}"/>
              </a:ext>
            </a:extLst>
          </p:cNvPr>
          <p:cNvSpPr>
            <a:spLocks xmlns:a="http://schemas.openxmlformats.org/drawingml/2006/main" noGrp="1"/>
          </p:cNvSpPr>
          <p:nvPr/>
        </p:nvSpPr>
        <p:spPr>
          <a:xfrm xmlns:a="http://schemas.openxmlformats.org/drawingml/2006/main">
            <a:off x="9258300" y="1571625"/>
            <a:ext cx="2647950" cy="514350"/>
          </a:xfrm>
          <a:prstGeom xmlns:a="http://schemas.openxmlformats.org/drawingml/2006/main" prst="roundRect">
            <a:avLst>
              <a:gd name="adj" fmla="val 14815"/>
            </a:avLst>
          </a:prstGeom>
          <a:solidFill xmlns:a="http://schemas.openxmlformats.org/drawingml/2006/main">
            <a:srgbClr val="D58C00"/>
          </a:solidFill>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A3086E4F-9306-4AF9-ABD4-F385A01A0EF6}"/>
              </a:ext>
            </a:extLst>
          </p:cNvPr>
          <p:cNvSpPr>
            <a:spLocks xmlns:a="http://schemas.openxmlformats.org/drawingml/2006/main" noGrp="1"/>
          </p:cNvSpPr>
          <p:nvPr/>
        </p:nvSpPr>
        <p:spPr>
          <a:xfrm xmlns:a="http://schemas.openxmlformats.org/drawingml/2006/main">
            <a:off x="9372600" y="1676400"/>
            <a:ext cx="304800" cy="304800"/>
          </a:xfrm>
          <a:prstGeom xmlns:a="http://schemas.openxmlformats.org/drawingml/2006/main" prst="roundRect">
            <a:avLst>
              <a:gd name="adj" fmla="val 25000"/>
            </a:avLst>
          </a:prstGeom>
          <a:solidFill xmlns:a="http://schemas.openxmlformats.org/drawingml/2006/main">
            <a:srgbClr val="123B5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0A238E5-6630-4ED6-BBE9-7520C02DF6C5}"/>
              </a:ext>
            </a:extLst>
          </p:cNvPr>
          <p:cNvSpPr>
            <a:spLocks xmlns:a="http://schemas.openxmlformats.org/drawingml/2006/main" noGrp="1"/>
          </p:cNvSpPr>
          <p:nvPr/>
        </p:nvSpPr>
        <p:spPr>
          <a:xfrm xmlns:a="http://schemas.openxmlformats.org/drawingml/2006/main">
            <a:off x="9372600" y="1704975"/>
            <a:ext cx="304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62"/>
          </a:bodyPr>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B5171FF0-E5A2-4594-9875-59ACDBC4527B}"/>
              </a:ext>
            </a:extLst>
          </p:cNvPr>
          <p:cNvSpPr>
            <a:spLocks xmlns:a="http://schemas.openxmlformats.org/drawingml/2006/main" noGrp="1"/>
          </p:cNvSpPr>
          <p:nvPr/>
        </p:nvSpPr>
        <p:spPr>
          <a:xfrm xmlns:a="http://schemas.openxmlformats.org/drawingml/2006/main">
            <a:off x="9782175" y="16954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Select Execute</a:t>
            </a:r>
          </a:p>
        </p:txBody>
      </p:sp>
      <p:sp>
        <p:nvSpPr>
          <p:cNvPr id="22" name="">
            <a:extLst xmlns:a="http://schemas.openxmlformats.org/drawingml/2006/main">
              <a:ext uri="{FF2B5EF4-FFF2-40B4-BE49-F238E27FC236}">
                <a16:creationId xmlns:a16="http://schemas.microsoft.com/office/drawing/2014/main" id="{D2A04F1B-30EF-4D5E-BAC7-94CC5CDF7E64}"/>
              </a:ext>
            </a:extLst>
          </p:cNvPr>
          <p:cNvSpPr>
            <a:spLocks xmlns:a="http://schemas.openxmlformats.org/drawingml/2006/main" noGrp="1"/>
          </p:cNvSpPr>
          <p:nvPr/>
        </p:nvSpPr>
        <p:spPr>
          <a:xfrm xmlns:a="http://schemas.openxmlformats.org/drawingml/2006/main">
            <a:off x="695325" y="2352675"/>
            <a:ext cx="10810875"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C8C9D3"/>
            </a:solidFill>
          </a:ln>
        </p:spPr>
      </p:sp>
      <p:sp>
        <p:nvSpPr>
          <p:cNvPr id="23" name="">
            <a:extLst xmlns:a="http://schemas.openxmlformats.org/drawingml/2006/main">
              <a:ext uri="{FF2B5EF4-FFF2-40B4-BE49-F238E27FC236}">
                <a16:creationId xmlns:a16="http://schemas.microsoft.com/office/drawing/2014/main" id="{852BB3BB-EF0C-4C3B-9838-51FD87DBACFF}"/>
              </a:ext>
            </a:extLst>
          </p:cNvPr>
          <p:cNvSpPr>
            <a:spLocks xmlns:a="http://schemas.openxmlformats.org/drawingml/2006/main" noGrp="1"/>
          </p:cNvSpPr>
          <p:nvPr/>
        </p:nvSpPr>
        <p:spPr>
          <a:xfrm xmlns:a="http://schemas.openxmlformats.org/drawingml/2006/main">
            <a:off x="695325" y="2352675"/>
            <a:ext cx="10810875" cy="400050"/>
          </a:xfrm>
          <a:prstGeom xmlns:a="http://schemas.openxmlformats.org/drawingml/2006/main" prst="roundRect">
            <a:avLst>
              <a:gd name="adj" fmla="val 19048"/>
            </a:avLst>
          </a:prstGeom>
          <a:solidFill xmlns:a="http://schemas.openxmlformats.org/drawingml/2006/main">
            <a:srgbClr val="123B5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B6E8C5E-D45C-4194-BE0A-7A3F85EA0619}"/>
              </a:ext>
            </a:extLst>
          </p:cNvPr>
          <p:cNvSpPr>
            <a:spLocks xmlns:a="http://schemas.openxmlformats.org/drawingml/2006/main" noGrp="1"/>
          </p:cNvSpPr>
          <p:nvPr/>
        </p:nvSpPr>
        <p:spPr>
          <a:xfrm xmlns:a="http://schemas.openxmlformats.org/drawingml/2006/main">
            <a:off x="904875" y="24384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905"/>
          </a:bodyPr>
          <a:lstStyle xmlns:a="http://schemas.openxmlformats.org/drawingml/2006/main"/>
          <a:p xmlns:a="http://schemas.openxmlformats.org/drawingml/2006/main">
            <a:pPr algn="l">
              <a:defRPr sz="1050" b="1" i="0">
                <a:solidFill>
                  <a:srgbClr val="D58C00"/>
                </a:solidFill>
                <a:latin typeface="Arial"/>
                <a:ea typeface="Arial"/>
                <a:cs typeface="Arial"/>
              </a:defRPr>
            </a:pPr>
            <a:r>
              <a:rPr sz="1050" b="1" i="0">
                <a:solidFill>
                  <a:srgbClr val="D58C00"/>
                </a:solidFill>
                <a:latin typeface="Arial"/>
                <a:ea typeface="Arial"/>
                <a:cs typeface="Arial"/>
              </a:rPr>
              <a:t>●  ●  ●</a:t>
            </a:r>
          </a:p>
        </p:txBody>
      </p:sp>
      <p:sp>
        <p:nvSpPr>
          <p:cNvPr id="25" name="">
            <a:extLst xmlns:a="http://schemas.openxmlformats.org/drawingml/2006/main">
              <a:ext uri="{FF2B5EF4-FFF2-40B4-BE49-F238E27FC236}">
                <a16:creationId xmlns:a16="http://schemas.microsoft.com/office/drawing/2014/main" id="{4B7FF1ED-CB27-41DB-99EE-E23A7AD1C890}"/>
              </a:ext>
            </a:extLst>
          </p:cNvPr>
          <p:cNvSpPr>
            <a:spLocks xmlns:a="http://schemas.openxmlformats.org/drawingml/2006/main" noGrp="1"/>
          </p:cNvSpPr>
          <p:nvPr/>
        </p:nvSpPr>
        <p:spPr>
          <a:xfrm xmlns:a="http://schemas.openxmlformats.org/drawingml/2006/main">
            <a:off x="3095625" y="2428875"/>
            <a:ext cx="600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MIWAE Corpus Analysis API — Swagger UI</a:t>
            </a:r>
          </a:p>
        </p:txBody>
      </p:sp>
      <p:sp>
        <p:nvSpPr>
          <p:cNvPr id="26" name="">
            <a:extLst xmlns:a="http://schemas.openxmlformats.org/drawingml/2006/main">
              <a:ext uri="{FF2B5EF4-FFF2-40B4-BE49-F238E27FC236}">
                <a16:creationId xmlns:a16="http://schemas.microsoft.com/office/drawing/2014/main" id="{F331C524-E176-45DB-9A2B-56934781883D}"/>
              </a:ext>
            </a:extLst>
          </p:cNvPr>
          <p:cNvSpPr>
            <a:spLocks xmlns:a="http://schemas.openxmlformats.org/drawingml/2006/main" noGrp="1"/>
          </p:cNvSpPr>
          <p:nvPr/>
        </p:nvSpPr>
        <p:spPr>
          <a:xfrm xmlns:a="http://schemas.openxmlformats.org/drawingml/2006/main">
            <a:off x="904875" y="2971800"/>
            <a:ext cx="10382250" cy="457200"/>
          </a:xfrm>
          <a:prstGeom xmlns:a="http://schemas.openxmlformats.org/drawingml/2006/main" prst="roundRect">
            <a:avLst>
              <a:gd name="adj" fmla="val 16667"/>
            </a:avLst>
          </a:prstGeom>
          <a:solidFill xmlns:a="http://schemas.openxmlformats.org/drawingml/2006/main">
            <a:srgbClr val="DDEFE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DF0A15E-CA12-4B8F-A0A5-560071BDB2AE}"/>
              </a:ext>
            </a:extLst>
          </p:cNvPr>
          <p:cNvSpPr>
            <a:spLocks xmlns:a="http://schemas.openxmlformats.org/drawingml/2006/main" noGrp="1"/>
          </p:cNvSpPr>
          <p:nvPr/>
        </p:nvSpPr>
        <p:spPr>
          <a:xfrm xmlns:a="http://schemas.openxmlformats.org/drawingml/2006/main">
            <a:off x="1066800" y="30670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defRPr sz="1050" b="1" i="0">
                <a:solidFill>
                  <a:srgbClr val="19734A"/>
                </a:solidFill>
                <a:latin typeface="Arial"/>
                <a:ea typeface="Arial"/>
                <a:cs typeface="Arial"/>
              </a:defRPr>
            </a:pPr>
            <a:r>
              <a:rPr sz="1050" b="1" i="0">
                <a:solidFill>
                  <a:srgbClr val="19734A"/>
                </a:solidFill>
                <a:latin typeface="Arial"/>
                <a:ea typeface="Arial"/>
                <a:cs typeface="Arial"/>
              </a:rPr>
              <a:t>POST</a:t>
            </a:r>
          </a:p>
        </p:txBody>
      </p:sp>
      <p:sp>
        <p:nvSpPr>
          <p:cNvPr id="28" name="">
            <a:extLst xmlns:a="http://schemas.openxmlformats.org/drawingml/2006/main">
              <a:ext uri="{FF2B5EF4-FFF2-40B4-BE49-F238E27FC236}">
                <a16:creationId xmlns:a16="http://schemas.microsoft.com/office/drawing/2014/main" id="{E2854B5E-B3C1-4014-98DF-F566269E123F}"/>
              </a:ext>
            </a:extLst>
          </p:cNvPr>
          <p:cNvSpPr>
            <a:spLocks xmlns:a="http://schemas.openxmlformats.org/drawingml/2006/main" noGrp="1"/>
          </p:cNvSpPr>
          <p:nvPr/>
        </p:nvSpPr>
        <p:spPr>
          <a:xfrm xmlns:a="http://schemas.openxmlformats.org/drawingml/2006/main">
            <a:off x="1876425" y="3048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33343F"/>
                </a:solidFill>
                <a:latin typeface="Arial"/>
                <a:ea typeface="Arial"/>
                <a:cs typeface="Arial"/>
              </a:defRPr>
            </a:pPr>
            <a:r>
              <a:rPr sz="1275" b="1" i="0">
                <a:solidFill>
                  <a:srgbClr val="33343F"/>
                </a:solidFill>
                <a:latin typeface="Arial"/>
                <a:ea typeface="Arial"/>
                <a:cs typeface="Arial"/>
              </a:rPr>
              <a:t>/v1/analyze/text</a:t>
            </a:r>
          </a:p>
        </p:txBody>
      </p:sp>
      <p:sp>
        <p:nvSpPr>
          <p:cNvPr id="29" name="">
            <a:extLst xmlns:a="http://schemas.openxmlformats.org/drawingml/2006/main">
              <a:ext uri="{FF2B5EF4-FFF2-40B4-BE49-F238E27FC236}">
                <a16:creationId xmlns:a16="http://schemas.microsoft.com/office/drawing/2014/main" id="{A3D54B44-5F65-4CC3-9A23-E49836A97F24}"/>
              </a:ext>
            </a:extLst>
          </p:cNvPr>
          <p:cNvSpPr>
            <a:spLocks xmlns:a="http://schemas.openxmlformats.org/drawingml/2006/main" noGrp="1"/>
          </p:cNvSpPr>
          <p:nvPr/>
        </p:nvSpPr>
        <p:spPr>
          <a:xfrm xmlns:a="http://schemas.openxmlformats.org/drawingml/2006/main">
            <a:off x="9763125" y="3038475"/>
            <a:ext cx="1285875" cy="266700"/>
          </a:xfrm>
          <a:prstGeom xmlns:a="http://schemas.openxmlformats.org/drawingml/2006/main" prst="roundRect">
            <a:avLst>
              <a:gd name="adj" fmla="val 28571"/>
            </a:avLst>
          </a:prstGeom>
          <a:solidFill xmlns:a="http://schemas.openxmlformats.org/drawingml/2006/main">
            <a:srgbClr val="17608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2911223-FAB5-46A3-87F5-52144EEE48FF}"/>
              </a:ext>
            </a:extLst>
          </p:cNvPr>
          <p:cNvSpPr>
            <a:spLocks xmlns:a="http://schemas.openxmlformats.org/drawingml/2006/main" noGrp="1"/>
          </p:cNvSpPr>
          <p:nvPr/>
        </p:nvSpPr>
        <p:spPr>
          <a:xfrm xmlns:a="http://schemas.openxmlformats.org/drawingml/2006/main">
            <a:off x="9877425" y="308610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TRY IT OUT</a:t>
            </a:r>
          </a:p>
        </p:txBody>
      </p:sp>
      <p:sp>
        <p:nvSpPr>
          <p:cNvPr id="31" name="">
            <a:extLst xmlns:a="http://schemas.openxmlformats.org/drawingml/2006/main">
              <a:ext uri="{FF2B5EF4-FFF2-40B4-BE49-F238E27FC236}">
                <a16:creationId xmlns:a16="http://schemas.microsoft.com/office/drawing/2014/main" id="{66A629B8-6B4E-429A-8A8B-5778D2E53101}"/>
              </a:ext>
            </a:extLst>
          </p:cNvPr>
          <p:cNvSpPr>
            <a:spLocks xmlns:a="http://schemas.openxmlformats.org/drawingml/2006/main" noGrp="1"/>
          </p:cNvSpPr>
          <p:nvPr/>
        </p:nvSpPr>
        <p:spPr>
          <a:xfrm xmlns:a="http://schemas.openxmlformats.org/drawingml/2006/main">
            <a:off x="914400" y="3600450"/>
            <a:ext cx="6858000" cy="1676400"/>
          </a:xfrm>
          <a:prstGeom xmlns:a="http://schemas.openxmlformats.org/drawingml/2006/main" prst="roundRect">
            <a:avLst>
              <a:gd name="adj" fmla="val 4545"/>
            </a:avLst>
          </a:prstGeom>
          <a:solidFill xmlns:a="http://schemas.openxmlformats.org/drawingml/2006/main">
            <a:srgbClr val="142D3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71E880F-8856-4700-8844-DA55E9013D11}"/>
              </a:ext>
            </a:extLst>
          </p:cNvPr>
          <p:cNvSpPr>
            <a:spLocks xmlns:a="http://schemas.openxmlformats.org/drawingml/2006/main" noGrp="1"/>
          </p:cNvSpPr>
          <p:nvPr/>
        </p:nvSpPr>
        <p:spPr>
          <a:xfrm xmlns:a="http://schemas.openxmlformats.org/drawingml/2006/main">
            <a:off x="1123950" y="3752850"/>
            <a:ext cx="6429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  "id": "demo-circuit-text",</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  "title": "Demonstration passage",</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  "text": "In this section, we consider a linear circuit...",</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  "metadata": { "discipline": "Electrical Engineering" }</a:t>
            </a:r>
          </a:p>
          <a:p xmlns:a="http://schemas.openxmlformats.org/drawingml/2006/main">
            <a:pPr algn="l">
              <a:defRPr sz="1125" b="0" i="0">
                <a:solidFill>
                  <a:srgbClr val="FFFFFF"/>
                </a:solidFill>
                <a:latin typeface="Arial"/>
                <a:ea typeface="Arial"/>
                <a:cs typeface="Arial"/>
              </a:defRPr>
            </a:pPr>
            <a:r>
              <a:rPr sz="1125" b="0" i="0">
                <a:solidFill>
                  <a:srgbClr val="FFFFFF"/>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B10FA117-4E8E-4CC8-8D6B-548E6D7E866F}"/>
              </a:ext>
            </a:extLst>
          </p:cNvPr>
          <p:cNvSpPr>
            <a:spLocks xmlns:a="http://schemas.openxmlformats.org/drawingml/2006/main" noGrp="1"/>
          </p:cNvSpPr>
          <p:nvPr/>
        </p:nvSpPr>
        <p:spPr>
          <a:xfrm xmlns:a="http://schemas.openxmlformats.org/drawingml/2006/main">
            <a:off x="8096250" y="3609975"/>
            <a:ext cx="2952750" cy="704850"/>
          </a:xfrm>
          <a:prstGeom xmlns:a="http://schemas.openxmlformats.org/drawingml/2006/main" prst="roundRect">
            <a:avLst>
              <a:gd name="adj" fmla="val 10811"/>
            </a:avLst>
          </a:prstGeom>
          <a:solidFill xmlns:a="http://schemas.openxmlformats.org/drawingml/2006/main">
            <a:srgbClr val="E6F0F5"/>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A52BA34-8D03-477A-9F27-FA88518CDA00}"/>
              </a:ext>
            </a:extLst>
          </p:cNvPr>
          <p:cNvSpPr>
            <a:spLocks xmlns:a="http://schemas.openxmlformats.org/drawingml/2006/main" noGrp="1"/>
          </p:cNvSpPr>
          <p:nvPr/>
        </p:nvSpPr>
        <p:spPr>
          <a:xfrm xmlns:a="http://schemas.openxmlformats.org/drawingml/2006/main">
            <a:off x="8334375" y="37528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765"/>
          </a:bodyPr>
          <a:lstStyle xmlns:a="http://schemas.openxmlformats.org/drawingml/2006/main"/>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include_hits = true</a:t>
            </a:r>
          </a:p>
          <a:p xmlns:a="http://schemas.openxmlformats.org/drawingml/2006/main">
            <a:pPr algn="ctr">
              <a:defRPr sz="1275" b="1" i="0">
                <a:solidFill>
                  <a:srgbClr val="33343F"/>
                </a:solidFill>
                <a:latin typeface="Arial"/>
                <a:ea typeface="Arial"/>
                <a:cs typeface="Arial"/>
              </a:defRPr>
            </a:pPr>
            <a:r>
              <a:rPr sz="1275" b="1" i="0">
                <a:solidFill>
                  <a:srgbClr val="33343F"/>
                </a:solidFill>
                <a:latin typeface="Arial"/>
                <a:ea typeface="Arial"/>
                <a:cs typeface="Arial"/>
              </a:rPr>
              <a:t>max_hits = 5</a:t>
            </a:r>
          </a:p>
        </p:txBody>
      </p:sp>
      <p:sp>
        <p:nvSpPr>
          <p:cNvPr id="35" name="">
            <a:extLst xmlns:a="http://schemas.openxmlformats.org/drawingml/2006/main">
              <a:ext uri="{FF2B5EF4-FFF2-40B4-BE49-F238E27FC236}">
                <a16:creationId xmlns:a16="http://schemas.microsoft.com/office/drawing/2014/main" id="{430BEAF1-1911-4ECF-A907-9B98D1DAD74C}"/>
              </a:ext>
            </a:extLst>
          </p:cNvPr>
          <p:cNvSpPr>
            <a:spLocks xmlns:a="http://schemas.openxmlformats.org/drawingml/2006/main" noGrp="1"/>
          </p:cNvSpPr>
          <p:nvPr/>
        </p:nvSpPr>
        <p:spPr>
          <a:xfrm xmlns:a="http://schemas.openxmlformats.org/drawingml/2006/main">
            <a:off x="8667750" y="4600575"/>
            <a:ext cx="1809750" cy="466725"/>
          </a:xfrm>
          <a:prstGeom xmlns:a="http://schemas.openxmlformats.org/drawingml/2006/main" prst="roundRect">
            <a:avLst>
              <a:gd name="adj" fmla="val 16327"/>
            </a:avLst>
          </a:prstGeom>
          <a:solidFill xmlns:a="http://schemas.openxmlformats.org/drawingml/2006/main">
            <a:srgbClr val="D58C00"/>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2765121-EFDB-4661-BB2A-19A944E56BE9}"/>
              </a:ext>
            </a:extLst>
          </p:cNvPr>
          <p:cNvSpPr>
            <a:spLocks xmlns:a="http://schemas.openxmlformats.org/drawingml/2006/main" noGrp="1"/>
          </p:cNvSpPr>
          <p:nvPr/>
        </p:nvSpPr>
        <p:spPr>
          <a:xfrm xmlns:a="http://schemas.openxmlformats.org/drawingml/2006/main">
            <a:off x="8839200" y="4724400"/>
            <a:ext cx="1466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EXECUTE</a:t>
            </a:r>
          </a:p>
        </p:txBody>
      </p:sp>
      <p:sp>
        <p:nvSpPr>
          <p:cNvPr id="37" name="">
            <a:extLst xmlns:a="http://schemas.openxmlformats.org/drawingml/2006/main">
              <a:ext uri="{FF2B5EF4-FFF2-40B4-BE49-F238E27FC236}">
                <a16:creationId xmlns:a16="http://schemas.microsoft.com/office/drawing/2014/main" id="{D76DC09D-CD3A-4FBB-A0FE-D620F8B456AB}"/>
              </a:ext>
            </a:extLst>
          </p:cNvPr>
          <p:cNvSpPr>
            <a:spLocks xmlns:a="http://schemas.openxmlformats.org/drawingml/2006/main" noGrp="1"/>
          </p:cNvSpPr>
          <p:nvPr/>
        </p:nvSpPr>
        <p:spPr>
          <a:xfrm xmlns:a="http://schemas.openxmlformats.org/drawingml/2006/main">
            <a:off x="1428750" y="5905500"/>
            <a:ext cx="933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98"/>
          </a:bodyPr>
          <a:lstStyle xmlns:a="http://schemas.openxmlformats.org/drawingml/2006/main"/>
          <a:p xmlns:a="http://schemas.openxmlformats.org/drawingml/2006/main">
            <a:pPr algn="ctr">
              <a:defRPr sz="1275" b="0" i="0">
                <a:solidFill>
                  <a:srgbClr val="626777"/>
                </a:solidFill>
                <a:latin typeface="Arial"/>
                <a:ea typeface="Arial"/>
                <a:cs typeface="Arial"/>
              </a:defRPr>
            </a:pPr>
            <a:r>
              <a:rPr sz="1275" b="0" i="0">
                <a:solidFill>
                  <a:srgbClr val="626777"/>
                </a:solidFill>
                <a:latin typeface="Arial"/>
                <a:ea typeface="Arial"/>
                <a:cs typeface="Arial"/>
              </a:rPr>
              <a:t>The request body holds the passage. Query controls determine whether example hits are returned and how many are shown.</a:t>
            </a:r>
          </a:p>
        </p:txBody>
      </p:sp>
      <p:sp>
        <p:nvSpPr>
          <p:cNvPr id="38" name="">
            <a:extLst xmlns:a="http://schemas.openxmlformats.org/drawingml/2006/main">
              <a:ext uri="{FF2B5EF4-FFF2-40B4-BE49-F238E27FC236}">
                <a16:creationId xmlns:a16="http://schemas.microsoft.com/office/drawing/2014/main" id="{35A852CE-66F1-4EE1-9362-980D5F2A78B2}"/>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9" name="">
            <a:extLst xmlns:a="http://schemas.openxmlformats.org/drawingml/2006/main">
              <a:ext uri="{FF2B5EF4-FFF2-40B4-BE49-F238E27FC236}">
                <a16:creationId xmlns:a16="http://schemas.microsoft.com/office/drawing/2014/main" id="{4887C9FD-B90D-4999-9EB2-96851209D578}"/>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40" name="">
            <a:extLst xmlns:a="http://schemas.openxmlformats.org/drawingml/2006/main">
              <a:ext uri="{FF2B5EF4-FFF2-40B4-BE49-F238E27FC236}">
                <a16:creationId xmlns:a16="http://schemas.microsoft.com/office/drawing/2014/main" id="{7DAC3BFB-EA77-434A-88DE-9864D6133CAB}"/>
              </a:ext>
            </a:extLst>
          </p:cNvPr>
          <p:cNvSpPr>
            <a:spLocks xmlns:a="http://schemas.openxmlformats.org/drawingml/2006/main" noGrp="1"/>
          </p:cNvSpPr>
          <p:nvPr/>
        </p:nvSpPr>
        <p:spPr>
          <a:xfrm xmlns:a="http://schemas.openxmlformats.org/drawingml/2006/main">
            <a:off x="2047875" y="65246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000"/>
          </a:bodyPr>
          <a:lstStyle xmlns:a="http://schemas.openxmlformats.org/drawingml/2006/main"/>
          <a:p xmlns:a="http://schemas.openxmlformats.org/drawingml/2006/main">
            <a:pPr algn="ctr">
              <a:defRPr sz="750" b="0" i="0">
                <a:solidFill>
                  <a:srgbClr val="626777"/>
                </a:solidFill>
                <a:latin typeface="Arial"/>
                <a:ea typeface="Arial"/>
                <a:cs typeface="Arial"/>
              </a:defRPr>
            </a:pPr>
            <a:r>
              <a:rPr sz="750" b="0" i="0">
                <a:solidFill>
                  <a:srgbClr val="626777"/>
                </a:solidFill>
                <a:latin typeface="Arial"/>
                <a:ea typeface="Arial"/>
                <a:cs typeface="Arial"/>
              </a:rPr>
              <a:t>Live interface: http://localhost:8000/docs</a:t>
            </a:r>
          </a:p>
        </p:txBody>
      </p:sp>
    </p:spTree>
    <p:extLst>
      <p:ext uri="{BB962C8B-B14F-4D97-AF65-F5344CB8AC3E}">
        <p14:creationId xmlns:p14="http://schemas.microsoft.com/office/powerpoint/2010/main" val="124937546"/>
      </p:ext>
    </p:extLst>
  </p:cSld>
</p:sld>
</file>

<file path=ppt/slides/slide1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7A64194-5534-4E54-BD47-DA4136621B07}"/>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D58C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C7933F-BAFA-497F-98CD-EAD89C673A1B}"/>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METHODOLOGY</a:t>
            </a:r>
          </a:p>
        </p:txBody>
      </p:sp>
      <p:sp>
        <p:nvSpPr>
          <p:cNvPr id="3" name="">
            <a:extLst xmlns:a="http://schemas.openxmlformats.org/drawingml/2006/main">
              <a:ext uri="{FF2B5EF4-FFF2-40B4-BE49-F238E27FC236}">
                <a16:creationId xmlns:a16="http://schemas.microsoft.com/office/drawing/2014/main" id="{701108A6-AFCB-452C-89B0-4D46B9606B00}"/>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The response separates six inspectable evidence layers</a:t>
            </a:r>
          </a:p>
        </p:txBody>
      </p:sp>
      <p:sp>
        <p:nvSpPr>
          <p:cNvPr id="4" name="">
            <a:extLst xmlns:a="http://schemas.openxmlformats.org/drawingml/2006/main">
              <a:ext uri="{FF2B5EF4-FFF2-40B4-BE49-F238E27FC236}">
                <a16:creationId xmlns:a16="http://schemas.microsoft.com/office/drawing/2014/main" id="{65B9C071-73E7-4A97-90F0-E667D2926DD8}"/>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528CB992-8932-4953-870E-0A54E39AD1B7}"/>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1A46443F-E541-4138-A0EC-4028E086AC44}"/>
              </a:ext>
            </a:extLst>
          </p:cNvPr>
          <p:cNvSpPr>
            <a:spLocks xmlns:a="http://schemas.openxmlformats.org/drawingml/2006/main" noGrp="1"/>
          </p:cNvSpPr>
          <p:nvPr/>
        </p:nvSpPr>
        <p:spPr>
          <a:xfrm xmlns:a="http://schemas.openxmlformats.org/drawingml/2006/main">
            <a:off x="9286875" y="381000"/>
            <a:ext cx="1905000" cy="266700"/>
          </a:xfrm>
          <a:prstGeom xmlns:a="http://schemas.openxmlformats.org/drawingml/2006/main" prst="roundRect">
            <a:avLst>
              <a:gd name="adj" fmla="val 28571"/>
            </a:avLst>
          </a:prstGeom>
          <a:solidFill xmlns:a="http://schemas.openxmlformats.org/drawingml/2006/main">
            <a:srgbClr val="17608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C8C4AE-A567-49EE-B91B-DA5A1878A20B}"/>
              </a:ext>
            </a:extLst>
          </p:cNvPr>
          <p:cNvSpPr>
            <a:spLocks xmlns:a="http://schemas.openxmlformats.org/drawingml/2006/main" noGrp="1"/>
          </p:cNvSpPr>
          <p:nvPr/>
        </p:nvSpPr>
        <p:spPr>
          <a:xfrm xmlns:a="http://schemas.openxmlformats.org/drawingml/2006/main">
            <a:off x="9363075" y="409575"/>
            <a:ext cx="1752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ACTUAL DEMO OUTPUT</a:t>
            </a:r>
          </a:p>
        </p:txBody>
      </p:sp>
      <p:sp>
        <p:nvSpPr>
          <p:cNvPr id="8" name="">
            <a:extLst xmlns:a="http://schemas.openxmlformats.org/drawingml/2006/main">
              <a:ext uri="{FF2B5EF4-FFF2-40B4-BE49-F238E27FC236}">
                <a16:creationId xmlns:a16="http://schemas.microsoft.com/office/drawing/2014/main" id="{B5AE1333-BA15-4E4C-8492-C864269A65A8}"/>
              </a:ext>
            </a:extLst>
          </p:cNvPr>
          <p:cNvSpPr>
            <a:spLocks xmlns:a="http://schemas.openxmlformats.org/drawingml/2006/main" noGrp="1"/>
          </p:cNvSpPr>
          <p:nvPr/>
        </p:nvSpPr>
        <p:spPr>
          <a:xfrm xmlns:a="http://schemas.openxmlformats.org/drawingml/2006/main">
            <a:off x="638175" y="1657350"/>
            <a:ext cx="5715000" cy="4038600"/>
          </a:xfrm>
          <a:prstGeom xmlns:a="http://schemas.openxmlformats.org/drawingml/2006/main" prst="roundRect">
            <a:avLst>
              <a:gd name="adj" fmla="val 1887"/>
            </a:avLst>
          </a:prstGeom>
          <a:solidFill xmlns:a="http://schemas.openxmlformats.org/drawingml/2006/main">
            <a:srgbClr val="142D3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472027-73E7-4C74-9265-FE3F75D92C13}"/>
              </a:ext>
            </a:extLst>
          </p:cNvPr>
          <p:cNvSpPr>
            <a:spLocks xmlns:a="http://schemas.openxmlformats.org/drawingml/2006/main" noGrp="1"/>
          </p:cNvSpPr>
          <p:nvPr/>
        </p:nvSpPr>
        <p:spPr>
          <a:xfrm xmlns:a="http://schemas.openxmlformats.org/drawingml/2006/main">
            <a:off x="914400" y="1885950"/>
            <a:ext cx="50958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"document": { ...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"statistics":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"word_count": 44,</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"sentence_count": 5,</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"type_token_ratio": 0.8182</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"functions": [ ...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"grammatical_forms": [ ...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"distribution": [ ...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"segments": [ ...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  "external_profiles": { ... }</a:t>
            </a:r>
          </a:p>
          <a:p xmlns:a="http://schemas.openxmlformats.org/drawingml/2006/main">
            <a:pPr algn="l">
              <a:defRPr sz="1275" b="0" i="0">
                <a:solidFill>
                  <a:srgbClr val="FFFFFF"/>
                </a:solidFill>
                <a:latin typeface="Arial"/>
                <a:ea typeface="Arial"/>
                <a:cs typeface="Arial"/>
              </a:defRPr>
            </a:pPr>
            <a:r>
              <a:rPr sz="1275" b="0" i="0">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D0289D0-EE95-46C1-9E89-28677C249162}"/>
              </a:ext>
            </a:extLst>
          </p:cNvPr>
          <p:cNvSpPr>
            <a:spLocks xmlns:a="http://schemas.openxmlformats.org/drawingml/2006/main" noGrp="1"/>
          </p:cNvSpPr>
          <p:nvPr/>
        </p:nvSpPr>
        <p:spPr>
          <a:xfrm xmlns:a="http://schemas.openxmlformats.org/drawingml/2006/main">
            <a:off x="6838950" y="1676400"/>
            <a:ext cx="4705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B1D82EC5-B463-4F61-86F1-6317438C3089}"/>
              </a:ext>
            </a:extLst>
          </p:cNvPr>
          <p:cNvSpPr>
            <a:spLocks xmlns:a="http://schemas.openxmlformats.org/drawingml/2006/main" noGrp="1"/>
          </p:cNvSpPr>
          <p:nvPr/>
        </p:nvSpPr>
        <p:spPr>
          <a:xfrm xmlns:a="http://schemas.openxmlformats.org/drawingml/2006/main">
            <a:off x="7086600" y="18097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FUNCTIONS</a:t>
            </a:r>
          </a:p>
        </p:txBody>
      </p:sp>
      <p:sp>
        <p:nvSpPr>
          <p:cNvPr id="12" name="">
            <a:extLst xmlns:a="http://schemas.openxmlformats.org/drawingml/2006/main">
              <a:ext uri="{FF2B5EF4-FFF2-40B4-BE49-F238E27FC236}">
                <a16:creationId xmlns:a16="http://schemas.microsoft.com/office/drawing/2014/main" id="{9606CD33-D47F-47CA-86D3-D49F53537BE9}"/>
              </a:ext>
            </a:extLst>
          </p:cNvPr>
          <p:cNvSpPr>
            <a:spLocks xmlns:a="http://schemas.openxmlformats.org/drawingml/2006/main" noGrp="1"/>
          </p:cNvSpPr>
          <p:nvPr/>
        </p:nvSpPr>
        <p:spPr>
          <a:xfrm xmlns:a="http://schemas.openxmlformats.org/drawingml/2006/main">
            <a:off x="9305925" y="17907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333"/>
          </a:bodyPr>
          <a:lstStyle xmlns:a="http://schemas.openxmlformats.org/drawingml/2006/main"/>
          <a:p xmlns:a="http://schemas.openxmlformats.org/drawingml/2006/main">
            <a:pPr algn="r">
              <a:defRPr sz="1875" b="1" i="0">
                <a:solidFill>
                  <a:srgbClr val="176082"/>
                </a:solidFill>
                <a:latin typeface="Arial"/>
                <a:ea typeface="Arial"/>
                <a:cs typeface="Arial"/>
              </a:defRPr>
            </a:pPr>
            <a:r>
              <a:rPr sz="1875" b="1" i="0">
                <a:solidFill>
                  <a:srgbClr val="176082"/>
                </a:solidFill>
                <a:latin typeface="Arial"/>
                <a:ea typeface="Arial"/>
                <a:cs typeface="Arial"/>
              </a:rPr>
              <a:t>6 hits</a:t>
            </a:r>
          </a:p>
        </p:txBody>
      </p:sp>
      <p:sp>
        <p:nvSpPr>
          <p:cNvPr id="13" name="">
            <a:extLst xmlns:a="http://schemas.openxmlformats.org/drawingml/2006/main">
              <a:ext uri="{FF2B5EF4-FFF2-40B4-BE49-F238E27FC236}">
                <a16:creationId xmlns:a16="http://schemas.microsoft.com/office/drawing/2014/main" id="{2FFE11F9-672D-4070-A28E-D78D1A483B82}"/>
              </a:ext>
            </a:extLst>
          </p:cNvPr>
          <p:cNvSpPr>
            <a:spLocks xmlns:a="http://schemas.openxmlformats.org/drawingml/2006/main" noGrp="1"/>
          </p:cNvSpPr>
          <p:nvPr/>
        </p:nvSpPr>
        <p:spPr>
          <a:xfrm xmlns:a="http://schemas.openxmlformats.org/drawingml/2006/main">
            <a:off x="7086600" y="2181225"/>
            <a:ext cx="4114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889"/>
          </a:bodyPr>
          <a:lstStyle xmlns:a="http://schemas.openxmlformats.org/drawingml/2006/main"/>
          <a:p xmlns:a="http://schemas.openxmlformats.org/drawingml/2006/main">
            <a:pPr algn="l">
              <a:defRPr sz="1125" b="1" i="0">
                <a:solidFill>
                  <a:srgbClr val="33343F"/>
                </a:solidFill>
                <a:latin typeface="Arial"/>
                <a:ea typeface="Arial"/>
                <a:cs typeface="Arial"/>
              </a:defRPr>
            </a:pPr>
            <a:r>
              <a:rPr sz="1125" b="1" i="0">
                <a:solidFill>
                  <a:srgbClr val="33343F"/>
                </a:solidFill>
                <a:latin typeface="Arial"/>
                <a:ea typeface="Arial"/>
                <a:cs typeface="Arial"/>
              </a:rPr>
              <a:t>meaning access · orientation · relations · engagement · multimodal support</a:t>
            </a:r>
          </a:p>
        </p:txBody>
      </p:sp>
      <p:sp>
        <p:nvSpPr>
          <p:cNvPr id="14" name="">
            <a:extLst xmlns:a="http://schemas.openxmlformats.org/drawingml/2006/main">
              <a:ext uri="{FF2B5EF4-FFF2-40B4-BE49-F238E27FC236}">
                <a16:creationId xmlns:a16="http://schemas.microsoft.com/office/drawing/2014/main" id="{46B80F4E-0065-4E2D-9508-450AADFD807D}"/>
              </a:ext>
            </a:extLst>
          </p:cNvPr>
          <p:cNvSpPr>
            <a:spLocks xmlns:a="http://schemas.openxmlformats.org/drawingml/2006/main" noGrp="1"/>
          </p:cNvSpPr>
          <p:nvPr/>
        </p:nvSpPr>
        <p:spPr>
          <a:xfrm xmlns:a="http://schemas.openxmlformats.org/drawingml/2006/main">
            <a:off x="6838950" y="2933700"/>
            <a:ext cx="4705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E765FEE3-CE02-452C-BB75-C50E19C5CE91}"/>
              </a:ext>
            </a:extLst>
          </p:cNvPr>
          <p:cNvSpPr>
            <a:spLocks xmlns:a="http://schemas.openxmlformats.org/drawingml/2006/main" noGrp="1"/>
          </p:cNvSpPr>
          <p:nvPr/>
        </p:nvSpPr>
        <p:spPr>
          <a:xfrm xmlns:a="http://schemas.openxmlformats.org/drawingml/2006/main">
            <a:off x="7086600" y="30670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FORMS</a:t>
            </a:r>
          </a:p>
        </p:txBody>
      </p:sp>
      <p:sp>
        <p:nvSpPr>
          <p:cNvPr id="16" name="">
            <a:extLst xmlns:a="http://schemas.openxmlformats.org/drawingml/2006/main">
              <a:ext uri="{FF2B5EF4-FFF2-40B4-BE49-F238E27FC236}">
                <a16:creationId xmlns:a16="http://schemas.microsoft.com/office/drawing/2014/main" id="{A4EDDE61-17BA-42C5-BA49-BC33EE795EAC}"/>
              </a:ext>
            </a:extLst>
          </p:cNvPr>
          <p:cNvSpPr>
            <a:spLocks xmlns:a="http://schemas.openxmlformats.org/drawingml/2006/main" noGrp="1"/>
          </p:cNvSpPr>
          <p:nvPr/>
        </p:nvSpPr>
        <p:spPr>
          <a:xfrm xmlns:a="http://schemas.openxmlformats.org/drawingml/2006/main">
            <a:off x="9305925" y="30480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333"/>
          </a:bodyPr>
          <a:lstStyle xmlns:a="http://schemas.openxmlformats.org/drawingml/2006/main"/>
          <a:p xmlns:a="http://schemas.openxmlformats.org/drawingml/2006/main">
            <a:pPr algn="r">
              <a:defRPr sz="1875" b="1" i="0">
                <a:solidFill>
                  <a:srgbClr val="D58C00"/>
                </a:solidFill>
                <a:latin typeface="Arial"/>
                <a:ea typeface="Arial"/>
                <a:cs typeface="Arial"/>
              </a:defRPr>
            </a:pPr>
            <a:r>
              <a:rPr sz="1875" b="1" i="0">
                <a:solidFill>
                  <a:srgbClr val="D58C00"/>
                </a:solidFill>
                <a:latin typeface="Arial"/>
                <a:ea typeface="Arial"/>
                <a:cs typeface="Arial"/>
              </a:rPr>
              <a:t>10 hits</a:t>
            </a:r>
          </a:p>
        </p:txBody>
      </p:sp>
      <p:sp>
        <p:nvSpPr>
          <p:cNvPr id="17" name="">
            <a:extLst xmlns:a="http://schemas.openxmlformats.org/drawingml/2006/main">
              <a:ext uri="{FF2B5EF4-FFF2-40B4-BE49-F238E27FC236}">
                <a16:creationId xmlns:a16="http://schemas.microsoft.com/office/drawing/2014/main" id="{30EDB7FF-586B-46C7-8C9F-5CE63814ACF2}"/>
              </a:ext>
            </a:extLst>
          </p:cNvPr>
          <p:cNvSpPr>
            <a:spLocks xmlns:a="http://schemas.openxmlformats.org/drawingml/2006/main" noGrp="1"/>
          </p:cNvSpPr>
          <p:nvPr/>
        </p:nvSpPr>
        <p:spPr>
          <a:xfrm xmlns:a="http://schemas.openxmlformats.org/drawingml/2006/main">
            <a:off x="7086600" y="3438525"/>
            <a:ext cx="4114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897"/>
          </a:bodyPr>
          <a:lstStyle xmlns:a="http://schemas.openxmlformats.org/drawingml/2006/main"/>
          <a:p xmlns:a="http://schemas.openxmlformats.org/drawingml/2006/main">
            <a:pPr algn="l">
              <a:defRPr sz="1125" b="1" i="0">
                <a:solidFill>
                  <a:srgbClr val="33343F"/>
                </a:solidFill>
                <a:latin typeface="Arial"/>
                <a:ea typeface="Arial"/>
                <a:cs typeface="Arial"/>
              </a:defRPr>
            </a:pPr>
            <a:r>
              <a:rPr sz="1125" b="1" i="0">
                <a:solidFill>
                  <a:srgbClr val="33343F"/>
                </a:solidFill>
                <a:latin typeface="Arial"/>
                <a:ea typeface="Arial"/>
                <a:cs typeface="Arial"/>
              </a:rPr>
              <a:t>modal · passive · conditional · interrogative · nominalisation · reference</a:t>
            </a:r>
          </a:p>
        </p:txBody>
      </p:sp>
      <p:sp>
        <p:nvSpPr>
          <p:cNvPr id="18" name="">
            <a:extLst xmlns:a="http://schemas.openxmlformats.org/drawingml/2006/main">
              <a:ext uri="{FF2B5EF4-FFF2-40B4-BE49-F238E27FC236}">
                <a16:creationId xmlns:a16="http://schemas.microsoft.com/office/drawing/2014/main" id="{74CB44BB-562E-41B2-88E0-BF3165C93B6E}"/>
              </a:ext>
            </a:extLst>
          </p:cNvPr>
          <p:cNvSpPr>
            <a:spLocks xmlns:a="http://schemas.openxmlformats.org/drawingml/2006/main" noGrp="1"/>
          </p:cNvSpPr>
          <p:nvPr/>
        </p:nvSpPr>
        <p:spPr>
          <a:xfrm xmlns:a="http://schemas.openxmlformats.org/drawingml/2006/main">
            <a:off x="6838950" y="4191000"/>
            <a:ext cx="4705350" cy="1028700"/>
          </a:xfrm>
          <a:prstGeom xmlns:a="http://schemas.openxmlformats.org/drawingml/2006/main" prst="roundRect">
            <a:avLst>
              <a:gd name="adj" fmla="val 7407"/>
            </a:avLst>
          </a:prstGeom>
          <a:solidFill xmlns:a="http://schemas.openxmlformats.org/drawingml/2006/main">
            <a:srgbClr val="FFF4D8"/>
          </a:solidFill>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7D57A952-9E23-4399-8EAE-EC6EADD71C85}"/>
              </a:ext>
            </a:extLst>
          </p:cNvPr>
          <p:cNvSpPr>
            <a:spLocks xmlns:a="http://schemas.openxmlformats.org/drawingml/2006/main" noGrp="1"/>
          </p:cNvSpPr>
          <p:nvPr/>
        </p:nvSpPr>
        <p:spPr>
          <a:xfrm xmlns:a="http://schemas.openxmlformats.org/drawingml/2006/main">
            <a:off x="7086600" y="43243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DISTRIBUTION</a:t>
            </a:r>
          </a:p>
        </p:txBody>
      </p:sp>
      <p:sp>
        <p:nvSpPr>
          <p:cNvPr id="20" name="">
            <a:extLst xmlns:a="http://schemas.openxmlformats.org/drawingml/2006/main">
              <a:ext uri="{FF2B5EF4-FFF2-40B4-BE49-F238E27FC236}">
                <a16:creationId xmlns:a16="http://schemas.microsoft.com/office/drawing/2014/main" id="{39720A04-E51C-49C2-82D4-7D7D38B192C1}"/>
              </a:ext>
            </a:extLst>
          </p:cNvPr>
          <p:cNvSpPr>
            <a:spLocks xmlns:a="http://schemas.openxmlformats.org/drawingml/2006/main" noGrp="1"/>
          </p:cNvSpPr>
          <p:nvPr/>
        </p:nvSpPr>
        <p:spPr>
          <a:xfrm xmlns:a="http://schemas.openxmlformats.org/drawingml/2006/main">
            <a:off x="9305925" y="43053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333"/>
          </a:bodyPr>
          <a:lstStyle xmlns:a="http://schemas.openxmlformats.org/drawingml/2006/main"/>
          <a:p xmlns:a="http://schemas.openxmlformats.org/drawingml/2006/main">
            <a:pPr algn="r">
              <a:defRPr sz="1875" b="1" i="0">
                <a:solidFill>
                  <a:srgbClr val="FFD45A"/>
                </a:solidFill>
                <a:latin typeface="Arial"/>
                <a:ea typeface="Arial"/>
                <a:cs typeface="Arial"/>
              </a:defRPr>
            </a:pPr>
            <a:r>
              <a:rPr sz="1875" b="1" i="0">
                <a:solidFill>
                  <a:srgbClr val="FFD45A"/>
                </a:solidFill>
                <a:latin typeface="Arial"/>
                <a:ea typeface="Arial"/>
                <a:cs typeface="Arial"/>
              </a:rPr>
              <a:t>26 rows</a:t>
            </a:r>
          </a:p>
        </p:txBody>
      </p:sp>
      <p:sp>
        <p:nvSpPr>
          <p:cNvPr id="21" name="">
            <a:extLst xmlns:a="http://schemas.openxmlformats.org/drawingml/2006/main">
              <a:ext uri="{FF2B5EF4-FFF2-40B4-BE49-F238E27FC236}">
                <a16:creationId xmlns:a16="http://schemas.microsoft.com/office/drawing/2014/main" id="{CD88BC8D-0B50-4ECC-BE98-2B5964A1547C}"/>
              </a:ext>
            </a:extLst>
          </p:cNvPr>
          <p:cNvSpPr>
            <a:spLocks xmlns:a="http://schemas.openxmlformats.org/drawingml/2006/main" noGrp="1"/>
          </p:cNvSpPr>
          <p:nvPr/>
        </p:nvSpPr>
        <p:spPr>
          <a:xfrm xmlns:a="http://schemas.openxmlformats.org/drawingml/2006/main">
            <a:off x="7086600" y="4695825"/>
            <a:ext cx="4114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63"/>
          </a:bodyPr>
          <a:lstStyle xmlns:a="http://schemas.openxmlformats.org/drawingml/2006/main"/>
          <a:p xmlns:a="http://schemas.openxmlformats.org/drawingml/2006/main">
            <a:pPr algn="l">
              <a:defRPr sz="1125" b="1" i="0">
                <a:solidFill>
                  <a:srgbClr val="33343F"/>
                </a:solidFill>
                <a:latin typeface="Arial"/>
                <a:ea typeface="Arial"/>
                <a:cs typeface="Arial"/>
              </a:defRPr>
            </a:pPr>
            <a:r>
              <a:rPr sz="1125" b="1" i="0">
                <a:solidFill>
                  <a:srgbClr val="33343F"/>
                </a:solidFill>
                <a:latin typeface="Arial"/>
                <a:ea typeface="Arial"/>
                <a:cs typeface="Arial"/>
              </a:rPr>
              <a:t>count · rate per 10k · coverage · evenness · eligible opportunities</a:t>
            </a:r>
          </a:p>
        </p:txBody>
      </p:sp>
      <p:sp>
        <p:nvSpPr>
          <p:cNvPr id="22" name="">
            <a:extLst xmlns:a="http://schemas.openxmlformats.org/drawingml/2006/main">
              <a:ext uri="{FF2B5EF4-FFF2-40B4-BE49-F238E27FC236}">
                <a16:creationId xmlns:a16="http://schemas.microsoft.com/office/drawing/2014/main" id="{220645DE-9AB9-4D3B-9897-1B61F56CE980}"/>
              </a:ext>
            </a:extLst>
          </p:cNvPr>
          <p:cNvSpPr>
            <a:spLocks xmlns:a="http://schemas.openxmlformats.org/drawingml/2006/main" noGrp="1"/>
          </p:cNvSpPr>
          <p:nvPr/>
        </p:nvSpPr>
        <p:spPr>
          <a:xfrm xmlns:a="http://schemas.openxmlformats.org/drawingml/2006/main">
            <a:off x="6848475" y="5514975"/>
            <a:ext cx="4686300" cy="447675"/>
          </a:xfrm>
          <a:prstGeom xmlns:a="http://schemas.openxmlformats.org/drawingml/2006/main" prst="roundRect">
            <a:avLst>
              <a:gd name="adj" fmla="val 17021"/>
            </a:avLst>
          </a:prstGeom>
          <a:solidFill xmlns:a="http://schemas.openxmlformats.org/drawingml/2006/main">
            <a:srgbClr val="E6F0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878C08F-5456-425C-9C73-C535325B2694}"/>
              </a:ext>
            </a:extLst>
          </p:cNvPr>
          <p:cNvSpPr>
            <a:spLocks xmlns:a="http://schemas.openxmlformats.org/drawingml/2006/main" noGrp="1"/>
          </p:cNvSpPr>
          <p:nvPr/>
        </p:nvSpPr>
        <p:spPr>
          <a:xfrm xmlns:a="http://schemas.openxmlformats.org/drawingml/2006/main">
            <a:off x="7086600" y="5619750"/>
            <a:ext cx="421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lgn="ctr">
              <a:defRPr sz="1275" b="1" i="0">
                <a:solidFill>
                  <a:srgbClr val="176082"/>
                </a:solidFill>
                <a:latin typeface="Arial"/>
                <a:ea typeface="Arial"/>
                <a:cs typeface="Arial"/>
              </a:defRPr>
            </a:pPr>
            <a:r>
              <a:rPr sz="1275" b="1" i="0">
                <a:solidFill>
                  <a:srgbClr val="176082"/>
                </a:solidFill>
                <a:latin typeface="Arial"/>
                <a:ea typeface="Arial"/>
                <a:cs typeface="Arial"/>
              </a:rPr>
              <a:t>Download → complete JSON research record</a:t>
            </a:r>
          </a:p>
        </p:txBody>
      </p:sp>
      <p:sp>
        <p:nvSpPr>
          <p:cNvPr id="24" name="">
            <a:extLst xmlns:a="http://schemas.openxmlformats.org/drawingml/2006/main">
              <a:ext uri="{FF2B5EF4-FFF2-40B4-BE49-F238E27FC236}">
                <a16:creationId xmlns:a16="http://schemas.microsoft.com/office/drawing/2014/main" id="{C760F332-8525-42AF-BCF8-0B7086875B6B}"/>
              </a:ext>
            </a:extLst>
          </p:cNvPr>
          <p:cNvSpPr>
            <a:spLocks xmlns:a="http://schemas.openxmlformats.org/drawingml/2006/main" noGrp="1"/>
          </p:cNvSpPr>
          <p:nvPr/>
        </p:nvSpPr>
        <p:spPr>
          <a:xfrm xmlns:a="http://schemas.openxmlformats.org/drawingml/2006/main">
            <a:off x="1143000" y="61055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556"/>
          </a:bodyPr>
          <a:lstStyle xmlns:a="http://schemas.openxmlformats.org/drawingml/2006/main"/>
          <a:p xmlns:a="http://schemas.openxmlformats.org/drawingml/2006/main">
            <a:pPr algn="ctr">
              <a:defRPr sz="1125" b="1" i="0">
                <a:solidFill>
                  <a:srgbClr val="B94D35"/>
                </a:solidFill>
                <a:latin typeface="Arial"/>
                <a:ea typeface="Arial"/>
                <a:cs typeface="Arial"/>
              </a:defRPr>
            </a:pPr>
            <a:r>
              <a:rPr sz="1125" b="1" i="0">
                <a:solidFill>
                  <a:srgbClr val="B94D35"/>
                </a:solidFill>
                <a:latin typeface="Arial"/>
                <a:ea typeface="Arial"/>
                <a:cs typeface="Arial"/>
              </a:rPr>
              <a:t>A 44-word demonstration passage produces high per-10,000 rates; these values illustrate output structure, not book-level prevalence.</a:t>
            </a:r>
          </a:p>
        </p:txBody>
      </p:sp>
      <p:sp>
        <p:nvSpPr>
          <p:cNvPr id="25" name="">
            <a:extLst xmlns:a="http://schemas.openxmlformats.org/drawingml/2006/main">
              <a:ext uri="{FF2B5EF4-FFF2-40B4-BE49-F238E27FC236}">
                <a16:creationId xmlns:a16="http://schemas.microsoft.com/office/drawing/2014/main" id="{D8839FB9-D7D5-4538-BAA3-2FD1D173FBD1}"/>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6" name="">
            <a:extLst xmlns:a="http://schemas.openxmlformats.org/drawingml/2006/main">
              <a:ext uri="{FF2B5EF4-FFF2-40B4-BE49-F238E27FC236}">
                <a16:creationId xmlns:a16="http://schemas.microsoft.com/office/drawing/2014/main" id="{978E277C-BF9A-432C-AA48-4E01C8471A0D}"/>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864329167"/>
      </p:ext>
    </p:extLst>
  </p:cSld>
</p:sld>
</file>

<file path=ppt/slides/slide1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42A28BD-A413-40DC-8C9A-7E23F6C28FB0}"/>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B94D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927DEC-448F-4912-8A2A-2E4AA5F60254}"/>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
            <a:extLst xmlns:a="http://schemas.openxmlformats.org/drawingml/2006/main">
              <a:ext uri="{FF2B5EF4-FFF2-40B4-BE49-F238E27FC236}">
                <a16:creationId xmlns:a16="http://schemas.microsoft.com/office/drawing/2014/main" id="{C5A32BED-A01E-42AA-A6C8-23690E61ABB8}"/>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Reading challenge profile</a:t>
            </a:r>
          </a:p>
        </p:txBody>
      </p:sp>
      <p:sp>
        <p:nvSpPr>
          <p:cNvPr id="4" name="">
            <a:extLst xmlns:a="http://schemas.openxmlformats.org/drawingml/2006/main">
              <a:ext uri="{FF2B5EF4-FFF2-40B4-BE49-F238E27FC236}">
                <a16:creationId xmlns:a16="http://schemas.microsoft.com/office/drawing/2014/main" id="{25528E7C-3477-42E0-A783-A3A5022652AE}"/>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0391487D-8387-4AE9-BFB1-655FB665C047}"/>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7B6F345B-29F1-4B40-B171-FD3E57F857D1}"/>
              </a:ext>
            </a:extLst>
          </p:cNvPr>
          <p:cNvSpPr>
            <a:spLocks xmlns:a="http://schemas.openxmlformats.org/drawingml/2006/main" noGrp="1"/>
          </p:cNvSpPr>
          <p:nvPr/>
        </p:nvSpPr>
        <p:spPr>
          <a:xfrm xmlns:a="http://schemas.openxmlformats.org/drawingml/2006/main">
            <a:off x="9906000" y="381000"/>
            <a:ext cx="1428750" cy="266700"/>
          </a:xfrm>
          <a:prstGeom xmlns:a="http://schemas.openxmlformats.org/drawingml/2006/main" prst="roundRect">
            <a:avLst>
              <a:gd name="adj" fmla="val 28571"/>
            </a:avLst>
          </a:prstGeom>
          <a:solidFill xmlns:a="http://schemas.openxmlformats.org/drawingml/2006/main">
            <a:srgbClr val="D58C0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57E56BF-A868-4AC4-96C4-C588BB03A6D9}"/>
              </a:ext>
            </a:extLst>
          </p:cNvPr>
          <p:cNvSpPr>
            <a:spLocks xmlns:a="http://schemas.openxmlformats.org/drawingml/2006/main" noGrp="1"/>
          </p:cNvSpPr>
          <p:nvPr/>
        </p:nvSpPr>
        <p:spPr>
          <a:xfrm xmlns:a="http://schemas.openxmlformats.org/drawingml/2006/main">
            <a:off x="9982200" y="409575"/>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STUDY SAMPLE</a:t>
            </a:r>
          </a:p>
        </p:txBody>
      </p:sp>
      <p:graphicFrame>
        <p:nvGraphicFramePr>
          <p:cNvPr id="28" name="Chart"/>
          <p:cNvGraphicFramePr/>
          <p:nvPr/>
        </p:nvGraphicFramePr>
        <p:xfrm>
          <a:off xmlns:a="http://schemas.openxmlformats.org/drawingml/2006/main" x="666750" y="1666875"/>
          <a:ext xmlns:a="http://schemas.openxmlformats.org/drawingml/2006/main" cx="7953375" cy="4095750"/>
        </p:xfrm>
        <a:graphic xmlns:a="http://schemas.openxmlformats.org/drawingml/2006/main">
          <a:graphicData uri="http://schemas.openxmlformats.org/drawingml/2006/chart">
            <c:chart xmlns:r="http://schemas.openxmlformats.org/officeDocument/2006/relationships" xmlns:c="http://schemas.openxmlformats.org/drawingml/2006/chart" r:id="R3765a5588c574159"/>
          </a:graphicData>
        </a:graphic>
      </p:graphicFrame>
      <p:sp>
        <p:nvSpPr>
          <p:cNvPr id="9" name="">
            <a:extLst xmlns:a="http://schemas.openxmlformats.org/drawingml/2006/main">
              <a:ext uri="{FF2B5EF4-FFF2-40B4-BE49-F238E27FC236}">
                <a16:creationId xmlns:a16="http://schemas.microsoft.com/office/drawing/2014/main" id="{F63F5D1E-577B-4C49-BEA9-4E89043EFE9E}"/>
              </a:ext>
            </a:extLst>
          </p:cNvPr>
          <p:cNvSpPr>
            <a:spLocks xmlns:a="http://schemas.openxmlformats.org/drawingml/2006/main" noGrp="1"/>
          </p:cNvSpPr>
          <p:nvPr/>
        </p:nvSpPr>
        <p:spPr>
          <a:xfrm xmlns:a="http://schemas.openxmlformats.org/drawingml/2006/main">
            <a:off x="9048750" y="1857375"/>
            <a:ext cx="233362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8C9D3"/>
            </a:solidFill>
          </a:ln>
        </p:spPr>
      </p:sp>
      <p:sp>
        <p:nvSpPr>
          <p:cNvPr id="10" name="">
            <a:extLst xmlns:a="http://schemas.openxmlformats.org/drawingml/2006/main">
              <a:ext uri="{FF2B5EF4-FFF2-40B4-BE49-F238E27FC236}">
                <a16:creationId xmlns:a16="http://schemas.microsoft.com/office/drawing/2014/main" id="{AA3D88DE-07A4-4A2E-B470-857B7ED6C4E0}"/>
              </a:ext>
            </a:extLst>
          </p:cNvPr>
          <p:cNvSpPr>
            <a:spLocks xmlns:a="http://schemas.openxmlformats.org/drawingml/2006/main" noGrp="1"/>
          </p:cNvSpPr>
          <p:nvPr/>
        </p:nvSpPr>
        <p:spPr>
          <a:xfrm xmlns:a="http://schemas.openxmlformats.org/drawingml/2006/main">
            <a:off x="9286875" y="2009775"/>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63"/>
          </a:bodyPr>
          <a:lstStyle xmlns:a="http://schemas.openxmlformats.org/drawingml/2006/main"/>
          <a:p xmlns:a="http://schemas.openxmlformats.org/drawingml/2006/main">
            <a:pPr algn="l">
              <a:defRPr sz="3150" b="1" i="0">
                <a:solidFill>
                  <a:srgbClr val="176082"/>
                </a:solidFill>
                <a:latin typeface="Arial"/>
                <a:ea typeface="Arial"/>
                <a:cs typeface="Arial"/>
              </a:defRPr>
            </a:pPr>
            <a:r>
              <a:rPr sz="3150" b="1" i="0">
                <a:solidFill>
                  <a:srgbClr val="176082"/>
                </a:solidFill>
                <a:latin typeface="Arial"/>
                <a:ea typeface="Arial"/>
                <a:cs typeface="Arial"/>
              </a:rPr>
              <a:t>3.19</a:t>
            </a:r>
          </a:p>
        </p:txBody>
      </p:sp>
      <p:sp>
        <p:nvSpPr>
          <p:cNvPr id="11" name="">
            <a:extLst xmlns:a="http://schemas.openxmlformats.org/drawingml/2006/main">
              <a:ext uri="{FF2B5EF4-FFF2-40B4-BE49-F238E27FC236}">
                <a16:creationId xmlns:a16="http://schemas.microsoft.com/office/drawing/2014/main" id="{82003B94-89A3-49B0-A7F4-18352EF7A2A5}"/>
              </a:ext>
            </a:extLst>
          </p:cNvPr>
          <p:cNvSpPr>
            <a:spLocks xmlns:a="http://schemas.openxmlformats.org/drawingml/2006/main" noGrp="1"/>
          </p:cNvSpPr>
          <p:nvPr/>
        </p:nvSpPr>
        <p:spPr>
          <a:xfrm xmlns:a="http://schemas.openxmlformats.org/drawingml/2006/main">
            <a:off x="9286875" y="2562225"/>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overall challenge mean</a:t>
            </a:r>
          </a:p>
        </p:txBody>
      </p:sp>
      <p:sp>
        <p:nvSpPr>
          <p:cNvPr id="12" name="">
            <a:extLst xmlns:a="http://schemas.openxmlformats.org/drawingml/2006/main">
              <a:ext uri="{FF2B5EF4-FFF2-40B4-BE49-F238E27FC236}">
                <a16:creationId xmlns:a16="http://schemas.microsoft.com/office/drawing/2014/main" id="{9161CCDC-8A01-4D5C-9F14-DF524C248F4A}"/>
              </a:ext>
            </a:extLst>
          </p:cNvPr>
          <p:cNvSpPr>
            <a:spLocks xmlns:a="http://schemas.openxmlformats.org/drawingml/2006/main" noGrp="1"/>
          </p:cNvSpPr>
          <p:nvPr/>
        </p:nvSpPr>
        <p:spPr>
          <a:xfrm xmlns:a="http://schemas.openxmlformats.org/drawingml/2006/main">
            <a:off x="9048750" y="3305175"/>
            <a:ext cx="233362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8C9D3"/>
            </a:solidFill>
          </a:ln>
        </p:spPr>
      </p:sp>
      <p:sp>
        <p:nvSpPr>
          <p:cNvPr id="13" name="">
            <a:extLst xmlns:a="http://schemas.openxmlformats.org/drawingml/2006/main">
              <a:ext uri="{FF2B5EF4-FFF2-40B4-BE49-F238E27FC236}">
                <a16:creationId xmlns:a16="http://schemas.microsoft.com/office/drawing/2014/main" id="{1C4692C4-5156-47C4-828E-06E35FAADBD7}"/>
              </a:ext>
            </a:extLst>
          </p:cNvPr>
          <p:cNvSpPr>
            <a:spLocks xmlns:a="http://schemas.openxmlformats.org/drawingml/2006/main" noGrp="1"/>
          </p:cNvSpPr>
          <p:nvPr/>
        </p:nvSpPr>
        <p:spPr>
          <a:xfrm xmlns:a="http://schemas.openxmlformats.org/drawingml/2006/main">
            <a:off x="9286875" y="3457575"/>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63"/>
          </a:bodyPr>
          <a:lstStyle xmlns:a="http://schemas.openxmlformats.org/drawingml/2006/main"/>
          <a:p xmlns:a="http://schemas.openxmlformats.org/drawingml/2006/main">
            <a:pPr algn="l">
              <a:defRPr sz="3150" b="1" i="0">
                <a:solidFill>
                  <a:srgbClr val="D58C00"/>
                </a:solidFill>
                <a:latin typeface="Arial"/>
                <a:ea typeface="Arial"/>
                <a:cs typeface="Arial"/>
              </a:defRPr>
            </a:pPr>
            <a:r>
              <a:rPr sz="3150" b="1" i="0">
                <a:solidFill>
                  <a:srgbClr val="D58C00"/>
                </a:solidFill>
                <a:latin typeface="Arial"/>
                <a:ea typeface="Arial"/>
                <a:cs typeface="Arial"/>
              </a:rPr>
              <a:t>−.55</a:t>
            </a:r>
          </a:p>
        </p:txBody>
      </p:sp>
      <p:sp>
        <p:nvSpPr>
          <p:cNvPr id="14" name="">
            <a:extLst xmlns:a="http://schemas.openxmlformats.org/drawingml/2006/main">
              <a:ext uri="{FF2B5EF4-FFF2-40B4-BE49-F238E27FC236}">
                <a16:creationId xmlns:a16="http://schemas.microsoft.com/office/drawing/2014/main" id="{642B58F7-24C2-4A1E-839C-EB561009C2E6}"/>
              </a:ext>
            </a:extLst>
          </p:cNvPr>
          <p:cNvSpPr>
            <a:spLocks xmlns:a="http://schemas.openxmlformats.org/drawingml/2006/main" noGrp="1"/>
          </p:cNvSpPr>
          <p:nvPr/>
        </p:nvSpPr>
        <p:spPr>
          <a:xfrm xmlns:a="http://schemas.openxmlformats.org/drawingml/2006/main">
            <a:off x="9286875" y="4010025"/>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challenge × English</a:t>
            </a:r>
          </a:p>
        </p:txBody>
      </p:sp>
      <p:sp>
        <p:nvSpPr>
          <p:cNvPr id="15" name="">
            <a:extLst xmlns:a="http://schemas.openxmlformats.org/drawingml/2006/main">
              <a:ext uri="{FF2B5EF4-FFF2-40B4-BE49-F238E27FC236}">
                <a16:creationId xmlns:a16="http://schemas.microsoft.com/office/drawing/2014/main" id="{8B86C65A-921C-449A-975E-A68EFDE31A6A}"/>
              </a:ext>
            </a:extLst>
          </p:cNvPr>
          <p:cNvSpPr>
            <a:spLocks xmlns:a="http://schemas.openxmlformats.org/drawingml/2006/main" noGrp="1"/>
          </p:cNvSpPr>
          <p:nvPr/>
        </p:nvSpPr>
        <p:spPr>
          <a:xfrm xmlns:a="http://schemas.openxmlformats.org/drawingml/2006/main">
            <a:off x="9048750" y="4752975"/>
            <a:ext cx="233362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8C9D3"/>
            </a:solidFill>
          </a:ln>
        </p:spPr>
      </p:sp>
      <p:sp>
        <p:nvSpPr>
          <p:cNvPr id="16" name="">
            <a:extLst xmlns:a="http://schemas.openxmlformats.org/drawingml/2006/main">
              <a:ext uri="{FF2B5EF4-FFF2-40B4-BE49-F238E27FC236}">
                <a16:creationId xmlns:a16="http://schemas.microsoft.com/office/drawing/2014/main" id="{B87F3170-21ED-4F2D-AFB5-C59CFF08F533}"/>
              </a:ext>
            </a:extLst>
          </p:cNvPr>
          <p:cNvSpPr>
            <a:spLocks xmlns:a="http://schemas.openxmlformats.org/drawingml/2006/main" noGrp="1"/>
          </p:cNvSpPr>
          <p:nvPr/>
        </p:nvSpPr>
        <p:spPr>
          <a:xfrm xmlns:a="http://schemas.openxmlformats.org/drawingml/2006/main">
            <a:off x="9286875" y="4905375"/>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63"/>
          </a:bodyPr>
          <a:lstStyle xmlns:a="http://schemas.openxmlformats.org/drawingml/2006/main"/>
          <a:p xmlns:a="http://schemas.openxmlformats.org/drawingml/2006/main">
            <a:pPr algn="l">
              <a:defRPr sz="3150" b="1" i="0">
                <a:solidFill>
                  <a:srgbClr val="D58C00"/>
                </a:solidFill>
                <a:latin typeface="Arial"/>
                <a:ea typeface="Arial"/>
                <a:cs typeface="Arial"/>
              </a:defRPr>
            </a:pPr>
            <a:r>
              <a:rPr sz="3150" b="1" i="0">
                <a:solidFill>
                  <a:srgbClr val="D58C00"/>
                </a:solidFill>
                <a:latin typeface="Arial"/>
                <a:ea typeface="Arial"/>
                <a:cs typeface="Arial"/>
              </a:rPr>
              <a:t>−.48</a:t>
            </a:r>
          </a:p>
        </p:txBody>
      </p:sp>
      <p:sp>
        <p:nvSpPr>
          <p:cNvPr id="17" name="">
            <a:extLst xmlns:a="http://schemas.openxmlformats.org/drawingml/2006/main">
              <a:ext uri="{FF2B5EF4-FFF2-40B4-BE49-F238E27FC236}">
                <a16:creationId xmlns:a16="http://schemas.microsoft.com/office/drawing/2014/main" id="{2EE72649-88FB-4904-B94A-7808A905232D}"/>
              </a:ext>
            </a:extLst>
          </p:cNvPr>
          <p:cNvSpPr>
            <a:spLocks xmlns:a="http://schemas.openxmlformats.org/drawingml/2006/main" noGrp="1"/>
          </p:cNvSpPr>
          <p:nvPr/>
        </p:nvSpPr>
        <p:spPr>
          <a:xfrm xmlns:a="http://schemas.openxmlformats.org/drawingml/2006/main">
            <a:off x="9286875" y="5457825"/>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626777"/>
                </a:solidFill>
                <a:latin typeface="Arial"/>
                <a:ea typeface="Arial"/>
                <a:cs typeface="Arial"/>
              </a:defRPr>
            </a:pPr>
            <a:r>
              <a:rPr sz="1275" b="0" i="0">
                <a:solidFill>
                  <a:srgbClr val="626777"/>
                </a:solidFill>
                <a:latin typeface="Arial"/>
                <a:ea typeface="Arial"/>
                <a:cs typeface="Arial"/>
              </a:rPr>
              <a:t>challenge × GPA</a:t>
            </a:r>
          </a:p>
        </p:txBody>
      </p:sp>
      <p:sp>
        <p:nvSpPr>
          <p:cNvPr id="18" name="">
            <a:extLst xmlns:a="http://schemas.openxmlformats.org/drawingml/2006/main">
              <a:ext uri="{FF2B5EF4-FFF2-40B4-BE49-F238E27FC236}">
                <a16:creationId xmlns:a16="http://schemas.microsoft.com/office/drawing/2014/main" id="{2428FB6A-B22F-4392-87A1-5B1A01621D4A}"/>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49AE0C42-DB39-41FB-8173-34390E3C0281}"/>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20" name="">
            <a:extLst xmlns:a="http://schemas.openxmlformats.org/drawingml/2006/main">
              <a:ext uri="{FF2B5EF4-FFF2-40B4-BE49-F238E27FC236}">
                <a16:creationId xmlns:a16="http://schemas.microsoft.com/office/drawing/2014/main" id="{FE6219D2-D1E3-4B21-90A8-6632E26BE902}"/>
              </a:ext>
            </a:extLst>
          </p:cNvPr>
          <p:cNvSpPr>
            <a:spLocks xmlns:a="http://schemas.openxmlformats.org/drawingml/2006/main" noGrp="1"/>
          </p:cNvSpPr>
          <p:nvPr/>
        </p:nvSpPr>
        <p:spPr>
          <a:xfrm xmlns:a="http://schemas.openxmlformats.org/drawingml/2006/main">
            <a:off x="2047875" y="65246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000"/>
          </a:bodyPr>
          <a:lstStyle xmlns:a="http://schemas.openxmlformats.org/drawingml/2006/main"/>
          <a:p xmlns:a="http://schemas.openxmlformats.org/drawingml/2006/main">
            <a:pPr algn="ctr">
              <a:defRPr sz="750" b="0" i="0">
                <a:solidFill>
                  <a:srgbClr val="626777"/>
                </a:solidFill>
                <a:latin typeface="Arial"/>
                <a:ea typeface="Arial"/>
                <a:cs typeface="Arial"/>
              </a:defRPr>
            </a:pPr>
            <a:r>
              <a:rPr sz="750" b="0" i="0">
                <a:solidFill>
                  <a:srgbClr val="626777"/>
                </a:solidFill>
                <a:latin typeface="Arial"/>
                <a:ea typeface="Arial"/>
                <a:cs typeface="Arial"/>
              </a:rPr>
              <a:t>Descriptive patterns; no causal inference</a:t>
            </a:r>
          </a:p>
        </p:txBody>
      </p:sp>
    </p:spTree>
    <p:extLst>
      <p:ext uri="{BB962C8B-B14F-4D97-AF65-F5344CB8AC3E}">
        <p14:creationId xmlns:p14="http://schemas.microsoft.com/office/powerpoint/2010/main" val="2125063980"/>
      </p:ext>
    </p:extLst>
  </p:cSld>
</p:sld>
</file>

<file path=ppt/slides/slide1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F344BF6-6DE2-4B78-A518-FCA5AE5AD11C}"/>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B94D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B27341-F494-49AB-A5C8-A86EDFE11778}"/>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
            <a:extLst xmlns:a="http://schemas.openxmlformats.org/drawingml/2006/main">
              <a:ext uri="{FF2B5EF4-FFF2-40B4-BE49-F238E27FC236}">
                <a16:creationId xmlns:a16="http://schemas.microsoft.com/office/drawing/2014/main" id="{A826ED7D-9B9C-4AE1-8621-00AABF1FABA1}"/>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257"/>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Engineering readers used equations and visuals as parallel routes to meaning</a:t>
            </a:r>
          </a:p>
        </p:txBody>
      </p:sp>
      <p:sp>
        <p:nvSpPr>
          <p:cNvPr id="4" name="">
            <a:extLst xmlns:a="http://schemas.openxmlformats.org/drawingml/2006/main">
              <a:ext uri="{FF2B5EF4-FFF2-40B4-BE49-F238E27FC236}">
                <a16:creationId xmlns:a16="http://schemas.microsoft.com/office/drawing/2014/main" id="{EF42F10B-E8DC-4100-BA20-1C7904F4BB52}"/>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12808448-1A04-4A0B-83E2-91594241E7F4}"/>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3921E30D-EBBB-458B-91B9-8B19F752C205}"/>
              </a:ext>
            </a:extLst>
          </p:cNvPr>
          <p:cNvSpPr>
            <a:spLocks xmlns:a="http://schemas.openxmlformats.org/drawingml/2006/main" noGrp="1"/>
          </p:cNvSpPr>
          <p:nvPr/>
        </p:nvSpPr>
        <p:spPr>
          <a:xfrm xmlns:a="http://schemas.openxmlformats.org/drawingml/2006/main">
            <a:off x="9334500" y="381000"/>
            <a:ext cx="2190750" cy="266700"/>
          </a:xfrm>
          <a:prstGeom xmlns:a="http://schemas.openxmlformats.org/drawingml/2006/main" prst="roundRect">
            <a:avLst>
              <a:gd name="adj" fmla="val 28571"/>
            </a:avLst>
          </a:prstGeom>
          <a:solidFill xmlns:a="http://schemas.openxmlformats.org/drawingml/2006/main">
            <a:srgbClr val="D58C0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529F4D0-6B00-4700-B4DA-10F20CC7FE35}"/>
              </a:ext>
            </a:extLst>
          </p:cNvPr>
          <p:cNvSpPr>
            <a:spLocks xmlns:a="http://schemas.openxmlformats.org/drawingml/2006/main" noGrp="1"/>
          </p:cNvSpPr>
          <p:nvPr/>
        </p:nvSpPr>
        <p:spPr>
          <a:xfrm xmlns:a="http://schemas.openxmlformats.org/drawingml/2006/main">
            <a:off x="9410700" y="409575"/>
            <a:ext cx="2038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INTERVIEW EXCERPTS</a:t>
            </a:r>
          </a:p>
        </p:txBody>
      </p:sp>
      <p:sp>
        <p:nvSpPr>
          <p:cNvPr id="8" name="">
            <a:extLst xmlns:a="http://schemas.openxmlformats.org/drawingml/2006/main">
              <a:ext uri="{FF2B5EF4-FFF2-40B4-BE49-F238E27FC236}">
                <a16:creationId xmlns:a16="http://schemas.microsoft.com/office/drawing/2014/main" id="{4A675F52-06E1-4343-8632-081B6B0D5592}"/>
              </a:ext>
            </a:extLst>
          </p:cNvPr>
          <p:cNvSpPr>
            <a:spLocks xmlns:a="http://schemas.openxmlformats.org/drawingml/2006/main" noGrp="1"/>
          </p:cNvSpPr>
          <p:nvPr/>
        </p:nvSpPr>
        <p:spPr>
          <a:xfrm xmlns:a="http://schemas.openxmlformats.org/drawingml/2006/main">
            <a:off x="876300" y="1695450"/>
            <a:ext cx="10429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3F6AA806-A616-44F3-A7EE-7258106C9008}"/>
              </a:ext>
            </a:extLst>
          </p:cNvPr>
          <p:cNvSpPr>
            <a:spLocks xmlns:a="http://schemas.openxmlformats.org/drawingml/2006/main" noGrp="1"/>
          </p:cNvSpPr>
          <p:nvPr/>
        </p:nvSpPr>
        <p:spPr>
          <a:xfrm xmlns:a="http://schemas.openxmlformats.org/drawingml/2006/main">
            <a:off x="1238250" y="1857375"/>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1" i="1">
                <a:solidFill>
                  <a:srgbClr val="33343F"/>
                </a:solidFill>
                <a:latin typeface="Arial"/>
                <a:ea typeface="Arial"/>
                <a:cs typeface="Arial"/>
              </a:defRPr>
            </a:pPr>
            <a:r>
              <a:rPr sz="1650" b="1" i="1">
                <a:solidFill>
                  <a:srgbClr val="33343F"/>
                </a:solidFill>
                <a:latin typeface="Arial"/>
                <a:ea typeface="Arial"/>
                <a:cs typeface="Arial"/>
              </a:rPr>
              <a:t>“Hmm, when the equation, circuit and graph agree, I can check myself. The English may be difficult, but the symbols give another way.”</a:t>
            </a:r>
          </a:p>
        </p:txBody>
      </p:sp>
      <p:sp>
        <p:nvSpPr>
          <p:cNvPr id="10" name="">
            <a:extLst xmlns:a="http://schemas.openxmlformats.org/drawingml/2006/main">
              <a:ext uri="{FF2B5EF4-FFF2-40B4-BE49-F238E27FC236}">
                <a16:creationId xmlns:a16="http://schemas.microsoft.com/office/drawing/2014/main" id="{C55691E7-A1D1-4254-B962-9E1E5AE0AB46}"/>
              </a:ext>
            </a:extLst>
          </p:cNvPr>
          <p:cNvSpPr>
            <a:spLocks xmlns:a="http://schemas.openxmlformats.org/drawingml/2006/main" noGrp="1"/>
          </p:cNvSpPr>
          <p:nvPr/>
        </p:nvSpPr>
        <p:spPr>
          <a:xfrm xmlns:a="http://schemas.openxmlformats.org/drawingml/2006/main">
            <a:off x="9239250" y="2095500"/>
            <a:ext cx="176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427"/>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MULTIMODAL VERIFICATION</a:t>
            </a:r>
          </a:p>
        </p:txBody>
      </p:sp>
      <p:sp>
        <p:nvSpPr>
          <p:cNvPr id="11" name="">
            <a:extLst xmlns:a="http://schemas.openxmlformats.org/drawingml/2006/main">
              <a:ext uri="{FF2B5EF4-FFF2-40B4-BE49-F238E27FC236}">
                <a16:creationId xmlns:a16="http://schemas.microsoft.com/office/drawing/2014/main" id="{ADB03D7A-FC42-47D3-8F49-A6F09597F403}"/>
              </a:ext>
            </a:extLst>
          </p:cNvPr>
          <p:cNvSpPr>
            <a:spLocks xmlns:a="http://schemas.openxmlformats.org/drawingml/2006/main" noGrp="1"/>
          </p:cNvSpPr>
          <p:nvPr/>
        </p:nvSpPr>
        <p:spPr>
          <a:xfrm xmlns:a="http://schemas.openxmlformats.org/drawingml/2006/main">
            <a:off x="876300" y="3028950"/>
            <a:ext cx="10429875" cy="1066800"/>
          </a:xfrm>
          <a:prstGeom xmlns:a="http://schemas.openxmlformats.org/drawingml/2006/main" prst="roundRect">
            <a:avLst>
              <a:gd name="adj" fmla="val 7143"/>
            </a:avLst>
          </a:prstGeom>
          <a:solidFill xmlns:a="http://schemas.openxmlformats.org/drawingml/2006/main">
            <a:srgbClr val="E6F0F5"/>
          </a:solidFill>
          <a:ln xmlns:a="http://schemas.openxmlformats.org/drawingml/2006/main" w="9525">
            <a:solidFill>
              <a:srgbClr val="C8C9D3"/>
            </a:solidFill>
          </a:ln>
        </p:spPr>
      </p:sp>
      <p:sp>
        <p:nvSpPr>
          <p:cNvPr id="12" name="">
            <a:extLst xmlns:a="http://schemas.openxmlformats.org/drawingml/2006/main">
              <a:ext uri="{FF2B5EF4-FFF2-40B4-BE49-F238E27FC236}">
                <a16:creationId xmlns:a16="http://schemas.microsoft.com/office/drawing/2014/main" id="{5828FBC5-B71D-47BD-9779-14224C5615F3}"/>
              </a:ext>
            </a:extLst>
          </p:cNvPr>
          <p:cNvSpPr>
            <a:spLocks xmlns:a="http://schemas.openxmlformats.org/drawingml/2006/main" noGrp="1"/>
          </p:cNvSpPr>
          <p:nvPr/>
        </p:nvSpPr>
        <p:spPr>
          <a:xfrm xmlns:a="http://schemas.openxmlformats.org/drawingml/2006/main">
            <a:off x="1238250" y="3190875"/>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1">
                <a:solidFill>
                  <a:srgbClr val="33343F"/>
                </a:solidFill>
                <a:latin typeface="Arial"/>
                <a:ea typeface="Arial"/>
                <a:cs typeface="Arial"/>
              </a:defRPr>
            </a:pPr>
            <a:r>
              <a:rPr sz="1650" b="0" i="1">
                <a:solidFill>
                  <a:srgbClr val="33343F"/>
                </a:solidFill>
                <a:latin typeface="Arial"/>
                <a:ea typeface="Arial"/>
                <a:cs typeface="Arial"/>
              </a:rPr>
              <a:t>“The law is stable, yes, but one missing label changes the whole calculation. I need the figure to tell me which quantity is which.”</a:t>
            </a:r>
          </a:p>
        </p:txBody>
      </p:sp>
      <p:sp>
        <p:nvSpPr>
          <p:cNvPr id="13" name="">
            <a:extLst xmlns:a="http://schemas.openxmlformats.org/drawingml/2006/main">
              <a:ext uri="{FF2B5EF4-FFF2-40B4-BE49-F238E27FC236}">
                <a16:creationId xmlns:a16="http://schemas.microsoft.com/office/drawing/2014/main" id="{AE30C129-449C-4F56-B19A-5FF42A5B969A}"/>
              </a:ext>
            </a:extLst>
          </p:cNvPr>
          <p:cNvSpPr>
            <a:spLocks xmlns:a="http://schemas.openxmlformats.org/drawingml/2006/main" noGrp="1"/>
          </p:cNvSpPr>
          <p:nvPr/>
        </p:nvSpPr>
        <p:spPr>
          <a:xfrm xmlns:a="http://schemas.openxmlformats.org/drawingml/2006/main">
            <a:off x="9239250" y="3429000"/>
            <a:ext cx="176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04"/>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PRECISION THROUGH LABELS</a:t>
            </a:r>
          </a:p>
        </p:txBody>
      </p:sp>
      <p:sp>
        <p:nvSpPr>
          <p:cNvPr id="14" name="">
            <a:extLst xmlns:a="http://schemas.openxmlformats.org/drawingml/2006/main">
              <a:ext uri="{FF2B5EF4-FFF2-40B4-BE49-F238E27FC236}">
                <a16:creationId xmlns:a16="http://schemas.microsoft.com/office/drawing/2014/main" id="{04B1A5F5-C5B1-46AE-B51C-5A176838597A}"/>
              </a:ext>
            </a:extLst>
          </p:cNvPr>
          <p:cNvSpPr>
            <a:spLocks xmlns:a="http://schemas.openxmlformats.org/drawingml/2006/main" noGrp="1"/>
          </p:cNvSpPr>
          <p:nvPr/>
        </p:nvSpPr>
        <p:spPr>
          <a:xfrm xmlns:a="http://schemas.openxmlformats.org/drawingml/2006/main">
            <a:off x="876300" y="4362450"/>
            <a:ext cx="10429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BC272537-13E7-4EC0-AE3D-1599198610A7}"/>
              </a:ext>
            </a:extLst>
          </p:cNvPr>
          <p:cNvSpPr>
            <a:spLocks xmlns:a="http://schemas.openxmlformats.org/drawingml/2006/main" noGrp="1"/>
          </p:cNvSpPr>
          <p:nvPr/>
        </p:nvSpPr>
        <p:spPr>
          <a:xfrm xmlns:a="http://schemas.openxmlformats.org/drawingml/2006/main">
            <a:off x="1238250" y="4524375"/>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1">
                <a:solidFill>
                  <a:srgbClr val="33343F"/>
                </a:solidFill>
                <a:latin typeface="Arial"/>
                <a:ea typeface="Arial"/>
                <a:cs typeface="Arial"/>
              </a:defRPr>
            </a:pPr>
            <a:r>
              <a:rPr sz="1650" b="0" i="1">
                <a:solidFill>
                  <a:srgbClr val="33343F"/>
                </a:solidFill>
                <a:latin typeface="Arial"/>
                <a:ea typeface="Arial"/>
                <a:cs typeface="Arial"/>
              </a:rPr>
              <a:t>“I could follow each equation separately. I lost why we moved from this step to the next. One sentence between them would help.”</a:t>
            </a:r>
          </a:p>
        </p:txBody>
      </p:sp>
      <p:sp>
        <p:nvSpPr>
          <p:cNvPr id="16" name="">
            <a:extLst xmlns:a="http://schemas.openxmlformats.org/drawingml/2006/main">
              <a:ext uri="{FF2B5EF4-FFF2-40B4-BE49-F238E27FC236}">
                <a16:creationId xmlns:a16="http://schemas.microsoft.com/office/drawing/2014/main" id="{0A548F4E-E27F-4CA4-B327-BC5BB535675D}"/>
              </a:ext>
            </a:extLst>
          </p:cNvPr>
          <p:cNvSpPr>
            <a:spLocks xmlns:a="http://schemas.openxmlformats.org/drawingml/2006/main" noGrp="1"/>
          </p:cNvSpPr>
          <p:nvPr/>
        </p:nvSpPr>
        <p:spPr>
          <a:xfrm xmlns:a="http://schemas.openxmlformats.org/drawingml/2006/main">
            <a:off x="9239250" y="4762500"/>
            <a:ext cx="176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CONCEPTUAL BRIDGE</a:t>
            </a:r>
          </a:p>
        </p:txBody>
      </p:sp>
      <p:sp>
        <p:nvSpPr>
          <p:cNvPr id="17" name="">
            <a:extLst xmlns:a="http://schemas.openxmlformats.org/drawingml/2006/main">
              <a:ext uri="{FF2B5EF4-FFF2-40B4-BE49-F238E27FC236}">
                <a16:creationId xmlns:a16="http://schemas.microsoft.com/office/drawing/2014/main" id="{C09348A6-A038-4276-8D26-773EE9AFE084}"/>
              </a:ext>
            </a:extLst>
          </p:cNvPr>
          <p:cNvSpPr>
            <a:spLocks xmlns:a="http://schemas.openxmlformats.org/drawingml/2006/main" noGrp="1"/>
          </p:cNvSpPr>
          <p:nvPr/>
        </p:nvSpPr>
        <p:spPr>
          <a:xfrm xmlns:a="http://schemas.openxmlformats.org/drawingml/2006/main">
            <a:off x="1381125" y="578167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518"/>
          </a:bodyPr>
          <a:lstStyle xmlns:a="http://schemas.openxmlformats.org/drawingml/2006/main"/>
          <a:p xmlns:a="http://schemas.openxmlformats.org/drawingml/2006/main">
            <a:pPr algn="ctr">
              <a:defRPr sz="1425" b="1" i="0">
                <a:solidFill>
                  <a:srgbClr val="B94D35"/>
                </a:solidFill>
                <a:latin typeface="Arial"/>
                <a:ea typeface="Arial"/>
                <a:cs typeface="Arial"/>
              </a:defRPr>
            </a:pPr>
            <a:r>
              <a:rPr sz="1425" b="1" i="0">
                <a:solidFill>
                  <a:srgbClr val="B94D35"/>
                </a:solidFill>
                <a:latin typeface="Arial"/>
                <a:ea typeface="Arial"/>
                <a:cs typeface="Arial"/>
              </a:rPr>
              <a:t>Interpretation: equations, figures and labels can modify input by confirming relationships, not merely decorating the page.</a:t>
            </a:r>
          </a:p>
        </p:txBody>
      </p:sp>
      <p:sp>
        <p:nvSpPr>
          <p:cNvPr id="18" name="">
            <a:extLst xmlns:a="http://schemas.openxmlformats.org/drawingml/2006/main">
              <a:ext uri="{FF2B5EF4-FFF2-40B4-BE49-F238E27FC236}">
                <a16:creationId xmlns:a16="http://schemas.microsoft.com/office/drawing/2014/main" id="{1A69CE97-A3BC-4896-A08F-597D5778E006}"/>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586B9DFC-BC53-4E98-9A9D-5B78FCCC9DDA}"/>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20" name="">
            <a:extLst xmlns:a="http://schemas.openxmlformats.org/drawingml/2006/main">
              <a:ext uri="{FF2B5EF4-FFF2-40B4-BE49-F238E27FC236}">
                <a16:creationId xmlns:a16="http://schemas.microsoft.com/office/drawing/2014/main" id="{D081E33E-B6A0-43F6-9C47-163755C496A2}"/>
              </a:ext>
            </a:extLst>
          </p:cNvPr>
          <p:cNvSpPr>
            <a:spLocks xmlns:a="http://schemas.openxmlformats.org/drawingml/2006/main" noGrp="1"/>
          </p:cNvSpPr>
          <p:nvPr/>
        </p:nvSpPr>
        <p:spPr>
          <a:xfrm xmlns:a="http://schemas.openxmlformats.org/drawingml/2006/main">
            <a:off x="2047875" y="65246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000"/>
          </a:bodyPr>
          <a:lstStyle xmlns:a="http://schemas.openxmlformats.org/drawingml/2006/main"/>
          <a:p xmlns:a="http://schemas.openxmlformats.org/drawingml/2006/main">
            <a:pPr algn="ctr">
              <a:defRPr sz="750" b="0" i="0">
                <a:solidFill>
                  <a:srgbClr val="626777"/>
                </a:solidFill>
                <a:latin typeface="Arial"/>
                <a:ea typeface="Arial"/>
                <a:cs typeface="Arial"/>
              </a:defRPr>
            </a:pPr>
            <a:r>
              <a:rPr sz="750" b="0" i="0">
                <a:solidFill>
                  <a:srgbClr val="626777"/>
                </a:solidFill>
                <a:latin typeface="Arial"/>
                <a:ea typeface="Arial"/>
                <a:cs typeface="Arial"/>
              </a:rPr>
              <a:t>Interview excerpts from the study</a:t>
            </a:r>
          </a:p>
        </p:txBody>
      </p:sp>
    </p:spTree>
    <p:extLst>
      <p:ext uri="{BB962C8B-B14F-4D97-AF65-F5344CB8AC3E}">
        <p14:creationId xmlns:p14="http://schemas.microsoft.com/office/powerpoint/2010/main" val="577257831"/>
      </p:ext>
    </p:extLst>
  </p:cSld>
</p:sld>
</file>

<file path=ppt/slides/slide1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1456F5E-39B2-4FA1-A69B-D862D61BC689}"/>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B94D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AE3E04-76B8-4A44-AD39-9DA6EF84AC82}"/>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
            <a:extLst xmlns:a="http://schemas.openxmlformats.org/drawingml/2006/main">
              <a:ext uri="{FF2B5EF4-FFF2-40B4-BE49-F238E27FC236}">
                <a16:creationId xmlns:a16="http://schemas.microsoft.com/office/drawing/2014/main" id="{49E1EACF-E33B-4C64-BAD1-5E2BDB4E6E6E}"/>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International Relations readers negotiated competing meanings</a:t>
            </a:r>
          </a:p>
        </p:txBody>
      </p:sp>
      <p:sp>
        <p:nvSpPr>
          <p:cNvPr id="4" name="">
            <a:extLst xmlns:a="http://schemas.openxmlformats.org/drawingml/2006/main">
              <a:ext uri="{FF2B5EF4-FFF2-40B4-BE49-F238E27FC236}">
                <a16:creationId xmlns:a16="http://schemas.microsoft.com/office/drawing/2014/main" id="{09642DE0-1209-48D3-AE2C-60E8C7AABBF1}"/>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EED4BD3E-EB8F-4DDD-A589-76DE6E680017}"/>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E469F34A-4B81-41A1-8691-28626C973636}"/>
              </a:ext>
            </a:extLst>
          </p:cNvPr>
          <p:cNvSpPr>
            <a:spLocks xmlns:a="http://schemas.openxmlformats.org/drawingml/2006/main" noGrp="1"/>
          </p:cNvSpPr>
          <p:nvPr/>
        </p:nvSpPr>
        <p:spPr>
          <a:xfrm xmlns:a="http://schemas.openxmlformats.org/drawingml/2006/main">
            <a:off x="9334500" y="381000"/>
            <a:ext cx="2190750" cy="266700"/>
          </a:xfrm>
          <a:prstGeom xmlns:a="http://schemas.openxmlformats.org/drawingml/2006/main" prst="roundRect">
            <a:avLst>
              <a:gd name="adj" fmla="val 28571"/>
            </a:avLst>
          </a:prstGeom>
          <a:solidFill xmlns:a="http://schemas.openxmlformats.org/drawingml/2006/main">
            <a:srgbClr val="D58C0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A53624-57B2-4511-B569-39D8AEE759EF}"/>
              </a:ext>
            </a:extLst>
          </p:cNvPr>
          <p:cNvSpPr>
            <a:spLocks xmlns:a="http://schemas.openxmlformats.org/drawingml/2006/main" noGrp="1"/>
          </p:cNvSpPr>
          <p:nvPr/>
        </p:nvSpPr>
        <p:spPr>
          <a:xfrm xmlns:a="http://schemas.openxmlformats.org/drawingml/2006/main">
            <a:off x="9410700" y="409575"/>
            <a:ext cx="2038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INTERVIEW EXCERPTS</a:t>
            </a:r>
          </a:p>
        </p:txBody>
      </p:sp>
      <p:sp>
        <p:nvSpPr>
          <p:cNvPr id="8" name="">
            <a:extLst xmlns:a="http://schemas.openxmlformats.org/drawingml/2006/main">
              <a:ext uri="{FF2B5EF4-FFF2-40B4-BE49-F238E27FC236}">
                <a16:creationId xmlns:a16="http://schemas.microsoft.com/office/drawing/2014/main" id="{9ACCF9BC-2DD1-4DA3-9581-1D9AC625D9E2}"/>
              </a:ext>
            </a:extLst>
          </p:cNvPr>
          <p:cNvSpPr>
            <a:spLocks xmlns:a="http://schemas.openxmlformats.org/drawingml/2006/main" noGrp="1"/>
          </p:cNvSpPr>
          <p:nvPr/>
        </p:nvSpPr>
        <p:spPr>
          <a:xfrm xmlns:a="http://schemas.openxmlformats.org/drawingml/2006/main">
            <a:off x="876300" y="1695450"/>
            <a:ext cx="10429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8CB5B4CA-BA5A-4FA0-8008-B228B2A8A31B}"/>
              </a:ext>
            </a:extLst>
          </p:cNvPr>
          <p:cNvSpPr>
            <a:spLocks xmlns:a="http://schemas.openxmlformats.org/drawingml/2006/main" noGrp="1"/>
          </p:cNvSpPr>
          <p:nvPr/>
        </p:nvSpPr>
        <p:spPr>
          <a:xfrm xmlns:a="http://schemas.openxmlformats.org/drawingml/2006/main">
            <a:off x="1238250" y="1857375"/>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1" i="1">
                <a:solidFill>
                  <a:srgbClr val="33343F"/>
                </a:solidFill>
                <a:latin typeface="Arial"/>
                <a:ea typeface="Arial"/>
                <a:cs typeface="Arial"/>
              </a:defRPr>
            </a:pPr>
            <a:r>
              <a:rPr sz="1650" b="1" i="1">
                <a:solidFill>
                  <a:srgbClr val="33343F"/>
                </a:solidFill>
                <a:latin typeface="Arial"/>
                <a:ea typeface="Arial"/>
                <a:cs typeface="Arial"/>
              </a:rPr>
              <a:t>“Power and security look like normal words, but each theory makes them different. I need the chapter to mark whose meaning I am reading.”</a:t>
            </a:r>
          </a:p>
        </p:txBody>
      </p:sp>
      <p:sp>
        <p:nvSpPr>
          <p:cNvPr id="10" name="">
            <a:extLst xmlns:a="http://schemas.openxmlformats.org/drawingml/2006/main">
              <a:ext uri="{FF2B5EF4-FFF2-40B4-BE49-F238E27FC236}">
                <a16:creationId xmlns:a16="http://schemas.microsoft.com/office/drawing/2014/main" id="{7621A5E2-188D-43C3-A668-0A114A748A37}"/>
              </a:ext>
            </a:extLst>
          </p:cNvPr>
          <p:cNvSpPr>
            <a:spLocks xmlns:a="http://schemas.openxmlformats.org/drawingml/2006/main" noGrp="1"/>
          </p:cNvSpPr>
          <p:nvPr/>
        </p:nvSpPr>
        <p:spPr>
          <a:xfrm xmlns:a="http://schemas.openxmlformats.org/drawingml/2006/main">
            <a:off x="9239250" y="2095500"/>
            <a:ext cx="176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TERM OWNERSHIP</a:t>
            </a:r>
          </a:p>
        </p:txBody>
      </p:sp>
      <p:sp>
        <p:nvSpPr>
          <p:cNvPr id="11" name="">
            <a:extLst xmlns:a="http://schemas.openxmlformats.org/drawingml/2006/main">
              <a:ext uri="{FF2B5EF4-FFF2-40B4-BE49-F238E27FC236}">
                <a16:creationId xmlns:a16="http://schemas.microsoft.com/office/drawing/2014/main" id="{0C2428AD-2435-4BF6-BBE2-9A8FA1C6146F}"/>
              </a:ext>
            </a:extLst>
          </p:cNvPr>
          <p:cNvSpPr>
            <a:spLocks xmlns:a="http://schemas.openxmlformats.org/drawingml/2006/main" noGrp="1"/>
          </p:cNvSpPr>
          <p:nvPr/>
        </p:nvSpPr>
        <p:spPr>
          <a:xfrm xmlns:a="http://schemas.openxmlformats.org/drawingml/2006/main">
            <a:off x="876300" y="3028950"/>
            <a:ext cx="10429875" cy="1066800"/>
          </a:xfrm>
          <a:prstGeom xmlns:a="http://schemas.openxmlformats.org/drawingml/2006/main" prst="roundRect">
            <a:avLst>
              <a:gd name="adj" fmla="val 7143"/>
            </a:avLst>
          </a:prstGeom>
          <a:solidFill xmlns:a="http://schemas.openxmlformats.org/drawingml/2006/main">
            <a:srgbClr val="FFF4D8"/>
          </a:solidFill>
          <a:ln xmlns:a="http://schemas.openxmlformats.org/drawingml/2006/main" w="9525">
            <a:solidFill>
              <a:srgbClr val="C8C9D3"/>
            </a:solidFill>
          </a:ln>
        </p:spPr>
      </p:sp>
      <p:sp>
        <p:nvSpPr>
          <p:cNvPr id="12" name="">
            <a:extLst xmlns:a="http://schemas.openxmlformats.org/drawingml/2006/main">
              <a:ext uri="{FF2B5EF4-FFF2-40B4-BE49-F238E27FC236}">
                <a16:creationId xmlns:a16="http://schemas.microsoft.com/office/drawing/2014/main" id="{248F6FAA-0BD5-430F-AE80-942D05441498}"/>
              </a:ext>
            </a:extLst>
          </p:cNvPr>
          <p:cNvSpPr>
            <a:spLocks xmlns:a="http://schemas.openxmlformats.org/drawingml/2006/main" noGrp="1"/>
          </p:cNvSpPr>
          <p:nvPr/>
        </p:nvSpPr>
        <p:spPr>
          <a:xfrm xmlns:a="http://schemas.openxmlformats.org/drawingml/2006/main">
            <a:off x="1238250" y="3190875"/>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1">
                <a:solidFill>
                  <a:srgbClr val="33343F"/>
                </a:solidFill>
                <a:latin typeface="Arial"/>
                <a:ea typeface="Arial"/>
                <a:cs typeface="Arial"/>
              </a:defRPr>
            </a:pPr>
            <a:r>
              <a:rPr sz="1650" b="0" i="1">
                <a:solidFill>
                  <a:srgbClr val="33343F"/>
                </a:solidFill>
                <a:latin typeface="Arial"/>
                <a:ea typeface="Arial"/>
                <a:cs typeface="Arial"/>
              </a:rPr>
              <a:t>“Uh, the example was clear, but I could not see whether it supported realism or criticised it. The relationship was not signalled.”</a:t>
            </a:r>
          </a:p>
        </p:txBody>
      </p:sp>
      <p:sp>
        <p:nvSpPr>
          <p:cNvPr id="13" name="">
            <a:extLst xmlns:a="http://schemas.openxmlformats.org/drawingml/2006/main">
              <a:ext uri="{FF2B5EF4-FFF2-40B4-BE49-F238E27FC236}">
                <a16:creationId xmlns:a16="http://schemas.microsoft.com/office/drawing/2014/main" id="{97474E8F-0B82-4B90-8DC1-ECAEB07C5C07}"/>
              </a:ext>
            </a:extLst>
          </p:cNvPr>
          <p:cNvSpPr>
            <a:spLocks xmlns:a="http://schemas.openxmlformats.org/drawingml/2006/main" noGrp="1"/>
          </p:cNvSpPr>
          <p:nvPr/>
        </p:nvSpPr>
        <p:spPr>
          <a:xfrm xmlns:a="http://schemas.openxmlformats.org/drawingml/2006/main">
            <a:off x="9239250" y="3429000"/>
            <a:ext cx="176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RHETORICAL RELATION</a:t>
            </a:r>
          </a:p>
        </p:txBody>
      </p:sp>
      <p:sp>
        <p:nvSpPr>
          <p:cNvPr id="14" name="">
            <a:extLst xmlns:a="http://schemas.openxmlformats.org/drawingml/2006/main">
              <a:ext uri="{FF2B5EF4-FFF2-40B4-BE49-F238E27FC236}">
                <a16:creationId xmlns:a16="http://schemas.microsoft.com/office/drawing/2014/main" id="{910DA722-92BE-483A-9171-64F2247EDD71}"/>
              </a:ext>
            </a:extLst>
          </p:cNvPr>
          <p:cNvSpPr>
            <a:spLocks xmlns:a="http://schemas.openxmlformats.org/drawingml/2006/main" noGrp="1"/>
          </p:cNvSpPr>
          <p:nvPr/>
        </p:nvSpPr>
        <p:spPr>
          <a:xfrm xmlns:a="http://schemas.openxmlformats.org/drawingml/2006/main">
            <a:off x="876300" y="4362450"/>
            <a:ext cx="1042987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0226820A-99EC-413E-8863-19C35BE16E5A}"/>
              </a:ext>
            </a:extLst>
          </p:cNvPr>
          <p:cNvSpPr>
            <a:spLocks xmlns:a="http://schemas.openxmlformats.org/drawingml/2006/main" noGrp="1"/>
          </p:cNvSpPr>
          <p:nvPr/>
        </p:nvSpPr>
        <p:spPr>
          <a:xfrm xmlns:a="http://schemas.openxmlformats.org/drawingml/2006/main">
            <a:off x="1238250" y="4524375"/>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0" i="1">
                <a:solidFill>
                  <a:srgbClr val="33343F"/>
                </a:solidFill>
                <a:latin typeface="Arial"/>
                <a:ea typeface="Arial"/>
                <a:cs typeface="Arial"/>
              </a:defRPr>
            </a:pPr>
            <a:r>
              <a:rPr sz="1650" b="0" i="1">
                <a:solidFill>
                  <a:srgbClr val="33343F"/>
                </a:solidFill>
                <a:latin typeface="Arial"/>
                <a:ea typeface="Arial"/>
                <a:cs typeface="Arial"/>
              </a:rPr>
              <a:t>“A comparison table helps me start, but it cannot replace the explanation because theories overlap and authors disagree.”</a:t>
            </a:r>
          </a:p>
        </p:txBody>
      </p:sp>
      <p:sp>
        <p:nvSpPr>
          <p:cNvPr id="16" name="">
            <a:extLst xmlns:a="http://schemas.openxmlformats.org/drawingml/2006/main">
              <a:ext uri="{FF2B5EF4-FFF2-40B4-BE49-F238E27FC236}">
                <a16:creationId xmlns:a16="http://schemas.microsoft.com/office/drawing/2014/main" id="{34EA838A-AE8D-4220-9605-1ED272A0D08B}"/>
              </a:ext>
            </a:extLst>
          </p:cNvPr>
          <p:cNvSpPr>
            <a:spLocks xmlns:a="http://schemas.openxmlformats.org/drawingml/2006/main" noGrp="1"/>
          </p:cNvSpPr>
          <p:nvPr/>
        </p:nvSpPr>
        <p:spPr>
          <a:xfrm xmlns:a="http://schemas.openxmlformats.org/drawingml/2006/main">
            <a:off x="9239250" y="4762500"/>
            <a:ext cx="176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85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QUALIFIED VISUAL SUPPORT</a:t>
            </a:r>
          </a:p>
        </p:txBody>
      </p:sp>
      <p:sp>
        <p:nvSpPr>
          <p:cNvPr id="17" name="">
            <a:extLst xmlns:a="http://schemas.openxmlformats.org/drawingml/2006/main">
              <a:ext uri="{FF2B5EF4-FFF2-40B4-BE49-F238E27FC236}">
                <a16:creationId xmlns:a16="http://schemas.microsoft.com/office/drawing/2014/main" id="{6473C665-265E-4A59-A12A-A3DB2DF01695}"/>
              </a:ext>
            </a:extLst>
          </p:cNvPr>
          <p:cNvSpPr>
            <a:spLocks xmlns:a="http://schemas.openxmlformats.org/drawingml/2006/main" noGrp="1"/>
          </p:cNvSpPr>
          <p:nvPr/>
        </p:nvSpPr>
        <p:spPr>
          <a:xfrm xmlns:a="http://schemas.openxmlformats.org/drawingml/2006/main">
            <a:off x="1285875" y="5781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608"/>
          </a:bodyPr>
          <a:lstStyle xmlns:a="http://schemas.openxmlformats.org/drawingml/2006/main"/>
          <a:p xmlns:a="http://schemas.openxmlformats.org/drawingml/2006/main">
            <a:pPr algn="ctr">
              <a:defRPr sz="1425" b="1" i="0">
                <a:solidFill>
                  <a:srgbClr val="B94D35"/>
                </a:solidFill>
                <a:latin typeface="Arial"/>
                <a:ea typeface="Arial"/>
                <a:cs typeface="Arial"/>
              </a:defRPr>
            </a:pPr>
            <a:r>
              <a:rPr sz="1425" b="1" i="0">
                <a:solidFill>
                  <a:srgbClr val="B94D35"/>
                </a:solidFill>
                <a:latin typeface="Arial"/>
                <a:ea typeface="Arial"/>
                <a:cs typeface="Arial"/>
              </a:rPr>
              <a:t>Interpretation: support must expose perspective, qualification and comparison without presenting contested concepts as fixed facts.</a:t>
            </a:r>
          </a:p>
        </p:txBody>
      </p:sp>
      <p:sp>
        <p:nvSpPr>
          <p:cNvPr id="18" name="">
            <a:extLst xmlns:a="http://schemas.openxmlformats.org/drawingml/2006/main">
              <a:ext uri="{FF2B5EF4-FFF2-40B4-BE49-F238E27FC236}">
                <a16:creationId xmlns:a16="http://schemas.microsoft.com/office/drawing/2014/main" id="{93F77E32-2C47-491A-BF94-E1A36D8A601D}"/>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8E0069D9-A761-4E11-994B-744C53AF00D6}"/>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
        <p:nvSpPr>
          <p:cNvPr id="20" name="">
            <a:extLst xmlns:a="http://schemas.openxmlformats.org/drawingml/2006/main">
              <a:ext uri="{FF2B5EF4-FFF2-40B4-BE49-F238E27FC236}">
                <a16:creationId xmlns:a16="http://schemas.microsoft.com/office/drawing/2014/main" id="{22AE4605-E093-45C2-A410-09698229E4A3}"/>
              </a:ext>
            </a:extLst>
          </p:cNvPr>
          <p:cNvSpPr>
            <a:spLocks xmlns:a="http://schemas.openxmlformats.org/drawingml/2006/main" noGrp="1"/>
          </p:cNvSpPr>
          <p:nvPr/>
        </p:nvSpPr>
        <p:spPr>
          <a:xfrm xmlns:a="http://schemas.openxmlformats.org/drawingml/2006/main">
            <a:off x="2047875" y="652462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000"/>
          </a:bodyPr>
          <a:lstStyle xmlns:a="http://schemas.openxmlformats.org/drawingml/2006/main"/>
          <a:p xmlns:a="http://schemas.openxmlformats.org/drawingml/2006/main">
            <a:pPr algn="ctr">
              <a:defRPr sz="750" b="0" i="0">
                <a:solidFill>
                  <a:srgbClr val="626777"/>
                </a:solidFill>
                <a:latin typeface="Arial"/>
                <a:ea typeface="Arial"/>
                <a:cs typeface="Arial"/>
              </a:defRPr>
            </a:pPr>
            <a:r>
              <a:rPr sz="750" b="0" i="0">
                <a:solidFill>
                  <a:srgbClr val="626777"/>
                </a:solidFill>
                <a:latin typeface="Arial"/>
                <a:ea typeface="Arial"/>
                <a:cs typeface="Arial"/>
              </a:rPr>
              <a:t>Interview excerpts from the study</a:t>
            </a:r>
          </a:p>
        </p:txBody>
      </p:sp>
    </p:spTree>
    <p:extLst>
      <p:ext uri="{BB962C8B-B14F-4D97-AF65-F5344CB8AC3E}">
        <p14:creationId xmlns:p14="http://schemas.microsoft.com/office/powerpoint/2010/main" val="1817437259"/>
      </p:ext>
    </p:extLst>
  </p:cSld>
</p:sld>
</file>

<file path=ppt/slides/slide1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58392F1-B085-431C-A9F5-C5A12ECE9596}"/>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B94D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CBAD3E-364E-44D0-9CEC-57CD7E8BF402}"/>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
            <a:extLst xmlns:a="http://schemas.openxmlformats.org/drawingml/2006/main">
              <a:ext uri="{FF2B5EF4-FFF2-40B4-BE49-F238E27FC236}">
                <a16:creationId xmlns:a16="http://schemas.microsoft.com/office/drawing/2014/main" id="{96588063-AFDA-45DE-8389-82141C1C5B38}"/>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Disciplinary difference changes the form of useful support</a:t>
            </a:r>
          </a:p>
        </p:txBody>
      </p:sp>
      <p:sp>
        <p:nvSpPr>
          <p:cNvPr id="4" name="">
            <a:extLst xmlns:a="http://schemas.openxmlformats.org/drawingml/2006/main">
              <a:ext uri="{FF2B5EF4-FFF2-40B4-BE49-F238E27FC236}">
                <a16:creationId xmlns:a16="http://schemas.microsoft.com/office/drawing/2014/main" id="{4A808664-421A-45D5-8E7D-A60647E6B7C1}"/>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57C12E4F-ED99-4CE9-922B-3B746C433C30}"/>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DA9A781C-5C1E-4492-817E-A7A9A6E9D612}"/>
              </a:ext>
            </a:extLst>
          </p:cNvPr>
          <p:cNvSpPr>
            <a:spLocks xmlns:a="http://schemas.openxmlformats.org/drawingml/2006/main" noGrp="1"/>
          </p:cNvSpPr>
          <p:nvPr/>
        </p:nvSpPr>
        <p:spPr>
          <a:xfrm xmlns:a="http://schemas.openxmlformats.org/drawingml/2006/main">
            <a:off x="809625" y="1790700"/>
            <a:ext cx="4905375" cy="3333750"/>
          </a:xfrm>
          <a:prstGeom xmlns:a="http://schemas.openxmlformats.org/drawingml/2006/main" prst="roundRect">
            <a:avLst>
              <a:gd name="adj" fmla="val 2286"/>
            </a:avLst>
          </a:prstGeom>
          <a:solidFill xmlns:a="http://schemas.openxmlformats.org/drawingml/2006/main">
            <a:srgbClr val="123B5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89B9A15-CF12-43BE-8020-EB669F18C159}"/>
              </a:ext>
            </a:extLst>
          </p:cNvPr>
          <p:cNvSpPr>
            <a:spLocks xmlns:a="http://schemas.openxmlformats.org/drawingml/2006/main" noGrp="1"/>
          </p:cNvSpPr>
          <p:nvPr/>
        </p:nvSpPr>
        <p:spPr>
          <a:xfrm xmlns:a="http://schemas.openxmlformats.org/drawingml/2006/main">
            <a:off x="1143000" y="20955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ELECTRICAL ENGINEERING</a:t>
            </a:r>
          </a:p>
        </p:txBody>
      </p:sp>
      <p:sp>
        <p:nvSpPr>
          <p:cNvPr id="8" name="">
            <a:extLst xmlns:a="http://schemas.openxmlformats.org/drawingml/2006/main">
              <a:ext uri="{FF2B5EF4-FFF2-40B4-BE49-F238E27FC236}">
                <a16:creationId xmlns:a16="http://schemas.microsoft.com/office/drawing/2014/main" id="{33E76BD9-A077-486F-8280-204BC7777F9E}"/>
              </a:ext>
            </a:extLst>
          </p:cNvPr>
          <p:cNvSpPr>
            <a:spLocks xmlns:a="http://schemas.openxmlformats.org/drawingml/2006/main" noGrp="1"/>
          </p:cNvSpPr>
          <p:nvPr/>
        </p:nvSpPr>
        <p:spPr>
          <a:xfrm xmlns:a="http://schemas.openxmlformats.org/drawingml/2006/main">
            <a:off x="1143000" y="257175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281"/>
          </a:bodyPr>
          <a:lstStyle xmlns:a="http://schemas.openxmlformats.org/drawingml/2006/main"/>
          <a:p xmlns:a="http://schemas.openxmlformats.org/drawingml/2006/main">
            <a:pPr algn="l">
              <a:defRPr sz="1800" b="1" i="0">
                <a:solidFill>
                  <a:srgbClr val="FFFFFF"/>
                </a:solidFill>
                <a:latin typeface="Arial"/>
                <a:ea typeface="Arial"/>
                <a:cs typeface="Arial"/>
              </a:defRPr>
            </a:pPr>
            <a:r>
              <a:rPr sz="1800" b="1" i="0">
                <a:solidFill>
                  <a:srgbClr val="FFFFFF"/>
                </a:solidFill>
                <a:latin typeface="Arial"/>
                <a:ea typeface="Arial"/>
                <a:cs typeface="Arial"/>
              </a:rPr>
              <a:t>Meaning often travels across prose, formulae, diagrams and worked procedures.</a:t>
            </a:r>
          </a:p>
        </p:txBody>
      </p:sp>
      <p:sp>
        <p:nvSpPr>
          <p:cNvPr id="9" name="">
            <a:extLst xmlns:a="http://schemas.openxmlformats.org/drawingml/2006/main">
              <a:ext uri="{FF2B5EF4-FFF2-40B4-BE49-F238E27FC236}">
                <a16:creationId xmlns:a16="http://schemas.microsoft.com/office/drawing/2014/main" id="{87DA93A4-CEA5-4FCF-B71F-4E98AC2F9899}"/>
              </a:ext>
            </a:extLst>
          </p:cNvPr>
          <p:cNvSpPr>
            <a:spLocks xmlns:a="http://schemas.openxmlformats.org/drawingml/2006/main" noGrp="1"/>
          </p:cNvSpPr>
          <p:nvPr/>
        </p:nvSpPr>
        <p:spPr>
          <a:xfrm xmlns:a="http://schemas.openxmlformats.org/drawingml/2006/main">
            <a:off x="1143000" y="3476625"/>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i="0">
                <a:solidFill>
                  <a:srgbClr val="FFFFFF"/>
                </a:solidFill>
                <a:latin typeface="Arial"/>
                <a:ea typeface="Arial"/>
                <a:cs typeface="Arial"/>
              </a:defRPr>
            </a:pPr>
            <a:r>
              <a:rPr sz="1500" b="0" i="0">
                <a:solidFill>
                  <a:srgbClr val="FFFFFF"/>
                </a:solidFill>
                <a:latin typeface="Arial"/>
                <a:ea typeface="Arial"/>
                <a:cs typeface="Arial"/>
              </a:rPr>
              <a:t>Stable symbol systems and testable relations can give readers an additional route to check meaning.</a:t>
            </a:r>
          </a:p>
        </p:txBody>
      </p:sp>
      <p:sp>
        <p:nvSpPr>
          <p:cNvPr id="10" name="">
            <a:extLst xmlns:a="http://schemas.openxmlformats.org/drawingml/2006/main">
              <a:ext uri="{FF2B5EF4-FFF2-40B4-BE49-F238E27FC236}">
                <a16:creationId xmlns:a16="http://schemas.microsoft.com/office/drawing/2014/main" id="{2E002A25-8296-401B-AE59-8404D3324792}"/>
              </a:ext>
            </a:extLst>
          </p:cNvPr>
          <p:cNvSpPr>
            <a:spLocks xmlns:a="http://schemas.openxmlformats.org/drawingml/2006/main" noGrp="1"/>
          </p:cNvSpPr>
          <p:nvPr/>
        </p:nvSpPr>
        <p:spPr>
          <a:xfrm xmlns:a="http://schemas.openxmlformats.org/drawingml/2006/main">
            <a:off x="1143000" y="4476750"/>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574"/>
          </a:bodyPr>
          <a:lstStyle xmlns:a="http://schemas.openxmlformats.org/drawingml/2006/main"/>
          <a:p xmlns:a="http://schemas.openxmlformats.org/drawingml/2006/main">
            <a:pPr algn="l">
              <a:defRPr sz="1350" b="1" i="0">
                <a:solidFill>
                  <a:srgbClr val="78A9C0"/>
                </a:solidFill>
                <a:latin typeface="Arial"/>
                <a:ea typeface="Arial"/>
                <a:cs typeface="Arial"/>
              </a:defRPr>
            </a:pPr>
            <a:r>
              <a:rPr sz="1350" b="1" i="0">
                <a:solidFill>
                  <a:srgbClr val="78A9C0"/>
                </a:solidFill>
                <a:latin typeface="Arial"/>
                <a:ea typeface="Arial"/>
                <a:cs typeface="Arial"/>
              </a:rPr>
              <a:t>Risk: a missing label, assumption or bridge can obstruct the entire procedure.</a:t>
            </a:r>
          </a:p>
        </p:txBody>
      </p:sp>
      <p:sp>
        <p:nvSpPr>
          <p:cNvPr id="11" name="">
            <a:extLst xmlns:a="http://schemas.openxmlformats.org/drawingml/2006/main">
              <a:ext uri="{FF2B5EF4-FFF2-40B4-BE49-F238E27FC236}">
                <a16:creationId xmlns:a16="http://schemas.microsoft.com/office/drawing/2014/main" id="{4F014A61-CD93-47F6-80DA-19F47181F372}"/>
              </a:ext>
            </a:extLst>
          </p:cNvPr>
          <p:cNvSpPr>
            <a:spLocks xmlns:a="http://schemas.openxmlformats.org/drawingml/2006/main" noGrp="1"/>
          </p:cNvSpPr>
          <p:nvPr/>
        </p:nvSpPr>
        <p:spPr>
          <a:xfrm xmlns:a="http://schemas.openxmlformats.org/drawingml/2006/main">
            <a:off x="6477000" y="1790700"/>
            <a:ext cx="4905375"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C8C9D3"/>
            </a:solidFill>
          </a:ln>
        </p:spPr>
      </p:sp>
      <p:sp>
        <p:nvSpPr>
          <p:cNvPr id="12" name="">
            <a:extLst xmlns:a="http://schemas.openxmlformats.org/drawingml/2006/main">
              <a:ext uri="{FF2B5EF4-FFF2-40B4-BE49-F238E27FC236}">
                <a16:creationId xmlns:a16="http://schemas.microsoft.com/office/drawing/2014/main" id="{6273DE49-B385-4FF6-866C-A36FE4D5E576}"/>
              </a:ext>
            </a:extLst>
          </p:cNvPr>
          <p:cNvSpPr>
            <a:spLocks xmlns:a="http://schemas.openxmlformats.org/drawingml/2006/main" noGrp="1"/>
          </p:cNvSpPr>
          <p:nvPr/>
        </p:nvSpPr>
        <p:spPr>
          <a:xfrm xmlns:a="http://schemas.openxmlformats.org/drawingml/2006/main">
            <a:off x="6810375" y="2095500"/>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INTERNATIONAL RELATIONS</a:t>
            </a:r>
          </a:p>
        </p:txBody>
      </p:sp>
      <p:sp>
        <p:nvSpPr>
          <p:cNvPr id="13" name="">
            <a:extLst xmlns:a="http://schemas.openxmlformats.org/drawingml/2006/main">
              <a:ext uri="{FF2B5EF4-FFF2-40B4-BE49-F238E27FC236}">
                <a16:creationId xmlns:a16="http://schemas.microsoft.com/office/drawing/2014/main" id="{5FB2E579-8681-4410-A638-0B1E374BAE11}"/>
              </a:ext>
            </a:extLst>
          </p:cNvPr>
          <p:cNvSpPr>
            <a:spLocks xmlns:a="http://schemas.openxmlformats.org/drawingml/2006/main" noGrp="1"/>
          </p:cNvSpPr>
          <p:nvPr/>
        </p:nvSpPr>
        <p:spPr>
          <a:xfrm xmlns:a="http://schemas.openxmlformats.org/drawingml/2006/main">
            <a:off x="6810375" y="257175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1800" b="1" i="0">
                <a:solidFill>
                  <a:srgbClr val="33343F"/>
                </a:solidFill>
                <a:latin typeface="Arial"/>
                <a:ea typeface="Arial"/>
                <a:cs typeface="Arial"/>
              </a:defRPr>
            </a:pPr>
            <a:r>
              <a:rPr sz="1800" b="1" i="0">
                <a:solidFill>
                  <a:srgbClr val="33343F"/>
                </a:solidFill>
                <a:latin typeface="Arial"/>
                <a:ea typeface="Arial"/>
                <a:cs typeface="Arial"/>
              </a:rPr>
              <a:t>Meaning often depends on theoretical perspective, historical context and qualified argument.</a:t>
            </a:r>
          </a:p>
        </p:txBody>
      </p:sp>
      <p:sp>
        <p:nvSpPr>
          <p:cNvPr id="14" name="">
            <a:extLst xmlns:a="http://schemas.openxmlformats.org/drawingml/2006/main">
              <a:ext uri="{FF2B5EF4-FFF2-40B4-BE49-F238E27FC236}">
                <a16:creationId xmlns:a16="http://schemas.microsoft.com/office/drawing/2014/main" id="{102357C7-B218-4DF0-8083-4B8C8D080CF2}"/>
              </a:ext>
            </a:extLst>
          </p:cNvPr>
          <p:cNvSpPr>
            <a:spLocks xmlns:a="http://schemas.openxmlformats.org/drawingml/2006/main" noGrp="1"/>
          </p:cNvSpPr>
          <p:nvPr/>
        </p:nvSpPr>
        <p:spPr>
          <a:xfrm xmlns:a="http://schemas.openxmlformats.org/drawingml/2006/main">
            <a:off x="6810375" y="3476625"/>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i="0">
                <a:solidFill>
                  <a:srgbClr val="626777"/>
                </a:solidFill>
                <a:latin typeface="Arial"/>
                <a:ea typeface="Arial"/>
                <a:cs typeface="Arial"/>
              </a:defRPr>
            </a:pPr>
            <a:r>
              <a:rPr sz="1500" b="0" i="0">
                <a:solidFill>
                  <a:srgbClr val="626777"/>
                </a:solidFill>
                <a:latin typeface="Arial"/>
                <a:ea typeface="Arial"/>
                <a:cs typeface="Arial"/>
              </a:rPr>
              <a:t>Everyday words may become contested disciplinary concepts whose meaning changes across theories.</a:t>
            </a:r>
          </a:p>
        </p:txBody>
      </p:sp>
      <p:sp>
        <p:nvSpPr>
          <p:cNvPr id="15" name="">
            <a:extLst xmlns:a="http://schemas.openxmlformats.org/drawingml/2006/main">
              <a:ext uri="{FF2B5EF4-FFF2-40B4-BE49-F238E27FC236}">
                <a16:creationId xmlns:a16="http://schemas.microsoft.com/office/drawing/2014/main" id="{CA3AAD37-3FE5-496E-9BD2-8DF77C91DE27}"/>
              </a:ext>
            </a:extLst>
          </p:cNvPr>
          <p:cNvSpPr>
            <a:spLocks xmlns:a="http://schemas.openxmlformats.org/drawingml/2006/main" noGrp="1"/>
          </p:cNvSpPr>
          <p:nvPr/>
        </p:nvSpPr>
        <p:spPr>
          <a:xfrm xmlns:a="http://schemas.openxmlformats.org/drawingml/2006/main">
            <a:off x="6810375" y="4476750"/>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574"/>
          </a:bodyPr>
          <a:lstStyle xmlns:a="http://schemas.openxmlformats.org/drawingml/2006/main"/>
          <a:p xmlns:a="http://schemas.openxmlformats.org/drawingml/2006/main">
            <a:pPr algn="l">
              <a:defRPr sz="1350" b="1" i="0">
                <a:solidFill>
                  <a:srgbClr val="D58C00"/>
                </a:solidFill>
                <a:latin typeface="Arial"/>
                <a:ea typeface="Arial"/>
                <a:cs typeface="Arial"/>
              </a:defRPr>
            </a:pPr>
            <a:r>
              <a:rPr sz="1350" b="1" i="0">
                <a:solidFill>
                  <a:srgbClr val="D58C00"/>
                </a:solidFill>
                <a:latin typeface="Arial"/>
                <a:ea typeface="Arial"/>
                <a:cs typeface="Arial"/>
              </a:rPr>
              <a:t>Risk: a table can clarify comparison but may erase overlap, disagreement or uncertainty.</a:t>
            </a:r>
          </a:p>
        </p:txBody>
      </p:sp>
      <p:sp>
        <p:nvSpPr>
          <p:cNvPr id="16" name="">
            <a:extLst xmlns:a="http://schemas.openxmlformats.org/drawingml/2006/main">
              <a:ext uri="{FF2B5EF4-FFF2-40B4-BE49-F238E27FC236}">
                <a16:creationId xmlns:a16="http://schemas.microsoft.com/office/drawing/2014/main" id="{63AF55BD-2FCD-4E5E-BA31-98BF424F48D9}"/>
              </a:ext>
            </a:extLst>
          </p:cNvPr>
          <p:cNvSpPr>
            <a:spLocks xmlns:a="http://schemas.openxmlformats.org/drawingml/2006/main" noGrp="1"/>
          </p:cNvSpPr>
          <p:nvPr/>
        </p:nvSpPr>
        <p:spPr>
          <a:xfrm xmlns:a="http://schemas.openxmlformats.org/drawingml/2006/main">
            <a:off x="1524000" y="5581650"/>
            <a:ext cx="914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237"/>
          </a:bodyPr>
          <a:lstStyle xmlns:a="http://schemas.openxmlformats.org/drawingml/2006/main"/>
          <a:p xmlns:a="http://schemas.openxmlformats.org/drawingml/2006/main">
            <a:pPr algn="ctr">
              <a:defRPr sz="1725" b="1" i="0">
                <a:solidFill>
                  <a:srgbClr val="B94D35"/>
                </a:solidFill>
                <a:latin typeface="Arial"/>
                <a:ea typeface="Arial"/>
                <a:cs typeface="Arial"/>
              </a:defRPr>
            </a:pPr>
            <a:r>
              <a:rPr sz="1725" b="1" i="0">
                <a:solidFill>
                  <a:srgbClr val="B94D35"/>
                </a:solidFill>
                <a:latin typeface="Arial"/>
                <a:ea typeface="Arial"/>
                <a:cs typeface="Arial"/>
              </a:rPr>
              <a:t>The framework therefore evaluates disciplinary fit rather than assuming one universal modification recipe.</a:t>
            </a:r>
          </a:p>
        </p:txBody>
      </p:sp>
      <p:sp>
        <p:nvSpPr>
          <p:cNvPr id="17" name="">
            <a:extLst xmlns:a="http://schemas.openxmlformats.org/drawingml/2006/main">
              <a:ext uri="{FF2B5EF4-FFF2-40B4-BE49-F238E27FC236}">
                <a16:creationId xmlns:a16="http://schemas.microsoft.com/office/drawing/2014/main" id="{CDAFBA51-6BD3-4E41-B7BE-4CA44DEB0437}"/>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Mauranen et al., 2016, p. 50; disciplinary application is a MIWAE inference</a:t>
            </a:r>
          </a:p>
        </p:txBody>
      </p:sp>
      <p:sp>
        <p:nvSpPr>
          <p:cNvPr id="18" name="">
            <a:extLst xmlns:a="http://schemas.openxmlformats.org/drawingml/2006/main">
              <a:ext uri="{FF2B5EF4-FFF2-40B4-BE49-F238E27FC236}">
                <a16:creationId xmlns:a16="http://schemas.microsoft.com/office/drawing/2014/main" id="{968D8912-4104-41B2-8315-FD9E94AA3F22}"/>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7FE960A7-5E36-45B8-A787-030D296FC49E}"/>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959447808"/>
      </p:ext>
    </p:extLst>
  </p:cSld>
</p:sld>
</file>

<file path=ppt/slides/slide1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59D8CE-F9DC-45F3-B681-062603C32A93}"/>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B94D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1557F7-3098-4073-8D14-A9864EA361E9}"/>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
            <a:extLst xmlns:a="http://schemas.openxmlformats.org/drawingml/2006/main">
              <a:ext uri="{FF2B5EF4-FFF2-40B4-BE49-F238E27FC236}">
                <a16:creationId xmlns:a16="http://schemas.microsoft.com/office/drawing/2014/main" id="{54586828-5977-4F8F-BBC0-B4B88716EDDC}"/>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Located textbook examples across the seven functions</a:t>
            </a:r>
          </a:p>
        </p:txBody>
      </p:sp>
      <p:sp>
        <p:nvSpPr>
          <p:cNvPr id="4" name="">
            <a:extLst xmlns:a="http://schemas.openxmlformats.org/drawingml/2006/main">
              <a:ext uri="{FF2B5EF4-FFF2-40B4-BE49-F238E27FC236}">
                <a16:creationId xmlns:a16="http://schemas.microsoft.com/office/drawing/2014/main" id="{DAA99AD5-D343-4BED-9FF5-DFA6085DF0FE}"/>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36E87DE5-BB8F-4915-A1D9-A6F511DFECED}"/>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18</a:t>
            </a:r>
          </a:p>
        </p:txBody>
      </p:sp>
      <p:graphicFrame>
        <p:nvGraphicFramePr>
          <p:cNvPr id="15" name=""/>
          <p:cNvGraphicFramePr/>
          <p:nvPr/>
        </p:nvGraphicFramePr>
        <p:xfrm>
          <a:off xmlns:a="http://schemas.openxmlformats.org/drawingml/2006/main" x="590550" y="1581150"/>
          <a:ext xmlns:a="http://schemas.openxmlformats.org/drawingml/2006/main" cx="11049000" cy="4457700"/>
        </p:xfrm>
        <a:graphic xmlns:a="http://schemas.openxmlformats.org/drawingml/2006/main">
          <a:graphicData uri="http://schemas.openxmlformats.org/drawingml/2006/table">
            <a:tbl>
              <a:tblPr/>
              <a:tblGrid>
                <a:gridCol w="2095500"/>
                <a:gridCol w="2333625"/>
                <a:gridCol w="3286125"/>
                <a:gridCol w="3333750"/>
              </a:tblGrid>
              <a:tr h="428625">
                <a:tc>
                  <a:txBody>
                    <a:bodyPr/>
                    <a:lstStyle/>
                    <a:p>
                      <a:r>
                        <a:rPr sz="1125" b="1">
                          <a:solidFill>
                            <a:srgbClr val="FFFFFF"/>
                          </a:solidFill>
                          <a:latin typeface="Arial"/>
                          <a:ea typeface="Arial"/>
                          <a:cs typeface="Arial"/>
                        </a:rPr>
                        <a:t>Function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Book and location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Observable form</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Potential support</a:t>
                      </a:r>
                    </a:p>
                  </a:txBody>
                  <a:tcPr marL="95250" marR="95250" marT="76200" marB="66675" anchor="ctr">
                    <a:solidFill>
                      <a:srgbClr val="123B53"/>
                    </a:solidFill>
                  </a:tcPr>
                </a:tc>
              </a:tr>
              <a:tr h="571500">
                <a:tc>
                  <a:txBody>
                    <a:bodyPr/>
                    <a:lstStyle/>
                    <a:p>
                      <a:r>
                        <a:rPr sz="938" b="1">
                          <a:solidFill>
                            <a:srgbClr val="176082"/>
                          </a:solidFill>
                          <a:latin typeface="Arial"/>
                          <a:ea typeface="Arial"/>
                          <a:cs typeface="Arial"/>
                        </a:rPr>
                        <a:t>1  Meaning access</a:t>
                      </a:r>
                    </a:p>
                  </a:txBody>
                  <a:tcPr marL="95250" marR="95250" marT="66675" marB="66675" anchor="ctr">
                    <a:solidFill>
                      <a:srgbClr val="E6F0F5"/>
                    </a:solidFill>
                  </a:tcPr>
                </a:tc>
                <a:tc>
                  <a:txBody>
                    <a:bodyPr/>
                    <a:lstStyle/>
                    <a:p>
                      <a:r>
                        <a:rPr sz="938">
                          <a:solidFill>
                            <a:srgbClr val="33343F"/>
                          </a:solidFill>
                          <a:latin typeface="Arial"/>
                          <a:ea typeface="Arial"/>
                          <a:cs typeface="Arial"/>
                        </a:rPr>
                        <a:t>Goldstein, p. 66</a:t>
                      </a:r>
                    </a:p>
                  </a:txBody>
                  <a:tcPr marL="95250" marR="95250" marT="66675" marB="66675" anchor="ctr">
                    <a:solidFill>
                      <a:srgbClr val="FFFFFF"/>
                    </a:solidFill>
                  </a:tcPr>
                </a:tc>
                <a:tc>
                  <a:txBody>
                    <a:bodyPr/>
                    <a:lstStyle/>
                    <a:p>
                      <a:r>
                        <a:rPr sz="938">
                          <a:solidFill>
                            <a:srgbClr val="33343F"/>
                          </a:solidFill>
                          <a:latin typeface="Arial"/>
                          <a:ea typeface="Arial"/>
                          <a:cs typeface="Arial"/>
                        </a:rPr>
                        <a:t>Direct disciplinary definition of power</a:t>
                      </a:r>
                    </a:p>
                  </a:txBody>
                  <a:tcPr marL="95250" marR="95250" marT="66675" marB="66675" anchor="ctr">
                    <a:solidFill>
                      <a:srgbClr val="FFFFFF"/>
                    </a:solidFill>
                  </a:tcPr>
                </a:tc>
                <a:tc>
                  <a:txBody>
                    <a:bodyPr/>
                    <a:lstStyle/>
                    <a:p>
                      <a:r>
                        <a:rPr sz="938">
                          <a:solidFill>
                            <a:srgbClr val="33343F"/>
                          </a:solidFill>
                          <a:latin typeface="Arial"/>
                          <a:ea typeface="Arial"/>
                          <a:cs typeface="Arial"/>
                        </a:rPr>
                        <a:t>Scopes a familiar word</a:t>
                      </a:r>
                    </a:p>
                  </a:txBody>
                  <a:tcPr marL="95250" marR="95250" marT="66675" marB="66675" anchor="ctr">
                    <a:solidFill>
                      <a:srgbClr val="FFFFFF"/>
                    </a:solidFill>
                  </a:tcPr>
                </a:tc>
              </a:tr>
              <a:tr h="571500">
                <a:tc>
                  <a:txBody>
                    <a:bodyPr/>
                    <a:lstStyle/>
                    <a:p>
                      <a:r>
                        <a:rPr sz="938" b="1">
                          <a:solidFill>
                            <a:srgbClr val="176082"/>
                          </a:solidFill>
                          <a:latin typeface="Arial"/>
                          <a:ea typeface="Arial"/>
                          <a:cs typeface="Arial"/>
                        </a:rPr>
                        <a:t>2  Orientation</a:t>
                      </a:r>
                    </a:p>
                  </a:txBody>
                  <a:tcPr marL="95250" marR="95250" marT="66675" marB="66675" anchor="ctr">
                    <a:solidFill>
                      <a:srgbClr val="E6F0F5"/>
                    </a:solidFill>
                  </a:tcPr>
                </a:tc>
                <a:tc>
                  <a:txBody>
                    <a:bodyPr/>
                    <a:lstStyle/>
                    <a:p>
                      <a:r>
                        <a:rPr sz="938">
                          <a:solidFill>
                            <a:srgbClr val="33343F"/>
                          </a:solidFill>
                          <a:latin typeface="Arial"/>
                          <a:ea typeface="Arial"/>
                          <a:cs typeface="Arial"/>
                        </a:rPr>
                        <a:t>Baylis, p. 433</a:t>
                      </a:r>
                    </a:p>
                  </a:txBody>
                  <a:tcPr marL="95250" marR="95250" marT="66675" marB="66675" anchor="ctr">
                    <a:solidFill>
                      <a:srgbClr val="FFFFFF"/>
                    </a:solidFill>
                  </a:tcPr>
                </a:tc>
                <a:tc>
                  <a:txBody>
                    <a:bodyPr/>
                    <a:lstStyle/>
                    <a:p>
                      <a:r>
                        <a:rPr sz="938">
                          <a:solidFill>
                            <a:srgbClr val="33343F"/>
                          </a:solidFill>
                          <a:latin typeface="Arial"/>
                          <a:ea typeface="Arial"/>
                          <a:cs typeface="Arial"/>
                        </a:rPr>
                        <a:t>Reader’s Guide previews chapter purpose</a:t>
                      </a:r>
                    </a:p>
                  </a:txBody>
                  <a:tcPr marL="95250" marR="95250" marT="66675" marB="66675" anchor="ctr">
                    <a:solidFill>
                      <a:srgbClr val="FFFFFF"/>
                    </a:solidFill>
                  </a:tcPr>
                </a:tc>
                <a:tc>
                  <a:txBody>
                    <a:bodyPr/>
                    <a:lstStyle/>
                    <a:p>
                      <a:r>
                        <a:rPr sz="938">
                          <a:solidFill>
                            <a:srgbClr val="33343F"/>
                          </a:solidFill>
                          <a:latin typeface="Arial"/>
                          <a:ea typeface="Arial"/>
                          <a:cs typeface="Arial"/>
                        </a:rPr>
                        <a:t>Shows the route before detail</a:t>
                      </a:r>
                    </a:p>
                  </a:txBody>
                  <a:tcPr marL="95250" marR="95250" marT="66675" marB="66675" anchor="ctr">
                    <a:solidFill>
                      <a:srgbClr val="FFFFFF"/>
                    </a:solidFill>
                  </a:tcPr>
                </a:tc>
              </a:tr>
              <a:tr h="571500">
                <a:tc>
                  <a:txBody>
                    <a:bodyPr/>
                    <a:lstStyle/>
                    <a:p>
                      <a:r>
                        <a:rPr sz="938" b="1">
                          <a:solidFill>
                            <a:srgbClr val="176082"/>
                          </a:solidFill>
                          <a:latin typeface="Arial"/>
                          <a:ea typeface="Arial"/>
                          <a:cs typeface="Arial"/>
                        </a:rPr>
                        <a:t>3  Rhetorical relations</a:t>
                      </a:r>
                    </a:p>
                  </a:txBody>
                  <a:tcPr marL="95250" marR="95250" marT="66675" marB="66675" anchor="ctr">
                    <a:solidFill>
                      <a:srgbClr val="E6F0F5"/>
                    </a:solidFill>
                  </a:tcPr>
                </a:tc>
                <a:tc>
                  <a:txBody>
                    <a:bodyPr/>
                    <a:lstStyle/>
                    <a:p>
                      <a:r>
                        <a:rPr sz="938">
                          <a:solidFill>
                            <a:srgbClr val="33343F"/>
                          </a:solidFill>
                          <a:latin typeface="Arial"/>
                          <a:ea typeface="Arial"/>
                          <a:cs typeface="Arial"/>
                        </a:rPr>
                        <a:t>Sedra, p. 39</a:t>
                      </a:r>
                    </a:p>
                  </a:txBody>
                  <a:tcPr marL="95250" marR="95250" marT="66675" marB="66675" anchor="ctr">
                    <a:solidFill>
                      <a:srgbClr val="FFFFFF"/>
                    </a:solidFill>
                  </a:tcPr>
                </a:tc>
                <a:tc>
                  <a:txBody>
                    <a:bodyPr/>
                    <a:lstStyle/>
                    <a:p>
                      <a:r>
                        <a:rPr sz="938">
                          <a:solidFill>
                            <a:srgbClr val="33343F"/>
                          </a:solidFill>
                          <a:latin typeface="Arial"/>
                          <a:ea typeface="Arial"/>
                          <a:cs typeface="Arial"/>
                        </a:rPr>
                        <a:t>‘On the other hand’ marks a contrast</a:t>
                      </a:r>
                    </a:p>
                  </a:txBody>
                  <a:tcPr marL="95250" marR="95250" marT="66675" marB="66675" anchor="ctr">
                    <a:solidFill>
                      <a:srgbClr val="FFFFFF"/>
                    </a:solidFill>
                  </a:tcPr>
                </a:tc>
                <a:tc>
                  <a:txBody>
                    <a:bodyPr/>
                    <a:lstStyle/>
                    <a:p>
                      <a:r>
                        <a:rPr sz="938">
                          <a:solidFill>
                            <a:srgbClr val="33343F"/>
                          </a:solidFill>
                          <a:latin typeface="Arial"/>
                          <a:ea typeface="Arial"/>
                          <a:cs typeface="Arial"/>
                        </a:rPr>
                        <a:t>Makes a scope difference visible</a:t>
                      </a:r>
                    </a:p>
                  </a:txBody>
                  <a:tcPr marL="95250" marR="95250" marT="66675" marB="66675" anchor="ctr">
                    <a:solidFill>
                      <a:srgbClr val="FFFFFF"/>
                    </a:solidFill>
                  </a:tcPr>
                </a:tc>
              </a:tr>
              <a:tr h="571500">
                <a:tc>
                  <a:txBody>
                    <a:bodyPr/>
                    <a:lstStyle/>
                    <a:p>
                      <a:r>
                        <a:rPr sz="938" b="1">
                          <a:solidFill>
                            <a:srgbClr val="176082"/>
                          </a:solidFill>
                          <a:latin typeface="Arial"/>
                          <a:ea typeface="Arial"/>
                          <a:cs typeface="Arial"/>
                        </a:rPr>
                        <a:t>4  Background knowledge</a:t>
                      </a:r>
                    </a:p>
                  </a:txBody>
                  <a:tcPr marL="95250" marR="95250" marT="66675" marB="66675" anchor="ctr">
                    <a:solidFill>
                      <a:srgbClr val="E6F0F5"/>
                    </a:solidFill>
                  </a:tcPr>
                </a:tc>
                <a:tc>
                  <a:txBody>
                    <a:bodyPr/>
                    <a:lstStyle/>
                    <a:p>
                      <a:r>
                        <a:rPr sz="938">
                          <a:solidFill>
                            <a:srgbClr val="33343F"/>
                          </a:solidFill>
                          <a:latin typeface="Arial"/>
                          <a:ea typeface="Arial"/>
                          <a:cs typeface="Arial"/>
                        </a:rPr>
                        <a:t>Blanton, p. 278</a:t>
                      </a:r>
                    </a:p>
                  </a:txBody>
                  <a:tcPr marL="95250" marR="95250" marT="66675" marB="66675" anchor="ctr">
                    <a:solidFill>
                      <a:srgbClr val="FFFFFF"/>
                    </a:solidFill>
                  </a:tcPr>
                </a:tc>
                <a:tc>
                  <a:txBody>
                    <a:bodyPr/>
                    <a:lstStyle/>
                    <a:p>
                      <a:r>
                        <a:rPr sz="938">
                          <a:solidFill>
                            <a:srgbClr val="33343F"/>
                          </a:solidFill>
                          <a:latin typeface="Arial"/>
                          <a:ea typeface="Arial"/>
                          <a:cs typeface="Arial"/>
                        </a:rPr>
                        <a:t>Formal and familiar labels for drones</a:t>
                      </a:r>
                    </a:p>
                  </a:txBody>
                  <a:tcPr marL="95250" marR="95250" marT="66675" marB="66675" anchor="ctr">
                    <a:solidFill>
                      <a:srgbClr val="FFFFFF"/>
                    </a:solidFill>
                  </a:tcPr>
                </a:tc>
                <a:tc>
                  <a:txBody>
                    <a:bodyPr/>
                    <a:lstStyle/>
                    <a:p>
                      <a:r>
                        <a:rPr sz="938">
                          <a:solidFill>
                            <a:srgbClr val="33343F"/>
                          </a:solidFill>
                          <a:latin typeface="Arial"/>
                          <a:ea typeface="Arial"/>
                          <a:cs typeface="Arial"/>
                        </a:rPr>
                        <a:t>Connects new and shared knowledge</a:t>
                      </a:r>
                    </a:p>
                  </a:txBody>
                  <a:tcPr marL="95250" marR="95250" marT="66675" marB="66675" anchor="ctr">
                    <a:solidFill>
                      <a:srgbClr val="FFFFFF"/>
                    </a:solidFill>
                  </a:tcPr>
                </a:tc>
              </a:tr>
              <a:tr h="571500">
                <a:tc>
                  <a:txBody>
                    <a:bodyPr/>
                    <a:lstStyle/>
                    <a:p>
                      <a:r>
                        <a:rPr sz="938" b="1">
                          <a:solidFill>
                            <a:srgbClr val="176082"/>
                          </a:solidFill>
                          <a:latin typeface="Arial"/>
                          <a:ea typeface="Arial"/>
                          <a:cs typeface="Arial"/>
                        </a:rPr>
                        <a:t>5  Conceptual continuity</a:t>
                      </a:r>
                    </a:p>
                  </a:txBody>
                  <a:tcPr marL="95250" marR="95250" marT="66675" marB="66675" anchor="ctr">
                    <a:solidFill>
                      <a:srgbClr val="E6F0F5"/>
                    </a:solidFill>
                  </a:tcPr>
                </a:tc>
                <a:tc>
                  <a:txBody>
                    <a:bodyPr/>
                    <a:lstStyle/>
                    <a:p>
                      <a:r>
                        <a:rPr sz="938">
                          <a:solidFill>
                            <a:srgbClr val="33343F"/>
                          </a:solidFill>
                          <a:latin typeface="Arial"/>
                          <a:ea typeface="Arial"/>
                          <a:cs typeface="Arial"/>
                        </a:rPr>
                        <a:t>Hambley, p. 571</a:t>
                      </a:r>
                    </a:p>
                  </a:txBody>
                  <a:tcPr marL="95250" marR="95250" marT="66675" marB="66675" anchor="ctr">
                    <a:solidFill>
                      <a:srgbClr val="FFFFFF"/>
                    </a:solidFill>
                  </a:tcPr>
                </a:tc>
                <a:tc>
                  <a:txBody>
                    <a:bodyPr/>
                    <a:lstStyle/>
                    <a:p>
                      <a:r>
                        <a:rPr sz="938">
                          <a:solidFill>
                            <a:srgbClr val="33343F"/>
                          </a:solidFill>
                          <a:latin typeface="Arial"/>
                          <a:ea typeface="Arial"/>
                          <a:cs typeface="Arial"/>
                        </a:rPr>
                        <a:t>‘Recall from Section 2.6’</a:t>
                      </a:r>
                    </a:p>
                  </a:txBody>
                  <a:tcPr marL="95250" marR="95250" marT="66675" marB="66675" anchor="ctr">
                    <a:solidFill>
                      <a:srgbClr val="FFFFFF"/>
                    </a:solidFill>
                  </a:tcPr>
                </a:tc>
                <a:tc>
                  <a:txBody>
                    <a:bodyPr/>
                    <a:lstStyle/>
                    <a:p>
                      <a:r>
                        <a:rPr sz="938">
                          <a:solidFill>
                            <a:srgbClr val="33343F"/>
                          </a:solidFill>
                          <a:latin typeface="Arial"/>
                          <a:ea typeface="Arial"/>
                          <a:cs typeface="Arial"/>
                        </a:rPr>
                        <a:t>Reactivates a required method</a:t>
                      </a:r>
                    </a:p>
                  </a:txBody>
                  <a:tcPr marL="95250" marR="95250" marT="66675" marB="66675" anchor="ctr">
                    <a:solidFill>
                      <a:srgbClr val="FFFFFF"/>
                    </a:solidFill>
                  </a:tcPr>
                </a:tc>
              </a:tr>
              <a:tr h="571500">
                <a:tc>
                  <a:txBody>
                    <a:bodyPr/>
                    <a:lstStyle/>
                    <a:p>
                      <a:r>
                        <a:rPr sz="938" b="1">
                          <a:solidFill>
                            <a:srgbClr val="176082"/>
                          </a:solidFill>
                          <a:latin typeface="Arial"/>
                          <a:ea typeface="Arial"/>
                          <a:cs typeface="Arial"/>
                        </a:rPr>
                        <a:t>6  Reader engagement</a:t>
                      </a:r>
                    </a:p>
                  </a:txBody>
                  <a:tcPr marL="95250" marR="95250" marT="66675" marB="66675" anchor="ctr">
                    <a:solidFill>
                      <a:srgbClr val="E6F0F5"/>
                    </a:solidFill>
                  </a:tcPr>
                </a:tc>
                <a:tc>
                  <a:txBody>
                    <a:bodyPr/>
                    <a:lstStyle/>
                    <a:p>
                      <a:r>
                        <a:rPr sz="938">
                          <a:solidFill>
                            <a:srgbClr val="33343F"/>
                          </a:solidFill>
                          <a:latin typeface="Arial"/>
                          <a:ea typeface="Arial"/>
                          <a:cs typeface="Arial"/>
                        </a:rPr>
                        <a:t>Sedra, p. 90</a:t>
                      </a:r>
                    </a:p>
                  </a:txBody>
                  <a:tcPr marL="95250" marR="95250" marT="66675" marB="66675" anchor="ctr">
                    <a:solidFill>
                      <a:srgbClr val="FFFFFF"/>
                    </a:solidFill>
                  </a:tcPr>
                </a:tc>
                <a:tc>
                  <a:txBody>
                    <a:bodyPr/>
                    <a:lstStyle/>
                    <a:p>
                      <a:r>
                        <a:rPr sz="938">
                          <a:solidFill>
                            <a:srgbClr val="33343F"/>
                          </a:solidFill>
                          <a:latin typeface="Arial"/>
                          <a:ea typeface="Arial"/>
                          <a:cs typeface="Arial"/>
                        </a:rPr>
                        <a:t>Embedded exercise on op-amp terminals</a:t>
                      </a:r>
                    </a:p>
                  </a:txBody>
                  <a:tcPr marL="95250" marR="95250" marT="66675" marB="66675" anchor="ctr">
                    <a:solidFill>
                      <a:srgbClr val="FFFFFF"/>
                    </a:solidFill>
                  </a:tcPr>
                </a:tc>
                <a:tc>
                  <a:txBody>
                    <a:bodyPr/>
                    <a:lstStyle/>
                    <a:p>
                      <a:r>
                        <a:rPr sz="938">
                          <a:solidFill>
                            <a:srgbClr val="33343F"/>
                          </a:solidFill>
                          <a:latin typeface="Arial"/>
                          <a:ea typeface="Arial"/>
                          <a:cs typeface="Arial"/>
                        </a:rPr>
                        <a:t>Supports immediate self-checking</a:t>
                      </a:r>
                    </a:p>
                  </a:txBody>
                  <a:tcPr marL="95250" marR="95250" marT="66675" marB="66675" anchor="ctr">
                    <a:solidFill>
                      <a:srgbClr val="FFFFFF"/>
                    </a:solidFill>
                  </a:tcPr>
                </a:tc>
              </a:tr>
              <a:tr h="571500">
                <a:tc>
                  <a:txBody>
                    <a:bodyPr/>
                    <a:lstStyle/>
                    <a:p>
                      <a:r>
                        <a:rPr sz="938" b="1">
                          <a:solidFill>
                            <a:srgbClr val="176082"/>
                          </a:solidFill>
                          <a:latin typeface="Arial"/>
                          <a:ea typeface="Arial"/>
                          <a:cs typeface="Arial"/>
                        </a:rPr>
                        <a:t>7  Multimodal scaffolding</a:t>
                      </a:r>
                    </a:p>
                  </a:txBody>
                  <a:tcPr marL="95250" marR="95250" marT="66675" marB="66675" anchor="ctr">
                    <a:solidFill>
                      <a:srgbClr val="E6F0F5"/>
                    </a:solidFill>
                  </a:tcPr>
                </a:tc>
                <a:tc>
                  <a:txBody>
                    <a:bodyPr/>
                    <a:lstStyle/>
                    <a:p>
                      <a:r>
                        <a:rPr sz="938">
                          <a:solidFill>
                            <a:srgbClr val="33343F"/>
                          </a:solidFill>
                          <a:latin typeface="Arial"/>
                          <a:ea typeface="Arial"/>
                          <a:cs typeface="Arial"/>
                        </a:rPr>
                        <a:t>Sadiku, sampled chapters</a:t>
                      </a:r>
                    </a:p>
                  </a:txBody>
                  <a:tcPr marL="95250" marR="95250" marT="66675" marB="66675" anchor="ctr">
                    <a:solidFill>
                      <a:srgbClr val="FFFFFF"/>
                    </a:solidFill>
                  </a:tcPr>
                </a:tc>
                <a:tc>
                  <a:txBody>
                    <a:bodyPr/>
                    <a:lstStyle/>
                    <a:p>
                      <a:r>
                        <a:rPr sz="938">
                          <a:solidFill>
                            <a:srgbClr val="33343F"/>
                          </a:solidFill>
                          <a:latin typeface="Arial"/>
                          <a:ea typeface="Arial"/>
                          <a:cs typeface="Arial"/>
                        </a:rPr>
                        <a:t>Figure references with labelled circuit diagrams</a:t>
                      </a:r>
                    </a:p>
                  </a:txBody>
                  <a:tcPr marL="95250" marR="95250" marT="66675" marB="66675" anchor="ctr">
                    <a:solidFill>
                      <a:srgbClr val="FFFFFF"/>
                    </a:solidFill>
                  </a:tcPr>
                </a:tc>
                <a:tc>
                  <a:txBody>
                    <a:bodyPr/>
                    <a:lstStyle/>
                    <a:p>
                      <a:r>
                        <a:rPr sz="938">
                          <a:solidFill>
                            <a:srgbClr val="33343F"/>
                          </a:solidFill>
                          <a:latin typeface="Arial"/>
                          <a:ea typeface="Arial"/>
                          <a:cs typeface="Arial"/>
                        </a:rPr>
                        <a:t>Coordinates prose, symbols and visuals</a:t>
                      </a:r>
                    </a:p>
                  </a:txBody>
                  <a:tcPr marL="95250" marR="9525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37C4FA9-6579-40C3-B5DB-01FEDC10380D}"/>
              </a:ext>
            </a:extLst>
          </p:cNvPr>
          <p:cNvSpPr>
            <a:spLocks xmlns:a="http://schemas.openxmlformats.org/drawingml/2006/main" noGrp="1"/>
          </p:cNvSpPr>
          <p:nvPr/>
        </p:nvSpPr>
        <p:spPr>
          <a:xfrm xmlns:a="http://schemas.openxmlformats.org/drawingml/2006/main">
            <a:off x="1428750" y="6115050"/>
            <a:ext cx="933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4444"/>
          </a:bodyPr>
          <a:lstStyle xmlns:a="http://schemas.openxmlformats.org/drawingml/2006/main"/>
          <a:p xmlns:a="http://schemas.openxmlformats.org/drawingml/2006/main">
            <a:pPr algn="ctr">
              <a:defRPr sz="1125" b="1" i="0">
                <a:solidFill>
                  <a:srgbClr val="B94D35"/>
                </a:solidFill>
                <a:latin typeface="Arial"/>
                <a:ea typeface="Arial"/>
                <a:cs typeface="Arial"/>
              </a:defRPr>
            </a:pPr>
            <a:r>
              <a:rPr sz="1125" b="1" i="0">
                <a:solidFill>
                  <a:srgbClr val="B94D35"/>
                </a:solidFill>
                <a:latin typeface="Arial"/>
                <a:ea typeface="Arial"/>
                <a:cs typeface="Arial"/>
              </a:rPr>
              <a:t>Function is coded from local rhetorical purpose; form alone does not establish ELFA friendliness or distribution.</a:t>
            </a:r>
          </a:p>
        </p:txBody>
      </p:sp>
      <p:sp>
        <p:nvSpPr>
          <p:cNvPr id="8" name="">
            <a:extLst xmlns:a="http://schemas.openxmlformats.org/drawingml/2006/main">
              <a:ext uri="{FF2B5EF4-FFF2-40B4-BE49-F238E27FC236}">
                <a16:creationId xmlns:a16="http://schemas.microsoft.com/office/drawing/2014/main" id="{F1FF318D-13A7-4668-A625-96E480434819}"/>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14A92F96-CAD0-4E38-AF49-D5FECD9D10D3}"/>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062323038"/>
      </p:ext>
    </p:extLst>
  </p:cSld>
</p:sld>
</file>

<file path=ppt/slides/slide1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D47A797-59B7-4B22-B354-301BA8B4C35F}"/>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B94D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3098F3-8B87-4DB8-A742-4C20A6897A7D}"/>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
            <a:extLst xmlns:a="http://schemas.openxmlformats.org/drawingml/2006/main">
              <a:ext uri="{FF2B5EF4-FFF2-40B4-BE49-F238E27FC236}">
                <a16:creationId xmlns:a16="http://schemas.microsoft.com/office/drawing/2014/main" id="{F0E909E0-36C2-4B97-A9EC-28011DB00E95}"/>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Visual scaffolding varied sharply by discipline</a:t>
            </a:r>
          </a:p>
        </p:txBody>
      </p:sp>
      <p:sp>
        <p:nvSpPr>
          <p:cNvPr id="4" name="">
            <a:extLst xmlns:a="http://schemas.openxmlformats.org/drawingml/2006/main">
              <a:ext uri="{FF2B5EF4-FFF2-40B4-BE49-F238E27FC236}">
                <a16:creationId xmlns:a16="http://schemas.microsoft.com/office/drawing/2014/main" id="{026744B6-28E5-4679-AF86-FA5FB4AD4098}"/>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DEE883E2-4CDC-4532-B295-9B413025CFC4}"/>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545D27A6-7846-4B4D-8FBF-9967ABC9C8C5}"/>
              </a:ext>
            </a:extLst>
          </p:cNvPr>
          <p:cNvSpPr>
            <a:spLocks xmlns:a="http://schemas.openxmlformats.org/drawingml/2006/main" noGrp="1"/>
          </p:cNvSpPr>
          <p:nvPr/>
        </p:nvSpPr>
        <p:spPr>
          <a:xfrm xmlns:a="http://schemas.openxmlformats.org/drawingml/2006/main">
            <a:off x="742950" y="1581150"/>
            <a:ext cx="1952625" cy="266700"/>
          </a:xfrm>
          <a:prstGeom xmlns:a="http://schemas.openxmlformats.org/drawingml/2006/main" prst="roundRect">
            <a:avLst>
              <a:gd name="adj" fmla="val 28571"/>
            </a:avLst>
          </a:prstGeom>
          <a:solidFill xmlns:a="http://schemas.openxmlformats.org/drawingml/2006/main">
            <a:srgbClr val="D58C0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752AFB-665E-4BBA-91E8-E05B5C207E98}"/>
              </a:ext>
            </a:extLst>
          </p:cNvPr>
          <p:cNvSpPr>
            <a:spLocks xmlns:a="http://schemas.openxmlformats.org/drawingml/2006/main" noGrp="1"/>
          </p:cNvSpPr>
          <p:nvPr/>
        </p:nvSpPr>
        <p:spPr>
          <a:xfrm xmlns:a="http://schemas.openxmlformats.org/drawingml/2006/main">
            <a:off x="819150" y="1609725"/>
            <a:ext cx="1800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INTERVIEWS</a:t>
            </a:r>
          </a:p>
        </p:txBody>
      </p:sp>
      <p:sp>
        <p:nvSpPr>
          <p:cNvPr id="8" name="">
            <a:extLst xmlns:a="http://schemas.openxmlformats.org/drawingml/2006/main">
              <a:ext uri="{FF2B5EF4-FFF2-40B4-BE49-F238E27FC236}">
                <a16:creationId xmlns:a16="http://schemas.microsoft.com/office/drawing/2014/main" id="{F93700DB-CC1A-4967-A8E2-252BC3AE0F9F}"/>
              </a:ext>
            </a:extLst>
          </p:cNvPr>
          <p:cNvSpPr>
            <a:spLocks xmlns:a="http://schemas.openxmlformats.org/drawingml/2006/main" noGrp="1"/>
          </p:cNvSpPr>
          <p:nvPr/>
        </p:nvSpPr>
        <p:spPr>
          <a:xfrm xmlns:a="http://schemas.openxmlformats.org/drawingml/2006/main">
            <a:off x="6343650" y="1581150"/>
            <a:ext cx="1714500" cy="266700"/>
          </a:xfrm>
          <a:prstGeom xmlns:a="http://schemas.openxmlformats.org/drawingml/2006/main" prst="roundRect">
            <a:avLst>
              <a:gd name="adj" fmla="val 28571"/>
            </a:avLst>
          </a:prstGeom>
          <a:solidFill xmlns:a="http://schemas.openxmlformats.org/drawingml/2006/main">
            <a:srgbClr val="17608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EB2045A-99D7-4B7D-8D37-179C0CED85C8}"/>
              </a:ext>
            </a:extLst>
          </p:cNvPr>
          <p:cNvSpPr>
            <a:spLocks xmlns:a="http://schemas.openxmlformats.org/drawingml/2006/main" noGrp="1"/>
          </p:cNvSpPr>
          <p:nvPr/>
        </p:nvSpPr>
        <p:spPr>
          <a:xfrm xmlns:a="http://schemas.openxmlformats.org/drawingml/2006/main">
            <a:off x="6419850" y="1609725"/>
            <a:ext cx="1562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NINE FULL TEXTS</a:t>
            </a:r>
          </a:p>
        </p:txBody>
      </p:sp>
      <p:sp>
        <p:nvSpPr>
          <p:cNvPr id="10" name="">
            <a:extLst xmlns:a="http://schemas.openxmlformats.org/drawingml/2006/main">
              <a:ext uri="{FF2B5EF4-FFF2-40B4-BE49-F238E27FC236}">
                <a16:creationId xmlns:a16="http://schemas.microsoft.com/office/drawing/2014/main" id="{46A9A21E-EC33-4421-9B8E-1C94D1121A0D}"/>
              </a:ext>
            </a:extLst>
          </p:cNvPr>
          <p:cNvSpPr>
            <a:spLocks xmlns:a="http://schemas.openxmlformats.org/drawingml/2006/main" noGrp="1"/>
          </p:cNvSpPr>
          <p:nvPr/>
        </p:nvSpPr>
        <p:spPr>
          <a:xfrm xmlns:a="http://schemas.openxmlformats.org/drawingml/2006/main">
            <a:off x="742950" y="2028825"/>
            <a:ext cx="4762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B067473A-19AF-4000-A4CA-31869D612CA9}"/>
              </a:ext>
            </a:extLst>
          </p:cNvPr>
          <p:cNvSpPr>
            <a:spLocks xmlns:a="http://schemas.openxmlformats.org/drawingml/2006/main" noGrp="1"/>
          </p:cNvSpPr>
          <p:nvPr/>
        </p:nvSpPr>
        <p:spPr>
          <a:xfrm xmlns:a="http://schemas.openxmlformats.org/drawingml/2006/main">
            <a:off x="1143000" y="2428875"/>
            <a:ext cx="180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750" b="1" i="0">
                <a:solidFill>
                  <a:srgbClr val="176082"/>
                </a:solidFill>
                <a:latin typeface="Arial"/>
                <a:ea typeface="Arial"/>
                <a:cs typeface="Arial"/>
              </a:defRPr>
            </a:pPr>
            <a:r>
              <a:rPr sz="3750" b="1" i="0">
                <a:solidFill>
                  <a:srgbClr val="176082"/>
                </a:solidFill>
                <a:latin typeface="Arial"/>
                <a:ea typeface="Arial"/>
                <a:cs typeface="Arial"/>
              </a:rPr>
              <a:t>8 / 10</a:t>
            </a:r>
          </a:p>
        </p:txBody>
      </p:sp>
      <p:sp>
        <p:nvSpPr>
          <p:cNvPr id="12" name="">
            <a:extLst xmlns:a="http://schemas.openxmlformats.org/drawingml/2006/main">
              <a:ext uri="{FF2B5EF4-FFF2-40B4-BE49-F238E27FC236}">
                <a16:creationId xmlns:a16="http://schemas.microsoft.com/office/drawing/2014/main" id="{7BF20C06-2189-4744-BE98-2F46BBB13BF8}"/>
              </a:ext>
            </a:extLst>
          </p:cNvPr>
          <p:cNvSpPr>
            <a:spLocks xmlns:a="http://schemas.openxmlformats.org/drawingml/2006/main" noGrp="1"/>
          </p:cNvSpPr>
          <p:nvPr/>
        </p:nvSpPr>
        <p:spPr>
          <a:xfrm xmlns:a="http://schemas.openxmlformats.org/drawingml/2006/main">
            <a:off x="1143000" y="3257550"/>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1" i="0">
                <a:solidFill>
                  <a:srgbClr val="33343F"/>
                </a:solidFill>
                <a:latin typeface="Arial"/>
                <a:ea typeface="Arial"/>
                <a:cs typeface="Arial"/>
              </a:defRPr>
            </a:pPr>
            <a:r>
              <a:rPr sz="1725" b="1" i="0">
                <a:solidFill>
                  <a:srgbClr val="33343F"/>
                </a:solidFill>
                <a:latin typeface="Arial"/>
                <a:ea typeface="Arial"/>
                <a:cs typeface="Arial"/>
              </a:rPr>
              <a:t>EE interviewees named a graph, table, diagram or worked visual as helpful</a:t>
            </a:r>
          </a:p>
        </p:txBody>
      </p:sp>
      <p:sp>
        <p:nvSpPr>
          <p:cNvPr id="13" name="">
            <a:extLst xmlns:a="http://schemas.openxmlformats.org/drawingml/2006/main">
              <a:ext uri="{FF2B5EF4-FFF2-40B4-BE49-F238E27FC236}">
                <a16:creationId xmlns:a16="http://schemas.microsoft.com/office/drawing/2014/main" id="{0DA340BF-E4E8-4F48-AB11-D0135EE01BAD}"/>
              </a:ext>
            </a:extLst>
          </p:cNvPr>
          <p:cNvSpPr>
            <a:spLocks xmlns:a="http://schemas.openxmlformats.org/drawingml/2006/main" noGrp="1"/>
          </p:cNvSpPr>
          <p:nvPr/>
        </p:nvSpPr>
        <p:spPr>
          <a:xfrm xmlns:a="http://schemas.openxmlformats.org/drawingml/2006/main">
            <a:off x="1143000" y="445770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626777"/>
                </a:solidFill>
                <a:latin typeface="Arial"/>
                <a:ea typeface="Arial"/>
                <a:cs typeface="Arial"/>
              </a:defRPr>
            </a:pPr>
            <a:r>
              <a:rPr sz="1350" b="0" i="0">
                <a:solidFill>
                  <a:srgbClr val="626777"/>
                </a:solidFill>
                <a:latin typeface="Arial"/>
                <a:ea typeface="Arial"/>
                <a:cs typeface="Arial"/>
              </a:rPr>
              <a:t>0 / 10 IR interviewees did so spontaneously</a:t>
            </a:r>
          </a:p>
        </p:txBody>
      </p:sp>
      <p:graphicFrame>
        <p:nvGraphicFramePr>
          <p:cNvPr id="31" name="Chart"/>
          <p:cNvGraphicFramePr/>
          <p:nvPr/>
        </p:nvGraphicFramePr>
        <p:xfrm>
          <a:off xmlns:a="http://schemas.openxmlformats.org/drawingml/2006/main" x="6000750" y="1971675"/>
          <a:ext xmlns:a="http://schemas.openxmlformats.org/drawingml/2006/main" cx="5524500" cy="3476625"/>
        </p:xfrm>
        <a:graphic xmlns:a="http://schemas.openxmlformats.org/drawingml/2006/main">
          <a:graphicData uri="http://schemas.openxmlformats.org/drawingml/2006/chart">
            <c:chart xmlns:r="http://schemas.openxmlformats.org/officeDocument/2006/relationships" xmlns:c="http://schemas.openxmlformats.org/drawingml/2006/chart" r:id="Rc6b265337b4c4224"/>
          </a:graphicData>
        </a:graphic>
      </p:graphicFrame>
      <p:sp>
        <p:nvSpPr>
          <p:cNvPr id="15" name="">
            <a:extLst xmlns:a="http://schemas.openxmlformats.org/drawingml/2006/main">
              <a:ext uri="{FF2B5EF4-FFF2-40B4-BE49-F238E27FC236}">
                <a16:creationId xmlns:a16="http://schemas.microsoft.com/office/drawing/2014/main" id="{99E0042A-6109-4057-AF69-4F9A71BCC67E}"/>
              </a:ext>
            </a:extLst>
          </p:cNvPr>
          <p:cNvSpPr>
            <a:spLocks xmlns:a="http://schemas.openxmlformats.org/drawingml/2006/main" noGrp="1"/>
          </p:cNvSpPr>
          <p:nvPr/>
        </p:nvSpPr>
        <p:spPr>
          <a:xfrm xmlns:a="http://schemas.openxmlformats.org/drawingml/2006/main">
            <a:off x="1381125" y="5762625"/>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46"/>
          </a:bodyPr>
          <a:lstStyle xmlns:a="http://schemas.openxmlformats.org/drawingml/2006/main"/>
          <a:p xmlns:a="http://schemas.openxmlformats.org/drawingml/2006/main">
            <a:pPr algn="ctr">
              <a:defRPr sz="1425" b="1" i="0">
                <a:solidFill>
                  <a:srgbClr val="B94D35"/>
                </a:solidFill>
                <a:latin typeface="Arial"/>
                <a:ea typeface="Arial"/>
                <a:cs typeface="Arial"/>
              </a:defRPr>
            </a:pPr>
            <a:r>
              <a:rPr sz="1425" b="1" i="0">
                <a:solidFill>
                  <a:srgbClr val="B94D35"/>
                </a:solidFill>
                <a:latin typeface="Arial"/>
                <a:ea typeface="Arial"/>
                <a:cs typeface="Arial"/>
              </a:rPr>
              <a:t>The difference motivates a criterion. Figure references remain a proxy rather than a count of images.</a:t>
            </a:r>
          </a:p>
        </p:txBody>
      </p:sp>
      <p:sp>
        <p:nvSpPr>
          <p:cNvPr id="16" name="">
            <a:extLst xmlns:a="http://schemas.openxmlformats.org/drawingml/2006/main">
              <a:ext uri="{FF2B5EF4-FFF2-40B4-BE49-F238E27FC236}">
                <a16:creationId xmlns:a16="http://schemas.microsoft.com/office/drawing/2014/main" id="{EBBDB3C4-77DA-4F01-807C-5BB9723CFA71}"/>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17" name="">
            <a:extLst xmlns:a="http://schemas.openxmlformats.org/drawingml/2006/main">
              <a:ext uri="{FF2B5EF4-FFF2-40B4-BE49-F238E27FC236}">
                <a16:creationId xmlns:a16="http://schemas.microsoft.com/office/drawing/2014/main" id="{15CD1BFB-07BD-4F93-8B4F-3FFAB09FDEB1}"/>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827878749"/>
      </p:ext>
    </p:extLst>
  </p:cSld>
</p:sld>
</file>

<file path=ppt/slides/slide20.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D689AB4-0760-4236-98F7-18BEA299C694}"/>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B94D3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320781-C31C-4BF9-8582-5BC6CBA679F7}"/>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FINDINGS</a:t>
            </a:r>
          </a:p>
        </p:txBody>
      </p:sp>
      <p:sp>
        <p:nvSpPr>
          <p:cNvPr id="3" name="">
            <a:extLst xmlns:a="http://schemas.openxmlformats.org/drawingml/2006/main">
              <a:ext uri="{FF2B5EF4-FFF2-40B4-BE49-F238E27FC236}">
                <a16:creationId xmlns:a16="http://schemas.microsoft.com/office/drawing/2014/main" id="{82A8B8B5-E2D8-41C4-9857-4E35FFF851B1}"/>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IR prose carried more conventional readability burden</a:t>
            </a:r>
          </a:p>
        </p:txBody>
      </p:sp>
      <p:sp>
        <p:nvSpPr>
          <p:cNvPr id="4" name="">
            <a:extLst xmlns:a="http://schemas.openxmlformats.org/drawingml/2006/main">
              <a:ext uri="{FF2B5EF4-FFF2-40B4-BE49-F238E27FC236}">
                <a16:creationId xmlns:a16="http://schemas.microsoft.com/office/drawing/2014/main" id="{59880F47-892A-43CC-A471-137217E9BD84}"/>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438834E6-CD79-484D-8602-BC407E512061}"/>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56637998-525B-4EAF-AB5A-26B769947D04}"/>
              </a:ext>
            </a:extLst>
          </p:cNvPr>
          <p:cNvSpPr>
            <a:spLocks xmlns:a="http://schemas.openxmlformats.org/drawingml/2006/main" noGrp="1"/>
          </p:cNvSpPr>
          <p:nvPr/>
        </p:nvSpPr>
        <p:spPr>
          <a:xfrm xmlns:a="http://schemas.openxmlformats.org/drawingml/2006/main">
            <a:off x="9353550" y="381000"/>
            <a:ext cx="1952625" cy="266700"/>
          </a:xfrm>
          <a:prstGeom xmlns:a="http://schemas.openxmlformats.org/drawingml/2006/main" prst="roundRect">
            <a:avLst>
              <a:gd name="adj" fmla="val 28571"/>
            </a:avLst>
          </a:prstGeom>
          <a:solidFill xmlns:a="http://schemas.openxmlformats.org/drawingml/2006/main">
            <a:srgbClr val="17608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C63EFA3-256F-407D-961A-01316E9FDEAA}"/>
              </a:ext>
            </a:extLst>
          </p:cNvPr>
          <p:cNvSpPr>
            <a:spLocks xmlns:a="http://schemas.openxmlformats.org/drawingml/2006/main" noGrp="1"/>
          </p:cNvSpPr>
          <p:nvPr/>
        </p:nvSpPr>
        <p:spPr>
          <a:xfrm xmlns:a="http://schemas.openxmlformats.org/drawingml/2006/main">
            <a:off x="9429750" y="409575"/>
            <a:ext cx="1800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ctr">
              <a:defRPr sz="825" b="1" i="0">
                <a:solidFill>
                  <a:srgbClr val="FFFFFF"/>
                </a:solidFill>
                <a:latin typeface="Arial"/>
                <a:ea typeface="Arial"/>
                <a:cs typeface="Arial"/>
              </a:defRPr>
            </a:pPr>
            <a:r>
              <a:rPr sz="825" b="1" i="0">
                <a:solidFill>
                  <a:srgbClr val="FFFFFF"/>
                </a:solidFill>
                <a:latin typeface="Arial"/>
                <a:ea typeface="Arial"/>
                <a:cs typeface="Arial"/>
              </a:rPr>
              <a:t>50 MATCHED PASSAGES</a:t>
            </a:r>
          </a:p>
        </p:txBody>
      </p:sp>
      <p:sp>
        <p:nvSpPr>
          <p:cNvPr id="8" name="">
            <a:extLst xmlns:a="http://schemas.openxmlformats.org/drawingml/2006/main">
              <a:ext uri="{FF2B5EF4-FFF2-40B4-BE49-F238E27FC236}">
                <a16:creationId xmlns:a16="http://schemas.microsoft.com/office/drawing/2014/main" id="{E83DEC90-1488-4C88-85FD-581B8333D2DD}"/>
              </a:ext>
            </a:extLst>
          </p:cNvPr>
          <p:cNvSpPr>
            <a:spLocks xmlns:a="http://schemas.openxmlformats.org/drawingml/2006/main" noGrp="1"/>
          </p:cNvSpPr>
          <p:nvPr/>
        </p:nvSpPr>
        <p:spPr>
          <a:xfrm xmlns:a="http://schemas.openxmlformats.org/drawingml/2006/main">
            <a:off x="876300" y="15525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626777"/>
                </a:solidFill>
                <a:latin typeface="Arial"/>
                <a:ea typeface="Arial"/>
                <a:cs typeface="Arial"/>
              </a:defRPr>
            </a:pPr>
            <a:r>
              <a:rPr sz="1275" b="1" i="0">
                <a:solidFill>
                  <a:srgbClr val="626777"/>
                </a:solidFill>
                <a:latin typeface="Arial"/>
                <a:ea typeface="Arial"/>
                <a:cs typeface="Arial"/>
              </a:rPr>
              <a:t>Five books per field, five passages per book, 170–205 words, five page strata</a:t>
            </a:r>
          </a:p>
        </p:txBody>
      </p:sp>
      <p:graphicFrame>
        <p:nvGraphicFramePr>
          <p:cNvPr id="22" name=""/>
          <p:cNvGraphicFramePr/>
          <p:nvPr/>
        </p:nvGraphicFramePr>
        <p:xfrm>
          <a:off xmlns:a="http://schemas.openxmlformats.org/drawingml/2006/main" x="666750" y="1952625"/>
          <a:ext xmlns:a="http://schemas.openxmlformats.org/drawingml/2006/main" cx="10858500" cy="3714750"/>
        </p:xfrm>
        <a:graphic xmlns:a="http://schemas.openxmlformats.org/drawingml/2006/main">
          <a:graphicData uri="http://schemas.openxmlformats.org/drawingml/2006/table">
            <a:tbl>
              <a:tblPr/>
              <a:tblGrid>
                <a:gridCol w="3143250"/>
                <a:gridCol w="1809750"/>
                <a:gridCol w="1619250"/>
                <a:gridCol w="4286250"/>
              </a:tblGrid>
              <a:tr h="447675">
                <a:tc>
                  <a:txBody>
                    <a:bodyPr/>
                    <a:lstStyle/>
                    <a:p>
                      <a:r>
                        <a:rPr sz="1125" b="1">
                          <a:solidFill>
                            <a:srgbClr val="FFFFFF"/>
                          </a:solidFill>
                          <a:latin typeface="Arial"/>
                          <a:ea typeface="Arial"/>
                          <a:cs typeface="Arial"/>
                        </a:rPr>
                        <a:t>Metric</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Engineering mean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IR mean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Observed signal</a:t>
                      </a:r>
                    </a:p>
                  </a:txBody>
                  <a:tcPr marL="95250" marR="95250" marT="76200" marB="66675" anchor="ctr">
                    <a:solidFill>
                      <a:srgbClr val="123B53"/>
                    </a:solidFill>
                  </a:tcPr>
                </a:tc>
              </a:tr>
              <a:tr h="466725">
                <a:tc>
                  <a:txBody>
                    <a:bodyPr/>
                    <a:lstStyle/>
                    <a:p>
                      <a:r>
                        <a:rPr sz="1013" b="1">
                          <a:solidFill>
                            <a:srgbClr val="176082"/>
                          </a:solidFill>
                          <a:latin typeface="Arial"/>
                          <a:ea typeface="Arial"/>
                          <a:cs typeface="Arial"/>
                        </a:rPr>
                        <a:t>Flesch–Kincaid grade</a:t>
                      </a:r>
                    </a:p>
                  </a:txBody>
                  <a:tcPr marL="95250" marR="95250" marT="66675" marB="66675" anchor="ctr">
                    <a:solidFill>
                      <a:srgbClr val="E6F0F5"/>
                    </a:solidFill>
                  </a:tcPr>
                </a:tc>
                <a:tc>
                  <a:txBody>
                    <a:bodyPr/>
                    <a:lstStyle/>
                    <a:p>
                      <a:r>
                        <a:rPr sz="1013">
                          <a:solidFill>
                            <a:srgbClr val="33343F"/>
                          </a:solidFill>
                          <a:latin typeface="Arial"/>
                          <a:ea typeface="Arial"/>
                          <a:cs typeface="Arial"/>
                        </a:rPr>
                        <a:t>13.05</a:t>
                      </a:r>
                    </a:p>
                  </a:txBody>
                  <a:tcPr marL="95250" marR="95250" marT="66675" marB="66675" anchor="ctr">
                    <a:solidFill>
                      <a:srgbClr val="FFFFFF"/>
                    </a:solidFill>
                  </a:tcPr>
                </a:tc>
                <a:tc>
                  <a:txBody>
                    <a:bodyPr/>
                    <a:lstStyle/>
                    <a:p>
                      <a:r>
                        <a:rPr sz="1013">
                          <a:solidFill>
                            <a:srgbClr val="33343F"/>
                          </a:solidFill>
                          <a:latin typeface="Arial"/>
                          <a:ea typeface="Arial"/>
                          <a:cs typeface="Arial"/>
                        </a:rPr>
                        <a:t>14.98</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higher</a:t>
                      </a:r>
                    </a:p>
                  </a:txBody>
                  <a:tcPr marL="95250" marR="95250" marT="66675" marB="66675" anchor="ctr">
                    <a:solidFill>
                      <a:srgbClr val="FFFFFF"/>
                    </a:solidFill>
                  </a:tcPr>
                </a:tc>
              </a:tr>
              <a:tr h="466725">
                <a:tc>
                  <a:txBody>
                    <a:bodyPr/>
                    <a:lstStyle/>
                    <a:p>
                      <a:r>
                        <a:rPr sz="1013" b="1">
                          <a:solidFill>
                            <a:srgbClr val="176082"/>
                          </a:solidFill>
                          <a:latin typeface="Arial"/>
                          <a:ea typeface="Arial"/>
                          <a:cs typeface="Arial"/>
                        </a:rPr>
                        <a:t>Flesch reading ease</a:t>
                      </a:r>
                    </a:p>
                  </a:txBody>
                  <a:tcPr marL="95250" marR="95250" marT="66675" marB="66675" anchor="ctr">
                    <a:solidFill>
                      <a:srgbClr val="E6F0F5"/>
                    </a:solidFill>
                  </a:tcPr>
                </a:tc>
                <a:tc>
                  <a:txBody>
                    <a:bodyPr/>
                    <a:lstStyle/>
                    <a:p>
                      <a:r>
                        <a:rPr sz="1013">
                          <a:solidFill>
                            <a:srgbClr val="33343F"/>
                          </a:solidFill>
                          <a:latin typeface="Arial"/>
                          <a:ea typeface="Arial"/>
                          <a:cs typeface="Arial"/>
                        </a:rPr>
                        <a:t>40.86</a:t>
                      </a:r>
                    </a:p>
                  </a:txBody>
                  <a:tcPr marL="95250" marR="95250" marT="66675" marB="66675" anchor="ctr">
                    <a:solidFill>
                      <a:srgbClr val="FFFFFF"/>
                    </a:solidFill>
                  </a:tcPr>
                </a:tc>
                <a:tc>
                  <a:txBody>
                    <a:bodyPr/>
                    <a:lstStyle/>
                    <a:p>
                      <a:r>
                        <a:rPr sz="1013">
                          <a:solidFill>
                            <a:srgbClr val="33343F"/>
                          </a:solidFill>
                          <a:latin typeface="Arial"/>
                          <a:ea typeface="Arial"/>
                          <a:cs typeface="Arial"/>
                        </a:rPr>
                        <a:t>30.49</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lower, indicating harder prose</a:t>
                      </a:r>
                    </a:p>
                  </a:txBody>
                  <a:tcPr marL="95250" marR="95250" marT="66675" marB="66675" anchor="ctr">
                    <a:solidFill>
                      <a:srgbClr val="FFFFFF"/>
                    </a:solidFill>
                  </a:tcPr>
                </a:tc>
              </a:tr>
              <a:tr h="466725">
                <a:tc>
                  <a:txBody>
                    <a:bodyPr/>
                    <a:lstStyle/>
                    <a:p>
                      <a:r>
                        <a:rPr sz="1013" b="1">
                          <a:solidFill>
                            <a:srgbClr val="176082"/>
                          </a:solidFill>
                          <a:latin typeface="Arial"/>
                          <a:ea typeface="Arial"/>
                          <a:cs typeface="Arial"/>
                        </a:rPr>
                        <a:t>Gunning Fog</a:t>
                      </a:r>
                    </a:p>
                  </a:txBody>
                  <a:tcPr marL="95250" marR="95250" marT="66675" marB="66675" anchor="ctr">
                    <a:solidFill>
                      <a:srgbClr val="E6F0F5"/>
                    </a:solidFill>
                  </a:tcPr>
                </a:tc>
                <a:tc>
                  <a:txBody>
                    <a:bodyPr/>
                    <a:lstStyle/>
                    <a:p>
                      <a:r>
                        <a:rPr sz="1013">
                          <a:solidFill>
                            <a:srgbClr val="33343F"/>
                          </a:solidFill>
                          <a:latin typeface="Arial"/>
                          <a:ea typeface="Arial"/>
                          <a:cs typeface="Arial"/>
                        </a:rPr>
                        <a:t>16.47</a:t>
                      </a:r>
                    </a:p>
                  </a:txBody>
                  <a:tcPr marL="95250" marR="95250" marT="66675" marB="66675" anchor="ctr">
                    <a:solidFill>
                      <a:srgbClr val="FFFFFF"/>
                    </a:solidFill>
                  </a:tcPr>
                </a:tc>
                <a:tc>
                  <a:txBody>
                    <a:bodyPr/>
                    <a:lstStyle/>
                    <a:p>
                      <a:r>
                        <a:rPr sz="1013">
                          <a:solidFill>
                            <a:srgbClr val="33343F"/>
                          </a:solidFill>
                          <a:latin typeface="Arial"/>
                          <a:ea typeface="Arial"/>
                          <a:cs typeface="Arial"/>
                        </a:rPr>
                        <a:t>18.46</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higher</a:t>
                      </a:r>
                    </a:p>
                  </a:txBody>
                  <a:tcPr marL="95250" marR="95250" marT="66675" marB="66675" anchor="ctr">
                    <a:solidFill>
                      <a:srgbClr val="FFFFFF"/>
                    </a:solidFill>
                  </a:tcPr>
                </a:tc>
              </a:tr>
              <a:tr h="466725">
                <a:tc>
                  <a:txBody>
                    <a:bodyPr/>
                    <a:lstStyle/>
                    <a:p>
                      <a:r>
                        <a:rPr sz="1013" b="1">
                          <a:solidFill>
                            <a:srgbClr val="176082"/>
                          </a:solidFill>
                          <a:latin typeface="Arial"/>
                          <a:ea typeface="Arial"/>
                          <a:cs typeface="Arial"/>
                        </a:rPr>
                        <a:t>Average sentence length</a:t>
                      </a:r>
                    </a:p>
                  </a:txBody>
                  <a:tcPr marL="95250" marR="95250" marT="66675" marB="66675" anchor="ctr">
                    <a:solidFill>
                      <a:srgbClr val="E6F0F5"/>
                    </a:solidFill>
                  </a:tcPr>
                </a:tc>
                <a:tc>
                  <a:txBody>
                    <a:bodyPr/>
                    <a:lstStyle/>
                    <a:p>
                      <a:r>
                        <a:rPr sz="1013">
                          <a:solidFill>
                            <a:srgbClr val="33343F"/>
                          </a:solidFill>
                          <a:latin typeface="Arial"/>
                          <a:ea typeface="Arial"/>
                          <a:cs typeface="Arial"/>
                        </a:rPr>
                        <a:t>22.14</a:t>
                      </a:r>
                    </a:p>
                  </a:txBody>
                  <a:tcPr marL="95250" marR="95250" marT="66675" marB="66675" anchor="ctr">
                    <a:solidFill>
                      <a:srgbClr val="FFFFFF"/>
                    </a:solidFill>
                  </a:tcPr>
                </a:tc>
                <a:tc>
                  <a:txBody>
                    <a:bodyPr/>
                    <a:lstStyle/>
                    <a:p>
                      <a:r>
                        <a:rPr sz="1013">
                          <a:solidFill>
                            <a:srgbClr val="33343F"/>
                          </a:solidFill>
                          <a:latin typeface="Arial"/>
                          <a:ea typeface="Arial"/>
                          <a:cs typeface="Arial"/>
                        </a:rPr>
                        <a:t>24.08</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longer</a:t>
                      </a:r>
                    </a:p>
                  </a:txBody>
                  <a:tcPr marL="95250" marR="95250" marT="66675" marB="66675" anchor="ctr">
                    <a:solidFill>
                      <a:srgbClr val="FFFFFF"/>
                    </a:solidFill>
                  </a:tcPr>
                </a:tc>
              </a:tr>
              <a:tr h="466725">
                <a:tc>
                  <a:txBody>
                    <a:bodyPr/>
                    <a:lstStyle/>
                    <a:p>
                      <a:r>
                        <a:rPr sz="1013" b="1">
                          <a:solidFill>
                            <a:srgbClr val="176082"/>
                          </a:solidFill>
                          <a:latin typeface="Arial"/>
                          <a:ea typeface="Arial"/>
                          <a:cs typeface="Arial"/>
                        </a:rPr>
                        <a:t>Academic word tokens</a:t>
                      </a:r>
                    </a:p>
                  </a:txBody>
                  <a:tcPr marL="95250" marR="95250" marT="66675" marB="66675" anchor="ctr">
                    <a:solidFill>
                      <a:srgbClr val="E6F0F5"/>
                    </a:solidFill>
                  </a:tcPr>
                </a:tc>
                <a:tc>
                  <a:txBody>
                    <a:bodyPr/>
                    <a:lstStyle/>
                    <a:p>
                      <a:r>
                        <a:rPr sz="1013">
                          <a:solidFill>
                            <a:srgbClr val="33343F"/>
                          </a:solidFill>
                          <a:latin typeface="Arial"/>
                          <a:ea typeface="Arial"/>
                          <a:cs typeface="Arial"/>
                        </a:rPr>
                        <a:t>15.60%</a:t>
                      </a:r>
                    </a:p>
                  </a:txBody>
                  <a:tcPr marL="95250" marR="95250" marT="66675" marB="66675" anchor="ctr">
                    <a:solidFill>
                      <a:srgbClr val="FFFFFF"/>
                    </a:solidFill>
                  </a:tcPr>
                </a:tc>
                <a:tc>
                  <a:txBody>
                    <a:bodyPr/>
                    <a:lstStyle/>
                    <a:p>
                      <a:r>
                        <a:rPr sz="1013">
                          <a:solidFill>
                            <a:srgbClr val="33343F"/>
                          </a:solidFill>
                          <a:latin typeface="Arial"/>
                          <a:ea typeface="Arial"/>
                          <a:cs typeface="Arial"/>
                        </a:rPr>
                        <a:t>14.28%</a:t>
                      </a:r>
                    </a:p>
                  </a:txBody>
                  <a:tcPr marL="95250" marR="95250" marT="66675" marB="66675" anchor="ctr">
                    <a:solidFill>
                      <a:srgbClr val="FFFFFF"/>
                    </a:solidFill>
                  </a:tcPr>
                </a:tc>
                <a:tc>
                  <a:txBody>
                    <a:bodyPr/>
                    <a:lstStyle/>
                    <a:p>
                      <a:r>
                        <a:rPr sz="1013">
                          <a:solidFill>
                            <a:srgbClr val="33343F"/>
                          </a:solidFill>
                          <a:latin typeface="Arial"/>
                          <a:ea typeface="Arial"/>
                          <a:cs typeface="Arial"/>
                        </a:rPr>
                        <a:t>EE slightly higher</a:t>
                      </a:r>
                    </a:p>
                  </a:txBody>
                  <a:tcPr marL="95250" marR="95250" marT="66675" marB="66675" anchor="ctr">
                    <a:solidFill>
                      <a:srgbClr val="FFFFFF"/>
                    </a:solidFill>
                  </a:tcPr>
                </a:tc>
              </a:tr>
              <a:tr h="466725">
                <a:tc>
                  <a:txBody>
                    <a:bodyPr/>
                    <a:lstStyle/>
                    <a:p>
                      <a:r>
                        <a:rPr sz="1013" b="1">
                          <a:solidFill>
                            <a:srgbClr val="176082"/>
                          </a:solidFill>
                          <a:latin typeface="Arial"/>
                          <a:ea typeface="Arial"/>
                          <a:cs typeface="Arial"/>
                        </a:rPr>
                        <a:t>Lexical diversity, VOCD</a:t>
                      </a:r>
                    </a:p>
                  </a:txBody>
                  <a:tcPr marL="95250" marR="95250" marT="66675" marB="66675" anchor="ctr">
                    <a:solidFill>
                      <a:srgbClr val="E6F0F5"/>
                    </a:solidFill>
                  </a:tcPr>
                </a:tc>
                <a:tc>
                  <a:txBody>
                    <a:bodyPr/>
                    <a:lstStyle/>
                    <a:p>
                      <a:r>
                        <a:rPr sz="1013">
                          <a:solidFill>
                            <a:srgbClr val="33343F"/>
                          </a:solidFill>
                          <a:latin typeface="Arial"/>
                          <a:ea typeface="Arial"/>
                          <a:cs typeface="Arial"/>
                        </a:rPr>
                        <a:t>61.52</a:t>
                      </a:r>
                    </a:p>
                  </a:txBody>
                  <a:tcPr marL="95250" marR="95250" marT="66675" marB="66675" anchor="ctr">
                    <a:solidFill>
                      <a:srgbClr val="FFFFFF"/>
                    </a:solidFill>
                  </a:tcPr>
                </a:tc>
                <a:tc>
                  <a:txBody>
                    <a:bodyPr/>
                    <a:lstStyle/>
                    <a:p>
                      <a:r>
                        <a:rPr sz="1013">
                          <a:solidFill>
                            <a:srgbClr val="33343F"/>
                          </a:solidFill>
                          <a:latin typeface="Arial"/>
                          <a:ea typeface="Arial"/>
                          <a:cs typeface="Arial"/>
                        </a:rPr>
                        <a:t>99.95</a:t>
                      </a:r>
                    </a:p>
                  </a:txBody>
                  <a:tcPr marL="95250" marR="95250" marT="66675" marB="66675" anchor="ctr">
                    <a:solidFill>
                      <a:srgbClr val="FFFFFF"/>
                    </a:solidFill>
                  </a:tcPr>
                </a:tc>
                <a:tc>
                  <a:txBody>
                    <a:bodyPr/>
                    <a:lstStyle/>
                    <a:p>
                      <a:r>
                        <a:rPr sz="1013">
                          <a:solidFill>
                            <a:srgbClr val="33343F"/>
                          </a:solidFill>
                          <a:latin typeface="Arial"/>
                          <a:ea typeface="Arial"/>
                          <a:cs typeface="Arial"/>
                        </a:rPr>
                        <a:t>IR substantially higher</a:t>
                      </a:r>
                    </a:p>
                  </a:txBody>
                  <a:tcPr marL="95250" marR="95250" marT="66675" marB="66675" anchor="ctr">
                    <a:solidFill>
                      <a:srgbClr val="FFFFFF"/>
                    </a:solidFill>
                  </a:tcPr>
                </a:tc>
              </a:tr>
              <a:tr h="466725">
                <a:tc>
                  <a:txBody>
                    <a:bodyPr/>
                    <a:lstStyle/>
                    <a:p>
                      <a:r>
                        <a:rPr sz="1013" b="1">
                          <a:solidFill>
                            <a:srgbClr val="176082"/>
                          </a:solidFill>
                          <a:latin typeface="Arial"/>
                          <a:ea typeface="Arial"/>
                          <a:cs typeface="Arial"/>
                        </a:rPr>
                        <a:t>Metadiscourse tokens</a:t>
                      </a:r>
                    </a:p>
                  </a:txBody>
                  <a:tcPr marL="95250" marR="95250" marT="66675" marB="66675" anchor="ctr">
                    <a:solidFill>
                      <a:srgbClr val="E6F0F5"/>
                    </a:solidFill>
                  </a:tcPr>
                </a:tc>
                <a:tc>
                  <a:txBody>
                    <a:bodyPr/>
                    <a:lstStyle/>
                    <a:p>
                      <a:r>
                        <a:rPr sz="1013">
                          <a:solidFill>
                            <a:srgbClr val="33343F"/>
                          </a:solidFill>
                          <a:latin typeface="Arial"/>
                          <a:ea typeface="Arial"/>
                          <a:cs typeface="Arial"/>
                        </a:rPr>
                        <a:t>8.70%</a:t>
                      </a:r>
                    </a:p>
                  </a:txBody>
                  <a:tcPr marL="95250" marR="95250" marT="66675" marB="66675" anchor="ctr">
                    <a:solidFill>
                      <a:srgbClr val="FFFFFF"/>
                    </a:solidFill>
                  </a:tcPr>
                </a:tc>
                <a:tc>
                  <a:txBody>
                    <a:bodyPr/>
                    <a:lstStyle/>
                    <a:p>
                      <a:r>
                        <a:rPr sz="1013">
                          <a:solidFill>
                            <a:srgbClr val="33343F"/>
                          </a:solidFill>
                          <a:latin typeface="Arial"/>
                          <a:ea typeface="Arial"/>
                          <a:cs typeface="Arial"/>
                        </a:rPr>
                        <a:t>8.15%</a:t>
                      </a:r>
                    </a:p>
                  </a:txBody>
                  <a:tcPr marL="95250" marR="95250" marT="66675" marB="66675" anchor="ctr">
                    <a:solidFill>
                      <a:srgbClr val="FFFFFF"/>
                    </a:solidFill>
                  </a:tcPr>
                </a:tc>
                <a:tc>
                  <a:txBody>
                    <a:bodyPr/>
                    <a:lstStyle/>
                    <a:p>
                      <a:r>
                        <a:rPr sz="1013">
                          <a:solidFill>
                            <a:srgbClr val="33343F"/>
                          </a:solidFill>
                          <a:latin typeface="Arial"/>
                          <a:ea typeface="Arial"/>
                          <a:cs typeface="Arial"/>
                        </a:rPr>
                        <a:t>Similar discipline means</a:t>
                      </a:r>
                    </a:p>
                  </a:txBody>
                  <a:tcPr marL="95250" marR="95250" marT="66675" marB="66675"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6CC801A-0AC7-46BE-B64F-FC939D811F47}"/>
              </a:ext>
            </a:extLst>
          </p:cNvPr>
          <p:cNvSpPr>
            <a:spLocks xmlns:a="http://schemas.openxmlformats.org/drawingml/2006/main" noGrp="1"/>
          </p:cNvSpPr>
          <p:nvPr/>
        </p:nvSpPr>
        <p:spPr>
          <a:xfrm xmlns:a="http://schemas.openxmlformats.org/drawingml/2006/main">
            <a:off x="1428750" y="5857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i="0">
                <a:solidFill>
                  <a:srgbClr val="B94D35"/>
                </a:solidFill>
                <a:latin typeface="Arial"/>
                <a:ea typeface="Arial"/>
                <a:cs typeface="Arial"/>
              </a:defRPr>
            </a:pPr>
            <a:r>
              <a:rPr sz="1275" b="1" i="0">
                <a:solidFill>
                  <a:srgbClr val="B94D35"/>
                </a:solidFill>
                <a:latin typeface="Arial"/>
                <a:ea typeface="Arial"/>
                <a:cs typeface="Arial"/>
              </a:rPr>
              <a:t>These tools describe linguistic form. They do not measure conceptual accessibility, visual support or ELFA friendliness.</a:t>
            </a:r>
          </a:p>
        </p:txBody>
      </p:sp>
      <p:sp>
        <p:nvSpPr>
          <p:cNvPr id="11" name="">
            <a:extLst xmlns:a="http://schemas.openxmlformats.org/drawingml/2006/main">
              <a:ext uri="{FF2B5EF4-FFF2-40B4-BE49-F238E27FC236}">
                <a16:creationId xmlns:a16="http://schemas.microsoft.com/office/drawing/2014/main" id="{B4DA575C-3BA6-4A97-B504-3A162D8EDC0B}"/>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Text Inspector v2.0, reading mode, 19 Sep 2026; discipline means across 25 passages each</a:t>
            </a:r>
          </a:p>
        </p:txBody>
      </p:sp>
      <p:sp>
        <p:nvSpPr>
          <p:cNvPr id="12" name="">
            <a:extLst xmlns:a="http://schemas.openxmlformats.org/drawingml/2006/main">
              <a:ext uri="{FF2B5EF4-FFF2-40B4-BE49-F238E27FC236}">
                <a16:creationId xmlns:a16="http://schemas.microsoft.com/office/drawing/2014/main" id="{7C9BC164-7FB8-4DA0-9FF7-407094CEC460}"/>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13" name="">
            <a:extLst xmlns:a="http://schemas.openxmlformats.org/drawingml/2006/main">
              <a:ext uri="{FF2B5EF4-FFF2-40B4-BE49-F238E27FC236}">
                <a16:creationId xmlns:a16="http://schemas.microsoft.com/office/drawing/2014/main" id="{25C64481-0E9E-419D-8B34-FEF2F069F0A1}"/>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934314185"/>
      </p:ext>
    </p:extLst>
  </p:cSld>
</p:sld>
</file>

<file path=ppt/slides/slide21.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ED1154F-0826-4998-9CB1-6DE2E8D59E1C}"/>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F0B11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923553-4725-42F3-ACF8-E54A53F29E4E}"/>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0B113"/>
                </a:solidFill>
                <a:latin typeface="Arial"/>
                <a:ea typeface="Arial"/>
                <a:cs typeface="Arial"/>
              </a:defRPr>
            </a:pPr>
            <a:r>
              <a:rPr sz="975" b="1" i="0">
                <a:solidFill>
                  <a:srgbClr val="F0B113"/>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242176A5-964A-4740-91C9-DE613EDF63FF}"/>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Language burden and support operate through different routes</a:t>
            </a:r>
          </a:p>
        </p:txBody>
      </p:sp>
      <p:sp>
        <p:nvSpPr>
          <p:cNvPr id="4" name="">
            <a:extLst xmlns:a="http://schemas.openxmlformats.org/drawingml/2006/main">
              <a:ext uri="{FF2B5EF4-FFF2-40B4-BE49-F238E27FC236}">
                <a16:creationId xmlns:a16="http://schemas.microsoft.com/office/drawing/2014/main" id="{ED9206D7-F90A-4D81-8451-DF8D41DA70B2}"/>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70A8B99E-1B02-4E9A-B148-42EF25C81B43}"/>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21</a:t>
            </a:r>
          </a:p>
        </p:txBody>
      </p:sp>
      <p:sp>
        <p:nvSpPr>
          <p:cNvPr id="6" name="">
            <a:extLst xmlns:a="http://schemas.openxmlformats.org/drawingml/2006/main">
              <a:ext uri="{FF2B5EF4-FFF2-40B4-BE49-F238E27FC236}">
                <a16:creationId xmlns:a16="http://schemas.microsoft.com/office/drawing/2014/main" id="{1646255E-8B85-47D7-8DC0-06314D67010E}"/>
              </a:ext>
            </a:extLst>
          </p:cNvPr>
          <p:cNvSpPr>
            <a:spLocks xmlns:a="http://schemas.openxmlformats.org/drawingml/2006/main" noGrp="1"/>
          </p:cNvSpPr>
          <p:nvPr/>
        </p:nvSpPr>
        <p:spPr>
          <a:xfrm xmlns:a="http://schemas.openxmlformats.org/drawingml/2006/main">
            <a:off x="762000" y="1752600"/>
            <a:ext cx="5095875" cy="3571875"/>
          </a:xfrm>
          <a:prstGeom xmlns:a="http://schemas.openxmlformats.org/drawingml/2006/main" prst="roundRect">
            <a:avLst>
              <a:gd name="adj" fmla="val 2133"/>
            </a:avLst>
          </a:prstGeom>
          <a:solidFill xmlns:a="http://schemas.openxmlformats.org/drawingml/2006/main">
            <a:srgbClr val="123B5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60EF0E-BDAF-49B3-A441-5E92EFB73D14}"/>
              </a:ext>
            </a:extLst>
          </p:cNvPr>
          <p:cNvSpPr>
            <a:spLocks xmlns:a="http://schemas.openxmlformats.org/drawingml/2006/main" noGrp="1"/>
          </p:cNvSpPr>
          <p:nvPr/>
        </p:nvSpPr>
        <p:spPr>
          <a:xfrm xmlns:a="http://schemas.openxmlformats.org/drawingml/2006/main">
            <a:off x="1095375" y="205740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CONVERGENCE</a:t>
            </a:r>
          </a:p>
        </p:txBody>
      </p:sp>
      <p:sp>
        <p:nvSpPr>
          <p:cNvPr id="8" name="">
            <a:extLst xmlns:a="http://schemas.openxmlformats.org/drawingml/2006/main">
              <a:ext uri="{FF2B5EF4-FFF2-40B4-BE49-F238E27FC236}">
                <a16:creationId xmlns:a16="http://schemas.microsoft.com/office/drawing/2014/main" id="{65875FFD-26EF-4021-A913-6EB60814BDB9}"/>
              </a:ext>
            </a:extLst>
          </p:cNvPr>
          <p:cNvSpPr>
            <a:spLocks xmlns:a="http://schemas.openxmlformats.org/drawingml/2006/main" noGrp="1"/>
          </p:cNvSpPr>
          <p:nvPr/>
        </p:nvSpPr>
        <p:spPr>
          <a:xfrm xmlns:a="http://schemas.openxmlformats.org/drawingml/2006/main">
            <a:off x="1095375" y="25336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defRPr sz="1575" b="1" i="0">
                <a:solidFill>
                  <a:srgbClr val="FFFFFF"/>
                </a:solidFill>
                <a:latin typeface="Arial"/>
                <a:ea typeface="Arial"/>
                <a:cs typeface="Arial"/>
              </a:defRPr>
            </a:pPr>
            <a:r>
              <a:rPr sz="1575" b="1" i="0">
                <a:solidFill>
                  <a:srgbClr val="FFFFFF"/>
                </a:solidFill>
                <a:latin typeface="Arial"/>
                <a:ea typeface="Arial"/>
                <a:cs typeface="Arial"/>
              </a:rPr>
              <a:t>Engineering</a:t>
            </a:r>
          </a:p>
        </p:txBody>
      </p:sp>
      <p:sp>
        <p:nvSpPr>
          <p:cNvPr id="9" name="">
            <a:extLst xmlns:a="http://schemas.openxmlformats.org/drawingml/2006/main">
              <a:ext uri="{FF2B5EF4-FFF2-40B4-BE49-F238E27FC236}">
                <a16:creationId xmlns:a16="http://schemas.microsoft.com/office/drawing/2014/main" id="{84B15CB1-AA1B-44EF-8DD6-2D30B11C3E61}"/>
              </a:ext>
            </a:extLst>
          </p:cNvPr>
          <p:cNvSpPr>
            <a:spLocks xmlns:a="http://schemas.openxmlformats.org/drawingml/2006/main" noGrp="1"/>
          </p:cNvSpPr>
          <p:nvPr/>
        </p:nvSpPr>
        <p:spPr>
          <a:xfrm xmlns:a="http://schemas.openxmlformats.org/drawingml/2006/main">
            <a:off x="1095375" y="2905125"/>
            <a:ext cx="4238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Students valued figures, labels and bridges between procedural steps. The full-text corpus also contained far more figure references.</a:t>
            </a:r>
          </a:p>
        </p:txBody>
      </p:sp>
      <p:sp>
        <p:nvSpPr>
          <p:cNvPr id="10" name="">
            <a:extLst xmlns:a="http://schemas.openxmlformats.org/drawingml/2006/main">
              <a:ext uri="{FF2B5EF4-FFF2-40B4-BE49-F238E27FC236}">
                <a16:creationId xmlns:a16="http://schemas.microsoft.com/office/drawing/2014/main" id="{703106EC-0238-4801-B83F-8A52C3C3A5EF}"/>
              </a:ext>
            </a:extLst>
          </p:cNvPr>
          <p:cNvSpPr>
            <a:spLocks xmlns:a="http://schemas.openxmlformats.org/drawingml/2006/main" noGrp="1"/>
          </p:cNvSpPr>
          <p:nvPr/>
        </p:nvSpPr>
        <p:spPr>
          <a:xfrm xmlns:a="http://schemas.openxmlformats.org/drawingml/2006/main">
            <a:off x="1095375" y="40005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defRPr sz="1575" b="1" i="0">
                <a:solidFill>
                  <a:srgbClr val="FFFFFF"/>
                </a:solidFill>
                <a:latin typeface="Arial"/>
                <a:ea typeface="Arial"/>
                <a:cs typeface="Arial"/>
              </a:defRPr>
            </a:pPr>
            <a:r>
              <a:rPr sz="1575" b="1" i="0">
                <a:solidFill>
                  <a:srgbClr val="FFFFFF"/>
                </a:solidFill>
                <a:latin typeface="Arial"/>
                <a:ea typeface="Arial"/>
                <a:cs typeface="Arial"/>
              </a:rPr>
              <a:t>International Relations</a:t>
            </a:r>
          </a:p>
        </p:txBody>
      </p:sp>
      <p:sp>
        <p:nvSpPr>
          <p:cNvPr id="11" name="">
            <a:extLst xmlns:a="http://schemas.openxmlformats.org/drawingml/2006/main">
              <a:ext uri="{FF2B5EF4-FFF2-40B4-BE49-F238E27FC236}">
                <a16:creationId xmlns:a16="http://schemas.microsoft.com/office/drawing/2014/main" id="{9F8A145C-2BBF-4FE7-9C55-8C6F68D91D54}"/>
              </a:ext>
            </a:extLst>
          </p:cNvPr>
          <p:cNvSpPr>
            <a:spLocks xmlns:a="http://schemas.openxmlformats.org/drawingml/2006/main" noGrp="1"/>
          </p:cNvSpPr>
          <p:nvPr/>
        </p:nvSpPr>
        <p:spPr>
          <a:xfrm xmlns:a="http://schemas.openxmlformats.org/drawingml/2006/main">
            <a:off x="1095375" y="4371975"/>
            <a:ext cx="4238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455"/>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Students valued perspective marking, qualification and comparison. The matched prose sample showed longer sentences and much higher lexical diversity.</a:t>
            </a:r>
          </a:p>
        </p:txBody>
      </p:sp>
      <p:sp>
        <p:nvSpPr>
          <p:cNvPr id="12" name="">
            <a:extLst xmlns:a="http://schemas.openxmlformats.org/drawingml/2006/main">
              <a:ext uri="{FF2B5EF4-FFF2-40B4-BE49-F238E27FC236}">
                <a16:creationId xmlns:a16="http://schemas.microsoft.com/office/drawing/2014/main" id="{8FFAAEDF-851D-4687-B206-1B00153C130F}"/>
              </a:ext>
            </a:extLst>
          </p:cNvPr>
          <p:cNvSpPr>
            <a:spLocks xmlns:a="http://schemas.openxmlformats.org/drawingml/2006/main" noGrp="1"/>
          </p:cNvSpPr>
          <p:nvPr/>
        </p:nvSpPr>
        <p:spPr>
          <a:xfrm xmlns:a="http://schemas.openxmlformats.org/drawingml/2006/main">
            <a:off x="6524625" y="1752600"/>
            <a:ext cx="4905375" cy="3571875"/>
          </a:xfrm>
          <a:prstGeom xmlns:a="http://schemas.openxmlformats.org/drawingml/2006/main" prst="roundRect">
            <a:avLst>
              <a:gd name="adj" fmla="val 2133"/>
            </a:avLst>
          </a:prstGeom>
          <a:solidFill xmlns:a="http://schemas.openxmlformats.org/drawingml/2006/main">
            <a:srgbClr val="FFFFFF"/>
          </a:solidFill>
          <a:ln xmlns:a="http://schemas.openxmlformats.org/drawingml/2006/main" w="9525">
            <a:solidFill>
              <a:srgbClr val="C8C9D3"/>
            </a:solidFill>
          </a:ln>
        </p:spPr>
      </p:sp>
      <p:sp>
        <p:nvSpPr>
          <p:cNvPr id="13" name="">
            <a:extLst xmlns:a="http://schemas.openxmlformats.org/drawingml/2006/main">
              <a:ext uri="{FF2B5EF4-FFF2-40B4-BE49-F238E27FC236}">
                <a16:creationId xmlns:a16="http://schemas.microsoft.com/office/drawing/2014/main" id="{733EF66A-6515-49F2-AB55-9954A0183539}"/>
              </a:ext>
            </a:extLst>
          </p:cNvPr>
          <p:cNvSpPr>
            <a:spLocks xmlns:a="http://schemas.openxmlformats.org/drawingml/2006/main" noGrp="1"/>
          </p:cNvSpPr>
          <p:nvPr/>
        </p:nvSpPr>
        <p:spPr>
          <a:xfrm xmlns:a="http://schemas.openxmlformats.org/drawingml/2006/main">
            <a:off x="6858000" y="2057400"/>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BOUNDARIES OF THE CLAIM</a:t>
            </a:r>
          </a:p>
        </p:txBody>
      </p:sp>
      <p:sp>
        <p:nvSpPr>
          <p:cNvPr id="14" name="">
            <a:extLst xmlns:a="http://schemas.openxmlformats.org/drawingml/2006/main">
              <a:ext uri="{FF2B5EF4-FFF2-40B4-BE49-F238E27FC236}">
                <a16:creationId xmlns:a16="http://schemas.microsoft.com/office/drawing/2014/main" id="{C29014CE-A83C-48FF-BF84-7DA3353A19A0}"/>
              </a:ext>
            </a:extLst>
          </p:cNvPr>
          <p:cNvSpPr>
            <a:spLocks xmlns:a="http://schemas.openxmlformats.org/drawingml/2006/main" noGrp="1"/>
          </p:cNvSpPr>
          <p:nvPr/>
        </p:nvSpPr>
        <p:spPr>
          <a:xfrm xmlns:a="http://schemas.openxmlformats.org/drawingml/2006/main">
            <a:off x="6858000" y="26289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500" b="1" i="0">
                <a:solidFill>
                  <a:srgbClr val="33343F"/>
                </a:solidFill>
                <a:latin typeface="Arial"/>
                <a:ea typeface="Arial"/>
                <a:cs typeface="Arial"/>
              </a:defRPr>
            </a:pPr>
            <a:r>
              <a:rPr sz="1500" b="1" i="0">
                <a:solidFill>
                  <a:srgbClr val="33343F"/>
                </a:solidFill>
                <a:latin typeface="Arial"/>
                <a:ea typeface="Arial"/>
                <a:cs typeface="Arial"/>
              </a:rPr>
              <a:t>Readability scores cannot establish ELFA friendliness.</a:t>
            </a:r>
          </a:p>
        </p:txBody>
      </p:sp>
      <p:sp>
        <p:nvSpPr>
          <p:cNvPr id="15" name="">
            <a:extLst xmlns:a="http://schemas.openxmlformats.org/drawingml/2006/main">
              <a:ext uri="{FF2B5EF4-FFF2-40B4-BE49-F238E27FC236}">
                <a16:creationId xmlns:a16="http://schemas.microsoft.com/office/drawing/2014/main" id="{72D629B5-E30B-4577-8538-F9C9FDE24104}"/>
              </a:ext>
            </a:extLst>
          </p:cNvPr>
          <p:cNvSpPr>
            <a:spLocks xmlns:a="http://schemas.openxmlformats.org/drawingml/2006/main" noGrp="1"/>
          </p:cNvSpPr>
          <p:nvPr/>
        </p:nvSpPr>
        <p:spPr>
          <a:xfrm xmlns:a="http://schemas.openxmlformats.org/drawingml/2006/main">
            <a:off x="6858000" y="33147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500" b="1" i="0">
                <a:solidFill>
                  <a:srgbClr val="33343F"/>
                </a:solidFill>
                <a:latin typeface="Arial"/>
                <a:ea typeface="Arial"/>
                <a:cs typeface="Arial"/>
              </a:defRPr>
            </a:pPr>
            <a:r>
              <a:rPr sz="1500" b="1" i="0">
                <a:solidFill>
                  <a:srgbClr val="33343F"/>
                </a:solidFill>
                <a:latin typeface="Arial"/>
                <a:ea typeface="Arial"/>
                <a:cs typeface="Arial"/>
              </a:rPr>
              <a:t>Figure references are a proxy rather than an image count.</a:t>
            </a:r>
          </a:p>
        </p:txBody>
      </p:sp>
      <p:sp>
        <p:nvSpPr>
          <p:cNvPr id="16" name="">
            <a:extLst xmlns:a="http://schemas.openxmlformats.org/drawingml/2006/main">
              <a:ext uri="{FF2B5EF4-FFF2-40B4-BE49-F238E27FC236}">
                <a16:creationId xmlns:a16="http://schemas.microsoft.com/office/drawing/2014/main" id="{2F406661-529B-45F4-9EC2-32E7C970AABD}"/>
              </a:ext>
            </a:extLst>
          </p:cNvPr>
          <p:cNvSpPr>
            <a:spLocks xmlns:a="http://schemas.openxmlformats.org/drawingml/2006/main" noGrp="1"/>
          </p:cNvSpPr>
          <p:nvPr/>
        </p:nvSpPr>
        <p:spPr>
          <a:xfrm xmlns:a="http://schemas.openxmlformats.org/drawingml/2006/main">
            <a:off x="6858000" y="4000500"/>
            <a:ext cx="409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3343F"/>
                </a:solidFill>
                <a:latin typeface="Arial"/>
                <a:ea typeface="Arial"/>
                <a:cs typeface="Arial"/>
              </a:defRPr>
            </a:pPr>
            <a:r>
              <a:rPr sz="1500" b="1" i="0">
                <a:solidFill>
                  <a:srgbClr val="33343F"/>
                </a:solidFill>
                <a:latin typeface="Arial"/>
                <a:ea typeface="Arial"/>
                <a:cs typeface="Arial"/>
              </a:rPr>
              <a:t>Interview patterns illustrate the framework but cannot validate it.</a:t>
            </a:r>
          </a:p>
        </p:txBody>
      </p:sp>
      <p:sp>
        <p:nvSpPr>
          <p:cNvPr id="17" name="">
            <a:extLst xmlns:a="http://schemas.openxmlformats.org/drawingml/2006/main">
              <a:ext uri="{FF2B5EF4-FFF2-40B4-BE49-F238E27FC236}">
                <a16:creationId xmlns:a16="http://schemas.microsoft.com/office/drawing/2014/main" id="{3EF0D872-B176-4E67-8BC6-15F9421BA3E9}"/>
              </a:ext>
            </a:extLst>
          </p:cNvPr>
          <p:cNvSpPr>
            <a:spLocks xmlns:a="http://schemas.openxmlformats.org/drawingml/2006/main" noGrp="1"/>
          </p:cNvSpPr>
          <p:nvPr/>
        </p:nvSpPr>
        <p:spPr>
          <a:xfrm xmlns:a="http://schemas.openxmlformats.org/drawingml/2006/main">
            <a:off x="6858000" y="48101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765"/>
          </a:bodyPr>
          <a:lstStyle xmlns:a="http://schemas.openxmlformats.org/drawingml/2006/main"/>
          <a:p xmlns:a="http://schemas.openxmlformats.org/drawingml/2006/main">
            <a:pPr algn="l">
              <a:defRPr sz="1275" b="1" i="0">
                <a:solidFill>
                  <a:srgbClr val="B94D35"/>
                </a:solidFill>
                <a:latin typeface="Arial"/>
                <a:ea typeface="Arial"/>
                <a:cs typeface="Arial"/>
              </a:defRPr>
            </a:pPr>
            <a:r>
              <a:rPr sz="1275" b="1" i="0">
                <a:solidFill>
                  <a:srgbClr val="B94D35"/>
                </a:solidFill>
                <a:latin typeface="Arial"/>
                <a:ea typeface="Arial"/>
                <a:cs typeface="Arial"/>
              </a:rPr>
              <a:t>The coursebook decision must combine reader evidence with function, form, placement and disciplinary fit.</a:t>
            </a:r>
          </a:p>
        </p:txBody>
      </p:sp>
      <p:sp>
        <p:nvSpPr>
          <p:cNvPr id="18" name="">
            <a:extLst xmlns:a="http://schemas.openxmlformats.org/drawingml/2006/main">
              <a:ext uri="{FF2B5EF4-FFF2-40B4-BE49-F238E27FC236}">
                <a16:creationId xmlns:a16="http://schemas.microsoft.com/office/drawing/2014/main" id="{45CD3A00-D001-4AC9-8057-4E807A07395C}"/>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Interpretation combines interview evidence with descriptive ten-book pilot analyses</a:t>
            </a:r>
          </a:p>
        </p:txBody>
      </p:sp>
      <p:sp>
        <p:nvSpPr>
          <p:cNvPr id="19" name="">
            <a:extLst xmlns:a="http://schemas.openxmlformats.org/drawingml/2006/main">
              <a:ext uri="{FF2B5EF4-FFF2-40B4-BE49-F238E27FC236}">
                <a16:creationId xmlns:a16="http://schemas.microsoft.com/office/drawing/2014/main" id="{A7A178AC-88D1-4F23-942D-F75799344403}"/>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0" name="">
            <a:extLst xmlns:a="http://schemas.openxmlformats.org/drawingml/2006/main">
              <a:ext uri="{FF2B5EF4-FFF2-40B4-BE49-F238E27FC236}">
                <a16:creationId xmlns:a16="http://schemas.microsoft.com/office/drawing/2014/main" id="{87D315E3-2366-4C4B-8425-74A742687CAA}"/>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25864997"/>
      </p:ext>
    </p:extLst>
  </p:cSld>
</p:sld>
</file>

<file path=ppt/slides/slide2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E613892-5AEE-49D6-A394-FA1360DD3CD5}"/>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572B0B-3C89-4794-852C-7853038BA526}"/>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
            <a:extLst xmlns:a="http://schemas.openxmlformats.org/drawingml/2006/main">
              <a:ext uri="{FF2B5EF4-FFF2-40B4-BE49-F238E27FC236}">
                <a16:creationId xmlns:a16="http://schemas.microsoft.com/office/drawing/2014/main" id="{1115A211-5D1B-4AC4-B9BF-B48FC708EAA2}"/>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Function, form and distribution answer different questions</a:t>
            </a:r>
          </a:p>
        </p:txBody>
      </p:sp>
      <p:sp>
        <p:nvSpPr>
          <p:cNvPr id="4" name="">
            <a:extLst xmlns:a="http://schemas.openxmlformats.org/drawingml/2006/main">
              <a:ext uri="{FF2B5EF4-FFF2-40B4-BE49-F238E27FC236}">
                <a16:creationId xmlns:a16="http://schemas.microsoft.com/office/drawing/2014/main" id="{D39F76DC-4BD6-4F94-B8F0-81BB9BD7B11A}"/>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B94C4EBA-2180-44D4-9AB6-B335D2C3CA45}"/>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22</a:t>
            </a:r>
          </a:p>
        </p:txBody>
      </p:sp>
      <p:sp>
        <p:nvSpPr>
          <p:cNvPr id="6" name="">
            <a:extLst xmlns:a="http://schemas.openxmlformats.org/drawingml/2006/main">
              <a:ext uri="{FF2B5EF4-FFF2-40B4-BE49-F238E27FC236}">
                <a16:creationId xmlns:a16="http://schemas.microsoft.com/office/drawing/2014/main" id="{A9E5269F-3114-4132-BF20-D537CD00EFE3}"/>
              </a:ext>
            </a:extLst>
          </p:cNvPr>
          <p:cNvSpPr>
            <a:spLocks xmlns:a="http://schemas.openxmlformats.org/drawingml/2006/main" noGrp="1"/>
          </p:cNvSpPr>
          <p:nvPr/>
        </p:nvSpPr>
        <p:spPr>
          <a:xfrm xmlns:a="http://schemas.openxmlformats.org/drawingml/2006/main">
            <a:off x="685800" y="1752600"/>
            <a:ext cx="2552700" cy="2238375"/>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B131BA0A-9E78-4218-AFB3-BBC89DA69668}"/>
              </a:ext>
            </a:extLst>
          </p:cNvPr>
          <p:cNvSpPr>
            <a:spLocks xmlns:a="http://schemas.openxmlformats.org/drawingml/2006/main" noGrp="1"/>
          </p:cNvSpPr>
          <p:nvPr/>
        </p:nvSpPr>
        <p:spPr>
          <a:xfrm xmlns:a="http://schemas.openxmlformats.org/drawingml/2006/main">
            <a:off x="685800" y="1752600"/>
            <a:ext cx="2552700" cy="1333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DAAE0DF-A46C-4343-9668-4C752DD0E1CA}"/>
              </a:ext>
            </a:extLst>
          </p:cNvPr>
          <p:cNvSpPr>
            <a:spLocks xmlns:a="http://schemas.openxmlformats.org/drawingml/2006/main" noGrp="1"/>
          </p:cNvSpPr>
          <p:nvPr/>
        </p:nvSpPr>
        <p:spPr>
          <a:xfrm xmlns:a="http://schemas.openxmlformats.org/drawingml/2006/main">
            <a:off x="914400" y="215265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FUNCTION</a:t>
            </a:r>
          </a:p>
        </p:txBody>
      </p:sp>
      <p:sp>
        <p:nvSpPr>
          <p:cNvPr id="9" name="">
            <a:extLst xmlns:a="http://schemas.openxmlformats.org/drawingml/2006/main">
              <a:ext uri="{FF2B5EF4-FFF2-40B4-BE49-F238E27FC236}">
                <a16:creationId xmlns:a16="http://schemas.microsoft.com/office/drawing/2014/main" id="{8E2DAD5F-DCFC-4B82-9FF7-954CE7C5772B}"/>
              </a:ext>
            </a:extLst>
          </p:cNvPr>
          <p:cNvSpPr>
            <a:spLocks xmlns:a="http://schemas.openxmlformats.org/drawingml/2006/main" noGrp="1"/>
          </p:cNvSpPr>
          <p:nvPr/>
        </p:nvSpPr>
        <p:spPr>
          <a:xfrm xmlns:a="http://schemas.openxmlformats.org/drawingml/2006/main">
            <a:off x="914400" y="272415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i="0">
                <a:solidFill>
                  <a:srgbClr val="33343F"/>
                </a:solidFill>
                <a:latin typeface="Arial"/>
                <a:ea typeface="Arial"/>
                <a:cs typeface="Arial"/>
              </a:defRPr>
            </a:pPr>
            <a:r>
              <a:rPr sz="1575" b="1" i="0">
                <a:solidFill>
                  <a:srgbClr val="33343F"/>
                </a:solidFill>
                <a:latin typeface="Arial"/>
                <a:ea typeface="Arial"/>
                <a:cs typeface="Arial"/>
              </a:rPr>
              <a:t>What reader need is addressed?</a:t>
            </a:r>
          </a:p>
        </p:txBody>
      </p:sp>
      <p:sp>
        <p:nvSpPr>
          <p:cNvPr id="10" name="">
            <a:extLst xmlns:a="http://schemas.openxmlformats.org/drawingml/2006/main">
              <a:ext uri="{FF2B5EF4-FFF2-40B4-BE49-F238E27FC236}">
                <a16:creationId xmlns:a16="http://schemas.microsoft.com/office/drawing/2014/main" id="{56FA9E56-0678-4DF4-82F4-AC2B9210D2F2}"/>
              </a:ext>
            </a:extLst>
          </p:cNvPr>
          <p:cNvSpPr>
            <a:spLocks xmlns:a="http://schemas.openxmlformats.org/drawingml/2006/main" noGrp="1"/>
          </p:cNvSpPr>
          <p:nvPr/>
        </p:nvSpPr>
        <p:spPr>
          <a:xfrm xmlns:a="http://schemas.openxmlformats.org/drawingml/2006/main">
            <a:off x="3543300" y="1752600"/>
            <a:ext cx="2552700" cy="2238375"/>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1C8949BC-4EBC-4F64-B1B9-65EC20721E40}"/>
              </a:ext>
            </a:extLst>
          </p:cNvPr>
          <p:cNvSpPr>
            <a:spLocks xmlns:a="http://schemas.openxmlformats.org/drawingml/2006/main" noGrp="1"/>
          </p:cNvSpPr>
          <p:nvPr/>
        </p:nvSpPr>
        <p:spPr>
          <a:xfrm xmlns:a="http://schemas.openxmlformats.org/drawingml/2006/main">
            <a:off x="3543300" y="1752600"/>
            <a:ext cx="2552700" cy="133350"/>
          </a:xfrm>
          <a:prstGeom xmlns:a="http://schemas.openxmlformats.org/drawingml/2006/main" prst="roundRect">
            <a:avLst>
              <a:gd name="adj" fmla="val 50000"/>
            </a:avLst>
          </a:prstGeom>
          <a:solidFill xmlns:a="http://schemas.openxmlformats.org/drawingml/2006/main">
            <a:srgbClr val="D58C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5E0DC12-38A6-49BE-8F89-228ED5703448}"/>
              </a:ext>
            </a:extLst>
          </p:cNvPr>
          <p:cNvSpPr>
            <a:spLocks xmlns:a="http://schemas.openxmlformats.org/drawingml/2006/main" noGrp="1"/>
          </p:cNvSpPr>
          <p:nvPr/>
        </p:nvSpPr>
        <p:spPr>
          <a:xfrm xmlns:a="http://schemas.openxmlformats.org/drawingml/2006/main">
            <a:off x="3771900" y="215265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FORM</a:t>
            </a:r>
          </a:p>
        </p:txBody>
      </p:sp>
      <p:sp>
        <p:nvSpPr>
          <p:cNvPr id="13" name="">
            <a:extLst xmlns:a="http://schemas.openxmlformats.org/drawingml/2006/main">
              <a:ext uri="{FF2B5EF4-FFF2-40B4-BE49-F238E27FC236}">
                <a16:creationId xmlns:a16="http://schemas.microsoft.com/office/drawing/2014/main" id="{B1D7754A-6C02-4F08-BB66-DB495376A5BB}"/>
              </a:ext>
            </a:extLst>
          </p:cNvPr>
          <p:cNvSpPr>
            <a:spLocks xmlns:a="http://schemas.openxmlformats.org/drawingml/2006/main" noGrp="1"/>
          </p:cNvSpPr>
          <p:nvPr/>
        </p:nvSpPr>
        <p:spPr>
          <a:xfrm xmlns:a="http://schemas.openxmlformats.org/drawingml/2006/main">
            <a:off x="3771900" y="272415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43"/>
          </a:bodyPr>
          <a:lstStyle xmlns:a="http://schemas.openxmlformats.org/drawingml/2006/main"/>
          <a:p xmlns:a="http://schemas.openxmlformats.org/drawingml/2006/main">
            <a:pPr algn="ctr">
              <a:defRPr sz="1575" b="1" i="0">
                <a:solidFill>
                  <a:srgbClr val="33343F"/>
                </a:solidFill>
                <a:latin typeface="Arial"/>
                <a:ea typeface="Arial"/>
                <a:cs typeface="Arial"/>
              </a:defRPr>
            </a:pPr>
            <a:r>
              <a:rPr sz="1575" b="1" i="0">
                <a:solidFill>
                  <a:srgbClr val="33343F"/>
                </a:solidFill>
                <a:latin typeface="Arial"/>
                <a:ea typeface="Arial"/>
                <a:cs typeface="Arial"/>
              </a:rPr>
              <a:t>Which observable textual, visual or numeric device supplies it?</a:t>
            </a:r>
          </a:p>
        </p:txBody>
      </p:sp>
      <p:sp>
        <p:nvSpPr>
          <p:cNvPr id="14" name="">
            <a:extLst xmlns:a="http://schemas.openxmlformats.org/drawingml/2006/main">
              <a:ext uri="{FF2B5EF4-FFF2-40B4-BE49-F238E27FC236}">
                <a16:creationId xmlns:a16="http://schemas.microsoft.com/office/drawing/2014/main" id="{FF7ADC50-389F-4C6F-AB13-4C73D5776D1E}"/>
              </a:ext>
            </a:extLst>
          </p:cNvPr>
          <p:cNvSpPr>
            <a:spLocks xmlns:a="http://schemas.openxmlformats.org/drawingml/2006/main" noGrp="1"/>
          </p:cNvSpPr>
          <p:nvPr/>
        </p:nvSpPr>
        <p:spPr>
          <a:xfrm xmlns:a="http://schemas.openxmlformats.org/drawingml/2006/main">
            <a:off x="6400800" y="1752600"/>
            <a:ext cx="2552700" cy="2238375"/>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F4D21CC6-A535-444A-89E5-5C765649B46C}"/>
              </a:ext>
            </a:extLst>
          </p:cNvPr>
          <p:cNvSpPr>
            <a:spLocks xmlns:a="http://schemas.openxmlformats.org/drawingml/2006/main" noGrp="1"/>
          </p:cNvSpPr>
          <p:nvPr/>
        </p:nvSpPr>
        <p:spPr>
          <a:xfrm xmlns:a="http://schemas.openxmlformats.org/drawingml/2006/main">
            <a:off x="6400800" y="1752600"/>
            <a:ext cx="2552700" cy="133350"/>
          </a:xfrm>
          <a:prstGeom xmlns:a="http://schemas.openxmlformats.org/drawingml/2006/main" prst="roundRect">
            <a:avLst>
              <a:gd name="adj" fmla="val 50000"/>
            </a:avLst>
          </a:prstGeom>
          <a:solidFill xmlns:a="http://schemas.openxmlformats.org/drawingml/2006/main">
            <a:srgbClr val="FFD4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5E9E0A-F214-42E3-BE4F-46F6FDB0BBBC}"/>
              </a:ext>
            </a:extLst>
          </p:cNvPr>
          <p:cNvSpPr>
            <a:spLocks xmlns:a="http://schemas.openxmlformats.org/drawingml/2006/main" noGrp="1"/>
          </p:cNvSpPr>
          <p:nvPr/>
        </p:nvSpPr>
        <p:spPr>
          <a:xfrm xmlns:a="http://schemas.openxmlformats.org/drawingml/2006/main">
            <a:off x="6629400" y="215265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DISTRIBUTION</a:t>
            </a:r>
          </a:p>
        </p:txBody>
      </p:sp>
      <p:sp>
        <p:nvSpPr>
          <p:cNvPr id="17" name="">
            <a:extLst xmlns:a="http://schemas.openxmlformats.org/drawingml/2006/main">
              <a:ext uri="{FF2B5EF4-FFF2-40B4-BE49-F238E27FC236}">
                <a16:creationId xmlns:a16="http://schemas.microsoft.com/office/drawing/2014/main" id="{827B069E-D88C-4ED7-BF70-491D439B4DBE}"/>
              </a:ext>
            </a:extLst>
          </p:cNvPr>
          <p:cNvSpPr>
            <a:spLocks xmlns:a="http://schemas.openxmlformats.org/drawingml/2006/main" noGrp="1"/>
          </p:cNvSpPr>
          <p:nvPr/>
        </p:nvSpPr>
        <p:spPr>
          <a:xfrm xmlns:a="http://schemas.openxmlformats.org/drawingml/2006/main">
            <a:off x="6629400" y="272415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43"/>
          </a:bodyPr>
          <a:lstStyle xmlns:a="http://schemas.openxmlformats.org/drawingml/2006/main"/>
          <a:p xmlns:a="http://schemas.openxmlformats.org/drawingml/2006/main">
            <a:pPr algn="ctr">
              <a:defRPr sz="1575" b="1" i="0">
                <a:solidFill>
                  <a:srgbClr val="33343F"/>
                </a:solidFill>
                <a:latin typeface="Arial"/>
                <a:ea typeface="Arial"/>
                <a:cs typeface="Arial"/>
              </a:defRPr>
            </a:pPr>
            <a:r>
              <a:rPr sz="1575" b="1" i="0">
                <a:solidFill>
                  <a:srgbClr val="33343F"/>
                </a:solidFill>
                <a:latin typeface="Arial"/>
                <a:ea typeface="Arial"/>
                <a:cs typeface="Arial"/>
              </a:rPr>
              <a:t>How reliably is that device available across eligible points of need?</a:t>
            </a:r>
          </a:p>
        </p:txBody>
      </p:sp>
      <p:sp>
        <p:nvSpPr>
          <p:cNvPr id="18" name="">
            <a:extLst xmlns:a="http://schemas.openxmlformats.org/drawingml/2006/main">
              <a:ext uri="{FF2B5EF4-FFF2-40B4-BE49-F238E27FC236}">
                <a16:creationId xmlns:a16="http://schemas.microsoft.com/office/drawing/2014/main" id="{262C5110-9088-4D20-9025-C47BE0CD3E99}"/>
              </a:ext>
            </a:extLst>
          </p:cNvPr>
          <p:cNvSpPr>
            <a:spLocks xmlns:a="http://schemas.openxmlformats.org/drawingml/2006/main" noGrp="1"/>
          </p:cNvSpPr>
          <p:nvPr/>
        </p:nvSpPr>
        <p:spPr>
          <a:xfrm xmlns:a="http://schemas.openxmlformats.org/drawingml/2006/main">
            <a:off x="9258300" y="1752600"/>
            <a:ext cx="2552700" cy="2238375"/>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850E5B4F-1963-4ACD-BCD4-E3299F23FCF1}"/>
              </a:ext>
            </a:extLst>
          </p:cNvPr>
          <p:cNvSpPr>
            <a:spLocks xmlns:a="http://schemas.openxmlformats.org/drawingml/2006/main" noGrp="1"/>
          </p:cNvSpPr>
          <p:nvPr/>
        </p:nvSpPr>
        <p:spPr>
          <a:xfrm xmlns:a="http://schemas.openxmlformats.org/drawingml/2006/main">
            <a:off x="9258300" y="1752600"/>
            <a:ext cx="2552700" cy="133350"/>
          </a:xfrm>
          <a:prstGeom xmlns:a="http://schemas.openxmlformats.org/drawingml/2006/main" prst="roundRect">
            <a:avLst>
              <a:gd name="adj" fmla="val 50000"/>
            </a:avLst>
          </a:prstGeom>
          <a:solidFill xmlns:a="http://schemas.openxmlformats.org/drawingml/2006/main">
            <a:srgbClr val="123B5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999926-5C53-4078-9C2A-C8DCCC7FA493}"/>
              </a:ext>
            </a:extLst>
          </p:cNvPr>
          <p:cNvSpPr>
            <a:spLocks xmlns:a="http://schemas.openxmlformats.org/drawingml/2006/main" noGrp="1"/>
          </p:cNvSpPr>
          <p:nvPr/>
        </p:nvSpPr>
        <p:spPr>
          <a:xfrm xmlns:a="http://schemas.openxmlformats.org/drawingml/2006/main">
            <a:off x="9486900" y="215265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23B53"/>
                </a:solidFill>
                <a:latin typeface="Arial"/>
                <a:ea typeface="Arial"/>
                <a:cs typeface="Arial"/>
              </a:defRPr>
            </a:pPr>
            <a:r>
              <a:rPr sz="975" b="1" i="0">
                <a:solidFill>
                  <a:srgbClr val="123B53"/>
                </a:solidFill>
                <a:latin typeface="Arial"/>
                <a:ea typeface="Arial"/>
                <a:cs typeface="Arial"/>
              </a:rPr>
              <a:t>READER EVIDENCE</a:t>
            </a:r>
          </a:p>
        </p:txBody>
      </p:sp>
      <p:sp>
        <p:nvSpPr>
          <p:cNvPr id="21" name="">
            <a:extLst xmlns:a="http://schemas.openxmlformats.org/drawingml/2006/main">
              <a:ext uri="{FF2B5EF4-FFF2-40B4-BE49-F238E27FC236}">
                <a16:creationId xmlns:a16="http://schemas.microsoft.com/office/drawing/2014/main" id="{C9BDAFEB-A80F-4B5F-B57B-E827571764C0}"/>
              </a:ext>
            </a:extLst>
          </p:cNvPr>
          <p:cNvSpPr>
            <a:spLocks xmlns:a="http://schemas.openxmlformats.org/drawingml/2006/main" noGrp="1"/>
          </p:cNvSpPr>
          <p:nvPr/>
        </p:nvSpPr>
        <p:spPr>
          <a:xfrm xmlns:a="http://schemas.openxmlformats.org/drawingml/2006/main">
            <a:off x="9486900" y="272415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i="0">
                <a:solidFill>
                  <a:srgbClr val="33343F"/>
                </a:solidFill>
                <a:latin typeface="Arial"/>
                <a:ea typeface="Arial"/>
                <a:cs typeface="Arial"/>
              </a:defRPr>
            </a:pPr>
            <a:r>
              <a:rPr sz="1575" b="1" i="0">
                <a:solidFill>
                  <a:srgbClr val="33343F"/>
                </a:solidFill>
                <a:latin typeface="Arial"/>
                <a:ea typeface="Arial"/>
                <a:cs typeface="Arial"/>
              </a:rPr>
              <a:t>Do students notice, use or still need the support?</a:t>
            </a:r>
          </a:p>
        </p:txBody>
      </p:sp>
      <p:sp>
        <p:nvSpPr>
          <p:cNvPr id="22" name="">
            <a:extLst xmlns:a="http://schemas.openxmlformats.org/drawingml/2006/main">
              <a:ext uri="{FF2B5EF4-FFF2-40B4-BE49-F238E27FC236}">
                <a16:creationId xmlns:a16="http://schemas.microsoft.com/office/drawing/2014/main" id="{7B4C6807-343A-4305-A324-26F9BA3B9717}"/>
              </a:ext>
            </a:extLst>
          </p:cNvPr>
          <p:cNvSpPr>
            <a:spLocks xmlns:a="http://schemas.openxmlformats.org/drawingml/2006/main" noGrp="1"/>
          </p:cNvSpPr>
          <p:nvPr/>
        </p:nvSpPr>
        <p:spPr>
          <a:xfrm xmlns:a="http://schemas.openxmlformats.org/drawingml/2006/main">
            <a:off x="857250" y="4362450"/>
            <a:ext cx="10477500" cy="1447800"/>
          </a:xfrm>
          <a:prstGeom xmlns:a="http://schemas.openxmlformats.org/drawingml/2006/main" prst="roundRect">
            <a:avLst>
              <a:gd name="adj" fmla="val 5263"/>
            </a:avLst>
          </a:prstGeom>
          <a:solidFill xmlns:a="http://schemas.openxmlformats.org/drawingml/2006/main">
            <a:srgbClr val="E6F0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65951A2-72C9-4CFB-9D9F-A9E5F82E1A10}"/>
              </a:ext>
            </a:extLst>
          </p:cNvPr>
          <p:cNvSpPr>
            <a:spLocks xmlns:a="http://schemas.openxmlformats.org/drawingml/2006/main" noGrp="1"/>
          </p:cNvSpPr>
          <p:nvPr/>
        </p:nvSpPr>
        <p:spPr>
          <a:xfrm xmlns:a="http://schemas.openxmlformats.org/drawingml/2006/main">
            <a:off x="1143000" y="45720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176082"/>
                </a:solidFill>
                <a:latin typeface="Arial"/>
                <a:ea typeface="Arial"/>
                <a:cs typeface="Arial"/>
              </a:defRPr>
            </a:pPr>
            <a:r>
              <a:rPr sz="1125" b="1" i="0">
                <a:solidFill>
                  <a:srgbClr val="176082"/>
                </a:solidFill>
                <a:latin typeface="Arial"/>
                <a:ea typeface="Arial"/>
                <a:cs typeface="Arial"/>
              </a:rPr>
              <a:t>TEXTUAL DISTRIBUTION</a:t>
            </a:r>
          </a:p>
        </p:txBody>
      </p:sp>
      <p:sp>
        <p:nvSpPr>
          <p:cNvPr id="24" name="">
            <a:extLst xmlns:a="http://schemas.openxmlformats.org/drawingml/2006/main">
              <a:ext uri="{FF2B5EF4-FFF2-40B4-BE49-F238E27FC236}">
                <a16:creationId xmlns:a16="http://schemas.microsoft.com/office/drawing/2014/main" id="{40C7FFBE-92D0-4E1C-854B-0D44181CE765}"/>
              </a:ext>
            </a:extLst>
          </p:cNvPr>
          <p:cNvSpPr>
            <a:spLocks xmlns:a="http://schemas.openxmlformats.org/drawingml/2006/main" noGrp="1"/>
          </p:cNvSpPr>
          <p:nvPr/>
        </p:nvSpPr>
        <p:spPr>
          <a:xfrm xmlns:a="http://schemas.openxmlformats.org/drawingml/2006/main">
            <a:off x="1143000" y="491490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490"/>
          </a:bodyPr>
          <a:lstStyle xmlns:a="http://schemas.openxmlformats.org/drawingml/2006/main"/>
          <a:p xmlns:a="http://schemas.openxmlformats.org/drawingml/2006/main">
            <a:pPr algn="l">
              <a:defRPr sz="1275" b="1" i="0">
                <a:solidFill>
                  <a:srgbClr val="33343F"/>
                </a:solidFill>
                <a:latin typeface="Arial"/>
                <a:ea typeface="Arial"/>
                <a:cs typeface="Arial"/>
              </a:defRPr>
            </a:pPr>
            <a:r>
              <a:rPr sz="1275" b="1" i="0">
                <a:solidFill>
                  <a:srgbClr val="33343F"/>
                </a:solidFill>
                <a:latin typeface="Arial"/>
                <a:ea typeface="Arial"/>
                <a:cs typeface="Arial"/>
              </a:rPr>
              <a:t>Coverage: support at 4 of 6 eligible first introductions</a:t>
            </a:r>
          </a:p>
        </p:txBody>
      </p:sp>
      <p:sp>
        <p:nvSpPr>
          <p:cNvPr id="25" name="">
            <a:extLst xmlns:a="http://schemas.openxmlformats.org/drawingml/2006/main">
              <a:ext uri="{FF2B5EF4-FFF2-40B4-BE49-F238E27FC236}">
                <a16:creationId xmlns:a16="http://schemas.microsoft.com/office/drawing/2014/main" id="{C244FFD9-211E-4889-A3AD-C5077F56A4B6}"/>
              </a:ext>
            </a:extLst>
          </p:cNvPr>
          <p:cNvSpPr>
            <a:spLocks xmlns:a="http://schemas.openxmlformats.org/drawingml/2006/main" noGrp="1"/>
          </p:cNvSpPr>
          <p:nvPr/>
        </p:nvSpPr>
        <p:spPr>
          <a:xfrm xmlns:a="http://schemas.openxmlformats.org/drawingml/2006/main">
            <a:off x="1143000" y="5248275"/>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490"/>
          </a:bodyPr>
          <a:lstStyle xmlns:a="http://schemas.openxmlformats.org/drawingml/2006/main"/>
          <a:p xmlns:a="http://schemas.openxmlformats.org/drawingml/2006/main">
            <a:pPr algn="l">
              <a:defRPr sz="1275" b="0" i="0">
                <a:solidFill>
                  <a:srgbClr val="33343F"/>
                </a:solidFill>
                <a:latin typeface="Arial"/>
                <a:ea typeface="Arial"/>
                <a:cs typeface="Arial"/>
              </a:defRPr>
            </a:pPr>
            <a:r>
              <a:rPr sz="1275" b="0" i="0">
                <a:solidFill>
                  <a:srgbClr val="33343F"/>
                </a:solidFill>
                <a:latin typeface="Arial"/>
                <a:ea typeface="Arial"/>
                <a:cs typeface="Arial"/>
              </a:rPr>
              <a:t>Timing: 3 at first mention, 1 delayed</a:t>
            </a:r>
          </a:p>
        </p:txBody>
      </p:sp>
      <p:sp>
        <p:nvSpPr>
          <p:cNvPr id="26" name="">
            <a:extLst xmlns:a="http://schemas.openxmlformats.org/drawingml/2006/main">
              <a:ext uri="{FF2B5EF4-FFF2-40B4-BE49-F238E27FC236}">
                <a16:creationId xmlns:a16="http://schemas.microsoft.com/office/drawing/2014/main" id="{87F47970-C3C2-4E1A-874B-3236339392E2}"/>
              </a:ext>
            </a:extLst>
          </p:cNvPr>
          <p:cNvSpPr>
            <a:spLocks xmlns:a="http://schemas.openxmlformats.org/drawingml/2006/main" noGrp="1"/>
          </p:cNvSpPr>
          <p:nvPr/>
        </p:nvSpPr>
        <p:spPr>
          <a:xfrm xmlns:a="http://schemas.openxmlformats.org/drawingml/2006/main">
            <a:off x="1143000" y="552450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490"/>
          </a:bodyPr>
          <a:lstStyle xmlns:a="http://schemas.openxmlformats.org/drawingml/2006/main"/>
          <a:p xmlns:a="http://schemas.openxmlformats.org/drawingml/2006/main">
            <a:pPr algn="l">
              <a:defRPr sz="1275" b="0" i="0">
                <a:solidFill>
                  <a:srgbClr val="33343F"/>
                </a:solidFill>
                <a:latin typeface="Arial"/>
                <a:ea typeface="Arial"/>
                <a:cs typeface="Arial"/>
              </a:defRPr>
            </a:pPr>
            <a:r>
              <a:rPr sz="1275" b="0" i="0">
                <a:solidFill>
                  <a:srgbClr val="33343F"/>
                </a:solidFill>
                <a:latin typeface="Arial"/>
                <a:ea typeface="Arial"/>
                <a:cs typeface="Arial"/>
              </a:rPr>
              <a:t>Spread: support appears in 4 of 5 sampled chapters</a:t>
            </a:r>
          </a:p>
        </p:txBody>
      </p:sp>
      <p:sp>
        <p:nvSpPr>
          <p:cNvPr id="27" name="">
            <a:extLst xmlns:a="http://schemas.openxmlformats.org/drawingml/2006/main">
              <a:ext uri="{FF2B5EF4-FFF2-40B4-BE49-F238E27FC236}">
                <a16:creationId xmlns:a16="http://schemas.microsoft.com/office/drawing/2014/main" id="{7F24E28A-FEA8-4B33-B1C9-B03A70FA07F6}"/>
              </a:ext>
            </a:extLst>
          </p:cNvPr>
          <p:cNvSpPr>
            <a:spLocks xmlns:a="http://schemas.openxmlformats.org/drawingml/2006/main" noGrp="1"/>
          </p:cNvSpPr>
          <p:nvPr/>
        </p:nvSpPr>
        <p:spPr>
          <a:xfrm xmlns:a="http://schemas.openxmlformats.org/drawingml/2006/main">
            <a:off x="6477000" y="4572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D58C00"/>
                </a:solidFill>
                <a:latin typeface="Arial"/>
                <a:ea typeface="Arial"/>
                <a:cs typeface="Arial"/>
              </a:defRPr>
            </a:pPr>
            <a:r>
              <a:rPr sz="1125" b="1" i="0">
                <a:solidFill>
                  <a:srgbClr val="D58C00"/>
                </a:solidFill>
                <a:latin typeface="Arial"/>
                <a:ea typeface="Arial"/>
                <a:cs typeface="Arial"/>
              </a:rPr>
              <a:t>PERCEIVED DISTRIBUTION</a:t>
            </a:r>
          </a:p>
        </p:txBody>
      </p:sp>
      <p:sp>
        <p:nvSpPr>
          <p:cNvPr id="28" name="">
            <a:extLst xmlns:a="http://schemas.openxmlformats.org/drawingml/2006/main">
              <a:ext uri="{FF2B5EF4-FFF2-40B4-BE49-F238E27FC236}">
                <a16:creationId xmlns:a16="http://schemas.microsoft.com/office/drawing/2014/main" id="{38DEB8B1-6E2E-46B7-9B9B-08A540EA7171}"/>
              </a:ext>
            </a:extLst>
          </p:cNvPr>
          <p:cNvSpPr>
            <a:spLocks xmlns:a="http://schemas.openxmlformats.org/drawingml/2006/main" noGrp="1"/>
          </p:cNvSpPr>
          <p:nvPr/>
        </p:nvSpPr>
        <p:spPr>
          <a:xfrm xmlns:a="http://schemas.openxmlformats.org/drawingml/2006/main">
            <a:off x="6477000" y="4962525"/>
            <a:ext cx="4048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86"/>
          </a:bodyPr>
          <a:lstStyle xmlns:a="http://schemas.openxmlformats.org/drawingml/2006/main"/>
          <a:p xmlns:a="http://schemas.openxmlformats.org/drawingml/2006/main">
            <a:pPr algn="l">
              <a:defRPr sz="1350" b="1" i="0">
                <a:solidFill>
                  <a:srgbClr val="33343F"/>
                </a:solidFill>
                <a:latin typeface="Arial"/>
                <a:ea typeface="Arial"/>
                <a:cs typeface="Arial"/>
              </a:defRPr>
            </a:pPr>
            <a:r>
              <a:rPr sz="1350" b="1" i="0">
                <a:solidFill>
                  <a:srgbClr val="33343F"/>
                </a:solidFill>
                <a:latin typeface="Arial"/>
                <a:ea typeface="Arial"/>
                <a:cs typeface="Arial"/>
              </a:rPr>
              <a:t>9 of 20 participants mention the need or support</a:t>
            </a:r>
          </a:p>
        </p:txBody>
      </p:sp>
      <p:sp>
        <p:nvSpPr>
          <p:cNvPr id="29" name="">
            <a:extLst xmlns:a="http://schemas.openxmlformats.org/drawingml/2006/main">
              <a:ext uri="{FF2B5EF4-FFF2-40B4-BE49-F238E27FC236}">
                <a16:creationId xmlns:a16="http://schemas.microsoft.com/office/drawing/2014/main" id="{9780CA8E-CCD8-4C9E-B1D5-4D1C4C885188}"/>
              </a:ext>
            </a:extLst>
          </p:cNvPr>
          <p:cNvSpPr>
            <a:spLocks xmlns:a="http://schemas.openxmlformats.org/drawingml/2006/main" noGrp="1"/>
          </p:cNvSpPr>
          <p:nvPr/>
        </p:nvSpPr>
        <p:spPr>
          <a:xfrm xmlns:a="http://schemas.openxmlformats.org/drawingml/2006/main">
            <a:off x="6477000" y="5467350"/>
            <a:ext cx="404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626777"/>
                </a:solidFill>
                <a:latin typeface="Arial"/>
                <a:ea typeface="Arial"/>
                <a:cs typeface="Arial"/>
              </a:defRPr>
            </a:pPr>
            <a:r>
              <a:rPr sz="1200" b="0" i="0">
                <a:solidFill>
                  <a:srgbClr val="626777"/>
                </a:solidFill>
                <a:latin typeface="Arial"/>
                <a:ea typeface="Arial"/>
                <a:cs typeface="Arial"/>
              </a:rPr>
              <a:t>Keep this separate from the textbook count.</a:t>
            </a:r>
          </a:p>
        </p:txBody>
      </p:sp>
      <p:sp>
        <p:nvSpPr>
          <p:cNvPr id="30" name="">
            <a:extLst xmlns:a="http://schemas.openxmlformats.org/drawingml/2006/main">
              <a:ext uri="{FF2B5EF4-FFF2-40B4-BE49-F238E27FC236}">
                <a16:creationId xmlns:a16="http://schemas.microsoft.com/office/drawing/2014/main" id="{962050D7-0954-4E6E-A085-F242378EADE6}"/>
              </a:ext>
            </a:extLst>
          </p:cNvPr>
          <p:cNvSpPr>
            <a:spLocks xmlns:a="http://schemas.openxmlformats.org/drawingml/2006/main" noGrp="1"/>
          </p:cNvSpPr>
          <p:nvPr/>
        </p:nvSpPr>
        <p:spPr>
          <a:xfrm xmlns:a="http://schemas.openxmlformats.org/drawingml/2006/main">
            <a:off x="809625" y="6162675"/>
            <a:ext cx="1057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00"/>
          </a:bodyPr>
          <a:lstStyle xmlns:a="http://schemas.openxmlformats.org/drawingml/2006/main"/>
          <a:p xmlns:a="http://schemas.openxmlformats.org/drawingml/2006/main">
            <a:pPr algn="ctr">
              <a:defRPr sz="750" b="0" i="1">
                <a:solidFill>
                  <a:srgbClr val="626777"/>
                </a:solidFill>
                <a:latin typeface="Arial"/>
                <a:ea typeface="Arial"/>
                <a:cs typeface="Arial"/>
              </a:defRPr>
            </a:pPr>
            <a:r>
              <a:rPr sz="750" b="0" i="1">
                <a:solidFill>
                  <a:srgbClr val="626777"/>
                </a:solidFill>
                <a:latin typeface="Arial"/>
                <a:ea typeface="Arial"/>
                <a:cs typeface="Arial"/>
              </a:rPr>
              <a:t>Terminology adapted from Mauranen et al., 2016, p. 46; MIWAE operationalises distribution through coverage, timing and spread</a:t>
            </a:r>
          </a:p>
        </p:txBody>
      </p:sp>
      <p:sp>
        <p:nvSpPr>
          <p:cNvPr id="31" name="">
            <a:extLst xmlns:a="http://schemas.openxmlformats.org/drawingml/2006/main">
              <a:ext uri="{FF2B5EF4-FFF2-40B4-BE49-F238E27FC236}">
                <a16:creationId xmlns:a16="http://schemas.microsoft.com/office/drawing/2014/main" id="{CE1B56D0-91B4-4E72-8BBA-43D70D9AAF7D}"/>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2" name="">
            <a:extLst xmlns:a="http://schemas.openxmlformats.org/drawingml/2006/main">
              <a:ext uri="{FF2B5EF4-FFF2-40B4-BE49-F238E27FC236}">
                <a16:creationId xmlns:a16="http://schemas.microsoft.com/office/drawing/2014/main" id="{29E2914A-081B-4F17-9358-D8837BEB53FD}"/>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591029057"/>
      </p:ext>
    </p:extLst>
  </p:cSld>
</p:sld>
</file>

<file path=ppt/slides/slide2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81A46A-9CE1-4511-B259-352E281D0D01}"/>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CFA504-AD82-4356-8AE4-8E99B7DB8247}"/>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
            <a:extLst xmlns:a="http://schemas.openxmlformats.org/drawingml/2006/main">
              <a:ext uri="{FF2B5EF4-FFF2-40B4-BE49-F238E27FC236}">
                <a16:creationId xmlns:a16="http://schemas.microsoft.com/office/drawing/2014/main" id="{075E752C-259B-43D4-AE95-00136BDA209A}"/>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Forms and distributions use explicit coding indicators</a:t>
            </a:r>
          </a:p>
        </p:txBody>
      </p:sp>
      <p:sp>
        <p:nvSpPr>
          <p:cNvPr id="4" name="">
            <a:extLst xmlns:a="http://schemas.openxmlformats.org/drawingml/2006/main">
              <a:ext uri="{FF2B5EF4-FFF2-40B4-BE49-F238E27FC236}">
                <a16:creationId xmlns:a16="http://schemas.microsoft.com/office/drawing/2014/main" id="{7606950B-F65D-4D69-A9C9-5A75A8307DA4}"/>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487EA4E0-3DC3-4D9A-A7A8-3FAA533D477B}"/>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23</a:t>
            </a:r>
          </a:p>
        </p:txBody>
      </p:sp>
      <p:graphicFrame>
        <p:nvGraphicFramePr>
          <p:cNvPr id="15" name=""/>
          <p:cNvGraphicFramePr/>
          <p:nvPr/>
        </p:nvGraphicFramePr>
        <p:xfrm>
          <a:off xmlns:a="http://schemas.openxmlformats.org/drawingml/2006/main" x="552450" y="1581150"/>
          <a:ext xmlns:a="http://schemas.openxmlformats.org/drawingml/2006/main" cx="11096625" cy="4429125"/>
        </p:xfrm>
        <a:graphic xmlns:a="http://schemas.openxmlformats.org/drawingml/2006/main">
          <a:graphicData uri="http://schemas.openxmlformats.org/drawingml/2006/table">
            <a:tbl>
              <a:tblPr/>
              <a:tblGrid>
                <a:gridCol w="3095625"/>
                <a:gridCol w="3714750"/>
                <a:gridCol w="4286250"/>
              </a:tblGrid>
              <a:tr h="428625">
                <a:tc>
                  <a:txBody>
                    <a:bodyPr/>
                    <a:lstStyle/>
                    <a:p>
                      <a:r>
                        <a:rPr sz="1125" b="1">
                          <a:solidFill>
                            <a:srgbClr val="FFFFFF"/>
                          </a:solidFill>
                          <a:latin typeface="Arial"/>
                          <a:ea typeface="Arial"/>
                          <a:cs typeface="Arial"/>
                        </a:rPr>
                        <a:t>Function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Observable forms to code</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Distribution indicators</a:t>
                      </a:r>
                    </a:p>
                  </a:txBody>
                  <a:tcPr marL="95250" marR="95250" marT="76200" marB="66675" anchor="ctr">
                    <a:solidFill>
                      <a:srgbClr val="123B53"/>
                    </a:solidFill>
                  </a:tcPr>
                </a:tc>
              </a:tr>
              <a:tr h="571500">
                <a:tc>
                  <a:txBody>
                    <a:bodyPr/>
                    <a:lstStyle/>
                    <a:p>
                      <a:r>
                        <a:rPr sz="907" b="1">
                          <a:solidFill>
                            <a:srgbClr val="176082"/>
                          </a:solidFill>
                          <a:latin typeface="Arial"/>
                          <a:ea typeface="Arial"/>
                          <a:cs typeface="Arial"/>
                        </a:rPr>
                        <a:t>1  Access to disciplinary meanings</a:t>
                      </a:r>
                    </a:p>
                  </a:txBody>
                  <a:tcPr marL="95250" marR="95250" marT="66675" marB="66675" anchor="ctr">
                    <a:solidFill>
                      <a:srgbClr val="E6F0F5"/>
                    </a:solidFill>
                  </a:tcPr>
                </a:tc>
                <a:tc>
                  <a:txBody>
                    <a:bodyPr/>
                    <a:lstStyle/>
                    <a:p>
                      <a:r>
                        <a:rPr sz="907">
                          <a:solidFill>
                            <a:srgbClr val="33343F"/>
                          </a:solidFill>
                          <a:latin typeface="Arial"/>
                          <a:ea typeface="Arial"/>
                          <a:cs typeface="Arial"/>
                        </a:rPr>
                        <a:t>Definition, gloss, adjacent paraphrase, worked example</a:t>
                      </a:r>
                    </a:p>
                  </a:txBody>
                  <a:tcPr marL="95250" marR="95250" marT="66675" marB="66675" anchor="ctr">
                    <a:solidFill>
                      <a:srgbClr val="FFFFFF"/>
                    </a:solidFill>
                  </a:tcPr>
                </a:tc>
                <a:tc>
                  <a:txBody>
                    <a:bodyPr/>
                    <a:lstStyle/>
                    <a:p>
                      <a:r>
                        <a:rPr sz="907">
                          <a:solidFill>
                            <a:srgbClr val="33343F"/>
                          </a:solidFill>
                          <a:latin typeface="Arial"/>
                          <a:ea typeface="Arial"/>
                          <a:cs typeface="Arial"/>
                        </a:rPr>
                        <a:t>First-use coverage, proximity to the term, recurrence when meaning shifts</a:t>
                      </a:r>
                    </a:p>
                  </a:txBody>
                  <a:tcPr marL="95250" marR="95250" marT="66675" marB="66675" anchor="ctr">
                    <a:solidFill>
                      <a:srgbClr val="FFFFFF"/>
                    </a:solidFill>
                  </a:tcPr>
                </a:tc>
              </a:tr>
              <a:tr h="571500">
                <a:tc>
                  <a:txBody>
                    <a:bodyPr/>
                    <a:lstStyle/>
                    <a:p>
                      <a:r>
                        <a:rPr sz="907" b="1">
                          <a:solidFill>
                            <a:srgbClr val="176082"/>
                          </a:solidFill>
                          <a:latin typeface="Arial"/>
                          <a:ea typeface="Arial"/>
                          <a:cs typeface="Arial"/>
                        </a:rPr>
                        <a:t>2  Orientation and navigation</a:t>
                      </a:r>
                    </a:p>
                  </a:txBody>
                  <a:tcPr marL="95250" marR="95250" marT="66675" marB="66675" anchor="ctr">
                    <a:solidFill>
                      <a:srgbClr val="E6F0F5"/>
                    </a:solidFill>
                  </a:tcPr>
                </a:tc>
                <a:tc>
                  <a:txBody>
                    <a:bodyPr/>
                    <a:lstStyle/>
                    <a:p>
                      <a:r>
                        <a:rPr sz="907">
                          <a:solidFill>
                            <a:srgbClr val="33343F"/>
                          </a:solidFill>
                          <a:latin typeface="Arial"/>
                          <a:ea typeface="Arial"/>
                          <a:cs typeface="Arial"/>
                        </a:rPr>
                        <a:t>Preview, roadmap, heading, recap, cross-reference</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at openings and transitions, chapter spread, consistency</a:t>
                      </a:r>
                    </a:p>
                  </a:txBody>
                  <a:tcPr marL="95250" marR="95250" marT="66675" marB="66675" anchor="ctr">
                    <a:solidFill>
                      <a:srgbClr val="FFFFFF"/>
                    </a:solidFill>
                  </a:tcPr>
                </a:tc>
              </a:tr>
              <a:tr h="571500">
                <a:tc>
                  <a:txBody>
                    <a:bodyPr/>
                    <a:lstStyle/>
                    <a:p>
                      <a:r>
                        <a:rPr sz="907" b="1">
                          <a:solidFill>
                            <a:srgbClr val="176082"/>
                          </a:solidFill>
                          <a:latin typeface="Arial"/>
                          <a:ea typeface="Arial"/>
                          <a:cs typeface="Arial"/>
                        </a:rPr>
                        <a:t>3  Rhetorical relations and importance</a:t>
                      </a:r>
                    </a:p>
                  </a:txBody>
                  <a:tcPr marL="95250" marR="95250" marT="66675" marB="66675" anchor="ctr">
                    <a:solidFill>
                      <a:srgbClr val="E6F0F5"/>
                    </a:solidFill>
                  </a:tcPr>
                </a:tc>
                <a:tc>
                  <a:txBody>
                    <a:bodyPr/>
                    <a:lstStyle/>
                    <a:p>
                      <a:r>
                        <a:rPr sz="907">
                          <a:solidFill>
                            <a:srgbClr val="33343F"/>
                          </a:solidFill>
                          <a:latin typeface="Arial"/>
                          <a:ea typeface="Arial"/>
                          <a:cs typeface="Arial"/>
                        </a:rPr>
                        <a:t>Contrast, cause or qualification marker, importance cue</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of eligible relations, placement before or after the claim, dispersion across modes</a:t>
                      </a:r>
                    </a:p>
                  </a:txBody>
                  <a:tcPr marL="95250" marR="95250" marT="66675" marB="66675" anchor="ctr">
                    <a:solidFill>
                      <a:srgbClr val="FFFFFF"/>
                    </a:solidFill>
                  </a:tcPr>
                </a:tc>
              </a:tr>
              <a:tr h="571500">
                <a:tc>
                  <a:txBody>
                    <a:bodyPr/>
                    <a:lstStyle/>
                    <a:p>
                      <a:r>
                        <a:rPr sz="907" b="1">
                          <a:solidFill>
                            <a:srgbClr val="176082"/>
                          </a:solidFill>
                          <a:latin typeface="Arial"/>
                          <a:ea typeface="Arial"/>
                          <a:cs typeface="Arial"/>
                        </a:rPr>
                        <a:t>4  Background knowledge</a:t>
                      </a:r>
                    </a:p>
                  </a:txBody>
                  <a:tcPr marL="95250" marR="95250" marT="66675" marB="66675" anchor="ctr">
                    <a:solidFill>
                      <a:srgbClr val="E6F0F5"/>
                    </a:solidFill>
                  </a:tcPr>
                </a:tc>
                <a:tc>
                  <a:txBody>
                    <a:bodyPr/>
                    <a:lstStyle/>
                    <a:p>
                      <a:r>
                        <a:rPr sz="907">
                          <a:solidFill>
                            <a:srgbClr val="33343F"/>
                          </a:solidFill>
                          <a:latin typeface="Arial"/>
                          <a:ea typeface="Arial"/>
                          <a:cs typeface="Arial"/>
                        </a:rPr>
                        <a:t>Context note, analogy, familiar label, local-reference gloss</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at assumed-knowledge points, timing, purposeful repetition</a:t>
                      </a:r>
                    </a:p>
                  </a:txBody>
                  <a:tcPr marL="95250" marR="95250" marT="66675" marB="66675" anchor="ctr">
                    <a:solidFill>
                      <a:srgbClr val="FFFFFF"/>
                    </a:solidFill>
                  </a:tcPr>
                </a:tc>
              </a:tr>
              <a:tr h="571500">
                <a:tc>
                  <a:txBody>
                    <a:bodyPr/>
                    <a:lstStyle/>
                    <a:p>
                      <a:r>
                        <a:rPr sz="907" b="1">
                          <a:solidFill>
                            <a:srgbClr val="176082"/>
                          </a:solidFill>
                          <a:latin typeface="Arial"/>
                          <a:ea typeface="Arial"/>
                          <a:cs typeface="Arial"/>
                        </a:rPr>
                        <a:t>5  Conceptual continuity</a:t>
                      </a:r>
                    </a:p>
                  </a:txBody>
                  <a:tcPr marL="95250" marR="95250" marT="66675" marB="66675" anchor="ctr">
                    <a:solidFill>
                      <a:srgbClr val="E6F0F5"/>
                    </a:solidFill>
                  </a:tcPr>
                </a:tc>
                <a:tc>
                  <a:txBody>
                    <a:bodyPr/>
                    <a:lstStyle/>
                    <a:p>
                      <a:r>
                        <a:rPr sz="907">
                          <a:solidFill>
                            <a:srgbClr val="33343F"/>
                          </a:solidFill>
                          <a:latin typeface="Arial"/>
                          <a:ea typeface="Arial"/>
                          <a:cs typeface="Arial"/>
                        </a:rPr>
                        <a:t>Recall cue, bridge, restatement, backward or forward reference</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at conceptual dependencies, distance from prior content, recurrence</a:t>
                      </a:r>
                    </a:p>
                  </a:txBody>
                  <a:tcPr marL="95250" marR="95250" marT="66675" marB="66675" anchor="ctr">
                    <a:solidFill>
                      <a:srgbClr val="FFFFFF"/>
                    </a:solidFill>
                  </a:tcPr>
                </a:tc>
              </a:tr>
              <a:tr h="571500">
                <a:tc>
                  <a:txBody>
                    <a:bodyPr/>
                    <a:lstStyle/>
                    <a:p>
                      <a:r>
                        <a:rPr sz="907" b="1">
                          <a:solidFill>
                            <a:srgbClr val="176082"/>
                          </a:solidFill>
                          <a:latin typeface="Arial"/>
                          <a:ea typeface="Arial"/>
                          <a:cs typeface="Arial"/>
                        </a:rPr>
                        <a:t>6  Reader engagement and self-monitoring</a:t>
                      </a:r>
                    </a:p>
                  </a:txBody>
                  <a:tcPr marL="95250" marR="95250" marT="66675" marB="66675" anchor="ctr">
                    <a:solidFill>
                      <a:srgbClr val="E6F0F5"/>
                    </a:solidFill>
                  </a:tcPr>
                </a:tc>
                <a:tc>
                  <a:txBody>
                    <a:bodyPr/>
                    <a:lstStyle/>
                    <a:p>
                      <a:r>
                        <a:rPr sz="907">
                          <a:solidFill>
                            <a:srgbClr val="33343F"/>
                          </a:solidFill>
                          <a:latin typeface="Arial"/>
                          <a:ea typeface="Arial"/>
                          <a:cs typeface="Arial"/>
                        </a:rPr>
                        <a:t>Question, self-check, pause prompt, worked reasoning</a:t>
                      </a:r>
                    </a:p>
                  </a:txBody>
                  <a:tcPr marL="95250" marR="95250" marT="66675" marB="66675" anchor="ctr">
                    <a:solidFill>
                      <a:srgbClr val="FFFFFF"/>
                    </a:solidFill>
                  </a:tcPr>
                </a:tc>
                <a:tc>
                  <a:txBody>
                    <a:bodyPr/>
                    <a:lstStyle/>
                    <a:p>
                      <a:r>
                        <a:rPr sz="907">
                          <a:solidFill>
                            <a:srgbClr val="33343F"/>
                          </a:solidFill>
                          <a:latin typeface="Arial"/>
                          <a:ea typeface="Arial"/>
                          <a:cs typeface="Arial"/>
                        </a:rPr>
                        <a:t>Density per section, placement after the learning point, feedback availability</a:t>
                      </a:r>
                    </a:p>
                  </a:txBody>
                  <a:tcPr marL="95250" marR="95250" marT="66675" marB="66675" anchor="ctr">
                    <a:solidFill>
                      <a:srgbClr val="FFFFFF"/>
                    </a:solidFill>
                  </a:tcPr>
                </a:tc>
              </a:tr>
              <a:tr h="571500">
                <a:tc>
                  <a:txBody>
                    <a:bodyPr/>
                    <a:lstStyle/>
                    <a:p>
                      <a:r>
                        <a:rPr sz="907" b="1">
                          <a:solidFill>
                            <a:srgbClr val="176082"/>
                          </a:solidFill>
                          <a:latin typeface="Arial"/>
                          <a:ea typeface="Arial"/>
                          <a:cs typeface="Arial"/>
                        </a:rPr>
                        <a:t>7  Multimodal and numeric scaffolding</a:t>
                      </a:r>
                    </a:p>
                  </a:txBody>
                  <a:tcPr marL="95250" marR="95250" marT="66675" marB="66675" anchor="ctr">
                    <a:solidFill>
                      <a:srgbClr val="E6F0F5"/>
                    </a:solidFill>
                  </a:tcPr>
                </a:tc>
                <a:tc>
                  <a:txBody>
                    <a:bodyPr/>
                    <a:lstStyle/>
                    <a:p>
                      <a:r>
                        <a:rPr sz="907">
                          <a:solidFill>
                            <a:srgbClr val="33343F"/>
                          </a:solidFill>
                          <a:latin typeface="Arial"/>
                          <a:ea typeface="Arial"/>
                          <a:cs typeface="Arial"/>
                        </a:rPr>
                        <a:t>Label, caption, figure reference, worked graph, aligned notation</a:t>
                      </a:r>
                    </a:p>
                  </a:txBody>
                  <a:tcPr marL="95250" marR="95250" marT="66675" marB="66675" anchor="ctr">
                    <a:solidFill>
                      <a:srgbClr val="FFFFFF"/>
                    </a:solidFill>
                  </a:tcPr>
                </a:tc>
                <a:tc>
                  <a:txBody>
                    <a:bodyPr/>
                    <a:lstStyle/>
                    <a:p>
                      <a:r>
                        <a:rPr sz="907">
                          <a:solidFill>
                            <a:srgbClr val="33343F"/>
                          </a:solidFill>
                          <a:latin typeface="Arial"/>
                          <a:ea typeface="Arial"/>
                          <a:cs typeface="Arial"/>
                        </a:rPr>
                        <a:t>Coverage of visual opportunities, co-location with prose, cross-chapter consistency</a:t>
                      </a:r>
                    </a:p>
                  </a:txBody>
                  <a:tcPr marL="95250" marR="9525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6600810-193F-4C61-8822-6A256E2CC150}"/>
              </a:ext>
            </a:extLst>
          </p:cNvPr>
          <p:cNvSpPr>
            <a:spLocks xmlns:a="http://schemas.openxmlformats.org/drawingml/2006/main" noGrp="1"/>
          </p:cNvSpPr>
          <p:nvPr/>
        </p:nvSpPr>
        <p:spPr>
          <a:xfrm xmlns:a="http://schemas.openxmlformats.org/drawingml/2006/main">
            <a:off x="1428750" y="6076950"/>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B94D35"/>
                </a:solidFill>
                <a:latin typeface="Arial"/>
                <a:ea typeface="Arial"/>
                <a:cs typeface="Arial"/>
              </a:defRPr>
            </a:pPr>
            <a:r>
              <a:rPr sz="1125" b="1" i="0">
                <a:solidFill>
                  <a:srgbClr val="B94D35"/>
                </a:solidFill>
                <a:latin typeface="Arial"/>
                <a:ea typeface="Arial"/>
                <a:cs typeface="Arial"/>
              </a:rPr>
              <a:t>Distribution needs a denominator: supported opportunities ÷ eligible opportunities in the matched sample.</a:t>
            </a:r>
          </a:p>
        </p:txBody>
      </p:sp>
      <p:sp>
        <p:nvSpPr>
          <p:cNvPr id="8" name="">
            <a:extLst xmlns:a="http://schemas.openxmlformats.org/drawingml/2006/main">
              <a:ext uri="{FF2B5EF4-FFF2-40B4-BE49-F238E27FC236}">
                <a16:creationId xmlns:a16="http://schemas.microsoft.com/office/drawing/2014/main" id="{B29BB236-8697-4A1C-874E-2335D6F4892C}"/>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EBE3E927-7879-4296-A6CA-E2B45F6D9991}"/>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122042970"/>
      </p:ext>
    </p:extLst>
  </p:cSld>
</p:sld>
</file>

<file path=ppt/slides/slide2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C3B8F6F-033F-41B2-947C-0873C31F8872}"/>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1773D-F6C4-4814-A65B-38945578AEBB}"/>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
            <a:extLst xmlns:a="http://schemas.openxmlformats.org/drawingml/2006/main">
              <a:ext uri="{FF2B5EF4-FFF2-40B4-BE49-F238E27FC236}">
                <a16:creationId xmlns:a16="http://schemas.microsoft.com/office/drawing/2014/main" id="{FB631286-DA5B-4EB1-ADDE-E3E1146A93FD}"/>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MIWAE coursebook-fit review in six steps</a:t>
            </a:r>
          </a:p>
        </p:txBody>
      </p:sp>
      <p:sp>
        <p:nvSpPr>
          <p:cNvPr id="4" name="">
            <a:extLst xmlns:a="http://schemas.openxmlformats.org/drawingml/2006/main">
              <a:ext uri="{FF2B5EF4-FFF2-40B4-BE49-F238E27FC236}">
                <a16:creationId xmlns:a16="http://schemas.microsoft.com/office/drawing/2014/main" id="{6A23FE4F-8997-4E95-946E-864DDF9A4596}"/>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B5BCFF29-8FB8-433A-AF3B-9CB95CAFA662}"/>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A0449BD3-DD56-4836-9576-BAE258F56634}"/>
              </a:ext>
            </a:extLst>
          </p:cNvPr>
          <p:cNvSpPr>
            <a:spLocks xmlns:a="http://schemas.openxmlformats.org/drawingml/2006/main" noGrp="1"/>
          </p:cNvSpPr>
          <p:nvPr/>
        </p:nvSpPr>
        <p:spPr>
          <a:xfrm xmlns:a="http://schemas.openxmlformats.org/drawingml/2006/main">
            <a:off x="619125" y="1714500"/>
            <a:ext cx="3476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3E913E9C-26D6-4B17-A7A3-8756C43ACD55}"/>
              </a:ext>
            </a:extLst>
          </p:cNvPr>
          <p:cNvSpPr>
            <a:spLocks xmlns:a="http://schemas.openxmlformats.org/drawingml/2006/main" noGrp="1"/>
          </p:cNvSpPr>
          <p:nvPr/>
        </p:nvSpPr>
        <p:spPr>
          <a:xfrm xmlns:a="http://schemas.openxmlformats.org/drawingml/2006/main">
            <a:off x="809625" y="1885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28"/>
          </a:bodyPr>
          <a:lstStyle xmlns:a="http://schemas.openxmlformats.org/drawingml/2006/main"/>
          <a:p xmlns:a="http://schemas.openxmlformats.org/drawingml/2006/main">
            <a:pPr algn="l">
              <a:defRPr sz="2100" b="1" i="0">
                <a:solidFill>
                  <a:srgbClr val="176082"/>
                </a:solidFill>
                <a:latin typeface="Arial"/>
                <a:ea typeface="Arial"/>
                <a:cs typeface="Arial"/>
              </a:defRPr>
            </a:pPr>
            <a:r>
              <a:rPr sz="2100" b="1" i="0">
                <a:solidFill>
                  <a:srgbClr val="176082"/>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90B3400B-80F1-4F5F-B3F7-6477B76B508A}"/>
              </a:ext>
            </a:extLst>
          </p:cNvPr>
          <p:cNvSpPr>
            <a:spLocks xmlns:a="http://schemas.openxmlformats.org/drawingml/2006/main" noGrp="1"/>
          </p:cNvSpPr>
          <p:nvPr/>
        </p:nvSpPr>
        <p:spPr>
          <a:xfrm xmlns:a="http://schemas.openxmlformats.org/drawingml/2006/main">
            <a:off x="857250" y="24384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759"/>
          </a:bodyPr>
          <a:lstStyle xmlns:a="http://schemas.openxmlformats.org/drawingml/2006/main"/>
          <a:p xmlns:a="http://schemas.openxmlformats.org/drawingml/2006/main">
            <a:pPr algn="l">
              <a:defRPr sz="1575" b="1" i="0">
                <a:solidFill>
                  <a:srgbClr val="33343F"/>
                </a:solidFill>
                <a:latin typeface="Arial"/>
                <a:ea typeface="Arial"/>
                <a:cs typeface="Arial"/>
              </a:defRPr>
            </a:pPr>
            <a:r>
              <a:rPr sz="1575" b="1" i="0">
                <a:solidFill>
                  <a:srgbClr val="33343F"/>
                </a:solidFill>
                <a:latin typeface="Arial"/>
                <a:ea typeface="Arial"/>
                <a:cs typeface="Arial"/>
              </a:rPr>
              <a:t>Profile the course and readers</a:t>
            </a:r>
          </a:p>
        </p:txBody>
      </p:sp>
      <p:sp>
        <p:nvSpPr>
          <p:cNvPr id="9" name="">
            <a:extLst xmlns:a="http://schemas.openxmlformats.org/drawingml/2006/main">
              <a:ext uri="{FF2B5EF4-FFF2-40B4-BE49-F238E27FC236}">
                <a16:creationId xmlns:a16="http://schemas.microsoft.com/office/drawing/2014/main" id="{E143792C-8C03-42AA-A71E-227DDF9FFA21}"/>
              </a:ext>
            </a:extLst>
          </p:cNvPr>
          <p:cNvSpPr>
            <a:spLocks xmlns:a="http://schemas.openxmlformats.org/drawingml/2006/main" noGrp="1"/>
          </p:cNvSpPr>
          <p:nvPr/>
        </p:nvSpPr>
        <p:spPr>
          <a:xfrm xmlns:a="http://schemas.openxmlformats.org/drawingml/2006/main">
            <a:off x="857250" y="3009900"/>
            <a:ext cx="3000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3333"/>
          </a:bodyPr>
          <a:lstStyle xmlns:a="http://schemas.openxmlformats.org/drawingml/2006/main"/>
          <a:p xmlns:a="http://schemas.openxmlformats.org/drawingml/2006/main">
            <a:pPr algn="l">
              <a:defRPr sz="1200" b="0" i="0">
                <a:solidFill>
                  <a:srgbClr val="626777"/>
                </a:solidFill>
                <a:latin typeface="Arial"/>
                <a:ea typeface="Arial"/>
                <a:cs typeface="Arial"/>
              </a:defRPr>
            </a:pPr>
            <a:r>
              <a:rPr sz="1200" b="0" i="0">
                <a:solidFill>
                  <a:srgbClr val="626777"/>
                </a:solidFill>
                <a:latin typeface="Arial"/>
                <a:ea typeface="Arial"/>
                <a:cs typeface="Arial"/>
              </a:rPr>
              <a:t>English level, year, prior knowledge and reading tasks</a:t>
            </a:r>
          </a:p>
        </p:txBody>
      </p:sp>
      <p:sp>
        <p:nvSpPr>
          <p:cNvPr id="10" name="">
            <a:extLst xmlns:a="http://schemas.openxmlformats.org/drawingml/2006/main">
              <a:ext uri="{FF2B5EF4-FFF2-40B4-BE49-F238E27FC236}">
                <a16:creationId xmlns:a16="http://schemas.microsoft.com/office/drawing/2014/main" id="{9D097B2B-8A9F-46ED-BD47-AC290C9437CE}"/>
              </a:ext>
            </a:extLst>
          </p:cNvPr>
          <p:cNvSpPr>
            <a:spLocks xmlns:a="http://schemas.openxmlformats.org/drawingml/2006/main" noGrp="1"/>
          </p:cNvSpPr>
          <p:nvPr/>
        </p:nvSpPr>
        <p:spPr>
          <a:xfrm xmlns:a="http://schemas.openxmlformats.org/drawingml/2006/main">
            <a:off x="4476750" y="1714500"/>
            <a:ext cx="3476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557CA059-863B-4B94-83A0-5007E3C2AF63}"/>
              </a:ext>
            </a:extLst>
          </p:cNvPr>
          <p:cNvSpPr>
            <a:spLocks xmlns:a="http://schemas.openxmlformats.org/drawingml/2006/main" noGrp="1"/>
          </p:cNvSpPr>
          <p:nvPr/>
        </p:nvSpPr>
        <p:spPr>
          <a:xfrm xmlns:a="http://schemas.openxmlformats.org/drawingml/2006/main">
            <a:off x="4667250" y="1885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28"/>
          </a:bodyPr>
          <a:lstStyle xmlns:a="http://schemas.openxmlformats.org/drawingml/2006/main"/>
          <a:p xmlns:a="http://schemas.openxmlformats.org/drawingml/2006/main">
            <a:pPr algn="l">
              <a:defRPr sz="2100" b="1" i="0">
                <a:solidFill>
                  <a:srgbClr val="176082"/>
                </a:solidFill>
                <a:latin typeface="Arial"/>
                <a:ea typeface="Arial"/>
                <a:cs typeface="Arial"/>
              </a:defRPr>
            </a:pPr>
            <a:r>
              <a:rPr sz="2100" b="1" i="0">
                <a:solidFill>
                  <a:srgbClr val="176082"/>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2935C4DC-D16C-470D-872F-AABD8BB9DFE7}"/>
              </a:ext>
            </a:extLst>
          </p:cNvPr>
          <p:cNvSpPr>
            <a:spLocks xmlns:a="http://schemas.openxmlformats.org/drawingml/2006/main" noGrp="1"/>
          </p:cNvSpPr>
          <p:nvPr/>
        </p:nvSpPr>
        <p:spPr>
          <a:xfrm xmlns:a="http://schemas.openxmlformats.org/drawingml/2006/main">
            <a:off x="4714875" y="24384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127"/>
          </a:bodyPr>
          <a:lstStyle xmlns:a="http://schemas.openxmlformats.org/drawingml/2006/main"/>
          <a:p xmlns:a="http://schemas.openxmlformats.org/drawingml/2006/main">
            <a:pPr algn="l">
              <a:defRPr sz="1575" b="1" i="0">
                <a:solidFill>
                  <a:srgbClr val="33343F"/>
                </a:solidFill>
                <a:latin typeface="Arial"/>
                <a:ea typeface="Arial"/>
                <a:cs typeface="Arial"/>
              </a:defRPr>
            </a:pPr>
            <a:r>
              <a:rPr sz="1575" b="1" i="0">
                <a:solidFill>
                  <a:srgbClr val="33343F"/>
                </a:solidFill>
                <a:latin typeface="Arial"/>
                <a:ea typeface="Arial"/>
                <a:cs typeface="Arial"/>
              </a:rPr>
              <a:t>Set priorities before inspecting books</a:t>
            </a:r>
          </a:p>
        </p:txBody>
      </p:sp>
      <p:sp>
        <p:nvSpPr>
          <p:cNvPr id="13" name="">
            <a:extLst xmlns:a="http://schemas.openxmlformats.org/drawingml/2006/main">
              <a:ext uri="{FF2B5EF4-FFF2-40B4-BE49-F238E27FC236}">
                <a16:creationId xmlns:a16="http://schemas.microsoft.com/office/drawing/2014/main" id="{F4F2B343-2350-42A8-8B42-64F75EF76321}"/>
              </a:ext>
            </a:extLst>
          </p:cNvPr>
          <p:cNvSpPr>
            <a:spLocks xmlns:a="http://schemas.openxmlformats.org/drawingml/2006/main" noGrp="1"/>
          </p:cNvSpPr>
          <p:nvPr/>
        </p:nvSpPr>
        <p:spPr>
          <a:xfrm xmlns:a="http://schemas.openxmlformats.org/drawingml/2006/main">
            <a:off x="4714875" y="3009900"/>
            <a:ext cx="3000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3333"/>
          </a:bodyPr>
          <a:lstStyle xmlns:a="http://schemas.openxmlformats.org/drawingml/2006/main"/>
          <a:p xmlns:a="http://schemas.openxmlformats.org/drawingml/2006/main">
            <a:pPr algn="l">
              <a:defRPr sz="1200" b="0" i="0">
                <a:solidFill>
                  <a:srgbClr val="626777"/>
                </a:solidFill>
                <a:latin typeface="Arial"/>
                <a:ea typeface="Arial"/>
                <a:cs typeface="Arial"/>
              </a:defRPr>
            </a:pPr>
            <a:r>
              <a:rPr sz="1200" b="0" i="0">
                <a:solidFill>
                  <a:srgbClr val="626777"/>
                </a:solidFill>
                <a:latin typeface="Arial"/>
                <a:ea typeface="Arial"/>
                <a:cs typeface="Arial"/>
              </a:rPr>
              <a:t>Mark each dimension essential, supporting or not applicable</a:t>
            </a:r>
          </a:p>
        </p:txBody>
      </p:sp>
      <p:sp>
        <p:nvSpPr>
          <p:cNvPr id="14" name="">
            <a:extLst xmlns:a="http://schemas.openxmlformats.org/drawingml/2006/main">
              <a:ext uri="{FF2B5EF4-FFF2-40B4-BE49-F238E27FC236}">
                <a16:creationId xmlns:a16="http://schemas.microsoft.com/office/drawing/2014/main" id="{F901C16F-79BA-46AF-808A-E8E879E533E7}"/>
              </a:ext>
            </a:extLst>
          </p:cNvPr>
          <p:cNvSpPr>
            <a:spLocks xmlns:a="http://schemas.openxmlformats.org/drawingml/2006/main" noGrp="1"/>
          </p:cNvSpPr>
          <p:nvPr/>
        </p:nvSpPr>
        <p:spPr>
          <a:xfrm xmlns:a="http://schemas.openxmlformats.org/drawingml/2006/main">
            <a:off x="8334375" y="1714500"/>
            <a:ext cx="3476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C9D3"/>
            </a:solidFill>
          </a:ln>
        </p:spPr>
      </p:sp>
      <p:sp>
        <p:nvSpPr>
          <p:cNvPr id="15" name="">
            <a:extLst xmlns:a="http://schemas.openxmlformats.org/drawingml/2006/main">
              <a:ext uri="{FF2B5EF4-FFF2-40B4-BE49-F238E27FC236}">
                <a16:creationId xmlns:a16="http://schemas.microsoft.com/office/drawing/2014/main" id="{236A54D7-2852-4250-8DC0-B00605910F3D}"/>
              </a:ext>
            </a:extLst>
          </p:cNvPr>
          <p:cNvSpPr>
            <a:spLocks xmlns:a="http://schemas.openxmlformats.org/drawingml/2006/main" noGrp="1"/>
          </p:cNvSpPr>
          <p:nvPr/>
        </p:nvSpPr>
        <p:spPr>
          <a:xfrm xmlns:a="http://schemas.openxmlformats.org/drawingml/2006/main">
            <a:off x="8524875" y="1885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28"/>
          </a:bodyPr>
          <a:lstStyle xmlns:a="http://schemas.openxmlformats.org/drawingml/2006/main"/>
          <a:p xmlns:a="http://schemas.openxmlformats.org/drawingml/2006/main">
            <a:pPr algn="l">
              <a:defRPr sz="2100" b="1" i="0">
                <a:solidFill>
                  <a:srgbClr val="176082"/>
                </a:solidFill>
                <a:latin typeface="Arial"/>
                <a:ea typeface="Arial"/>
                <a:cs typeface="Arial"/>
              </a:defRPr>
            </a:pPr>
            <a:r>
              <a:rPr sz="2100" b="1" i="0">
                <a:solidFill>
                  <a:srgbClr val="176082"/>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F35DA08D-4C13-4558-BF94-E13F93ABF175}"/>
              </a:ext>
            </a:extLst>
          </p:cNvPr>
          <p:cNvSpPr>
            <a:spLocks xmlns:a="http://schemas.openxmlformats.org/drawingml/2006/main" noGrp="1"/>
          </p:cNvSpPr>
          <p:nvPr/>
        </p:nvSpPr>
        <p:spPr>
          <a:xfrm xmlns:a="http://schemas.openxmlformats.org/drawingml/2006/main">
            <a:off x="8572500" y="2438400"/>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127"/>
          </a:bodyPr>
          <a:lstStyle xmlns:a="http://schemas.openxmlformats.org/drawingml/2006/main"/>
          <a:p xmlns:a="http://schemas.openxmlformats.org/drawingml/2006/main">
            <a:pPr algn="l">
              <a:defRPr sz="1575" b="1" i="0">
                <a:solidFill>
                  <a:srgbClr val="33343F"/>
                </a:solidFill>
                <a:latin typeface="Arial"/>
                <a:ea typeface="Arial"/>
                <a:cs typeface="Arial"/>
              </a:defRPr>
            </a:pPr>
            <a:r>
              <a:rPr sz="1575" b="1" i="0">
                <a:solidFill>
                  <a:srgbClr val="33343F"/>
                </a:solidFill>
                <a:latin typeface="Arial"/>
                <a:ea typeface="Arial"/>
                <a:cs typeface="Arial"/>
              </a:rPr>
              <a:t>Sample the same locations in every candidate</a:t>
            </a:r>
          </a:p>
        </p:txBody>
      </p:sp>
      <p:sp>
        <p:nvSpPr>
          <p:cNvPr id="17" name="">
            <a:extLst xmlns:a="http://schemas.openxmlformats.org/drawingml/2006/main">
              <a:ext uri="{FF2B5EF4-FFF2-40B4-BE49-F238E27FC236}">
                <a16:creationId xmlns:a16="http://schemas.microsoft.com/office/drawing/2014/main" id="{E288E8EC-A424-4AAC-9239-A38E13B2CA4B}"/>
              </a:ext>
            </a:extLst>
          </p:cNvPr>
          <p:cNvSpPr>
            <a:spLocks xmlns:a="http://schemas.openxmlformats.org/drawingml/2006/main" noGrp="1"/>
          </p:cNvSpPr>
          <p:nvPr/>
        </p:nvSpPr>
        <p:spPr>
          <a:xfrm xmlns:a="http://schemas.openxmlformats.org/drawingml/2006/main">
            <a:off x="8572500" y="3009900"/>
            <a:ext cx="3000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3333"/>
          </a:bodyPr>
          <a:lstStyle xmlns:a="http://schemas.openxmlformats.org/drawingml/2006/main"/>
          <a:p xmlns:a="http://schemas.openxmlformats.org/drawingml/2006/main">
            <a:pPr algn="l">
              <a:defRPr sz="1200" b="0" i="0">
                <a:solidFill>
                  <a:srgbClr val="626777"/>
                </a:solidFill>
                <a:latin typeface="Arial"/>
                <a:ea typeface="Arial"/>
                <a:cs typeface="Arial"/>
              </a:defRPr>
            </a:pPr>
            <a:r>
              <a:rPr sz="1200" b="0" i="0">
                <a:solidFill>
                  <a:srgbClr val="626777"/>
                </a:solidFill>
                <a:latin typeface="Arial"/>
                <a:ea typeface="Arial"/>
                <a:cs typeface="Arial"/>
              </a:rPr>
              <a:t>Openings, term introductions, transitions, complex examples and chapter closes</a:t>
            </a:r>
          </a:p>
        </p:txBody>
      </p:sp>
      <p:sp>
        <p:nvSpPr>
          <p:cNvPr id="18" name="">
            <a:extLst xmlns:a="http://schemas.openxmlformats.org/drawingml/2006/main">
              <a:ext uri="{FF2B5EF4-FFF2-40B4-BE49-F238E27FC236}">
                <a16:creationId xmlns:a16="http://schemas.microsoft.com/office/drawing/2014/main" id="{439649B6-7C3B-4B17-B78B-D3193C34039D}"/>
              </a:ext>
            </a:extLst>
          </p:cNvPr>
          <p:cNvSpPr>
            <a:spLocks xmlns:a="http://schemas.openxmlformats.org/drawingml/2006/main" noGrp="1"/>
          </p:cNvSpPr>
          <p:nvPr/>
        </p:nvSpPr>
        <p:spPr>
          <a:xfrm xmlns:a="http://schemas.openxmlformats.org/drawingml/2006/main">
            <a:off x="619125" y="3667125"/>
            <a:ext cx="3476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C9D3"/>
            </a:solidFill>
          </a:ln>
        </p:spPr>
      </p:sp>
      <p:sp>
        <p:nvSpPr>
          <p:cNvPr id="19" name="">
            <a:extLst xmlns:a="http://schemas.openxmlformats.org/drawingml/2006/main">
              <a:ext uri="{FF2B5EF4-FFF2-40B4-BE49-F238E27FC236}">
                <a16:creationId xmlns:a16="http://schemas.microsoft.com/office/drawing/2014/main" id="{9240755A-5667-46CE-9E5B-16EA4AEAF961}"/>
              </a:ext>
            </a:extLst>
          </p:cNvPr>
          <p:cNvSpPr>
            <a:spLocks xmlns:a="http://schemas.openxmlformats.org/drawingml/2006/main" noGrp="1"/>
          </p:cNvSpPr>
          <p:nvPr/>
        </p:nvSpPr>
        <p:spPr>
          <a:xfrm xmlns:a="http://schemas.openxmlformats.org/drawingml/2006/main">
            <a:off x="809625" y="38385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28"/>
          </a:bodyPr>
          <a:lstStyle xmlns:a="http://schemas.openxmlformats.org/drawingml/2006/main"/>
          <a:p xmlns:a="http://schemas.openxmlformats.org/drawingml/2006/main">
            <a:pPr algn="l">
              <a:defRPr sz="2100" b="1" i="0">
                <a:solidFill>
                  <a:srgbClr val="176082"/>
                </a:solidFill>
                <a:latin typeface="Arial"/>
                <a:ea typeface="Arial"/>
                <a:cs typeface="Arial"/>
              </a:defRPr>
            </a:pPr>
            <a:r>
              <a:rPr sz="2100" b="1" i="0">
                <a:solidFill>
                  <a:srgbClr val="176082"/>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0EA1A121-0510-4B47-9D78-322AEEB6921D}"/>
              </a:ext>
            </a:extLst>
          </p:cNvPr>
          <p:cNvSpPr>
            <a:spLocks xmlns:a="http://schemas.openxmlformats.org/drawingml/2006/main" noGrp="1"/>
          </p:cNvSpPr>
          <p:nvPr/>
        </p:nvSpPr>
        <p:spPr>
          <a:xfrm xmlns:a="http://schemas.openxmlformats.org/drawingml/2006/main">
            <a:off x="857250" y="4391025"/>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127"/>
          </a:bodyPr>
          <a:lstStyle xmlns:a="http://schemas.openxmlformats.org/drawingml/2006/main"/>
          <a:p xmlns:a="http://schemas.openxmlformats.org/drawingml/2006/main">
            <a:pPr algn="l">
              <a:defRPr sz="1575" b="1" i="0">
                <a:solidFill>
                  <a:srgbClr val="33343F"/>
                </a:solidFill>
                <a:latin typeface="Arial"/>
                <a:ea typeface="Arial"/>
                <a:cs typeface="Arial"/>
              </a:defRPr>
            </a:pPr>
            <a:r>
              <a:rPr sz="1575" b="1" i="0">
                <a:solidFill>
                  <a:srgbClr val="33343F"/>
                </a:solidFill>
                <a:latin typeface="Arial"/>
                <a:ea typeface="Arial"/>
                <a:cs typeface="Arial"/>
              </a:rPr>
              <a:t>Code function, form and distribution</a:t>
            </a:r>
          </a:p>
        </p:txBody>
      </p:sp>
      <p:sp>
        <p:nvSpPr>
          <p:cNvPr id="21" name="">
            <a:extLst xmlns:a="http://schemas.openxmlformats.org/drawingml/2006/main">
              <a:ext uri="{FF2B5EF4-FFF2-40B4-BE49-F238E27FC236}">
                <a16:creationId xmlns:a16="http://schemas.microsoft.com/office/drawing/2014/main" id="{B140486A-98B8-4A4A-B217-6CF55E56CCC0}"/>
              </a:ext>
            </a:extLst>
          </p:cNvPr>
          <p:cNvSpPr>
            <a:spLocks xmlns:a="http://schemas.openxmlformats.org/drawingml/2006/main" noGrp="1"/>
          </p:cNvSpPr>
          <p:nvPr/>
        </p:nvSpPr>
        <p:spPr>
          <a:xfrm xmlns:a="http://schemas.openxmlformats.org/drawingml/2006/main">
            <a:off x="857250" y="4962525"/>
            <a:ext cx="3000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3333"/>
          </a:bodyPr>
          <a:lstStyle xmlns:a="http://schemas.openxmlformats.org/drawingml/2006/main"/>
          <a:p xmlns:a="http://schemas.openxmlformats.org/drawingml/2006/main">
            <a:pPr algn="l">
              <a:defRPr sz="1200" b="0" i="0">
                <a:solidFill>
                  <a:srgbClr val="626777"/>
                </a:solidFill>
                <a:latin typeface="Arial"/>
                <a:ea typeface="Arial"/>
                <a:cs typeface="Arial"/>
              </a:defRPr>
            </a:pPr>
            <a:r>
              <a:rPr sz="1200" b="0" i="0">
                <a:solidFill>
                  <a:srgbClr val="626777"/>
                </a:solidFill>
                <a:latin typeface="Arial"/>
                <a:ea typeface="Arial"/>
                <a:cs typeface="Arial"/>
              </a:rPr>
              <a:t>Record the device, eligible opportunity, timing and chapter spread</a:t>
            </a:r>
          </a:p>
        </p:txBody>
      </p:sp>
      <p:sp>
        <p:nvSpPr>
          <p:cNvPr id="22" name="">
            <a:extLst xmlns:a="http://schemas.openxmlformats.org/drawingml/2006/main">
              <a:ext uri="{FF2B5EF4-FFF2-40B4-BE49-F238E27FC236}">
                <a16:creationId xmlns:a16="http://schemas.microsoft.com/office/drawing/2014/main" id="{28CC2FB8-FA13-48C7-8AE8-6A1B186B179D}"/>
              </a:ext>
            </a:extLst>
          </p:cNvPr>
          <p:cNvSpPr>
            <a:spLocks xmlns:a="http://schemas.openxmlformats.org/drawingml/2006/main" noGrp="1"/>
          </p:cNvSpPr>
          <p:nvPr/>
        </p:nvSpPr>
        <p:spPr>
          <a:xfrm xmlns:a="http://schemas.openxmlformats.org/drawingml/2006/main">
            <a:off x="4476750" y="3667125"/>
            <a:ext cx="3476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C9D3"/>
            </a:solidFill>
          </a:ln>
        </p:spPr>
      </p:sp>
      <p:sp>
        <p:nvSpPr>
          <p:cNvPr id="23" name="">
            <a:extLst xmlns:a="http://schemas.openxmlformats.org/drawingml/2006/main">
              <a:ext uri="{FF2B5EF4-FFF2-40B4-BE49-F238E27FC236}">
                <a16:creationId xmlns:a16="http://schemas.microsoft.com/office/drawing/2014/main" id="{7C75ADDF-E68C-499D-800E-57986D212CA3}"/>
              </a:ext>
            </a:extLst>
          </p:cNvPr>
          <p:cNvSpPr>
            <a:spLocks xmlns:a="http://schemas.openxmlformats.org/drawingml/2006/main" noGrp="1"/>
          </p:cNvSpPr>
          <p:nvPr/>
        </p:nvSpPr>
        <p:spPr>
          <a:xfrm xmlns:a="http://schemas.openxmlformats.org/drawingml/2006/main">
            <a:off x="4667250" y="38385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28"/>
          </a:bodyPr>
          <a:lstStyle xmlns:a="http://schemas.openxmlformats.org/drawingml/2006/main"/>
          <a:p xmlns:a="http://schemas.openxmlformats.org/drawingml/2006/main">
            <a:pPr algn="l">
              <a:defRPr sz="2100" b="1" i="0">
                <a:solidFill>
                  <a:srgbClr val="176082"/>
                </a:solidFill>
                <a:latin typeface="Arial"/>
                <a:ea typeface="Arial"/>
                <a:cs typeface="Arial"/>
              </a:defRPr>
            </a:pPr>
            <a:r>
              <a:rPr sz="2100" b="1" i="0">
                <a:solidFill>
                  <a:srgbClr val="176082"/>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BA8E12A5-4D46-441B-8843-D0CAECFD1E7F}"/>
              </a:ext>
            </a:extLst>
          </p:cNvPr>
          <p:cNvSpPr>
            <a:spLocks xmlns:a="http://schemas.openxmlformats.org/drawingml/2006/main" noGrp="1"/>
          </p:cNvSpPr>
          <p:nvPr/>
        </p:nvSpPr>
        <p:spPr>
          <a:xfrm xmlns:a="http://schemas.openxmlformats.org/drawingml/2006/main">
            <a:off x="4714875" y="4391025"/>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374"/>
          </a:bodyPr>
          <a:lstStyle xmlns:a="http://schemas.openxmlformats.org/drawingml/2006/main"/>
          <a:p xmlns:a="http://schemas.openxmlformats.org/drawingml/2006/main">
            <a:pPr algn="l">
              <a:defRPr sz="1575" b="1" i="0">
                <a:solidFill>
                  <a:srgbClr val="33343F"/>
                </a:solidFill>
                <a:latin typeface="Arial"/>
                <a:ea typeface="Arial"/>
                <a:cs typeface="Arial"/>
              </a:defRPr>
            </a:pPr>
            <a:r>
              <a:rPr sz="1575" b="1" i="0">
                <a:solidFill>
                  <a:srgbClr val="33343F"/>
                </a:solidFill>
                <a:latin typeface="Arial"/>
                <a:ea typeface="Arial"/>
                <a:cs typeface="Arial"/>
              </a:rPr>
              <a:t>Rate support and tag the evidence</a:t>
            </a:r>
          </a:p>
        </p:txBody>
      </p:sp>
      <p:sp>
        <p:nvSpPr>
          <p:cNvPr id="25" name="">
            <a:extLst xmlns:a="http://schemas.openxmlformats.org/drawingml/2006/main">
              <a:ext uri="{FF2B5EF4-FFF2-40B4-BE49-F238E27FC236}">
                <a16:creationId xmlns:a16="http://schemas.microsoft.com/office/drawing/2014/main" id="{7FEB3641-C95B-49CD-B2F8-9BDD900E2B8B}"/>
              </a:ext>
            </a:extLst>
          </p:cNvPr>
          <p:cNvSpPr>
            <a:spLocks xmlns:a="http://schemas.openxmlformats.org/drawingml/2006/main" noGrp="1"/>
          </p:cNvSpPr>
          <p:nvPr/>
        </p:nvSpPr>
        <p:spPr>
          <a:xfrm xmlns:a="http://schemas.openxmlformats.org/drawingml/2006/main">
            <a:off x="4714875" y="4962525"/>
            <a:ext cx="3000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3333"/>
          </a:bodyPr>
          <a:lstStyle xmlns:a="http://schemas.openxmlformats.org/drawingml/2006/main"/>
          <a:p xmlns:a="http://schemas.openxmlformats.org/drawingml/2006/main">
            <a:pPr algn="l">
              <a:defRPr sz="1200" b="0" i="0">
                <a:solidFill>
                  <a:srgbClr val="626777"/>
                </a:solidFill>
                <a:latin typeface="Arial"/>
                <a:ea typeface="Arial"/>
                <a:cs typeface="Arial"/>
              </a:defRPr>
            </a:pPr>
            <a:r>
              <a:rPr sz="1200" b="0" i="0">
                <a:solidFill>
                  <a:srgbClr val="626777"/>
                </a:solidFill>
                <a:latin typeface="Arial"/>
                <a:ea typeface="Arial"/>
                <a:cs typeface="Arial"/>
              </a:rPr>
              <a:t>Use 0–3 plus T, TP or TPC evidence status</a:t>
            </a:r>
          </a:p>
        </p:txBody>
      </p:sp>
      <p:sp>
        <p:nvSpPr>
          <p:cNvPr id="26" name="">
            <a:extLst xmlns:a="http://schemas.openxmlformats.org/drawingml/2006/main">
              <a:ext uri="{FF2B5EF4-FFF2-40B4-BE49-F238E27FC236}">
                <a16:creationId xmlns:a16="http://schemas.microsoft.com/office/drawing/2014/main" id="{868A5B40-D8B7-4E81-B5A3-F368AA06E717}"/>
              </a:ext>
            </a:extLst>
          </p:cNvPr>
          <p:cNvSpPr>
            <a:spLocks xmlns:a="http://schemas.openxmlformats.org/drawingml/2006/main" noGrp="1"/>
          </p:cNvSpPr>
          <p:nvPr/>
        </p:nvSpPr>
        <p:spPr>
          <a:xfrm xmlns:a="http://schemas.openxmlformats.org/drawingml/2006/main">
            <a:off x="8334375" y="3667125"/>
            <a:ext cx="3476625" cy="1619250"/>
          </a:xfrm>
          <a:prstGeom xmlns:a="http://schemas.openxmlformats.org/drawingml/2006/main" prst="roundRect">
            <a:avLst>
              <a:gd name="adj" fmla="val 4706"/>
            </a:avLst>
          </a:prstGeom>
          <a:solidFill xmlns:a="http://schemas.openxmlformats.org/drawingml/2006/main">
            <a:srgbClr val="123B53"/>
          </a:solidFill>
          <a:ln xmlns:a="http://schemas.openxmlformats.org/drawingml/2006/main" w="9525">
            <a:solidFill>
              <a:srgbClr val="C8C9D3"/>
            </a:solidFill>
          </a:ln>
        </p:spPr>
      </p:sp>
      <p:sp>
        <p:nvSpPr>
          <p:cNvPr id="27" name="">
            <a:extLst xmlns:a="http://schemas.openxmlformats.org/drawingml/2006/main">
              <a:ext uri="{FF2B5EF4-FFF2-40B4-BE49-F238E27FC236}">
                <a16:creationId xmlns:a16="http://schemas.microsoft.com/office/drawing/2014/main" id="{8E668B82-D8DD-4091-B20A-FAFDB30F34D4}"/>
              </a:ext>
            </a:extLst>
          </p:cNvPr>
          <p:cNvSpPr>
            <a:spLocks xmlns:a="http://schemas.openxmlformats.org/drawingml/2006/main" noGrp="1"/>
          </p:cNvSpPr>
          <p:nvPr/>
        </p:nvSpPr>
        <p:spPr>
          <a:xfrm xmlns:a="http://schemas.openxmlformats.org/drawingml/2006/main">
            <a:off x="8524875" y="38385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28"/>
          </a:bodyPr>
          <a:lstStyle xmlns:a="http://schemas.openxmlformats.org/drawingml/2006/main"/>
          <a:p xmlns:a="http://schemas.openxmlformats.org/drawingml/2006/main">
            <a:pPr algn="l">
              <a:defRPr sz="2100" b="1" i="0">
                <a:solidFill>
                  <a:srgbClr val="FFD45A"/>
                </a:solidFill>
                <a:latin typeface="Arial"/>
                <a:ea typeface="Arial"/>
                <a:cs typeface="Arial"/>
              </a:defRPr>
            </a:pPr>
            <a:r>
              <a:rPr sz="2100" b="1" i="0">
                <a:solidFill>
                  <a:srgbClr val="FFD45A"/>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6C68AB1D-49BD-4E0E-8B8C-DA8C083B0B8C}"/>
              </a:ext>
            </a:extLst>
          </p:cNvPr>
          <p:cNvSpPr>
            <a:spLocks xmlns:a="http://schemas.openxmlformats.org/drawingml/2006/main" noGrp="1"/>
          </p:cNvSpPr>
          <p:nvPr/>
        </p:nvSpPr>
        <p:spPr>
          <a:xfrm xmlns:a="http://schemas.openxmlformats.org/drawingml/2006/main">
            <a:off x="8572500" y="4391025"/>
            <a:ext cx="300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74"/>
          </a:bodyPr>
          <a:lstStyle xmlns:a="http://schemas.openxmlformats.org/drawingml/2006/main"/>
          <a:p xmlns:a="http://schemas.openxmlformats.org/drawingml/2006/main">
            <a:pPr algn="l">
              <a:defRPr sz="1575" b="1" i="0">
                <a:solidFill>
                  <a:srgbClr val="FFFFFF"/>
                </a:solidFill>
                <a:latin typeface="Arial"/>
                <a:ea typeface="Arial"/>
                <a:cs typeface="Arial"/>
              </a:defRPr>
            </a:pPr>
            <a:r>
              <a:rPr sz="1575" b="1" i="0">
                <a:solidFill>
                  <a:srgbClr val="FFFFFF"/>
                </a:solidFill>
                <a:latin typeface="Arial"/>
                <a:ea typeface="Arial"/>
                <a:cs typeface="Arial"/>
              </a:rPr>
              <a:t>Choose, supplement or reconsider</a:t>
            </a:r>
          </a:p>
        </p:txBody>
      </p:sp>
      <p:sp>
        <p:nvSpPr>
          <p:cNvPr id="29" name="">
            <a:extLst xmlns:a="http://schemas.openxmlformats.org/drawingml/2006/main">
              <a:ext uri="{FF2B5EF4-FFF2-40B4-BE49-F238E27FC236}">
                <a16:creationId xmlns:a16="http://schemas.microsoft.com/office/drawing/2014/main" id="{9270B0AA-28DB-47A9-990F-F4BB5E0963E3}"/>
              </a:ext>
            </a:extLst>
          </p:cNvPr>
          <p:cNvSpPr>
            <a:spLocks xmlns:a="http://schemas.openxmlformats.org/drawingml/2006/main" noGrp="1"/>
          </p:cNvSpPr>
          <p:nvPr/>
        </p:nvSpPr>
        <p:spPr>
          <a:xfrm xmlns:a="http://schemas.openxmlformats.org/drawingml/2006/main">
            <a:off x="8572500" y="4962525"/>
            <a:ext cx="3000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3333"/>
          </a:bodyPr>
          <a:lstStyle xmlns:a="http://schemas.openxmlformats.org/drawingml/2006/main"/>
          <a:p xmlns:a="http://schemas.openxmlformats.org/drawingml/2006/main">
            <a:pPr algn="l">
              <a:defRPr sz="1200" b="0" i="0">
                <a:solidFill>
                  <a:srgbClr val="FFFFFF"/>
                </a:solidFill>
                <a:latin typeface="Arial"/>
                <a:ea typeface="Arial"/>
                <a:cs typeface="Arial"/>
              </a:defRPr>
            </a:pPr>
            <a:r>
              <a:rPr sz="1200" b="0" i="0">
                <a:solidFill>
                  <a:srgbClr val="FFFFFF"/>
                </a:solidFill>
                <a:latin typeface="Arial"/>
                <a:ea typeface="Arial"/>
                <a:cs typeface="Arial"/>
              </a:rPr>
              <a:t>Apply the decision rule and document required teaching support</a:t>
            </a:r>
          </a:p>
        </p:txBody>
      </p:sp>
      <p:sp>
        <p:nvSpPr>
          <p:cNvPr id="30" name="">
            <a:extLst xmlns:a="http://schemas.openxmlformats.org/drawingml/2006/main">
              <a:ext uri="{FF2B5EF4-FFF2-40B4-BE49-F238E27FC236}">
                <a16:creationId xmlns:a16="http://schemas.microsoft.com/office/drawing/2014/main" id="{F6BFA0C6-480A-46C2-9286-A8BB4536E134}"/>
              </a:ext>
            </a:extLst>
          </p:cNvPr>
          <p:cNvSpPr>
            <a:spLocks xmlns:a="http://schemas.openxmlformats.org/drawingml/2006/main" noGrp="1"/>
          </p:cNvSpPr>
          <p:nvPr/>
        </p:nvSpPr>
        <p:spPr>
          <a:xfrm xmlns:a="http://schemas.openxmlformats.org/drawingml/2006/main">
            <a:off x="2000250" y="584835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lgn="ctr">
              <a:defRPr sz="1350" b="1" i="0">
                <a:solidFill>
                  <a:srgbClr val="B94D35"/>
                </a:solidFill>
                <a:latin typeface="Arial"/>
                <a:ea typeface="Arial"/>
                <a:cs typeface="Arial"/>
              </a:defRPr>
            </a:pPr>
            <a:r>
              <a:rPr sz="1350" b="1" i="0">
                <a:solidFill>
                  <a:srgbClr val="B94D35"/>
                </a:solidFill>
                <a:latin typeface="Arial"/>
                <a:ea typeface="Arial"/>
                <a:cs typeface="Arial"/>
              </a:rPr>
              <a:t>Use identical samples and priorities for every candidate book to prevent post hoc scoring.</a:t>
            </a:r>
          </a:p>
        </p:txBody>
      </p:sp>
      <p:sp>
        <p:nvSpPr>
          <p:cNvPr id="31" name="">
            <a:extLst xmlns:a="http://schemas.openxmlformats.org/drawingml/2006/main">
              <a:ext uri="{FF2B5EF4-FFF2-40B4-BE49-F238E27FC236}">
                <a16:creationId xmlns:a16="http://schemas.microsoft.com/office/drawing/2014/main" id="{8496C10E-1522-4170-9235-0133F20884D0}"/>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2" name="">
            <a:extLst xmlns:a="http://schemas.openxmlformats.org/drawingml/2006/main">
              <a:ext uri="{FF2B5EF4-FFF2-40B4-BE49-F238E27FC236}">
                <a16:creationId xmlns:a16="http://schemas.microsoft.com/office/drawing/2014/main" id="{D20C9637-4A1F-4155-8DCF-5C55F714372D}"/>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436038770"/>
      </p:ext>
    </p:extLst>
  </p:cSld>
</p:sld>
</file>

<file path=ppt/slides/slide2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5EB8F8-9AD3-419F-AABA-92F282C69BBE}"/>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3A91A4-E391-4D2F-8D9B-8DEACE211905}"/>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
            <a:extLst xmlns:a="http://schemas.openxmlformats.org/drawingml/2006/main">
              <a:ext uri="{FF2B5EF4-FFF2-40B4-BE49-F238E27FC236}">
                <a16:creationId xmlns:a16="http://schemas.microsoft.com/office/drawing/2014/main" id="{EA4A7CAE-DD1F-4694-9CA0-E1B781B1FB8C}"/>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Coursebook-fit rubric, dimensions 1–4</a:t>
            </a:r>
          </a:p>
        </p:txBody>
      </p:sp>
      <p:sp>
        <p:nvSpPr>
          <p:cNvPr id="4" name="">
            <a:extLst xmlns:a="http://schemas.openxmlformats.org/drawingml/2006/main">
              <a:ext uri="{FF2B5EF4-FFF2-40B4-BE49-F238E27FC236}">
                <a16:creationId xmlns:a16="http://schemas.microsoft.com/office/drawing/2014/main" id="{1A0A6887-0DF7-4E5A-A960-0F4B1CF58735}"/>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A3048E76-F2B3-4256-8ECC-9E7F57021FA4}"/>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25</a:t>
            </a:r>
          </a:p>
        </p:txBody>
      </p:sp>
      <p:graphicFrame>
        <p:nvGraphicFramePr>
          <p:cNvPr id="15" name=""/>
          <p:cNvGraphicFramePr/>
          <p:nvPr/>
        </p:nvGraphicFramePr>
        <p:xfrm>
          <a:off xmlns:a="http://schemas.openxmlformats.org/drawingml/2006/main" x="514350" y="1619250"/>
          <a:ext xmlns:a="http://schemas.openxmlformats.org/drawingml/2006/main" cx="11144250" cy="4381500"/>
        </p:xfrm>
        <a:graphic xmlns:a="http://schemas.openxmlformats.org/drawingml/2006/main">
          <a:graphicData uri="http://schemas.openxmlformats.org/drawingml/2006/table">
            <a:tbl>
              <a:tblPr/>
              <a:tblGrid>
                <a:gridCol w="3095625"/>
                <a:gridCol w="1905000"/>
                <a:gridCol w="2000250"/>
                <a:gridCol w="2000250"/>
                <a:gridCol w="2143125"/>
              </a:tblGrid>
              <a:tr h="523875">
                <a:tc>
                  <a:txBody>
                    <a:bodyPr/>
                    <a:lstStyle/>
                    <a:p>
                      <a:r>
                        <a:rPr sz="1125" b="1">
                          <a:solidFill>
                            <a:srgbClr val="FFFFFF"/>
                          </a:solidFill>
                          <a:latin typeface="Arial"/>
                          <a:ea typeface="Arial"/>
                          <a:cs typeface="Arial"/>
                        </a:rPr>
                        <a:t>Dimension and review question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0  Unsupported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1  Limited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2  Adequate</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3  Systematic</a:t>
                      </a:r>
                    </a:p>
                  </a:txBody>
                  <a:tcPr marL="95250" marR="95250" marT="76200" marB="66675" anchor="ctr">
                    <a:solidFill>
                      <a:srgbClr val="123B53"/>
                    </a:solidFill>
                  </a:tcPr>
                </a:tc>
              </a:tr>
              <a:tr h="962025">
                <a:tc>
                  <a:txBody>
                    <a:bodyPr/>
                    <a:lstStyle/>
                    <a:p>
                      <a:r>
                        <a:rPr sz="915" b="1">
                          <a:solidFill>
                            <a:srgbClr val="176082"/>
                          </a:solidFill>
                          <a:latin typeface="Arial"/>
                          <a:ea typeface="Arial"/>
                          <a:cs typeface="Arial"/>
                        </a:rPr>
                        <a:t>1  Meaning access</a:t>
                      </a:r>
                    </a:p>
                    <a:p>
                      <a:r>
                        <a:rPr sz="915" b="1">
                          <a:solidFill>
                            <a:srgbClr val="176082"/>
                          </a:solidFill>
                          <a:latin typeface="Arial"/>
                          <a:ea typeface="Arial"/>
                          <a:cs typeface="Arial"/>
                        </a:rPr>
                        <a:t>Are key terms unpacked where first needed?</a:t>
                      </a:r>
                    </a:p>
                  </a:txBody>
                  <a:tcPr marL="95250" marR="95250" marT="66675" marB="66675" anchor="ctr">
                    <a:solidFill>
                      <a:srgbClr val="E6F0F5"/>
                    </a:solidFill>
                  </a:tcPr>
                </a:tc>
                <a:tc>
                  <a:txBody>
                    <a:bodyPr/>
                    <a:lstStyle/>
                    <a:p>
                      <a:r>
                        <a:rPr sz="915">
                          <a:solidFill>
                            <a:srgbClr val="33343F"/>
                          </a:solidFill>
                          <a:latin typeface="Arial"/>
                          <a:ea typeface="Arial"/>
                          <a:cs typeface="Arial"/>
                        </a:rPr>
                        <a:t>No explanation or misleading explanation</a:t>
                      </a:r>
                    </a:p>
                  </a:txBody>
                  <a:tcPr marL="95250" marR="95250" marT="66675" marB="66675" anchor="ctr">
                    <a:solidFill>
                      <a:srgbClr val="FFFFFF"/>
                    </a:solidFill>
                  </a:tcPr>
                </a:tc>
                <a:tc>
                  <a:txBody>
                    <a:bodyPr/>
                    <a:lstStyle/>
                    <a:p>
                      <a:r>
                        <a:rPr sz="915">
                          <a:solidFill>
                            <a:srgbClr val="33343F"/>
                          </a:solidFill>
                          <a:latin typeface="Arial"/>
                          <a:ea typeface="Arial"/>
                          <a:cs typeface="Arial"/>
                        </a:rPr>
                        <a:t>Gloss appears late, rarely or without context</a:t>
                      </a:r>
                    </a:p>
                  </a:txBody>
                  <a:tcPr marL="95250" marR="95250" marT="66675" marB="66675" anchor="ctr">
                    <a:solidFill>
                      <a:srgbClr val="FFFFFF"/>
                    </a:solidFill>
                  </a:tcPr>
                </a:tc>
                <a:tc>
                  <a:txBody>
                    <a:bodyPr/>
                    <a:lstStyle/>
                    <a:p>
                      <a:r>
                        <a:rPr sz="915">
                          <a:solidFill>
                            <a:srgbClr val="33343F"/>
                          </a:solidFill>
                          <a:latin typeface="Arial"/>
                          <a:ea typeface="Arial"/>
                          <a:cs typeface="Arial"/>
                        </a:rPr>
                        <a:t>Accurate local explanation at main points of need</a:t>
                      </a:r>
                    </a:p>
                  </a:txBody>
                  <a:tcPr marL="95250" marR="95250" marT="66675" marB="66675" anchor="ctr">
                    <a:solidFill>
                      <a:srgbClr val="FFFFFF"/>
                    </a:solidFill>
                  </a:tcPr>
                </a:tc>
                <a:tc>
                  <a:txBody>
                    <a:bodyPr/>
                    <a:lstStyle/>
                    <a:p>
                      <a:r>
                        <a:rPr sz="915">
                          <a:solidFill>
                            <a:srgbClr val="33343F"/>
                          </a:solidFill>
                          <a:latin typeface="Arial"/>
                          <a:ea typeface="Arial"/>
                          <a:cs typeface="Arial"/>
                        </a:rPr>
                        <a:t>Terms, examples and references remain consistently aligned</a:t>
                      </a:r>
                    </a:p>
                  </a:txBody>
                  <a:tcPr marL="95250" marR="95250" marT="66675" marB="66675" anchor="ctr">
                    <a:solidFill>
                      <a:srgbClr val="FFFFFF"/>
                    </a:solidFill>
                  </a:tcPr>
                </a:tc>
              </a:tr>
              <a:tr h="962025">
                <a:tc>
                  <a:txBody>
                    <a:bodyPr/>
                    <a:lstStyle/>
                    <a:p>
                      <a:r>
                        <a:rPr sz="915" b="1">
                          <a:solidFill>
                            <a:srgbClr val="176082"/>
                          </a:solidFill>
                          <a:latin typeface="Arial"/>
                          <a:ea typeface="Arial"/>
                          <a:cs typeface="Arial"/>
                        </a:rPr>
                        <a:t>2  Orientation</a:t>
                      </a:r>
                    </a:p>
                    <a:p>
                      <a:r>
                        <a:rPr sz="915" b="1">
                          <a:solidFill>
                            <a:srgbClr val="176082"/>
                          </a:solidFill>
                          <a:latin typeface="Arial"/>
                          <a:ea typeface="Arial"/>
                          <a:cs typeface="Arial"/>
                        </a:rPr>
                        <a:t>Can readers see where the explanation is going?</a:t>
                      </a:r>
                    </a:p>
                  </a:txBody>
                  <a:tcPr marL="95250" marR="95250" marT="66675" marB="66675" anchor="ctr">
                    <a:solidFill>
                      <a:srgbClr val="E6F0F5"/>
                    </a:solidFill>
                  </a:tcPr>
                </a:tc>
                <a:tc>
                  <a:txBody>
                    <a:bodyPr/>
                    <a:lstStyle/>
                    <a:p>
                      <a:r>
                        <a:rPr sz="915">
                          <a:solidFill>
                            <a:srgbClr val="33343F"/>
                          </a:solidFill>
                          <a:latin typeface="Arial"/>
                          <a:ea typeface="Arial"/>
                          <a:cs typeface="Arial"/>
                        </a:rPr>
                        <a:t>Structure and purpose remain opaque</a:t>
                      </a:r>
                    </a:p>
                  </a:txBody>
                  <a:tcPr marL="95250" marR="95250" marT="66675" marB="66675" anchor="ctr">
                    <a:solidFill>
                      <a:srgbClr val="FFFFFF"/>
                    </a:solidFill>
                  </a:tcPr>
                </a:tc>
                <a:tc>
                  <a:txBody>
                    <a:bodyPr/>
                    <a:lstStyle/>
                    <a:p>
                      <a:r>
                        <a:rPr sz="915">
                          <a:solidFill>
                            <a:srgbClr val="33343F"/>
                          </a:solidFill>
                          <a:latin typeface="Arial"/>
                          <a:ea typeface="Arial"/>
                          <a:cs typeface="Arial"/>
                        </a:rPr>
                        <a:t>Headings exist but transitions are weak</a:t>
                      </a:r>
                    </a:p>
                  </a:txBody>
                  <a:tcPr marL="95250" marR="95250" marT="66675" marB="66675" anchor="ctr">
                    <a:solidFill>
                      <a:srgbClr val="FFFFFF"/>
                    </a:solidFill>
                  </a:tcPr>
                </a:tc>
                <a:tc>
                  <a:txBody>
                    <a:bodyPr/>
                    <a:lstStyle/>
                    <a:p>
                      <a:r>
                        <a:rPr sz="915">
                          <a:solidFill>
                            <a:srgbClr val="33343F"/>
                          </a:solidFill>
                          <a:latin typeface="Arial"/>
                          <a:ea typeface="Arial"/>
                          <a:cs typeface="Arial"/>
                        </a:rPr>
                        <a:t>Useful previews, recaps and cross-references</a:t>
                      </a:r>
                    </a:p>
                  </a:txBody>
                  <a:tcPr marL="95250" marR="95250" marT="66675" marB="66675" anchor="ctr">
                    <a:solidFill>
                      <a:srgbClr val="FFFFFF"/>
                    </a:solidFill>
                  </a:tcPr>
                </a:tc>
                <a:tc>
                  <a:txBody>
                    <a:bodyPr/>
                    <a:lstStyle/>
                    <a:p>
                      <a:r>
                        <a:rPr sz="915">
                          <a:solidFill>
                            <a:srgbClr val="33343F"/>
                          </a:solidFill>
                          <a:latin typeface="Arial"/>
                          <a:ea typeface="Arial"/>
                          <a:cs typeface="Arial"/>
                        </a:rPr>
                        <a:t>Orientation recurs at major conceptual transitions</a:t>
                      </a:r>
                    </a:p>
                  </a:txBody>
                  <a:tcPr marL="95250" marR="95250" marT="66675" marB="66675" anchor="ctr">
                    <a:solidFill>
                      <a:srgbClr val="FFFFFF"/>
                    </a:solidFill>
                  </a:tcPr>
                </a:tc>
              </a:tr>
              <a:tr h="962025">
                <a:tc>
                  <a:txBody>
                    <a:bodyPr/>
                    <a:lstStyle/>
                    <a:p>
                      <a:r>
                        <a:rPr sz="915" b="1">
                          <a:solidFill>
                            <a:srgbClr val="176082"/>
                          </a:solidFill>
                          <a:latin typeface="Arial"/>
                          <a:ea typeface="Arial"/>
                          <a:cs typeface="Arial"/>
                        </a:rPr>
                        <a:t>3  Rhetorical relations</a:t>
                      </a:r>
                    </a:p>
                    <a:p>
                      <a:r>
                        <a:rPr sz="915" b="1">
                          <a:solidFill>
                            <a:srgbClr val="176082"/>
                          </a:solidFill>
                          <a:latin typeface="Arial"/>
                          <a:ea typeface="Arial"/>
                          <a:cs typeface="Arial"/>
                        </a:rPr>
                        <a:t>Are claims, contrasts and qualifications visible?</a:t>
                      </a:r>
                    </a:p>
                  </a:txBody>
                  <a:tcPr marL="95250" marR="95250" marT="66675" marB="66675" anchor="ctr">
                    <a:solidFill>
                      <a:srgbClr val="E6F0F5"/>
                    </a:solidFill>
                  </a:tcPr>
                </a:tc>
                <a:tc>
                  <a:txBody>
                    <a:bodyPr/>
                    <a:lstStyle/>
                    <a:p>
                      <a:r>
                        <a:rPr sz="915">
                          <a:solidFill>
                            <a:srgbClr val="33343F"/>
                          </a:solidFill>
                          <a:latin typeface="Arial"/>
                          <a:ea typeface="Arial"/>
                          <a:cs typeface="Arial"/>
                        </a:rPr>
                        <a:t>Relations are obscured or mis-signalled</a:t>
                      </a:r>
                    </a:p>
                  </a:txBody>
                  <a:tcPr marL="95250" marR="95250" marT="66675" marB="66675" anchor="ctr">
                    <a:solidFill>
                      <a:srgbClr val="FFFFFF"/>
                    </a:solidFill>
                  </a:tcPr>
                </a:tc>
                <a:tc>
                  <a:txBody>
                    <a:bodyPr/>
                    <a:lstStyle/>
                    <a:p>
                      <a:r>
                        <a:rPr sz="915">
                          <a:solidFill>
                            <a:srgbClr val="33343F"/>
                          </a:solidFill>
                          <a:latin typeface="Arial"/>
                          <a:ea typeface="Arial"/>
                          <a:cs typeface="Arial"/>
                        </a:rPr>
                        <a:t>Some markers, with important gaps</a:t>
                      </a:r>
                    </a:p>
                  </a:txBody>
                  <a:tcPr marL="95250" marR="95250" marT="66675" marB="66675" anchor="ctr">
                    <a:solidFill>
                      <a:srgbClr val="FFFFFF"/>
                    </a:solidFill>
                  </a:tcPr>
                </a:tc>
                <a:tc>
                  <a:txBody>
                    <a:bodyPr/>
                    <a:lstStyle/>
                    <a:p>
                      <a:r>
                        <a:rPr sz="915">
                          <a:solidFill>
                            <a:srgbClr val="33343F"/>
                          </a:solidFill>
                          <a:latin typeface="Arial"/>
                          <a:ea typeface="Arial"/>
                          <a:cs typeface="Arial"/>
                        </a:rPr>
                        <a:t>Main relations and conditions are explicit</a:t>
                      </a:r>
                    </a:p>
                  </a:txBody>
                  <a:tcPr marL="95250" marR="95250" marT="66675" marB="66675" anchor="ctr">
                    <a:solidFill>
                      <a:srgbClr val="FFFFFF"/>
                    </a:solidFill>
                  </a:tcPr>
                </a:tc>
                <a:tc>
                  <a:txBody>
                    <a:bodyPr/>
                    <a:lstStyle/>
                    <a:p>
                      <a:r>
                        <a:rPr sz="915">
                          <a:solidFill>
                            <a:srgbClr val="33343F"/>
                          </a:solidFill>
                          <a:latin typeface="Arial"/>
                          <a:ea typeface="Arial"/>
                          <a:cs typeface="Arial"/>
                        </a:rPr>
                        <a:t>Relations remain explicit across prose, examples and visuals</a:t>
                      </a:r>
                    </a:p>
                  </a:txBody>
                  <a:tcPr marL="95250" marR="95250" marT="66675" marB="66675" anchor="ctr">
                    <a:solidFill>
                      <a:srgbClr val="FFFFFF"/>
                    </a:solidFill>
                  </a:tcPr>
                </a:tc>
              </a:tr>
              <a:tr h="962025">
                <a:tc>
                  <a:txBody>
                    <a:bodyPr/>
                    <a:lstStyle/>
                    <a:p>
                      <a:r>
                        <a:rPr sz="915" b="1">
                          <a:solidFill>
                            <a:srgbClr val="176082"/>
                          </a:solidFill>
                          <a:latin typeface="Arial"/>
                          <a:ea typeface="Arial"/>
                          <a:cs typeface="Arial"/>
                        </a:rPr>
                        <a:t>4  Background knowledge</a:t>
                      </a:r>
                    </a:p>
                    <a:p>
                      <a:r>
                        <a:rPr sz="915" b="1">
                          <a:solidFill>
                            <a:srgbClr val="176082"/>
                          </a:solidFill>
                          <a:latin typeface="Arial"/>
                          <a:ea typeface="Arial"/>
                          <a:cs typeface="Arial"/>
                        </a:rPr>
                        <a:t>Is non-shared context made accessible?</a:t>
                      </a:r>
                    </a:p>
                  </a:txBody>
                  <a:tcPr marL="95250" marR="95250" marT="66675" marB="66675" anchor="ctr">
                    <a:solidFill>
                      <a:srgbClr val="E6F0F5"/>
                    </a:solidFill>
                  </a:tcPr>
                </a:tc>
                <a:tc>
                  <a:txBody>
                    <a:bodyPr/>
                    <a:lstStyle/>
                    <a:p>
                      <a:r>
                        <a:rPr sz="915">
                          <a:solidFill>
                            <a:srgbClr val="33343F"/>
                          </a:solidFill>
                          <a:latin typeface="Arial"/>
                          <a:ea typeface="Arial"/>
                          <a:cs typeface="Arial"/>
                        </a:rPr>
                        <a:t>Essential context is assumed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Context appears after it is required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Concise context or analogy appears at need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Context is calibrated and revisited without overload</a:t>
                      </a:r>
                    </a:p>
                  </a:txBody>
                  <a:tcPr marL="95250" marR="9525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96362E1-FDE3-4EFC-A393-2B089AE00DE3}"/>
              </a:ext>
            </a:extLst>
          </p:cNvPr>
          <p:cNvSpPr>
            <a:spLocks xmlns:a="http://schemas.openxmlformats.org/drawingml/2006/main" noGrp="1"/>
          </p:cNvSpPr>
          <p:nvPr/>
        </p:nvSpPr>
        <p:spPr>
          <a:xfrm xmlns:a="http://schemas.openxmlformats.org/drawingml/2006/main">
            <a:off x="1428750" y="61055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ctr">
              <a:defRPr sz="1125" b="1" i="0">
                <a:solidFill>
                  <a:srgbClr val="B94D35"/>
                </a:solidFill>
                <a:latin typeface="Arial"/>
                <a:ea typeface="Arial"/>
                <a:cs typeface="Arial"/>
              </a:defRPr>
            </a:pPr>
            <a:r>
              <a:rPr sz="1125" b="1" i="0">
                <a:solidFill>
                  <a:srgbClr val="B94D35"/>
                </a:solidFill>
                <a:latin typeface="Arial"/>
                <a:ea typeface="Arial"/>
                <a:cs typeface="Arial"/>
              </a:rPr>
              <a:t>Rate sampled locations, not impressions of the whole book. Use N/A only when the dimension is genuinely irrelevant.</a:t>
            </a:r>
          </a:p>
        </p:txBody>
      </p:sp>
      <p:sp>
        <p:nvSpPr>
          <p:cNvPr id="8" name="">
            <a:extLst xmlns:a="http://schemas.openxmlformats.org/drawingml/2006/main">
              <a:ext uri="{FF2B5EF4-FFF2-40B4-BE49-F238E27FC236}">
                <a16:creationId xmlns:a16="http://schemas.microsoft.com/office/drawing/2014/main" id="{CB1528D6-6817-4058-8AE5-7DAAA7DEE0CB}"/>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66109A65-2B10-43E0-8D2C-771C24140B5F}"/>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1047101363"/>
      </p:ext>
    </p:extLst>
  </p:cSld>
</p:sld>
</file>

<file path=ppt/slides/slide2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0DA624-3968-452E-A48E-481386E0488B}"/>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2EFC8C-9C26-4F33-A016-A7D5293B0CAF}"/>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
            <a:extLst xmlns:a="http://schemas.openxmlformats.org/drawingml/2006/main">
              <a:ext uri="{FF2B5EF4-FFF2-40B4-BE49-F238E27FC236}">
                <a16:creationId xmlns:a16="http://schemas.microsoft.com/office/drawing/2014/main" id="{8349F537-68AF-43CF-A3DB-1763D2DAAC95}"/>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Coursebook-fit rubric, dimensions 5–7 and gates</a:t>
            </a:r>
          </a:p>
        </p:txBody>
      </p:sp>
      <p:sp>
        <p:nvSpPr>
          <p:cNvPr id="4" name="">
            <a:extLst xmlns:a="http://schemas.openxmlformats.org/drawingml/2006/main">
              <a:ext uri="{FF2B5EF4-FFF2-40B4-BE49-F238E27FC236}">
                <a16:creationId xmlns:a16="http://schemas.microsoft.com/office/drawing/2014/main" id="{913E5BDB-81EC-4A18-8F4D-3D6683DD334E}"/>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0C827642-31D2-439F-A424-ACC0B1CB1590}"/>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26</a:t>
            </a:r>
          </a:p>
        </p:txBody>
      </p:sp>
      <p:graphicFrame>
        <p:nvGraphicFramePr>
          <p:cNvPr id="17" name=""/>
          <p:cNvGraphicFramePr/>
          <p:nvPr/>
        </p:nvGraphicFramePr>
        <p:xfrm>
          <a:off xmlns:a="http://schemas.openxmlformats.org/drawingml/2006/main" x="514350" y="1619250"/>
          <a:ext xmlns:a="http://schemas.openxmlformats.org/drawingml/2006/main" cx="11144250" cy="3381375"/>
        </p:xfrm>
        <a:graphic xmlns:a="http://schemas.openxmlformats.org/drawingml/2006/main">
          <a:graphicData uri="http://schemas.openxmlformats.org/drawingml/2006/table">
            <a:tbl>
              <a:tblPr/>
              <a:tblGrid>
                <a:gridCol w="3095625"/>
                <a:gridCol w="1905000"/>
                <a:gridCol w="2000250"/>
                <a:gridCol w="2000250"/>
                <a:gridCol w="2143125"/>
              </a:tblGrid>
              <a:tr h="523875">
                <a:tc>
                  <a:txBody>
                    <a:bodyPr/>
                    <a:lstStyle/>
                    <a:p>
                      <a:r>
                        <a:rPr sz="1125" b="1">
                          <a:solidFill>
                            <a:srgbClr val="FFFFFF"/>
                          </a:solidFill>
                          <a:latin typeface="Arial"/>
                          <a:ea typeface="Arial"/>
                          <a:cs typeface="Arial"/>
                        </a:rPr>
                        <a:t>Dimension and review question</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0  Unsupported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1  Limited</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2  Adequate</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3  Systematic</a:t>
                      </a:r>
                    </a:p>
                  </a:txBody>
                  <a:tcPr marL="95250" marR="95250" marT="76200" marB="66675" anchor="ctr">
                    <a:solidFill>
                      <a:srgbClr val="123B53"/>
                    </a:solidFill>
                  </a:tcPr>
                </a:tc>
              </a:tr>
              <a:tr h="952500">
                <a:tc>
                  <a:txBody>
                    <a:bodyPr/>
                    <a:lstStyle/>
                    <a:p>
                      <a:r>
                        <a:rPr sz="915" b="1">
                          <a:solidFill>
                            <a:srgbClr val="176082"/>
                          </a:solidFill>
                          <a:latin typeface="Arial"/>
                          <a:ea typeface="Arial"/>
                          <a:cs typeface="Arial"/>
                        </a:rPr>
                        <a:t>5  Conceptual continuity</a:t>
                      </a:r>
                    </a:p>
                    <a:p>
                      <a:r>
                        <a:rPr sz="915" b="1">
                          <a:solidFill>
                            <a:srgbClr val="176082"/>
                          </a:solidFill>
                          <a:latin typeface="Arial"/>
                          <a:ea typeface="Arial"/>
                          <a:cs typeface="Arial"/>
                        </a:rPr>
                        <a:t>Are prerequisites reactivated at dependence?</a:t>
                      </a:r>
                    </a:p>
                  </a:txBody>
                  <a:tcPr marL="95250" marR="95250" marT="66675" marB="66675" anchor="ctr">
                    <a:solidFill>
                      <a:srgbClr val="E6F0F5"/>
                    </a:solidFill>
                  </a:tcPr>
                </a:tc>
                <a:tc>
                  <a:txBody>
                    <a:bodyPr/>
                    <a:lstStyle/>
                    <a:p>
                      <a:r>
                        <a:rPr sz="915">
                          <a:solidFill>
                            <a:srgbClr val="33343F"/>
                          </a:solidFill>
                          <a:latin typeface="Arial"/>
                          <a:ea typeface="Arial"/>
                          <a:cs typeface="Arial"/>
                        </a:rPr>
                        <a:t>Earlier concepts are silently assumed</a:t>
                      </a:r>
                    </a:p>
                  </a:txBody>
                  <a:tcPr marL="95250" marR="95250" marT="66675" marB="66675" anchor="ctr">
                    <a:solidFill>
                      <a:srgbClr val="FFFFFF"/>
                    </a:solidFill>
                  </a:tcPr>
                </a:tc>
                <a:tc>
                  <a:txBody>
                    <a:bodyPr/>
                    <a:lstStyle/>
                    <a:p>
                      <a:r>
                        <a:rPr sz="915">
                          <a:solidFill>
                            <a:srgbClr val="33343F"/>
                          </a:solidFill>
                          <a:latin typeface="Arial"/>
                          <a:ea typeface="Arial"/>
                          <a:cs typeface="Arial"/>
                        </a:rPr>
                        <a:t>Connections are distant or inconsistent</a:t>
                      </a:r>
                    </a:p>
                  </a:txBody>
                  <a:tcPr marL="95250" marR="95250" marT="66675" marB="66675" anchor="ctr">
                    <a:solidFill>
                      <a:srgbClr val="FFFFFF"/>
                    </a:solidFill>
                  </a:tcPr>
                </a:tc>
                <a:tc>
                  <a:txBody>
                    <a:bodyPr/>
                    <a:lstStyle/>
                    <a:p>
                      <a:r>
                        <a:rPr sz="915">
                          <a:solidFill>
                            <a:srgbClr val="33343F"/>
                          </a:solidFill>
                          <a:latin typeface="Arial"/>
                          <a:ea typeface="Arial"/>
                          <a:cs typeface="Arial"/>
                        </a:rPr>
                        <a:t>Bridges and recall cues appear at key dependencies</a:t>
                      </a:r>
                    </a:p>
                  </a:txBody>
                  <a:tcPr marL="95250" marR="95250" marT="66675" marB="66675" anchor="ctr">
                    <a:solidFill>
                      <a:srgbClr val="FFFFFF"/>
                    </a:solidFill>
                  </a:tcPr>
                </a:tc>
                <a:tc>
                  <a:txBody>
                    <a:bodyPr/>
                    <a:lstStyle/>
                    <a:p>
                      <a:r>
                        <a:rPr sz="915">
                          <a:solidFill>
                            <a:srgbClr val="33343F"/>
                          </a:solidFill>
                          <a:latin typeface="Arial"/>
                          <a:ea typeface="Arial"/>
                          <a:cs typeface="Arial"/>
                        </a:rPr>
                        <a:t>Connections build a visible cumulative knowledge path</a:t>
                      </a:r>
                    </a:p>
                  </a:txBody>
                  <a:tcPr marL="95250" marR="95250" marT="66675" marB="66675" anchor="ctr">
                    <a:solidFill>
                      <a:srgbClr val="FFFFFF"/>
                    </a:solidFill>
                  </a:tcPr>
                </a:tc>
              </a:tr>
              <a:tr h="952500">
                <a:tc>
                  <a:txBody>
                    <a:bodyPr/>
                    <a:lstStyle/>
                    <a:p>
                      <a:r>
                        <a:rPr sz="915" b="1">
                          <a:solidFill>
                            <a:srgbClr val="176082"/>
                          </a:solidFill>
                          <a:latin typeface="Arial"/>
                          <a:ea typeface="Arial"/>
                          <a:cs typeface="Arial"/>
                        </a:rPr>
                        <a:t>6  Reader engagement</a:t>
                      </a:r>
                    </a:p>
                    <a:p>
                      <a:r>
                        <a:rPr sz="915" b="1">
                          <a:solidFill>
                            <a:srgbClr val="176082"/>
                          </a:solidFill>
                          <a:latin typeface="Arial"/>
                          <a:ea typeface="Arial"/>
                          <a:cs typeface="Arial"/>
                        </a:rPr>
                        <a:t>Can readers check or monitor understanding?</a:t>
                      </a:r>
                    </a:p>
                  </a:txBody>
                  <a:tcPr marL="95250" marR="95250" marT="66675" marB="66675" anchor="ctr">
                    <a:solidFill>
                      <a:srgbClr val="E6F0F5"/>
                    </a:solidFill>
                  </a:tcPr>
                </a:tc>
                <a:tc>
                  <a:txBody>
                    <a:bodyPr/>
                    <a:lstStyle/>
                    <a:p>
                      <a:r>
                        <a:rPr sz="915">
                          <a:solidFill>
                            <a:srgbClr val="33343F"/>
                          </a:solidFill>
                          <a:latin typeface="Arial"/>
                          <a:ea typeface="Arial"/>
                          <a:cs typeface="Arial"/>
                        </a:rPr>
                        <a:t>No usable self-check route</a:t>
                      </a:r>
                    </a:p>
                  </a:txBody>
                  <a:tcPr marL="95250" marR="95250" marT="66675" marB="66675" anchor="ctr">
                    <a:solidFill>
                      <a:srgbClr val="FFFFFF"/>
                    </a:solidFill>
                  </a:tcPr>
                </a:tc>
                <a:tc>
                  <a:txBody>
                    <a:bodyPr/>
                    <a:lstStyle/>
                    <a:p>
                      <a:r>
                        <a:rPr sz="915">
                          <a:solidFill>
                            <a:srgbClr val="33343F"/>
                          </a:solidFill>
                          <a:latin typeface="Arial"/>
                          <a:ea typeface="Arial"/>
                          <a:cs typeface="Arial"/>
                        </a:rPr>
                        <a:t>Prompts are generic or detached</a:t>
                      </a:r>
                    </a:p>
                  </a:txBody>
                  <a:tcPr marL="95250" marR="95250" marT="66675" marB="66675" anchor="ctr">
                    <a:solidFill>
                      <a:srgbClr val="FFFFFF"/>
                    </a:solidFill>
                  </a:tcPr>
                </a:tc>
                <a:tc>
                  <a:txBody>
                    <a:bodyPr/>
                    <a:lstStyle/>
                    <a:p>
                      <a:r>
                        <a:rPr sz="915">
                          <a:solidFill>
                            <a:srgbClr val="33343F"/>
                          </a:solidFill>
                          <a:latin typeface="Arial"/>
                          <a:ea typeface="Arial"/>
                          <a:cs typeface="Arial"/>
                        </a:rPr>
                        <a:t>Questions and checks match the learning point</a:t>
                      </a:r>
                    </a:p>
                  </a:txBody>
                  <a:tcPr marL="95250" marR="95250" marT="66675" marB="66675" anchor="ctr">
                    <a:solidFill>
                      <a:srgbClr val="FFFFFF"/>
                    </a:solidFill>
                  </a:tcPr>
                </a:tc>
                <a:tc>
                  <a:txBody>
                    <a:bodyPr/>
                    <a:lstStyle/>
                    <a:p>
                      <a:r>
                        <a:rPr sz="915">
                          <a:solidFill>
                            <a:srgbClr val="33343F"/>
                          </a:solidFill>
                          <a:latin typeface="Arial"/>
                          <a:ea typeface="Arial"/>
                          <a:cs typeface="Arial"/>
                        </a:rPr>
                        <a:t>Checks recur with feedback or worked reasoning</a:t>
                      </a:r>
                    </a:p>
                  </a:txBody>
                  <a:tcPr marL="95250" marR="95250" marT="66675" marB="66675" anchor="ctr">
                    <a:solidFill>
                      <a:srgbClr val="FFFFFF"/>
                    </a:solidFill>
                  </a:tcPr>
                </a:tc>
              </a:tr>
              <a:tr h="952500">
                <a:tc>
                  <a:txBody>
                    <a:bodyPr/>
                    <a:lstStyle/>
                    <a:p>
                      <a:r>
                        <a:rPr sz="915" b="1">
                          <a:solidFill>
                            <a:srgbClr val="176082"/>
                          </a:solidFill>
                          <a:latin typeface="Arial"/>
                          <a:ea typeface="Arial"/>
                          <a:cs typeface="Arial"/>
                        </a:rPr>
                        <a:t>7  Multimodal support</a:t>
                      </a:r>
                    </a:p>
                    <a:p>
                      <a:r>
                        <a:rPr sz="915" b="1">
                          <a:solidFill>
                            <a:srgbClr val="176082"/>
                          </a:solidFill>
                          <a:latin typeface="Arial"/>
                          <a:ea typeface="Arial"/>
                          <a:cs typeface="Arial"/>
                        </a:rPr>
                        <a:t>Do prose, visuals and notation explain one another?</a:t>
                      </a:r>
                    </a:p>
                  </a:txBody>
                  <a:tcPr marL="95250" marR="95250" marT="66675" marB="66675" anchor="ctr">
                    <a:solidFill>
                      <a:srgbClr val="E6F0F5"/>
                    </a:solidFill>
                  </a:tcPr>
                </a:tc>
                <a:tc>
                  <a:txBody>
                    <a:bodyPr/>
                    <a:lstStyle/>
                    <a:p>
                      <a:r>
                        <a:rPr sz="915">
                          <a:solidFill>
                            <a:srgbClr val="33343F"/>
                          </a:solidFill>
                          <a:latin typeface="Arial"/>
                          <a:ea typeface="Arial"/>
                          <a:cs typeface="Arial"/>
                        </a:rPr>
                        <a:t>Modes conflict or essential labels are missing</a:t>
                      </a:r>
                    </a:p>
                  </a:txBody>
                  <a:tcPr marL="95250" marR="95250" marT="66675" marB="66675" anchor="ctr">
                    <a:solidFill>
                      <a:srgbClr val="FFFFFF"/>
                    </a:solidFill>
                  </a:tcPr>
                </a:tc>
                <a:tc>
                  <a:txBody>
                    <a:bodyPr/>
                    <a:lstStyle/>
                    <a:p>
                      <a:r>
                        <a:rPr sz="915">
                          <a:solidFill>
                            <a:srgbClr val="33343F"/>
                          </a:solidFill>
                          <a:latin typeface="Arial"/>
                          <a:ea typeface="Arial"/>
                          <a:cs typeface="Arial"/>
                        </a:rPr>
                        <a:t>Visuals exist but links are weak</a:t>
                      </a:r>
                    </a:p>
                  </a:txBody>
                  <a:tcPr marL="95250" marR="95250" marT="66675" marB="66675" anchor="ctr">
                    <a:solidFill>
                      <a:srgbClr val="FFFFFF"/>
                    </a:solidFill>
                  </a:tcPr>
                </a:tc>
                <a:tc>
                  <a:txBody>
                    <a:bodyPr/>
                    <a:lstStyle/>
                    <a:p>
                      <a:r>
                        <a:rPr sz="915">
                          <a:solidFill>
                            <a:srgbClr val="33343F"/>
                          </a:solidFill>
                          <a:latin typeface="Arial"/>
                          <a:ea typeface="Arial"/>
                          <a:cs typeface="Arial"/>
                        </a:rPr>
                        <a:t>Labels and references support interpretation</a:t>
                      </a:r>
                    </a:p>
                  </a:txBody>
                  <a:tcPr marL="95250" marR="95250" marT="66675" marB="66675" anchor="ctr">
                    <a:solidFill>
                      <a:srgbClr val="FFFFFF"/>
                    </a:solidFill>
                  </a:tcPr>
                </a:tc>
                <a:tc>
                  <a:txBody>
                    <a:bodyPr/>
                    <a:lstStyle/>
                    <a:p>
                      <a:r>
                        <a:rPr sz="915">
                          <a:solidFill>
                            <a:srgbClr val="33343F"/>
                          </a:solidFill>
                          <a:latin typeface="Arial"/>
                          <a:ea typeface="Arial"/>
                          <a:cs typeface="Arial"/>
                        </a:rPr>
                        <a:t>Modes are deliberately sequenced and mutually explanatory</a:t>
                      </a:r>
                    </a:p>
                  </a:txBody>
                  <a:tcPr marL="95250" marR="9525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763DB4C-BEBC-46DE-9CB0-404325676AC1}"/>
              </a:ext>
            </a:extLst>
          </p:cNvPr>
          <p:cNvSpPr>
            <a:spLocks xmlns:a="http://schemas.openxmlformats.org/drawingml/2006/main" noGrp="1"/>
          </p:cNvSpPr>
          <p:nvPr/>
        </p:nvSpPr>
        <p:spPr>
          <a:xfrm xmlns:a="http://schemas.openxmlformats.org/drawingml/2006/main">
            <a:off x="800100" y="5286375"/>
            <a:ext cx="10572750" cy="666750"/>
          </a:xfrm>
          <a:prstGeom xmlns:a="http://schemas.openxmlformats.org/drawingml/2006/main" prst="roundRect">
            <a:avLst>
              <a:gd name="adj" fmla="val 11429"/>
            </a:avLst>
          </a:prstGeom>
          <a:solidFill xmlns:a="http://schemas.openxmlformats.org/drawingml/2006/main">
            <a:srgbClr val="123B5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958218-CDA0-4D9D-8AE8-74011AE00D7F}"/>
              </a:ext>
            </a:extLst>
          </p:cNvPr>
          <p:cNvSpPr>
            <a:spLocks xmlns:a="http://schemas.openxmlformats.org/drawingml/2006/main" noGrp="1"/>
          </p:cNvSpPr>
          <p:nvPr/>
        </p:nvSpPr>
        <p:spPr>
          <a:xfrm xmlns:a="http://schemas.openxmlformats.org/drawingml/2006/main">
            <a:off x="1047750" y="54578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556"/>
          </a:bodyPr>
          <a:lstStyle xmlns:a="http://schemas.openxmlformats.org/drawingml/2006/main"/>
          <a:p xmlns:a="http://schemas.openxmlformats.org/drawingml/2006/main">
            <a:pPr algn="l">
              <a:defRPr sz="1125" b="1" i="0">
                <a:solidFill>
                  <a:srgbClr val="FFD45A"/>
                </a:solidFill>
                <a:latin typeface="Arial"/>
                <a:ea typeface="Arial"/>
                <a:cs typeface="Arial"/>
              </a:defRPr>
            </a:pPr>
            <a:r>
              <a:rPr sz="1125" b="1" i="0">
                <a:solidFill>
                  <a:srgbClr val="FFD45A"/>
                </a:solidFill>
                <a:latin typeface="Arial"/>
                <a:ea typeface="Arial"/>
                <a:cs typeface="Arial"/>
              </a:rPr>
              <a:t>Mandatory gates</a:t>
            </a:r>
          </a:p>
        </p:txBody>
      </p:sp>
      <p:sp>
        <p:nvSpPr>
          <p:cNvPr id="9" name="">
            <a:extLst xmlns:a="http://schemas.openxmlformats.org/drawingml/2006/main">
              <a:ext uri="{FF2B5EF4-FFF2-40B4-BE49-F238E27FC236}">
                <a16:creationId xmlns:a16="http://schemas.microsoft.com/office/drawing/2014/main" id="{72CC2EDC-17AC-480E-8422-B47E18076514}"/>
              </a:ext>
            </a:extLst>
          </p:cNvPr>
          <p:cNvSpPr>
            <a:spLocks xmlns:a="http://schemas.openxmlformats.org/drawingml/2006/main" noGrp="1"/>
          </p:cNvSpPr>
          <p:nvPr/>
        </p:nvSpPr>
        <p:spPr>
          <a:xfrm xmlns:a="http://schemas.openxmlformats.org/drawingml/2006/main">
            <a:off x="2857500" y="5391150"/>
            <a:ext cx="819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375"/>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disciplinary accuracy · precision preserved · no native-speaker deficit assumption · fit with the course’s epistemic and multimodal practices</a:t>
            </a:r>
          </a:p>
        </p:txBody>
      </p:sp>
      <p:sp>
        <p:nvSpPr>
          <p:cNvPr id="10" name="">
            <a:extLst xmlns:a="http://schemas.openxmlformats.org/drawingml/2006/main">
              <a:ext uri="{FF2B5EF4-FFF2-40B4-BE49-F238E27FC236}">
                <a16:creationId xmlns:a16="http://schemas.microsoft.com/office/drawing/2014/main" id="{A2669AD3-D5DF-4FE4-9C98-6BE2E4DB8FDC}"/>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11" name="">
            <a:extLst xmlns:a="http://schemas.openxmlformats.org/drawingml/2006/main">
              <a:ext uri="{FF2B5EF4-FFF2-40B4-BE49-F238E27FC236}">
                <a16:creationId xmlns:a16="http://schemas.microsoft.com/office/drawing/2014/main" id="{85F10ACC-2E68-48B9-AE7C-95FA8F164C9A}"/>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103508916"/>
      </p:ext>
    </p:extLst>
  </p:cSld>
</p:sld>
</file>

<file path=ppt/slides/slide2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72B55FC-B45E-42A9-82AE-0AEECBDC5DA3}"/>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17608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4031A5-FB0F-4A49-B767-F88C1B0221A6}"/>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MIWAE FRAMEWORK</a:t>
            </a:r>
          </a:p>
        </p:txBody>
      </p:sp>
      <p:sp>
        <p:nvSpPr>
          <p:cNvPr id="3" name="">
            <a:extLst xmlns:a="http://schemas.openxmlformats.org/drawingml/2006/main">
              <a:ext uri="{FF2B5EF4-FFF2-40B4-BE49-F238E27FC236}">
                <a16:creationId xmlns:a16="http://schemas.microsoft.com/office/drawing/2014/main" id="{1A40F214-043D-4609-B888-C2B058D676DF}"/>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Evidence tags and the coursebook decision rule</a:t>
            </a:r>
          </a:p>
        </p:txBody>
      </p:sp>
      <p:sp>
        <p:nvSpPr>
          <p:cNvPr id="4" name="">
            <a:extLst xmlns:a="http://schemas.openxmlformats.org/drawingml/2006/main">
              <a:ext uri="{FF2B5EF4-FFF2-40B4-BE49-F238E27FC236}">
                <a16:creationId xmlns:a16="http://schemas.microsoft.com/office/drawing/2014/main" id="{19ACB5C2-C822-4C3D-A986-1AB5963D1ED0}"/>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383AE449-BA34-402B-9A95-278635E6DB7C}"/>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77390CEB-5856-4024-954C-FA608CBD7DF9}"/>
              </a:ext>
            </a:extLst>
          </p:cNvPr>
          <p:cNvSpPr>
            <a:spLocks xmlns:a="http://schemas.openxmlformats.org/drawingml/2006/main" noGrp="1"/>
          </p:cNvSpPr>
          <p:nvPr/>
        </p:nvSpPr>
        <p:spPr>
          <a:xfrm xmlns:a="http://schemas.openxmlformats.org/drawingml/2006/main">
            <a:off x="742950" y="1685925"/>
            <a:ext cx="5048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0CEB91EA-4B3F-463F-806E-E1099EB1EDDC}"/>
              </a:ext>
            </a:extLst>
          </p:cNvPr>
          <p:cNvSpPr>
            <a:spLocks xmlns:a="http://schemas.openxmlformats.org/drawingml/2006/main" noGrp="1"/>
          </p:cNvSpPr>
          <p:nvPr/>
        </p:nvSpPr>
        <p:spPr>
          <a:xfrm xmlns:a="http://schemas.openxmlformats.org/drawingml/2006/main">
            <a:off x="742950" y="1685925"/>
            <a:ext cx="714375" cy="685800"/>
          </a:xfrm>
          <a:prstGeom xmlns:a="http://schemas.openxmlformats.org/drawingml/2006/main" prst="roundRect">
            <a:avLst>
              <a:gd name="adj" fmla="val 11111"/>
            </a:avLst>
          </a:prstGeom>
          <a:solidFill xmlns:a="http://schemas.openxmlformats.org/drawingml/2006/main">
            <a:srgbClr val="1760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3A203D-847B-4BF4-8AAE-DCB264D6474C}"/>
              </a:ext>
            </a:extLst>
          </p:cNvPr>
          <p:cNvSpPr>
            <a:spLocks xmlns:a="http://schemas.openxmlformats.org/drawingml/2006/main" noGrp="1"/>
          </p:cNvSpPr>
          <p:nvPr/>
        </p:nvSpPr>
        <p:spPr>
          <a:xfrm xmlns:a="http://schemas.openxmlformats.org/drawingml/2006/main">
            <a:off x="742950" y="18478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T</a:t>
            </a:r>
          </a:p>
        </p:txBody>
      </p:sp>
      <p:sp>
        <p:nvSpPr>
          <p:cNvPr id="9" name="">
            <a:extLst xmlns:a="http://schemas.openxmlformats.org/drawingml/2006/main">
              <a:ext uri="{FF2B5EF4-FFF2-40B4-BE49-F238E27FC236}">
                <a16:creationId xmlns:a16="http://schemas.microsoft.com/office/drawing/2014/main" id="{BE6A4FA2-BE5D-415C-9CD6-C50FE4C8823B}"/>
              </a:ext>
            </a:extLst>
          </p:cNvPr>
          <p:cNvSpPr>
            <a:spLocks xmlns:a="http://schemas.openxmlformats.org/drawingml/2006/main" noGrp="1"/>
          </p:cNvSpPr>
          <p:nvPr/>
        </p:nvSpPr>
        <p:spPr>
          <a:xfrm xmlns:a="http://schemas.openxmlformats.org/drawingml/2006/main">
            <a:off x="1714500" y="17716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926"/>
          </a:bodyPr>
          <a:lstStyle xmlns:a="http://schemas.openxmlformats.org/drawingml/2006/main"/>
          <a:p xmlns:a="http://schemas.openxmlformats.org/drawingml/2006/main">
            <a:pPr algn="l">
              <a:defRPr sz="1350" b="1" i="0">
                <a:solidFill>
                  <a:srgbClr val="33343F"/>
                </a:solidFill>
                <a:latin typeface="Arial"/>
                <a:ea typeface="Arial"/>
                <a:cs typeface="Arial"/>
              </a:defRPr>
            </a:pPr>
            <a:r>
              <a:rPr sz="1350" b="1" i="0">
                <a:solidFill>
                  <a:srgbClr val="33343F"/>
                </a:solidFill>
                <a:latin typeface="Arial"/>
                <a:ea typeface="Arial"/>
                <a:cs typeface="Arial"/>
              </a:rPr>
              <a:t>Text only</a:t>
            </a:r>
          </a:p>
        </p:txBody>
      </p:sp>
      <p:sp>
        <p:nvSpPr>
          <p:cNvPr id="10" name="">
            <a:extLst xmlns:a="http://schemas.openxmlformats.org/drawingml/2006/main">
              <a:ext uri="{FF2B5EF4-FFF2-40B4-BE49-F238E27FC236}">
                <a16:creationId xmlns:a16="http://schemas.microsoft.com/office/drawing/2014/main" id="{264D0E7A-24C2-4A2E-8644-FB3F3FE494D0}"/>
              </a:ext>
            </a:extLst>
          </p:cNvPr>
          <p:cNvSpPr>
            <a:spLocks xmlns:a="http://schemas.openxmlformats.org/drawingml/2006/main" noGrp="1"/>
          </p:cNvSpPr>
          <p:nvPr/>
        </p:nvSpPr>
        <p:spPr>
          <a:xfrm xmlns:a="http://schemas.openxmlformats.org/drawingml/2006/main">
            <a:off x="3524250" y="17621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626777"/>
                </a:solidFill>
                <a:latin typeface="Arial"/>
                <a:ea typeface="Arial"/>
                <a:cs typeface="Arial"/>
              </a:defRPr>
            </a:pPr>
            <a:r>
              <a:rPr sz="1125" b="0" i="0">
                <a:solidFill>
                  <a:srgbClr val="626777"/>
                </a:solidFill>
                <a:latin typeface="Arial"/>
                <a:ea typeface="Arial"/>
                <a:cs typeface="Arial"/>
              </a:rPr>
              <a:t>Located feature with page and sampled denominator</a:t>
            </a:r>
          </a:p>
        </p:txBody>
      </p:sp>
      <p:sp>
        <p:nvSpPr>
          <p:cNvPr id="11" name="">
            <a:extLst xmlns:a="http://schemas.openxmlformats.org/drawingml/2006/main">
              <a:ext uri="{FF2B5EF4-FFF2-40B4-BE49-F238E27FC236}">
                <a16:creationId xmlns:a16="http://schemas.microsoft.com/office/drawing/2014/main" id="{57A618D5-EDA9-416A-9B81-6950A460B90A}"/>
              </a:ext>
            </a:extLst>
          </p:cNvPr>
          <p:cNvSpPr>
            <a:spLocks xmlns:a="http://schemas.openxmlformats.org/drawingml/2006/main" noGrp="1"/>
          </p:cNvSpPr>
          <p:nvPr/>
        </p:nvSpPr>
        <p:spPr>
          <a:xfrm xmlns:a="http://schemas.openxmlformats.org/drawingml/2006/main">
            <a:off x="742950" y="2581275"/>
            <a:ext cx="5048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9D3"/>
            </a:solidFill>
          </a:ln>
        </p:spPr>
      </p:sp>
      <p:sp>
        <p:nvSpPr>
          <p:cNvPr id="12" name="">
            <a:extLst xmlns:a="http://schemas.openxmlformats.org/drawingml/2006/main">
              <a:ext uri="{FF2B5EF4-FFF2-40B4-BE49-F238E27FC236}">
                <a16:creationId xmlns:a16="http://schemas.microsoft.com/office/drawing/2014/main" id="{F71ADA21-6318-4F28-BDC3-3B3C48AC2383}"/>
              </a:ext>
            </a:extLst>
          </p:cNvPr>
          <p:cNvSpPr>
            <a:spLocks xmlns:a="http://schemas.openxmlformats.org/drawingml/2006/main" noGrp="1"/>
          </p:cNvSpPr>
          <p:nvPr/>
        </p:nvSpPr>
        <p:spPr>
          <a:xfrm xmlns:a="http://schemas.openxmlformats.org/drawingml/2006/main">
            <a:off x="742950" y="2581275"/>
            <a:ext cx="714375" cy="685800"/>
          </a:xfrm>
          <a:prstGeom xmlns:a="http://schemas.openxmlformats.org/drawingml/2006/main" prst="roundRect">
            <a:avLst>
              <a:gd name="adj" fmla="val 11111"/>
            </a:avLst>
          </a:prstGeom>
          <a:solidFill xmlns:a="http://schemas.openxmlformats.org/drawingml/2006/main">
            <a:srgbClr val="17608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B7DBCA-CA0E-4BE2-9ACB-60236004A2AB}"/>
              </a:ext>
            </a:extLst>
          </p:cNvPr>
          <p:cNvSpPr>
            <a:spLocks xmlns:a="http://schemas.openxmlformats.org/drawingml/2006/main" noGrp="1"/>
          </p:cNvSpPr>
          <p:nvPr/>
        </p:nvSpPr>
        <p:spPr>
          <a:xfrm xmlns:a="http://schemas.openxmlformats.org/drawingml/2006/main">
            <a:off x="742950" y="274320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TP</a:t>
            </a:r>
          </a:p>
        </p:txBody>
      </p:sp>
      <p:sp>
        <p:nvSpPr>
          <p:cNvPr id="14" name="">
            <a:extLst xmlns:a="http://schemas.openxmlformats.org/drawingml/2006/main">
              <a:ext uri="{FF2B5EF4-FFF2-40B4-BE49-F238E27FC236}">
                <a16:creationId xmlns:a16="http://schemas.microsoft.com/office/drawing/2014/main" id="{1F3A6110-25AB-4C74-9C62-3D0ACA4BEF26}"/>
              </a:ext>
            </a:extLst>
          </p:cNvPr>
          <p:cNvSpPr>
            <a:spLocks xmlns:a="http://schemas.openxmlformats.org/drawingml/2006/main" noGrp="1"/>
          </p:cNvSpPr>
          <p:nvPr/>
        </p:nvSpPr>
        <p:spPr>
          <a:xfrm xmlns:a="http://schemas.openxmlformats.org/drawingml/2006/main">
            <a:off x="1714500" y="26670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926"/>
          </a:bodyPr>
          <a:lstStyle xmlns:a="http://schemas.openxmlformats.org/drawingml/2006/main"/>
          <a:p xmlns:a="http://schemas.openxmlformats.org/drawingml/2006/main">
            <a:pPr algn="l">
              <a:defRPr sz="1350" b="1" i="0">
                <a:solidFill>
                  <a:srgbClr val="33343F"/>
                </a:solidFill>
                <a:latin typeface="Arial"/>
                <a:ea typeface="Arial"/>
                <a:cs typeface="Arial"/>
              </a:defRPr>
            </a:pPr>
            <a:r>
              <a:rPr sz="1350" b="1" i="0">
                <a:solidFill>
                  <a:srgbClr val="33343F"/>
                </a:solidFill>
                <a:latin typeface="Arial"/>
                <a:ea typeface="Arial"/>
                <a:cs typeface="Arial"/>
              </a:rPr>
              <a:t>Text + perception</a:t>
            </a:r>
          </a:p>
        </p:txBody>
      </p:sp>
      <p:sp>
        <p:nvSpPr>
          <p:cNvPr id="15" name="">
            <a:extLst xmlns:a="http://schemas.openxmlformats.org/drawingml/2006/main">
              <a:ext uri="{FF2B5EF4-FFF2-40B4-BE49-F238E27FC236}">
                <a16:creationId xmlns:a16="http://schemas.microsoft.com/office/drawing/2014/main" id="{6E753AC4-CA1F-4710-A0A5-C8C566A69132}"/>
              </a:ext>
            </a:extLst>
          </p:cNvPr>
          <p:cNvSpPr>
            <a:spLocks xmlns:a="http://schemas.openxmlformats.org/drawingml/2006/main" noGrp="1"/>
          </p:cNvSpPr>
          <p:nvPr/>
        </p:nvSpPr>
        <p:spPr>
          <a:xfrm xmlns:a="http://schemas.openxmlformats.org/drawingml/2006/main">
            <a:off x="3524250" y="26574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626777"/>
                </a:solidFill>
                <a:latin typeface="Arial"/>
                <a:ea typeface="Arial"/>
                <a:cs typeface="Arial"/>
              </a:defRPr>
            </a:pPr>
            <a:r>
              <a:rPr sz="1125" b="0" i="0">
                <a:solidFill>
                  <a:srgbClr val="626777"/>
                </a:solidFill>
                <a:latin typeface="Arial"/>
                <a:ea typeface="Arial"/>
                <a:cs typeface="Arial"/>
              </a:rPr>
              <a:t>Feature linked to student accounts</a:t>
            </a:r>
          </a:p>
        </p:txBody>
      </p:sp>
      <p:sp>
        <p:nvSpPr>
          <p:cNvPr id="16" name="">
            <a:extLst xmlns:a="http://schemas.openxmlformats.org/drawingml/2006/main">
              <a:ext uri="{FF2B5EF4-FFF2-40B4-BE49-F238E27FC236}">
                <a16:creationId xmlns:a16="http://schemas.microsoft.com/office/drawing/2014/main" id="{DA12B770-712B-4559-89FC-BEF26A72B96D}"/>
              </a:ext>
            </a:extLst>
          </p:cNvPr>
          <p:cNvSpPr>
            <a:spLocks xmlns:a="http://schemas.openxmlformats.org/drawingml/2006/main" noGrp="1"/>
          </p:cNvSpPr>
          <p:nvPr/>
        </p:nvSpPr>
        <p:spPr>
          <a:xfrm xmlns:a="http://schemas.openxmlformats.org/drawingml/2006/main">
            <a:off x="742950" y="3476625"/>
            <a:ext cx="5048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9D3"/>
            </a:solidFill>
          </a:ln>
        </p:spPr>
      </p:sp>
      <p:sp>
        <p:nvSpPr>
          <p:cNvPr id="17" name="">
            <a:extLst xmlns:a="http://schemas.openxmlformats.org/drawingml/2006/main">
              <a:ext uri="{FF2B5EF4-FFF2-40B4-BE49-F238E27FC236}">
                <a16:creationId xmlns:a16="http://schemas.microsoft.com/office/drawing/2014/main" id="{C4F75CD2-A9AD-422A-8E73-56D3DBCC4A47}"/>
              </a:ext>
            </a:extLst>
          </p:cNvPr>
          <p:cNvSpPr>
            <a:spLocks xmlns:a="http://schemas.openxmlformats.org/drawingml/2006/main" noGrp="1"/>
          </p:cNvSpPr>
          <p:nvPr/>
        </p:nvSpPr>
        <p:spPr>
          <a:xfrm xmlns:a="http://schemas.openxmlformats.org/drawingml/2006/main">
            <a:off x="742950" y="3476625"/>
            <a:ext cx="714375" cy="685800"/>
          </a:xfrm>
          <a:prstGeom xmlns:a="http://schemas.openxmlformats.org/drawingml/2006/main" prst="roundRect">
            <a:avLst>
              <a:gd name="adj" fmla="val 11111"/>
            </a:avLst>
          </a:prstGeom>
          <a:solidFill xmlns:a="http://schemas.openxmlformats.org/drawingml/2006/main">
            <a:srgbClr val="123B5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B0C99FF-7B96-4D25-AF5F-7390C76C696F}"/>
              </a:ext>
            </a:extLst>
          </p:cNvPr>
          <p:cNvSpPr>
            <a:spLocks xmlns:a="http://schemas.openxmlformats.org/drawingml/2006/main" noGrp="1"/>
          </p:cNvSpPr>
          <p:nvPr/>
        </p:nvSpPr>
        <p:spPr>
          <a:xfrm xmlns:a="http://schemas.openxmlformats.org/drawingml/2006/main">
            <a:off x="742950" y="36385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TPC</a:t>
            </a:r>
          </a:p>
        </p:txBody>
      </p:sp>
      <p:sp>
        <p:nvSpPr>
          <p:cNvPr id="19" name="">
            <a:extLst xmlns:a="http://schemas.openxmlformats.org/drawingml/2006/main">
              <a:ext uri="{FF2B5EF4-FFF2-40B4-BE49-F238E27FC236}">
                <a16:creationId xmlns:a16="http://schemas.microsoft.com/office/drawing/2014/main" id="{DA02F786-9F5E-467C-AC18-9F55EB5764D8}"/>
              </a:ext>
            </a:extLst>
          </p:cNvPr>
          <p:cNvSpPr>
            <a:spLocks xmlns:a="http://schemas.openxmlformats.org/drawingml/2006/main" noGrp="1"/>
          </p:cNvSpPr>
          <p:nvPr/>
        </p:nvSpPr>
        <p:spPr>
          <a:xfrm xmlns:a="http://schemas.openxmlformats.org/drawingml/2006/main">
            <a:off x="1714500" y="35623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131"/>
          </a:bodyPr>
          <a:lstStyle xmlns:a="http://schemas.openxmlformats.org/drawingml/2006/main"/>
          <a:p xmlns:a="http://schemas.openxmlformats.org/drawingml/2006/main">
            <a:pPr algn="l">
              <a:defRPr sz="1350" b="1" i="0">
                <a:solidFill>
                  <a:srgbClr val="33343F"/>
                </a:solidFill>
                <a:latin typeface="Arial"/>
                <a:ea typeface="Arial"/>
                <a:cs typeface="Arial"/>
              </a:defRPr>
            </a:pPr>
            <a:r>
              <a:rPr sz="1350" b="1" i="0">
                <a:solidFill>
                  <a:srgbClr val="33343F"/>
                </a:solidFill>
                <a:latin typeface="Arial"/>
                <a:ea typeface="Arial"/>
                <a:cs typeface="Arial"/>
              </a:rPr>
              <a:t>Text + perception + comprehension</a:t>
            </a:r>
          </a:p>
        </p:txBody>
      </p:sp>
      <p:sp>
        <p:nvSpPr>
          <p:cNvPr id="20" name="">
            <a:extLst xmlns:a="http://schemas.openxmlformats.org/drawingml/2006/main">
              <a:ext uri="{FF2B5EF4-FFF2-40B4-BE49-F238E27FC236}">
                <a16:creationId xmlns:a16="http://schemas.microsoft.com/office/drawing/2014/main" id="{8CE071A2-1EE5-43E0-B6FE-029C10F3840A}"/>
              </a:ext>
            </a:extLst>
          </p:cNvPr>
          <p:cNvSpPr>
            <a:spLocks xmlns:a="http://schemas.openxmlformats.org/drawingml/2006/main" noGrp="1"/>
          </p:cNvSpPr>
          <p:nvPr/>
        </p:nvSpPr>
        <p:spPr>
          <a:xfrm xmlns:a="http://schemas.openxmlformats.org/drawingml/2006/main">
            <a:off x="3524250" y="35528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626777"/>
                </a:solidFill>
                <a:latin typeface="Arial"/>
                <a:ea typeface="Arial"/>
                <a:cs typeface="Arial"/>
              </a:defRPr>
            </a:pPr>
            <a:r>
              <a:rPr sz="1125" b="0" i="0">
                <a:solidFill>
                  <a:srgbClr val="626777"/>
                </a:solidFill>
                <a:latin typeface="Arial"/>
                <a:ea typeface="Arial"/>
                <a:cs typeface="Arial"/>
              </a:rPr>
              <a:t>Feature also supported by outcome evidence</a:t>
            </a:r>
          </a:p>
        </p:txBody>
      </p:sp>
      <p:sp>
        <p:nvSpPr>
          <p:cNvPr id="21" name="">
            <a:extLst xmlns:a="http://schemas.openxmlformats.org/drawingml/2006/main">
              <a:ext uri="{FF2B5EF4-FFF2-40B4-BE49-F238E27FC236}">
                <a16:creationId xmlns:a16="http://schemas.microsoft.com/office/drawing/2014/main" id="{449A45A4-88B2-40D7-9AE0-C5F3E0AFF1C1}"/>
              </a:ext>
            </a:extLst>
          </p:cNvPr>
          <p:cNvSpPr>
            <a:spLocks xmlns:a="http://schemas.openxmlformats.org/drawingml/2006/main" noGrp="1"/>
          </p:cNvSpPr>
          <p:nvPr/>
        </p:nvSpPr>
        <p:spPr>
          <a:xfrm xmlns:a="http://schemas.openxmlformats.org/drawingml/2006/main">
            <a:off x="6477000" y="1685925"/>
            <a:ext cx="4905375" cy="895350"/>
          </a:xfrm>
          <a:prstGeom xmlns:a="http://schemas.openxmlformats.org/drawingml/2006/main" prst="roundRect">
            <a:avLst>
              <a:gd name="adj" fmla="val 8511"/>
            </a:avLst>
          </a:prstGeom>
          <a:solidFill xmlns:a="http://schemas.openxmlformats.org/drawingml/2006/main">
            <a:srgbClr val="E6F0F5"/>
          </a:solidFill>
          <a:ln xmlns:a="http://schemas.openxmlformats.org/drawingml/2006/main" w="9525">
            <a:solidFill>
              <a:srgbClr val="C8C9D3"/>
            </a:solidFill>
          </a:ln>
        </p:spPr>
      </p:sp>
      <p:sp>
        <p:nvSpPr>
          <p:cNvPr id="22" name="">
            <a:extLst xmlns:a="http://schemas.openxmlformats.org/drawingml/2006/main">
              <a:ext uri="{FF2B5EF4-FFF2-40B4-BE49-F238E27FC236}">
                <a16:creationId xmlns:a16="http://schemas.microsoft.com/office/drawing/2014/main" id="{6DC805A1-8EB7-43CD-9656-B6AFA58EF4A6}"/>
              </a:ext>
            </a:extLst>
          </p:cNvPr>
          <p:cNvSpPr>
            <a:spLocks xmlns:a="http://schemas.openxmlformats.org/drawingml/2006/main" noGrp="1"/>
          </p:cNvSpPr>
          <p:nvPr/>
        </p:nvSpPr>
        <p:spPr>
          <a:xfrm xmlns:a="http://schemas.openxmlformats.org/drawingml/2006/main">
            <a:off x="6762750" y="18192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176082"/>
                </a:solidFill>
                <a:latin typeface="Arial"/>
                <a:ea typeface="Arial"/>
                <a:cs typeface="Arial"/>
              </a:defRPr>
            </a:pPr>
            <a:r>
              <a:rPr sz="975" b="1" i="0">
                <a:solidFill>
                  <a:srgbClr val="176082"/>
                </a:solidFill>
                <a:latin typeface="Arial"/>
                <a:ea typeface="Arial"/>
                <a:cs typeface="Arial"/>
              </a:rPr>
              <a:t>CHOOSE</a:t>
            </a:r>
          </a:p>
        </p:txBody>
      </p:sp>
      <p:sp>
        <p:nvSpPr>
          <p:cNvPr id="23" name="">
            <a:extLst xmlns:a="http://schemas.openxmlformats.org/drawingml/2006/main">
              <a:ext uri="{FF2B5EF4-FFF2-40B4-BE49-F238E27FC236}">
                <a16:creationId xmlns:a16="http://schemas.microsoft.com/office/drawing/2014/main" id="{C318B0AE-4690-4F91-901D-6C3E288E197E}"/>
              </a:ext>
            </a:extLst>
          </p:cNvPr>
          <p:cNvSpPr>
            <a:spLocks xmlns:a="http://schemas.openxmlformats.org/drawingml/2006/main" noGrp="1"/>
          </p:cNvSpPr>
          <p:nvPr/>
        </p:nvSpPr>
        <p:spPr>
          <a:xfrm xmlns:a="http://schemas.openxmlformats.org/drawingml/2006/main">
            <a:off x="6762750" y="21336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00" b="1" i="0">
                <a:solidFill>
                  <a:srgbClr val="33343F"/>
                </a:solidFill>
                <a:latin typeface="Arial"/>
                <a:ea typeface="Arial"/>
                <a:cs typeface="Arial"/>
              </a:defRPr>
            </a:pPr>
            <a:r>
              <a:rPr sz="1200" b="1" i="0">
                <a:solidFill>
                  <a:srgbClr val="33343F"/>
                </a:solidFill>
                <a:latin typeface="Arial"/>
                <a:ea typeface="Arial"/>
                <a:cs typeface="Arial"/>
              </a:rPr>
              <a:t>Every essential dimension ≥2 and all gates pass</a:t>
            </a:r>
          </a:p>
        </p:txBody>
      </p:sp>
      <p:sp>
        <p:nvSpPr>
          <p:cNvPr id="24" name="">
            <a:extLst xmlns:a="http://schemas.openxmlformats.org/drawingml/2006/main">
              <a:ext uri="{FF2B5EF4-FFF2-40B4-BE49-F238E27FC236}">
                <a16:creationId xmlns:a16="http://schemas.microsoft.com/office/drawing/2014/main" id="{440CB654-D9D1-4BC5-A8B0-BAEAE3325504}"/>
              </a:ext>
            </a:extLst>
          </p:cNvPr>
          <p:cNvSpPr>
            <a:spLocks xmlns:a="http://schemas.openxmlformats.org/drawingml/2006/main" noGrp="1"/>
          </p:cNvSpPr>
          <p:nvPr/>
        </p:nvSpPr>
        <p:spPr>
          <a:xfrm xmlns:a="http://schemas.openxmlformats.org/drawingml/2006/main">
            <a:off x="6477000" y="2790825"/>
            <a:ext cx="4905375"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C8C9D3"/>
            </a:solidFill>
          </a:ln>
        </p:spPr>
      </p:sp>
      <p:sp>
        <p:nvSpPr>
          <p:cNvPr id="25" name="">
            <a:extLst xmlns:a="http://schemas.openxmlformats.org/drawingml/2006/main">
              <a:ext uri="{FF2B5EF4-FFF2-40B4-BE49-F238E27FC236}">
                <a16:creationId xmlns:a16="http://schemas.microsoft.com/office/drawing/2014/main" id="{99B06A26-67FB-4A2B-8BDE-8F0D00A95167}"/>
              </a:ext>
            </a:extLst>
          </p:cNvPr>
          <p:cNvSpPr>
            <a:spLocks xmlns:a="http://schemas.openxmlformats.org/drawingml/2006/main" noGrp="1"/>
          </p:cNvSpPr>
          <p:nvPr/>
        </p:nvSpPr>
        <p:spPr>
          <a:xfrm xmlns:a="http://schemas.openxmlformats.org/drawingml/2006/main">
            <a:off x="6762750" y="29241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D58C00"/>
                </a:solidFill>
                <a:latin typeface="Arial"/>
                <a:ea typeface="Arial"/>
                <a:cs typeface="Arial"/>
              </a:defRPr>
            </a:pPr>
            <a:r>
              <a:rPr sz="975" b="1" i="0">
                <a:solidFill>
                  <a:srgbClr val="D58C00"/>
                </a:solidFill>
                <a:latin typeface="Arial"/>
                <a:ea typeface="Arial"/>
                <a:cs typeface="Arial"/>
              </a:rPr>
              <a:t>CHOOSE + SUPPLEMENT</a:t>
            </a:r>
          </a:p>
        </p:txBody>
      </p:sp>
      <p:sp>
        <p:nvSpPr>
          <p:cNvPr id="26" name="">
            <a:extLst xmlns:a="http://schemas.openxmlformats.org/drawingml/2006/main">
              <a:ext uri="{FF2B5EF4-FFF2-40B4-BE49-F238E27FC236}">
                <a16:creationId xmlns:a16="http://schemas.microsoft.com/office/drawing/2014/main" id="{7C7FB12B-B8B1-44D5-81AA-3AC72084116C}"/>
              </a:ext>
            </a:extLst>
          </p:cNvPr>
          <p:cNvSpPr>
            <a:spLocks xmlns:a="http://schemas.openxmlformats.org/drawingml/2006/main" noGrp="1"/>
          </p:cNvSpPr>
          <p:nvPr/>
        </p:nvSpPr>
        <p:spPr>
          <a:xfrm xmlns:a="http://schemas.openxmlformats.org/drawingml/2006/main">
            <a:off x="6762750" y="32385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6"/>
          </a:bodyPr>
          <a:lstStyle xmlns:a="http://schemas.openxmlformats.org/drawingml/2006/main"/>
          <a:p xmlns:a="http://schemas.openxmlformats.org/drawingml/2006/main">
            <a:pPr algn="l">
              <a:defRPr sz="1200" b="1" i="0">
                <a:solidFill>
                  <a:srgbClr val="33343F"/>
                </a:solidFill>
                <a:latin typeface="Arial"/>
                <a:ea typeface="Arial"/>
                <a:cs typeface="Arial"/>
              </a:defRPr>
            </a:pPr>
            <a:r>
              <a:rPr sz="1200" b="1" i="0">
                <a:solidFill>
                  <a:srgbClr val="33343F"/>
                </a:solidFill>
                <a:latin typeface="Arial"/>
                <a:ea typeface="Arial"/>
                <a:cs typeface="Arial"/>
              </a:rPr>
              <a:t>One essential dimension =1 and the gap can be covered explicitly</a:t>
            </a:r>
          </a:p>
        </p:txBody>
      </p:sp>
      <p:sp>
        <p:nvSpPr>
          <p:cNvPr id="27" name="">
            <a:extLst xmlns:a="http://schemas.openxmlformats.org/drawingml/2006/main">
              <a:ext uri="{FF2B5EF4-FFF2-40B4-BE49-F238E27FC236}">
                <a16:creationId xmlns:a16="http://schemas.microsoft.com/office/drawing/2014/main" id="{CA98935F-EA5D-4D8D-AC4E-6D079C058E7F}"/>
              </a:ext>
            </a:extLst>
          </p:cNvPr>
          <p:cNvSpPr>
            <a:spLocks xmlns:a="http://schemas.openxmlformats.org/drawingml/2006/main" noGrp="1"/>
          </p:cNvSpPr>
          <p:nvPr/>
        </p:nvSpPr>
        <p:spPr>
          <a:xfrm xmlns:a="http://schemas.openxmlformats.org/drawingml/2006/main">
            <a:off x="6477000" y="3895725"/>
            <a:ext cx="4905375"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C8C9D3"/>
            </a:solidFill>
          </a:ln>
        </p:spPr>
      </p:sp>
      <p:sp>
        <p:nvSpPr>
          <p:cNvPr id="28" name="">
            <a:extLst xmlns:a="http://schemas.openxmlformats.org/drawingml/2006/main">
              <a:ext uri="{FF2B5EF4-FFF2-40B4-BE49-F238E27FC236}">
                <a16:creationId xmlns:a16="http://schemas.microsoft.com/office/drawing/2014/main" id="{776F140C-2BD1-4947-AD6F-1C573863D37D}"/>
              </a:ext>
            </a:extLst>
          </p:cNvPr>
          <p:cNvSpPr>
            <a:spLocks xmlns:a="http://schemas.openxmlformats.org/drawingml/2006/main" noGrp="1"/>
          </p:cNvSpPr>
          <p:nvPr/>
        </p:nvSpPr>
        <p:spPr>
          <a:xfrm xmlns:a="http://schemas.openxmlformats.org/drawingml/2006/main">
            <a:off x="6762750" y="402907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B94D35"/>
                </a:solidFill>
                <a:latin typeface="Arial"/>
                <a:ea typeface="Arial"/>
                <a:cs typeface="Arial"/>
              </a:defRPr>
            </a:pPr>
            <a:r>
              <a:rPr sz="975" b="1" i="0">
                <a:solidFill>
                  <a:srgbClr val="B94D35"/>
                </a:solidFill>
                <a:latin typeface="Arial"/>
                <a:ea typeface="Arial"/>
                <a:cs typeface="Arial"/>
              </a:rPr>
              <a:t>RECONSIDER</a:t>
            </a:r>
          </a:p>
        </p:txBody>
      </p:sp>
      <p:sp>
        <p:nvSpPr>
          <p:cNvPr id="29" name="">
            <a:extLst xmlns:a="http://schemas.openxmlformats.org/drawingml/2006/main">
              <a:ext uri="{FF2B5EF4-FFF2-40B4-BE49-F238E27FC236}">
                <a16:creationId xmlns:a16="http://schemas.microsoft.com/office/drawing/2014/main" id="{952E6587-2859-475A-9306-C12A7D2A34C9}"/>
              </a:ext>
            </a:extLst>
          </p:cNvPr>
          <p:cNvSpPr>
            <a:spLocks xmlns:a="http://schemas.openxmlformats.org/drawingml/2006/main" noGrp="1"/>
          </p:cNvSpPr>
          <p:nvPr/>
        </p:nvSpPr>
        <p:spPr>
          <a:xfrm xmlns:a="http://schemas.openxmlformats.org/drawingml/2006/main">
            <a:off x="6762750" y="43434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58"/>
          </a:bodyPr>
          <a:lstStyle xmlns:a="http://schemas.openxmlformats.org/drawingml/2006/main"/>
          <a:p xmlns:a="http://schemas.openxmlformats.org/drawingml/2006/main">
            <a:pPr algn="l">
              <a:defRPr sz="1200" b="1" i="0">
                <a:solidFill>
                  <a:srgbClr val="33343F"/>
                </a:solidFill>
                <a:latin typeface="Arial"/>
                <a:ea typeface="Arial"/>
                <a:cs typeface="Arial"/>
              </a:defRPr>
            </a:pPr>
            <a:r>
              <a:rPr sz="1200" b="1" i="0">
                <a:solidFill>
                  <a:srgbClr val="33343F"/>
                </a:solidFill>
                <a:latin typeface="Arial"/>
                <a:ea typeface="Arial"/>
                <a:cs typeface="Arial"/>
              </a:rPr>
              <a:t>Any essential dimension =0, repeated placement failure, or an accuracy gate fails</a:t>
            </a:r>
          </a:p>
        </p:txBody>
      </p:sp>
      <p:sp>
        <p:nvSpPr>
          <p:cNvPr id="30" name="">
            <a:extLst xmlns:a="http://schemas.openxmlformats.org/drawingml/2006/main">
              <a:ext uri="{FF2B5EF4-FFF2-40B4-BE49-F238E27FC236}">
                <a16:creationId xmlns:a16="http://schemas.microsoft.com/office/drawing/2014/main" id="{47D6FA62-2C18-408A-8A4C-1EA268AAFF82}"/>
              </a:ext>
            </a:extLst>
          </p:cNvPr>
          <p:cNvSpPr>
            <a:spLocks xmlns:a="http://schemas.openxmlformats.org/drawingml/2006/main" noGrp="1"/>
          </p:cNvSpPr>
          <p:nvPr/>
        </p:nvSpPr>
        <p:spPr>
          <a:xfrm xmlns:a="http://schemas.openxmlformats.org/drawingml/2006/main">
            <a:off x="1000125" y="4953000"/>
            <a:ext cx="10191750" cy="857250"/>
          </a:xfrm>
          <a:prstGeom xmlns:a="http://schemas.openxmlformats.org/drawingml/2006/main" prst="roundRect">
            <a:avLst>
              <a:gd name="adj" fmla="val 8889"/>
            </a:avLst>
          </a:prstGeom>
          <a:solidFill xmlns:a="http://schemas.openxmlformats.org/drawingml/2006/main">
            <a:srgbClr val="FFF4D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5024849-AD54-4078-903A-1535B1D2800F}"/>
              </a:ext>
            </a:extLst>
          </p:cNvPr>
          <p:cNvSpPr>
            <a:spLocks xmlns:a="http://schemas.openxmlformats.org/drawingml/2006/main" noGrp="1"/>
          </p:cNvSpPr>
          <p:nvPr/>
        </p:nvSpPr>
        <p:spPr>
          <a:xfrm xmlns:a="http://schemas.openxmlformats.org/drawingml/2006/main">
            <a:off x="1381125" y="5124450"/>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1" i="0">
                <a:solidFill>
                  <a:srgbClr val="33343F"/>
                </a:solidFill>
                <a:latin typeface="Arial"/>
                <a:ea typeface="Arial"/>
                <a:cs typeface="Arial"/>
              </a:defRPr>
            </a:pPr>
            <a:r>
              <a:rPr sz="1350" b="1" i="0">
                <a:solidFill>
                  <a:srgbClr val="33343F"/>
                </a:solidFill>
                <a:latin typeface="Arial"/>
                <a:ea typeface="Arial"/>
                <a:cs typeface="Arial"/>
              </a:rPr>
              <a:t>Priority is set before review: E = essential, S = supporting, N/A = irrelevant. Compare books dimension by dimension. Do not publish a universal total score until the instrument is validated.</a:t>
            </a:r>
          </a:p>
        </p:txBody>
      </p:sp>
      <p:sp>
        <p:nvSpPr>
          <p:cNvPr id="32" name="">
            <a:extLst xmlns:a="http://schemas.openxmlformats.org/drawingml/2006/main">
              <a:ext uri="{FF2B5EF4-FFF2-40B4-BE49-F238E27FC236}">
                <a16:creationId xmlns:a16="http://schemas.microsoft.com/office/drawing/2014/main" id="{743A09AD-1A30-4932-9E1A-4519801FF6FE}"/>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33" name="">
            <a:extLst xmlns:a="http://schemas.openxmlformats.org/drawingml/2006/main">
              <a:ext uri="{FF2B5EF4-FFF2-40B4-BE49-F238E27FC236}">
                <a16:creationId xmlns:a16="http://schemas.microsoft.com/office/drawing/2014/main" id="{2C4177BA-14A4-4E45-BCC5-9DA171B165EF}"/>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908634345"/>
      </p:ext>
    </p:extLst>
  </p:cSld>
</p:sld>
</file>

<file path=ppt/slides/slide28.xml><?xml version="1.0" encoding="utf-8"?>
<p:sld xmlns:p="http://schemas.openxmlformats.org/presentationml/2006/main">
  <p:cSld>
    <p:bg>
      <p:bgPr>
        <a:solidFill xmlns:a="http://schemas.openxmlformats.org/drawingml/2006/main">
          <a:srgbClr val="123B5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0230BC-CE99-4B7F-92D4-96B026ABDCAD}"/>
              </a:ext>
            </a:extLst>
          </p:cNvPr>
          <p:cNvSpPr>
            <a:spLocks xmlns:a="http://schemas.openxmlformats.org/drawingml/2006/main" noGrp="1"/>
          </p:cNvSpPr>
          <p:nvPr/>
        </p:nvSpPr>
        <p:spPr>
          <a:xfrm xmlns:a="http://schemas.openxmlformats.org/drawingml/2006/main">
            <a:off x="742950" y="523875"/>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FFD45A"/>
                </a:solidFill>
                <a:latin typeface="Arial"/>
                <a:ea typeface="Arial"/>
                <a:cs typeface="Arial"/>
              </a:defRPr>
            </a:pPr>
            <a:r>
              <a:rPr sz="975" b="1" i="0">
                <a:solidFill>
                  <a:srgbClr val="FFD45A"/>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7290FE94-DCAB-44B7-AB60-308194EC0831}"/>
              </a:ext>
            </a:extLst>
          </p:cNvPr>
          <p:cNvSpPr>
            <a:spLocks xmlns:a="http://schemas.openxmlformats.org/drawingml/2006/main" noGrp="1"/>
          </p:cNvSpPr>
          <p:nvPr/>
        </p:nvSpPr>
        <p:spPr>
          <a:xfrm xmlns:a="http://schemas.openxmlformats.org/drawingml/2006/main">
            <a:off x="742950" y="1143000"/>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ELFA friendliness becomes reviewable when reader needs are tied to observable textbook choices.</a:t>
            </a:r>
          </a:p>
        </p:txBody>
      </p:sp>
      <p:sp>
        <p:nvSpPr>
          <p:cNvPr id="3" name="">
            <a:extLst xmlns:a="http://schemas.openxmlformats.org/drawingml/2006/main">
              <a:ext uri="{FF2B5EF4-FFF2-40B4-BE49-F238E27FC236}">
                <a16:creationId xmlns:a16="http://schemas.microsoft.com/office/drawing/2014/main" id="{2DFEF270-8CDA-4092-945D-27863EFF58F7}"/>
              </a:ext>
            </a:extLst>
          </p:cNvPr>
          <p:cNvSpPr>
            <a:spLocks xmlns:a="http://schemas.openxmlformats.org/drawingml/2006/main" noGrp="1"/>
          </p:cNvSpPr>
          <p:nvPr/>
        </p:nvSpPr>
        <p:spPr>
          <a:xfrm xmlns:a="http://schemas.openxmlformats.org/drawingml/2006/main">
            <a:off x="800100" y="2857500"/>
            <a:ext cx="514350" cy="514350"/>
          </a:xfrm>
          <a:prstGeom xmlns:a="http://schemas.openxmlformats.org/drawingml/2006/main" prst="roundRect">
            <a:avLst>
              <a:gd name="adj" fmla="val 14815"/>
            </a:avLst>
          </a:prstGeom>
          <a:solidFill xmlns:a="http://schemas.openxmlformats.org/drawingml/2006/main">
            <a:srgbClr val="17608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F92B96-5908-409D-979A-A1F127AD45F2}"/>
              </a:ext>
            </a:extLst>
          </p:cNvPr>
          <p:cNvSpPr>
            <a:spLocks xmlns:a="http://schemas.openxmlformats.org/drawingml/2006/main" noGrp="1"/>
          </p:cNvSpPr>
          <p:nvPr/>
        </p:nvSpPr>
        <p:spPr>
          <a:xfrm xmlns:a="http://schemas.openxmlformats.org/drawingml/2006/main">
            <a:off x="800100" y="29432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EB048126-8703-47FC-9703-682E491469B0}"/>
              </a:ext>
            </a:extLst>
          </p:cNvPr>
          <p:cNvSpPr>
            <a:spLocks xmlns:a="http://schemas.openxmlformats.org/drawingml/2006/main" noGrp="1"/>
          </p:cNvSpPr>
          <p:nvPr/>
        </p:nvSpPr>
        <p:spPr>
          <a:xfrm xmlns:a="http://schemas.openxmlformats.org/drawingml/2006/main">
            <a:off x="1571625" y="2847975"/>
            <a:ext cx="914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The literature positions MIWAE between written EAP and communication-oriented academic ELF.</a:t>
            </a:r>
          </a:p>
        </p:txBody>
      </p:sp>
      <p:sp>
        <p:nvSpPr>
          <p:cNvPr id="6" name="">
            <a:extLst xmlns:a="http://schemas.openxmlformats.org/drawingml/2006/main">
              <a:ext uri="{FF2B5EF4-FFF2-40B4-BE49-F238E27FC236}">
                <a16:creationId xmlns:a16="http://schemas.microsoft.com/office/drawing/2014/main" id="{D1EFEF01-2E3C-4AB7-9CEB-D42F4F45C90C}"/>
              </a:ext>
            </a:extLst>
          </p:cNvPr>
          <p:cNvSpPr>
            <a:spLocks xmlns:a="http://schemas.openxmlformats.org/drawingml/2006/main" noGrp="1"/>
          </p:cNvSpPr>
          <p:nvPr/>
        </p:nvSpPr>
        <p:spPr>
          <a:xfrm xmlns:a="http://schemas.openxmlformats.org/drawingml/2006/main">
            <a:off x="800100" y="3743325"/>
            <a:ext cx="514350" cy="514350"/>
          </a:xfrm>
          <a:prstGeom xmlns:a="http://schemas.openxmlformats.org/drawingml/2006/main" prst="roundRect">
            <a:avLst>
              <a:gd name="adj" fmla="val 14815"/>
            </a:avLst>
          </a:prstGeom>
          <a:solidFill xmlns:a="http://schemas.openxmlformats.org/drawingml/2006/main">
            <a:srgbClr val="17608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3A13FC-FE98-4D77-96D0-AFE7F6EE5930}"/>
              </a:ext>
            </a:extLst>
          </p:cNvPr>
          <p:cNvSpPr>
            <a:spLocks xmlns:a="http://schemas.openxmlformats.org/drawingml/2006/main" noGrp="1"/>
          </p:cNvSpPr>
          <p:nvPr/>
        </p:nvSpPr>
        <p:spPr>
          <a:xfrm xmlns:a="http://schemas.openxmlformats.org/drawingml/2006/main">
            <a:off x="800100" y="38290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4E5EC586-3DEA-4B8B-B12F-2E172FBA7D05}"/>
              </a:ext>
            </a:extLst>
          </p:cNvPr>
          <p:cNvSpPr>
            <a:spLocks xmlns:a="http://schemas.openxmlformats.org/drawingml/2006/main" noGrp="1"/>
          </p:cNvSpPr>
          <p:nvPr/>
        </p:nvSpPr>
        <p:spPr>
          <a:xfrm xmlns:a="http://schemas.openxmlformats.org/drawingml/2006/main">
            <a:off x="1571625" y="3733800"/>
            <a:ext cx="914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The ten-book pilot shows why language burden, visual support and disciplinary meaning must be interpreted together.</a:t>
            </a:r>
          </a:p>
        </p:txBody>
      </p:sp>
      <p:sp>
        <p:nvSpPr>
          <p:cNvPr id="9" name="">
            <a:extLst xmlns:a="http://schemas.openxmlformats.org/drawingml/2006/main">
              <a:ext uri="{FF2B5EF4-FFF2-40B4-BE49-F238E27FC236}">
                <a16:creationId xmlns:a16="http://schemas.microsoft.com/office/drawing/2014/main" id="{51F3452D-A88C-470F-97F3-C22B5280480D}"/>
              </a:ext>
            </a:extLst>
          </p:cNvPr>
          <p:cNvSpPr>
            <a:spLocks xmlns:a="http://schemas.openxmlformats.org/drawingml/2006/main" noGrp="1"/>
          </p:cNvSpPr>
          <p:nvPr/>
        </p:nvSpPr>
        <p:spPr>
          <a:xfrm xmlns:a="http://schemas.openxmlformats.org/drawingml/2006/main">
            <a:off x="800100" y="4629150"/>
            <a:ext cx="514350" cy="514350"/>
          </a:xfrm>
          <a:prstGeom xmlns:a="http://schemas.openxmlformats.org/drawingml/2006/main" prst="roundRect">
            <a:avLst>
              <a:gd name="adj" fmla="val 14815"/>
            </a:avLst>
          </a:prstGeom>
          <a:solidFill xmlns:a="http://schemas.openxmlformats.org/drawingml/2006/main">
            <a:srgbClr val="D58C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A4D9FE8-7A42-4EFF-ACDF-C6A103C7B7AB}"/>
              </a:ext>
            </a:extLst>
          </p:cNvPr>
          <p:cNvSpPr>
            <a:spLocks xmlns:a="http://schemas.openxmlformats.org/drawingml/2006/main" noGrp="1"/>
          </p:cNvSpPr>
          <p:nvPr/>
        </p:nvSpPr>
        <p:spPr>
          <a:xfrm xmlns:a="http://schemas.openxmlformats.org/drawingml/2006/main">
            <a:off x="800100" y="47148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5774B082-1D6B-468D-99F2-4C6D5F8B08DC}"/>
              </a:ext>
            </a:extLst>
          </p:cNvPr>
          <p:cNvSpPr>
            <a:spLocks xmlns:a="http://schemas.openxmlformats.org/drawingml/2006/main" noGrp="1"/>
          </p:cNvSpPr>
          <p:nvPr/>
        </p:nvSpPr>
        <p:spPr>
          <a:xfrm xmlns:a="http://schemas.openxmlformats.org/drawingml/2006/main">
            <a:off x="1571625" y="4619625"/>
            <a:ext cx="914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i="0">
                <a:solidFill>
                  <a:srgbClr val="FFFFFF"/>
                </a:solidFill>
                <a:latin typeface="Arial"/>
                <a:ea typeface="Arial"/>
                <a:cs typeface="Arial"/>
              </a:defRPr>
            </a:pPr>
            <a:r>
              <a:rPr sz="1650" b="1" i="0">
                <a:solidFill>
                  <a:srgbClr val="FFFFFF"/>
                </a:solidFill>
                <a:latin typeface="Arial"/>
                <a:ea typeface="Arial"/>
                <a:cs typeface="Arial"/>
              </a:rPr>
              <a:t>The rubric and the open API make the review process inspectable while preserving disciplinary precision.</a:t>
            </a:r>
          </a:p>
        </p:txBody>
      </p:sp>
      <p:sp>
        <p:nvSpPr>
          <p:cNvPr id="12" name="">
            <a:extLst xmlns:a="http://schemas.openxmlformats.org/drawingml/2006/main">
              <a:ext uri="{FF2B5EF4-FFF2-40B4-BE49-F238E27FC236}">
                <a16:creationId xmlns:a16="http://schemas.microsoft.com/office/drawing/2014/main" id="{AF64DC78-4F5F-4C70-AC2B-68156A44E0E7}"/>
              </a:ext>
            </a:extLst>
          </p:cNvPr>
          <p:cNvSpPr>
            <a:spLocks xmlns:a="http://schemas.openxmlformats.org/drawingml/2006/main" noGrp="1"/>
          </p:cNvSpPr>
          <p:nvPr/>
        </p:nvSpPr>
        <p:spPr>
          <a:xfrm xmlns:a="http://schemas.openxmlformats.org/drawingml/2006/main">
            <a:off x="742950" y="6191250"/>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defRPr sz="1050" b="1" i="0">
                <a:solidFill>
                  <a:srgbClr val="78A9C0"/>
                </a:solidFill>
                <a:latin typeface="Arial"/>
                <a:ea typeface="Arial"/>
                <a:cs typeface="Arial"/>
              </a:defRPr>
            </a:pPr>
            <a:r>
              <a:rPr sz="1050" b="1" i="0">
                <a:solidFill>
                  <a:srgbClr val="78A9C0"/>
                </a:solidFill>
                <a:latin typeface="Arial"/>
                <a:ea typeface="Arial"/>
                <a:cs typeface="Arial"/>
              </a:rPr>
              <a:t>MIWAE v0.4 · framework with an open analysis API prototype</a:t>
            </a:r>
          </a:p>
        </p:txBody>
      </p:sp>
    </p:spTree>
    <p:extLst>
      <p:ext uri="{BB962C8B-B14F-4D97-AF65-F5344CB8AC3E}">
        <p14:creationId xmlns:p14="http://schemas.microsoft.com/office/powerpoint/2010/main" val="512511147"/>
      </p:ext>
    </p:extLst>
  </p:cSld>
</p:sld>
</file>

<file path=ppt/slides/slide2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B406D8-0A10-4BC5-A33F-B5975423F91D}"/>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6267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284C1F-D695-49A6-A0B8-B2366AFB2297}"/>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626777"/>
                </a:solidFill>
                <a:latin typeface="Arial"/>
                <a:ea typeface="Arial"/>
                <a:cs typeface="Arial"/>
              </a:defRPr>
            </a:pPr>
            <a:r>
              <a:rPr sz="975" b="1" i="0">
                <a:solidFill>
                  <a:srgbClr val="626777"/>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DD1911B6-B839-4C2A-9A4B-F80859A80910}"/>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Evidence status and next validation steps</a:t>
            </a:r>
          </a:p>
        </p:txBody>
      </p:sp>
      <p:sp>
        <p:nvSpPr>
          <p:cNvPr id="4" name="">
            <a:extLst xmlns:a="http://schemas.openxmlformats.org/drawingml/2006/main">
              <a:ext uri="{FF2B5EF4-FFF2-40B4-BE49-F238E27FC236}">
                <a16:creationId xmlns:a16="http://schemas.microsoft.com/office/drawing/2014/main" id="{5291DD85-7995-4E65-A984-AC7A4F6FDAD0}"/>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8BD009A7-C9A5-4E3C-BEA6-F05B09408CEE}"/>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29</a:t>
            </a:r>
          </a:p>
        </p:txBody>
      </p:sp>
      <p:graphicFrame>
        <p:nvGraphicFramePr>
          <p:cNvPr id="15" name=""/>
          <p:cNvGraphicFramePr/>
          <p:nvPr/>
        </p:nvGraphicFramePr>
        <p:xfrm>
          <a:off xmlns:a="http://schemas.openxmlformats.org/drawingml/2006/main" x="685800" y="1600200"/>
          <a:ext xmlns:a="http://schemas.openxmlformats.org/drawingml/2006/main" cx="10810875" cy="4143375"/>
        </p:xfrm>
        <a:graphic xmlns:a="http://schemas.openxmlformats.org/drawingml/2006/main">
          <a:graphicData uri="http://schemas.openxmlformats.org/drawingml/2006/table">
            <a:tbl>
              <a:tblPr/>
              <a:tblGrid>
                <a:gridCol w="2762250"/>
                <a:gridCol w="3476625"/>
                <a:gridCol w="4572000"/>
              </a:tblGrid>
              <a:tr h="457200">
                <a:tc>
                  <a:txBody>
                    <a:bodyPr/>
                    <a:lstStyle/>
                    <a:p>
                      <a:r>
                        <a:rPr sz="1125" b="1">
                          <a:solidFill>
                            <a:srgbClr val="FFFFFF"/>
                          </a:solidFill>
                          <a:latin typeface="Arial"/>
                          <a:ea typeface="Arial"/>
                          <a:cs typeface="Arial"/>
                        </a:rPr>
                        <a:t>Evidence layer</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Current status</a:t>
                      </a:r>
                    </a:p>
                  </a:txBody>
                  <a:tcPr marL="95250" marR="95250" marT="76200" marB="66675" anchor="ctr">
                    <a:solidFill>
                      <a:srgbClr val="123B53"/>
                    </a:solidFill>
                  </a:tcPr>
                </a:tc>
                <a:tc>
                  <a:txBody>
                    <a:bodyPr/>
                    <a:lstStyle/>
                    <a:p>
                      <a:r>
                        <a:rPr sz="1125" b="1">
                          <a:solidFill>
                            <a:srgbClr val="FFFFFF"/>
                          </a:solidFill>
                          <a:latin typeface="Arial"/>
                          <a:ea typeface="Arial"/>
                          <a:cs typeface="Arial"/>
                        </a:rPr>
                        <a:t>Next requirement</a:t>
                      </a:r>
                    </a:p>
                  </a:txBody>
                  <a:tcPr marL="95250" marR="95250" marT="76200" marB="66675" anchor="ctr">
                    <a:solidFill>
                      <a:srgbClr val="123B53"/>
                    </a:solidFill>
                  </a:tcPr>
                </a:tc>
              </a:tr>
              <a:tr h="609600">
                <a:tc>
                  <a:txBody>
                    <a:bodyPr/>
                    <a:lstStyle/>
                    <a:p>
                      <a:r>
                        <a:rPr sz="953" b="1">
                          <a:solidFill>
                            <a:srgbClr val="176082"/>
                          </a:solidFill>
                          <a:latin typeface="Arial"/>
                          <a:ea typeface="Arial"/>
                          <a:cs typeface="Arial"/>
                        </a:rPr>
                        <a:t>Student records and interviews</a:t>
                      </a:r>
                    </a:p>
                  </a:txBody>
                  <a:tcPr marL="95250" marR="95250" marT="66675" marB="66675" anchor="ctr">
                    <a:solidFill>
                      <a:srgbClr val="E6F0F5"/>
                    </a:solidFill>
                  </a:tcPr>
                </a:tc>
                <a:tc>
                  <a:txBody>
                    <a:bodyPr/>
                    <a:lstStyle/>
                    <a:p>
                      <a:r>
                        <a:rPr sz="953">
                          <a:solidFill>
                            <a:srgbClr val="33343F"/>
                          </a:solidFill>
                          <a:latin typeface="Arial"/>
                          <a:ea typeface="Arial"/>
                          <a:cs typeface="Arial"/>
                        </a:rPr>
                        <a:t>Study records and interviews</a:t>
                      </a:r>
                    </a:p>
                  </a:txBody>
                  <a:tcPr marL="95250" marR="95250" marT="66675" marB="66675" anchor="ctr">
                    <a:solidFill>
                      <a:srgbClr val="FFFFFF"/>
                    </a:solidFill>
                  </a:tcPr>
                </a:tc>
                <a:tc>
                  <a:txBody>
                    <a:bodyPr/>
                    <a:lstStyle/>
                    <a:p>
                      <a:r>
                        <a:rPr sz="953">
                          <a:solidFill>
                            <a:srgbClr val="33343F"/>
                          </a:solidFill>
                          <a:latin typeface="Arial"/>
                          <a:ea typeface="Arial"/>
                          <a:cs typeface="Arial"/>
                        </a:rPr>
                        <a:t>Confirm ethics approval and translation procedures</a:t>
                      </a:r>
                    </a:p>
                  </a:txBody>
                  <a:tcPr marL="95250" marR="95250" marT="66675" marB="66675" anchor="ctr">
                    <a:solidFill>
                      <a:srgbClr val="FFFFFF"/>
                    </a:solidFill>
                  </a:tcPr>
                </a:tc>
              </a:tr>
              <a:tr h="609600">
                <a:tc>
                  <a:txBody>
                    <a:bodyPr/>
                    <a:lstStyle/>
                    <a:p>
                      <a:r>
                        <a:rPr sz="953" b="1">
                          <a:solidFill>
                            <a:srgbClr val="176082"/>
                          </a:solidFill>
                          <a:latin typeface="Arial"/>
                          <a:ea typeface="Arial"/>
                          <a:cs typeface="Arial"/>
                        </a:rPr>
                        <a:t>Textbook corpus</a:t>
                      </a:r>
                    </a:p>
                  </a:txBody>
                  <a:tcPr marL="95250" marR="95250" marT="66675" marB="66675" anchor="ctr">
                    <a:solidFill>
                      <a:srgbClr val="E6F0F5"/>
                    </a:solidFill>
                  </a:tcPr>
                </a:tc>
                <a:tc>
                  <a:txBody>
                    <a:bodyPr/>
                    <a:lstStyle/>
                    <a:p>
                      <a:r>
                        <a:rPr sz="953">
                          <a:solidFill>
                            <a:srgbClr val="33343F"/>
                          </a:solidFill>
                          <a:latin typeface="Arial"/>
                          <a:ea typeface="Arial"/>
                          <a:cs typeface="Arial"/>
                        </a:rPr>
                        <a:t>10 books; 9 complete texts and 1 OCR sample</a:t>
                      </a:r>
                    </a:p>
                  </a:txBody>
                  <a:tcPr marL="95250" marR="95250" marT="66675" marB="66675" anchor="ctr">
                    <a:solidFill>
                      <a:srgbClr val="FFFFFF"/>
                    </a:solidFill>
                  </a:tcPr>
                </a:tc>
                <a:tc>
                  <a:txBody>
                    <a:bodyPr/>
                    <a:lstStyle/>
                    <a:p>
                      <a:r>
                        <a:rPr sz="953">
                          <a:solidFill>
                            <a:srgbClr val="33343F"/>
                          </a:solidFill>
                          <a:latin typeface="Arial"/>
                          <a:ea typeface="Arial"/>
                          <a:cs typeface="Arial"/>
                        </a:rPr>
                        <a:t>Complete Mano OCR and verify matched locations across editions</a:t>
                      </a:r>
                    </a:p>
                  </a:txBody>
                  <a:tcPr marL="95250" marR="95250" marT="66675" marB="66675" anchor="ctr">
                    <a:solidFill>
                      <a:srgbClr val="FFFFFF"/>
                    </a:solidFill>
                  </a:tcPr>
                </a:tc>
              </a:tr>
              <a:tr h="609600">
                <a:tc>
                  <a:txBody>
                    <a:bodyPr/>
                    <a:lstStyle/>
                    <a:p>
                      <a:r>
                        <a:rPr sz="953" b="1">
                          <a:solidFill>
                            <a:srgbClr val="176082"/>
                          </a:solidFill>
                          <a:latin typeface="Arial"/>
                          <a:ea typeface="Arial"/>
                          <a:cs typeface="Arial"/>
                        </a:rPr>
                        <a:t>Readability comparison</a:t>
                      </a:r>
                    </a:p>
                  </a:txBody>
                  <a:tcPr marL="95250" marR="95250" marT="66675" marB="66675" anchor="ctr">
                    <a:solidFill>
                      <a:srgbClr val="E6F0F5"/>
                    </a:solidFill>
                  </a:tcPr>
                </a:tc>
                <a:tc>
                  <a:txBody>
                    <a:bodyPr/>
                    <a:lstStyle/>
                    <a:p>
                      <a:r>
                        <a:rPr sz="953">
                          <a:solidFill>
                            <a:srgbClr val="33343F"/>
                          </a:solidFill>
                          <a:latin typeface="Arial"/>
                          <a:ea typeface="Arial"/>
                          <a:cs typeface="Arial"/>
                        </a:rPr>
                        <a:t>50 passages across 10 books</a:t>
                      </a:r>
                    </a:p>
                  </a:txBody>
                  <a:tcPr marL="95250" marR="95250" marT="66675" marB="66675" anchor="ctr">
                    <a:solidFill>
                      <a:srgbClr val="FFFFFF"/>
                    </a:solidFill>
                  </a:tcPr>
                </a:tc>
                <a:tc>
                  <a:txBody>
                    <a:bodyPr/>
                    <a:lstStyle/>
                    <a:p>
                      <a:r>
                        <a:rPr sz="953">
                          <a:solidFill>
                            <a:srgbClr val="33343F"/>
                          </a:solidFill>
                          <a:latin typeface="Arial"/>
                          <a:ea typeface="Arial"/>
                          <a:cs typeface="Arial"/>
                        </a:rPr>
                        <a:t>Repeat with independent sampling and treat CEFR as one linguistic lens</a:t>
                      </a:r>
                    </a:p>
                  </a:txBody>
                  <a:tcPr marL="95250" marR="95250" marT="66675" marB="66675" anchor="ctr">
                    <a:solidFill>
                      <a:srgbClr val="FFFFFF"/>
                    </a:solidFill>
                  </a:tcPr>
                </a:tc>
              </a:tr>
              <a:tr h="609600">
                <a:tc>
                  <a:txBody>
                    <a:bodyPr/>
                    <a:lstStyle/>
                    <a:p>
                      <a:r>
                        <a:rPr sz="953" b="1">
                          <a:solidFill>
                            <a:srgbClr val="176082"/>
                          </a:solidFill>
                          <a:latin typeface="Arial"/>
                          <a:ea typeface="Arial"/>
                          <a:cs typeface="Arial"/>
                        </a:rPr>
                        <a:t>MIWAE rubric</a:t>
                      </a:r>
                    </a:p>
                  </a:txBody>
                  <a:tcPr marL="95250" marR="95250" marT="66675" marB="66675" anchor="ctr">
                    <a:solidFill>
                      <a:srgbClr val="E6F0F5"/>
                    </a:solidFill>
                  </a:tcPr>
                </a:tc>
                <a:tc>
                  <a:txBody>
                    <a:bodyPr/>
                    <a:lstStyle/>
                    <a:p>
                      <a:r>
                        <a:rPr sz="953">
                          <a:solidFill>
                            <a:srgbClr val="33343F"/>
                          </a:solidFill>
                          <a:latin typeface="Arial"/>
                          <a:ea typeface="Arial"/>
                          <a:cs typeface="Arial"/>
                        </a:rPr>
                        <a:t>Provisional 0–3 decision aid</a:t>
                      </a:r>
                    </a:p>
                  </a:txBody>
                  <a:tcPr marL="95250" marR="95250" marT="66675" marB="66675" anchor="ctr">
                    <a:solidFill>
                      <a:srgbClr val="FFFFFF"/>
                    </a:solidFill>
                  </a:tcPr>
                </a:tc>
                <a:tc>
                  <a:txBody>
                    <a:bodyPr/>
                    <a:lstStyle/>
                    <a:p>
                      <a:r>
                        <a:rPr sz="953">
                          <a:solidFill>
                            <a:srgbClr val="33343F"/>
                          </a:solidFill>
                          <a:latin typeface="Arial"/>
                          <a:ea typeface="Arial"/>
                          <a:cs typeface="Arial"/>
                        </a:rPr>
                        <a:t>Pilot with syllabus designers; double-code; test inter-rater agreement</a:t>
                      </a:r>
                    </a:p>
                  </a:txBody>
                  <a:tcPr marL="95250" marR="95250" marT="66675" marB="66675" anchor="ctr">
                    <a:solidFill>
                      <a:srgbClr val="FFFFFF"/>
                    </a:solidFill>
                  </a:tcPr>
                </a:tc>
              </a:tr>
              <a:tr h="609600">
                <a:tc>
                  <a:txBody>
                    <a:bodyPr/>
                    <a:lstStyle/>
                    <a:p>
                      <a:r>
                        <a:rPr sz="953" b="1">
                          <a:solidFill>
                            <a:srgbClr val="176082"/>
                          </a:solidFill>
                          <a:latin typeface="Arial"/>
                          <a:ea typeface="Arial"/>
                          <a:cs typeface="Arial"/>
                        </a:rPr>
                        <a:t>Corpus analysis API</a:t>
                      </a:r>
                    </a:p>
                  </a:txBody>
                  <a:tcPr marL="95250" marR="95250" marT="66675" marB="66675" anchor="ctr">
                    <a:solidFill>
                      <a:srgbClr val="E6F0F5"/>
                    </a:solidFill>
                  </a:tcPr>
                </a:tc>
                <a:tc>
                  <a:txBody>
                    <a:bodyPr/>
                    <a:lstStyle/>
                    <a:p>
                      <a:r>
                        <a:rPr sz="953">
                          <a:solidFill>
                            <a:srgbClr val="33343F"/>
                          </a:solidFill>
                          <a:latin typeface="Arial"/>
                          <a:ea typeface="Arial"/>
                          <a:cs typeface="Arial"/>
                        </a:rPr>
                        <a:t>Open v0.1 prototype; 50-passage pilot; seven automated tests</a:t>
                      </a:r>
                    </a:p>
                  </a:txBody>
                  <a:tcPr marL="95250" marR="95250" marT="66675" marB="66675" anchor="ctr">
                    <a:solidFill>
                      <a:srgbClr val="FFFFFF"/>
                    </a:solidFill>
                  </a:tcPr>
                </a:tc>
                <a:tc>
                  <a:txBody>
                    <a:bodyPr/>
                    <a:lstStyle/>
                    <a:p>
                      <a:r>
                        <a:rPr sz="953">
                          <a:solidFill>
                            <a:srgbClr val="33343F"/>
                          </a:solidFill>
                          <a:latin typeface="Arial"/>
                          <a:ea typeface="Arial"/>
                          <a:cs typeface="Arial"/>
                        </a:rPr>
                        <a:t>Extend parser rules; adjudicate candidates; version the codebook</a:t>
                      </a:r>
                    </a:p>
                  </a:txBody>
                  <a:tcPr marL="95250" marR="95250" marT="66675" marB="66675" anchor="ctr">
                    <a:solidFill>
                      <a:srgbClr val="FFFFFF"/>
                    </a:solidFill>
                  </a:tcPr>
                </a:tc>
              </a:tr>
              <a:tr h="609600">
                <a:tc>
                  <a:txBody>
                    <a:bodyPr/>
                    <a:lstStyle/>
                    <a:p>
                      <a:r>
                        <a:rPr sz="953" b="1">
                          <a:solidFill>
                            <a:srgbClr val="176082"/>
                          </a:solidFill>
                          <a:latin typeface="Arial"/>
                          <a:ea typeface="Arial"/>
                          <a:cs typeface="Arial"/>
                        </a:rPr>
                        <a:t>Comprehension effect</a:t>
                      </a:r>
                    </a:p>
                  </a:txBody>
                  <a:tcPr marL="95250" marR="95250" marT="66675" marB="66675" anchor="ctr">
                    <a:solidFill>
                      <a:srgbClr val="E6F0F5"/>
                    </a:solidFill>
                  </a:tcPr>
                </a:tc>
                <a:tc>
                  <a:txBody>
                    <a:bodyPr/>
                    <a:lstStyle/>
                    <a:p>
                      <a:r>
                        <a:rPr sz="953">
                          <a:solidFill>
                            <a:srgbClr val="33343F"/>
                          </a:solidFill>
                          <a:latin typeface="Arial"/>
                          <a:ea typeface="Arial"/>
                          <a:cs typeface="Arial"/>
                        </a:rPr>
                        <a:t>Not tested</a:t>
                      </a:r>
                    </a:p>
                  </a:txBody>
                  <a:tcPr marL="95250" marR="95250" marT="66675" marB="66675" anchor="ctr">
                    <a:solidFill>
                      <a:srgbClr val="FFFFFF"/>
                    </a:solidFill>
                  </a:tcPr>
                </a:tc>
                <a:tc>
                  <a:txBody>
                    <a:bodyPr/>
                    <a:lstStyle/>
                    <a:p>
                      <a:r>
                        <a:rPr sz="953">
                          <a:solidFill>
                            <a:srgbClr val="33343F"/>
                          </a:solidFill>
                          <a:latin typeface="Arial"/>
                          <a:ea typeface="Arial"/>
                          <a:cs typeface="Arial"/>
                        </a:rPr>
                        <a:t>Compare original and revised passages with comprehension outcomes</a:t>
                      </a:r>
                    </a:p>
                  </a:txBody>
                  <a:tcPr marL="95250" marR="9525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546663A-C5FA-4FF3-817C-E46C5FC1AFAB}"/>
              </a:ext>
            </a:extLst>
          </p:cNvPr>
          <p:cNvSpPr>
            <a:spLocks xmlns:a="http://schemas.openxmlformats.org/drawingml/2006/main" noGrp="1"/>
          </p:cNvSpPr>
          <p:nvPr/>
        </p:nvSpPr>
        <p:spPr>
          <a:xfrm xmlns:a="http://schemas.openxmlformats.org/drawingml/2006/main">
            <a:off x="1428750" y="5924550"/>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lgn="ctr">
              <a:defRPr sz="1350" b="1" i="0">
                <a:solidFill>
                  <a:srgbClr val="B94D35"/>
                </a:solidFill>
                <a:latin typeface="Arial"/>
                <a:ea typeface="Arial"/>
                <a:cs typeface="Arial"/>
              </a:defRPr>
            </a:pPr>
            <a:r>
              <a:rPr sz="1350" b="1" i="0">
                <a:solidFill>
                  <a:srgbClr val="B94D35"/>
                </a:solidFill>
                <a:latin typeface="Arial"/>
                <a:ea typeface="Arial"/>
                <a:cs typeface="Arial"/>
              </a:rPr>
              <a:t>The presentation demonstrates a research and selection procedure; it does not report completed empirical findings.</a:t>
            </a:r>
          </a:p>
        </p:txBody>
      </p:sp>
      <p:sp>
        <p:nvSpPr>
          <p:cNvPr id="8" name="">
            <a:extLst xmlns:a="http://schemas.openxmlformats.org/drawingml/2006/main">
              <a:ext uri="{FF2B5EF4-FFF2-40B4-BE49-F238E27FC236}">
                <a16:creationId xmlns:a16="http://schemas.microsoft.com/office/drawing/2014/main" id="{C53F847C-C1D9-42E7-A34F-BD1B3944DD6A}"/>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9" name="">
            <a:extLst xmlns:a="http://schemas.openxmlformats.org/drawingml/2006/main">
              <a:ext uri="{FF2B5EF4-FFF2-40B4-BE49-F238E27FC236}">
                <a16:creationId xmlns:a16="http://schemas.microsoft.com/office/drawing/2014/main" id="{FE0114AA-345F-4024-AF67-C81C87590DA1}"/>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2131504046"/>
      </p:ext>
    </p:extLst>
  </p:cSld>
</p:sld>
</file>

<file path=ppt/slides/slide30.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D24DA39-9025-4726-A901-59F8FA7CC3F7}"/>
              </a:ext>
            </a:extLst>
          </p:cNvPr>
          <p:cNvSpPr>
            <a:spLocks xmlns:a="http://schemas.openxmlformats.org/drawingml/2006/main" noGrp="1"/>
          </p:cNvSpPr>
          <p:nvPr/>
        </p:nvSpPr>
        <p:spPr>
          <a:xfrm xmlns:a="http://schemas.openxmlformats.org/drawingml/2006/main">
            <a:off x="685800" y="371475"/>
            <a:ext cx="66675" cy="171450"/>
          </a:xfrm>
          <a:prstGeom xmlns:a="http://schemas.openxmlformats.org/drawingml/2006/main" prst="roundRect">
            <a:avLst>
              <a:gd name="adj" fmla="val 50000"/>
            </a:avLst>
          </a:prstGeom>
          <a:solidFill xmlns:a="http://schemas.openxmlformats.org/drawingml/2006/main">
            <a:srgbClr val="6267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B719C2-62FE-45D6-BE9E-D2900E168A98}"/>
              </a:ext>
            </a:extLst>
          </p:cNvPr>
          <p:cNvSpPr>
            <a:spLocks xmlns:a="http://schemas.openxmlformats.org/drawingml/2006/main" noGrp="1"/>
          </p:cNvSpPr>
          <p:nvPr/>
        </p:nvSpPr>
        <p:spPr>
          <a:xfrm xmlns:a="http://schemas.openxmlformats.org/drawingml/2006/main">
            <a:off x="847725" y="333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i="0">
                <a:solidFill>
                  <a:srgbClr val="626777"/>
                </a:solidFill>
                <a:latin typeface="Arial"/>
                <a:ea typeface="Arial"/>
                <a:cs typeface="Arial"/>
              </a:defRPr>
            </a:pPr>
            <a:r>
              <a:rPr sz="975" b="1" i="0">
                <a:solidFill>
                  <a:srgbClr val="626777"/>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0949957C-62D2-4E92-A741-4A9A29835902}"/>
              </a:ext>
            </a:extLst>
          </p:cNvPr>
          <p:cNvSpPr>
            <a:spLocks xmlns:a="http://schemas.openxmlformats.org/drawingml/2006/main" noGrp="1"/>
          </p:cNvSpPr>
          <p:nvPr/>
        </p:nvSpPr>
        <p:spPr>
          <a:xfrm xmlns:a="http://schemas.openxmlformats.org/drawingml/2006/main">
            <a:off x="6858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33343F"/>
                </a:solidFill>
                <a:latin typeface="Arial"/>
                <a:ea typeface="Arial"/>
                <a:cs typeface="Arial"/>
              </a:defRPr>
            </a:pPr>
            <a:r>
              <a:rPr sz="2550" b="1" i="0">
                <a:solidFill>
                  <a:srgbClr val="33343F"/>
                </a:solidFill>
                <a:latin typeface="Arial"/>
                <a:ea typeface="Arial"/>
                <a:cs typeface="Arial"/>
              </a:rPr>
              <a:t>Selected references</a:t>
            </a:r>
          </a:p>
        </p:txBody>
      </p:sp>
      <p:sp>
        <p:nvSpPr>
          <p:cNvPr id="4" name="">
            <a:extLst xmlns:a="http://schemas.openxmlformats.org/drawingml/2006/main">
              <a:ext uri="{FF2B5EF4-FFF2-40B4-BE49-F238E27FC236}">
                <a16:creationId xmlns:a16="http://schemas.microsoft.com/office/drawing/2014/main" id="{E0086848-BF2B-47D4-B227-F0A895334AA2}"/>
              </a:ext>
            </a:extLst>
          </p:cNvPr>
          <p:cNvSpPr>
            <a:spLocks xmlns:a="http://schemas.openxmlformats.org/drawingml/2006/main" noGrp="1"/>
          </p:cNvSpPr>
          <p:nvPr/>
        </p:nvSpPr>
        <p:spPr>
          <a:xfrm xmlns:a="http://schemas.openxmlformats.org/drawingml/2006/main">
            <a:off x="685800" y="1323975"/>
            <a:ext cx="10839450" cy="0"/>
          </a:xfrm>
          <a:prstGeom xmlns:a="http://schemas.openxmlformats.org/drawingml/2006/main" prst="line">
            <a:avLst/>
          </a:prstGeom>
          <a:noFill xmlns:a="http://schemas.openxmlformats.org/drawingml/2006/main"/>
          <a:ln xmlns:a="http://schemas.openxmlformats.org/drawingml/2006/main" w="14288">
            <a:solidFill>
              <a:srgbClr val="C8C9D3"/>
            </a:solidFill>
          </a:ln>
        </p:spPr>
      </p:sp>
      <p:sp>
        <p:nvSpPr>
          <p:cNvPr id="5" name="">
            <a:extLst xmlns:a="http://schemas.openxmlformats.org/drawingml/2006/main">
              <a:ext uri="{FF2B5EF4-FFF2-40B4-BE49-F238E27FC236}">
                <a16:creationId xmlns:a16="http://schemas.microsoft.com/office/drawing/2014/main" id="{317FDD73-6DC2-4E31-BFB7-AD601248CE59}"/>
              </a:ext>
            </a:extLst>
          </p:cNvPr>
          <p:cNvSpPr>
            <a:spLocks xmlns:a="http://schemas.openxmlformats.org/drawingml/2006/main" noGrp="1"/>
          </p:cNvSpPr>
          <p:nvPr/>
        </p:nvSpPr>
        <p:spPr>
          <a:xfrm xmlns:a="http://schemas.openxmlformats.org/drawingml/2006/main">
            <a:off x="11334750" y="342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defRPr sz="900" b="0" i="0">
                <a:solidFill>
                  <a:srgbClr val="626777"/>
                </a:solidFill>
                <a:latin typeface="Arial"/>
                <a:ea typeface="Arial"/>
                <a:cs typeface="Arial"/>
              </a:defRPr>
            </a:pPr>
            <a:r>
              <a:rPr sz="900" b="0" i="0">
                <a:solidFill>
                  <a:srgbClr val="626777"/>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71065535-A7A3-407F-8A91-AD0410551403}"/>
              </a:ext>
            </a:extLst>
          </p:cNvPr>
          <p:cNvSpPr>
            <a:spLocks xmlns:a="http://schemas.openxmlformats.org/drawingml/2006/main" noGrp="1"/>
          </p:cNvSpPr>
          <p:nvPr/>
        </p:nvSpPr>
        <p:spPr>
          <a:xfrm xmlns:a="http://schemas.openxmlformats.org/drawingml/2006/main">
            <a:off x="666750" y="1581150"/>
            <a:ext cx="5191125"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C8C9D3"/>
            </a:solidFill>
          </a:ln>
        </p:spPr>
      </p:sp>
      <p:sp>
        <p:nvSpPr>
          <p:cNvPr id="7" name="">
            <a:extLst xmlns:a="http://schemas.openxmlformats.org/drawingml/2006/main">
              <a:ext uri="{FF2B5EF4-FFF2-40B4-BE49-F238E27FC236}">
                <a16:creationId xmlns:a16="http://schemas.microsoft.com/office/drawing/2014/main" id="{9687C660-0862-44A0-B5BD-0FD51835DEB9}"/>
              </a:ext>
            </a:extLst>
          </p:cNvPr>
          <p:cNvSpPr>
            <a:spLocks xmlns:a="http://schemas.openxmlformats.org/drawingml/2006/main" noGrp="1"/>
          </p:cNvSpPr>
          <p:nvPr/>
        </p:nvSpPr>
        <p:spPr>
          <a:xfrm xmlns:a="http://schemas.openxmlformats.org/drawingml/2006/main">
            <a:off x="6334125" y="1581150"/>
            <a:ext cx="5191125"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C8C9D3"/>
            </a:solidFill>
          </a:ln>
        </p:spPr>
      </p:sp>
      <p:sp>
        <p:nvSpPr>
          <p:cNvPr id="8" name="">
            <a:extLst xmlns:a="http://schemas.openxmlformats.org/drawingml/2006/main">
              <a:ext uri="{FF2B5EF4-FFF2-40B4-BE49-F238E27FC236}">
                <a16:creationId xmlns:a16="http://schemas.microsoft.com/office/drawing/2014/main" id="{2239B797-7211-4930-8B7A-58D277AB67D1}"/>
              </a:ext>
            </a:extLst>
          </p:cNvPr>
          <p:cNvSpPr>
            <a:spLocks xmlns:a="http://schemas.openxmlformats.org/drawingml/2006/main" noGrp="1"/>
          </p:cNvSpPr>
          <p:nvPr/>
        </p:nvSpPr>
        <p:spPr>
          <a:xfrm xmlns:a="http://schemas.openxmlformats.org/drawingml/2006/main">
            <a:off x="904875" y="1809750"/>
            <a:ext cx="4714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33343F"/>
                </a:solidFill>
                <a:latin typeface="Arial"/>
                <a:ea typeface="Arial"/>
                <a:cs typeface="Arial"/>
              </a:defRPr>
            </a:pPr>
            <a:r>
              <a:rPr sz="1050" b="0" i="0">
                <a:solidFill>
                  <a:srgbClr val="33343F"/>
                </a:solidFill>
                <a:latin typeface="Arial"/>
                <a:ea typeface="Arial"/>
                <a:cs typeface="Arial"/>
              </a:rPr>
              <a:t>Biber, D., Johansson, S., Leech, G., Conrad, S., &amp; Finegan, E. (1999). Longman Grammar of Spoken and Written English.</a:t>
            </a:r>
          </a:p>
        </p:txBody>
      </p:sp>
      <p:sp>
        <p:nvSpPr>
          <p:cNvPr id="9" name="">
            <a:extLst xmlns:a="http://schemas.openxmlformats.org/drawingml/2006/main">
              <a:ext uri="{FF2B5EF4-FFF2-40B4-BE49-F238E27FC236}">
                <a16:creationId xmlns:a16="http://schemas.microsoft.com/office/drawing/2014/main" id="{13E63797-0F77-4979-BB43-F42647DB7AAE}"/>
              </a:ext>
            </a:extLst>
          </p:cNvPr>
          <p:cNvSpPr>
            <a:spLocks xmlns:a="http://schemas.openxmlformats.org/drawingml/2006/main" noGrp="1"/>
          </p:cNvSpPr>
          <p:nvPr/>
        </p:nvSpPr>
        <p:spPr>
          <a:xfrm xmlns:a="http://schemas.openxmlformats.org/drawingml/2006/main">
            <a:off x="904875" y="2419350"/>
            <a:ext cx="4714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33343F"/>
                </a:solidFill>
                <a:latin typeface="Arial"/>
                <a:ea typeface="Arial"/>
                <a:cs typeface="Arial"/>
              </a:defRPr>
            </a:pPr>
            <a:r>
              <a:rPr sz="1050" b="0" i="0">
                <a:solidFill>
                  <a:srgbClr val="33343F"/>
                </a:solidFill>
                <a:latin typeface="Arial"/>
                <a:ea typeface="Arial"/>
                <a:cs typeface="Arial"/>
              </a:rPr>
              <a:t>Björkman, B. (2013). English as an Academic Lingua Franca.</a:t>
            </a:r>
          </a:p>
        </p:txBody>
      </p:sp>
      <p:sp>
        <p:nvSpPr>
          <p:cNvPr id="10" name="">
            <a:extLst xmlns:a="http://schemas.openxmlformats.org/drawingml/2006/main">
              <a:ext uri="{FF2B5EF4-FFF2-40B4-BE49-F238E27FC236}">
                <a16:creationId xmlns:a16="http://schemas.microsoft.com/office/drawing/2014/main" id="{3AB3FA13-0F4F-4B75-8F89-93AA6B4EC4A1}"/>
              </a:ext>
            </a:extLst>
          </p:cNvPr>
          <p:cNvSpPr>
            <a:spLocks xmlns:a="http://schemas.openxmlformats.org/drawingml/2006/main" noGrp="1"/>
          </p:cNvSpPr>
          <p:nvPr/>
        </p:nvSpPr>
        <p:spPr>
          <a:xfrm xmlns:a="http://schemas.openxmlformats.org/drawingml/2006/main">
            <a:off x="904875" y="3028950"/>
            <a:ext cx="4714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33343F"/>
                </a:solidFill>
                <a:latin typeface="Arial"/>
                <a:ea typeface="Arial"/>
                <a:cs typeface="Arial"/>
              </a:defRPr>
            </a:pPr>
            <a:r>
              <a:rPr sz="1050" b="0" i="0">
                <a:solidFill>
                  <a:srgbClr val="33343F"/>
                </a:solidFill>
                <a:latin typeface="Arial"/>
                <a:ea typeface="Arial"/>
                <a:cs typeface="Arial"/>
              </a:rPr>
              <a:t>Canale, M., &amp; Swain, M. (1980). Theoretical bases of communicative approaches.</a:t>
            </a:r>
          </a:p>
        </p:txBody>
      </p:sp>
      <p:sp>
        <p:nvSpPr>
          <p:cNvPr id="11" name="">
            <a:extLst xmlns:a="http://schemas.openxmlformats.org/drawingml/2006/main">
              <a:ext uri="{FF2B5EF4-FFF2-40B4-BE49-F238E27FC236}">
                <a16:creationId xmlns:a16="http://schemas.microsoft.com/office/drawing/2014/main" id="{97726615-13CC-48E1-9E28-E613FDBE88A0}"/>
              </a:ext>
            </a:extLst>
          </p:cNvPr>
          <p:cNvSpPr>
            <a:spLocks xmlns:a="http://schemas.openxmlformats.org/drawingml/2006/main" noGrp="1"/>
          </p:cNvSpPr>
          <p:nvPr/>
        </p:nvSpPr>
        <p:spPr>
          <a:xfrm xmlns:a="http://schemas.openxmlformats.org/drawingml/2006/main">
            <a:off x="904875" y="3638550"/>
            <a:ext cx="4714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33343F"/>
                </a:solidFill>
                <a:latin typeface="Arial"/>
                <a:ea typeface="Arial"/>
                <a:cs typeface="Arial"/>
              </a:defRPr>
            </a:pPr>
            <a:r>
              <a:rPr sz="1050" b="0" i="0">
                <a:solidFill>
                  <a:srgbClr val="33343F"/>
                </a:solidFill>
                <a:latin typeface="Arial"/>
                <a:ea typeface="Arial"/>
                <a:cs typeface="Arial"/>
              </a:rPr>
              <a:t>Council of Europe. (2020). CEFR Companion Volume.</a:t>
            </a:r>
          </a:p>
        </p:txBody>
      </p:sp>
      <p:sp>
        <p:nvSpPr>
          <p:cNvPr id="12" name="">
            <a:extLst xmlns:a="http://schemas.openxmlformats.org/drawingml/2006/main">
              <a:ext uri="{FF2B5EF4-FFF2-40B4-BE49-F238E27FC236}">
                <a16:creationId xmlns:a16="http://schemas.microsoft.com/office/drawing/2014/main" id="{2882E08C-281A-46F8-AAB2-8EDE17BA086F}"/>
              </a:ext>
            </a:extLst>
          </p:cNvPr>
          <p:cNvSpPr>
            <a:spLocks xmlns:a="http://schemas.openxmlformats.org/drawingml/2006/main" noGrp="1"/>
          </p:cNvSpPr>
          <p:nvPr/>
        </p:nvSpPr>
        <p:spPr>
          <a:xfrm xmlns:a="http://schemas.openxmlformats.org/drawingml/2006/main">
            <a:off x="904875" y="4248150"/>
            <a:ext cx="4714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33343F"/>
                </a:solidFill>
                <a:latin typeface="Arial"/>
                <a:ea typeface="Arial"/>
                <a:cs typeface="Arial"/>
              </a:defRPr>
            </a:pPr>
            <a:r>
              <a:rPr sz="1050" b="0" i="0">
                <a:solidFill>
                  <a:srgbClr val="33343F"/>
                </a:solidFill>
                <a:latin typeface="Arial"/>
                <a:ea typeface="Arial"/>
                <a:cs typeface="Arial"/>
              </a:rPr>
              <a:t>Evans, S., &amp; Morrison, B. (2011). Meeting the challenges of English-medium higher education.</a:t>
            </a:r>
          </a:p>
        </p:txBody>
      </p:sp>
      <p:sp>
        <p:nvSpPr>
          <p:cNvPr id="13" name="">
            <a:extLst xmlns:a="http://schemas.openxmlformats.org/drawingml/2006/main">
              <a:ext uri="{FF2B5EF4-FFF2-40B4-BE49-F238E27FC236}">
                <a16:creationId xmlns:a16="http://schemas.microsoft.com/office/drawing/2014/main" id="{53213CE0-B5CD-464D-978D-1284DE2DF8C6}"/>
              </a:ext>
            </a:extLst>
          </p:cNvPr>
          <p:cNvSpPr>
            <a:spLocks xmlns:a="http://schemas.openxmlformats.org/drawingml/2006/main" noGrp="1"/>
          </p:cNvSpPr>
          <p:nvPr/>
        </p:nvSpPr>
        <p:spPr>
          <a:xfrm xmlns:a="http://schemas.openxmlformats.org/drawingml/2006/main">
            <a:off x="904875" y="4857750"/>
            <a:ext cx="4714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i="0">
                <a:solidFill>
                  <a:srgbClr val="33343F"/>
                </a:solidFill>
                <a:latin typeface="Arial"/>
                <a:ea typeface="Arial"/>
                <a:cs typeface="Arial"/>
              </a:defRPr>
            </a:pPr>
            <a:r>
              <a:rPr sz="1050" b="1" i="0">
                <a:solidFill>
                  <a:srgbClr val="33343F"/>
                </a:solidFill>
                <a:latin typeface="Arial"/>
                <a:ea typeface="Arial"/>
                <a:cs typeface="Arial"/>
              </a:rPr>
              <a:t>Jenkins, J., &amp; Mauranen, A. (Eds.). (2019). Linguistic Diversity on the EMI Campus.</a:t>
            </a:r>
          </a:p>
        </p:txBody>
      </p:sp>
      <p:sp>
        <p:nvSpPr>
          <p:cNvPr id="14" name="">
            <a:extLst xmlns:a="http://schemas.openxmlformats.org/drawingml/2006/main">
              <a:ext uri="{FF2B5EF4-FFF2-40B4-BE49-F238E27FC236}">
                <a16:creationId xmlns:a16="http://schemas.microsoft.com/office/drawing/2014/main" id="{2662D7A3-2146-481D-BEF1-01339B3B8F27}"/>
              </a:ext>
            </a:extLst>
          </p:cNvPr>
          <p:cNvSpPr>
            <a:spLocks xmlns:a="http://schemas.openxmlformats.org/drawingml/2006/main" noGrp="1"/>
          </p:cNvSpPr>
          <p:nvPr/>
        </p:nvSpPr>
        <p:spPr>
          <a:xfrm xmlns:a="http://schemas.openxmlformats.org/drawingml/2006/main">
            <a:off x="6572250" y="17621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05" b="1" i="0">
                <a:solidFill>
                  <a:srgbClr val="33343F"/>
                </a:solidFill>
                <a:latin typeface="Arial"/>
                <a:ea typeface="Arial"/>
                <a:cs typeface="Arial"/>
              </a:defRPr>
            </a:pPr>
            <a:r>
              <a:rPr sz="1005" b="1" i="0">
                <a:solidFill>
                  <a:srgbClr val="33343F"/>
                </a:solidFill>
                <a:latin typeface="Arial"/>
                <a:ea typeface="Arial"/>
                <a:cs typeface="Arial"/>
              </a:rPr>
              <a:t>Mauranen, A., Hynninen, N., &amp; Ranta, E. (2016). English as the academic lingua franca.</a:t>
            </a:r>
          </a:p>
        </p:txBody>
      </p:sp>
      <p:sp>
        <p:nvSpPr>
          <p:cNvPr id="15" name="">
            <a:extLst xmlns:a="http://schemas.openxmlformats.org/drawingml/2006/main">
              <a:ext uri="{FF2B5EF4-FFF2-40B4-BE49-F238E27FC236}">
                <a16:creationId xmlns:a16="http://schemas.microsoft.com/office/drawing/2014/main" id="{7DB81645-765E-439A-ABC7-A9136155E0A1}"/>
              </a:ext>
            </a:extLst>
          </p:cNvPr>
          <p:cNvSpPr>
            <a:spLocks xmlns:a="http://schemas.openxmlformats.org/drawingml/2006/main" noGrp="1"/>
          </p:cNvSpPr>
          <p:nvPr/>
        </p:nvSpPr>
        <p:spPr>
          <a:xfrm xmlns:a="http://schemas.openxmlformats.org/drawingml/2006/main">
            <a:off x="6572250" y="22955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05" b="1" i="0">
                <a:solidFill>
                  <a:srgbClr val="33343F"/>
                </a:solidFill>
                <a:latin typeface="Arial"/>
                <a:ea typeface="Arial"/>
                <a:cs typeface="Arial"/>
              </a:defRPr>
            </a:pPr>
            <a:r>
              <a:rPr sz="1005" b="1" i="0">
                <a:solidFill>
                  <a:srgbClr val="33343F"/>
                </a:solidFill>
                <a:latin typeface="Arial"/>
                <a:ea typeface="Arial"/>
                <a:cs typeface="Arial"/>
              </a:rPr>
              <a:t>McKinley, J. (2025). Beyond Proficiency: Rethinking Preparedness in English-Medium Instruction. TESOL Journal, e70080.</a:t>
            </a:r>
          </a:p>
        </p:txBody>
      </p:sp>
      <p:sp>
        <p:nvSpPr>
          <p:cNvPr id="16" name="">
            <a:extLst xmlns:a="http://schemas.openxmlformats.org/drawingml/2006/main">
              <a:ext uri="{FF2B5EF4-FFF2-40B4-BE49-F238E27FC236}">
                <a16:creationId xmlns:a16="http://schemas.microsoft.com/office/drawing/2014/main" id="{5D9FA472-BD74-43D8-95FE-59B6593F10B4}"/>
              </a:ext>
            </a:extLst>
          </p:cNvPr>
          <p:cNvSpPr>
            <a:spLocks xmlns:a="http://schemas.openxmlformats.org/drawingml/2006/main" noGrp="1"/>
          </p:cNvSpPr>
          <p:nvPr/>
        </p:nvSpPr>
        <p:spPr>
          <a:xfrm xmlns:a="http://schemas.openxmlformats.org/drawingml/2006/main">
            <a:off x="6572250" y="28289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05" b="1" i="0">
                <a:solidFill>
                  <a:srgbClr val="33343F"/>
                </a:solidFill>
                <a:latin typeface="Arial"/>
                <a:ea typeface="Arial"/>
                <a:cs typeface="Arial"/>
              </a:defRPr>
            </a:pPr>
            <a:r>
              <a:rPr sz="1005" b="1" i="0">
                <a:solidFill>
                  <a:srgbClr val="33343F"/>
                </a:solidFill>
                <a:latin typeface="Arial"/>
                <a:ea typeface="Arial"/>
                <a:cs typeface="Arial"/>
              </a:rPr>
              <a:t>Quirk, R., Greenbaum, S., Leech, G., &amp; Svartvik, J. (1985). A Comprehensive Grammar of the English Language.</a:t>
            </a:r>
          </a:p>
        </p:txBody>
      </p:sp>
      <p:sp>
        <p:nvSpPr>
          <p:cNvPr id="17" name="">
            <a:extLst xmlns:a="http://schemas.openxmlformats.org/drawingml/2006/main">
              <a:ext uri="{FF2B5EF4-FFF2-40B4-BE49-F238E27FC236}">
                <a16:creationId xmlns:a16="http://schemas.microsoft.com/office/drawing/2014/main" id="{46B43B03-9285-4AE1-A440-FC4517C738FA}"/>
              </a:ext>
            </a:extLst>
          </p:cNvPr>
          <p:cNvSpPr>
            <a:spLocks xmlns:a="http://schemas.openxmlformats.org/drawingml/2006/main" noGrp="1"/>
          </p:cNvSpPr>
          <p:nvPr/>
        </p:nvSpPr>
        <p:spPr>
          <a:xfrm xmlns:a="http://schemas.openxmlformats.org/drawingml/2006/main">
            <a:off x="6572250" y="33623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05" b="0" i="0">
                <a:solidFill>
                  <a:srgbClr val="33343F"/>
                </a:solidFill>
                <a:latin typeface="Arial"/>
                <a:ea typeface="Arial"/>
                <a:cs typeface="Arial"/>
              </a:defRPr>
            </a:pPr>
            <a:r>
              <a:rPr sz="1005" b="0" i="0">
                <a:solidFill>
                  <a:srgbClr val="33343F"/>
                </a:solidFill>
                <a:latin typeface="Arial"/>
                <a:ea typeface="Arial"/>
                <a:cs typeface="Arial"/>
              </a:rPr>
              <a:t>Seidlhofer, B. (2011). Understanding English as a Lingua Franca.</a:t>
            </a:r>
          </a:p>
        </p:txBody>
      </p:sp>
      <p:sp>
        <p:nvSpPr>
          <p:cNvPr id="18" name="">
            <a:extLst xmlns:a="http://schemas.openxmlformats.org/drawingml/2006/main">
              <a:ext uri="{FF2B5EF4-FFF2-40B4-BE49-F238E27FC236}">
                <a16:creationId xmlns:a16="http://schemas.microsoft.com/office/drawing/2014/main" id="{F609C101-5B48-4509-97FD-76824533E68B}"/>
              </a:ext>
            </a:extLst>
          </p:cNvPr>
          <p:cNvSpPr>
            <a:spLocks xmlns:a="http://schemas.openxmlformats.org/drawingml/2006/main" noGrp="1"/>
          </p:cNvSpPr>
          <p:nvPr/>
        </p:nvSpPr>
        <p:spPr>
          <a:xfrm xmlns:a="http://schemas.openxmlformats.org/drawingml/2006/main">
            <a:off x="6572250" y="38957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05" b="0" i="0">
                <a:solidFill>
                  <a:srgbClr val="33343F"/>
                </a:solidFill>
                <a:latin typeface="Arial"/>
                <a:ea typeface="Arial"/>
                <a:cs typeface="Arial"/>
              </a:defRPr>
            </a:pPr>
            <a:r>
              <a:rPr sz="1005" b="0" i="0">
                <a:solidFill>
                  <a:srgbClr val="33343F"/>
                </a:solidFill>
                <a:latin typeface="Arial"/>
                <a:ea typeface="Arial"/>
                <a:cs typeface="Arial"/>
              </a:rPr>
              <a:t>Text Inspector. (2026). Text analysis platform, v2.0.</a:t>
            </a:r>
          </a:p>
        </p:txBody>
      </p:sp>
      <p:sp>
        <p:nvSpPr>
          <p:cNvPr id="19" name="">
            <a:extLst xmlns:a="http://schemas.openxmlformats.org/drawingml/2006/main">
              <a:ext uri="{FF2B5EF4-FFF2-40B4-BE49-F238E27FC236}">
                <a16:creationId xmlns:a16="http://schemas.microsoft.com/office/drawing/2014/main" id="{C5D65EAC-E151-4662-A30C-6127E6F89E3A}"/>
              </a:ext>
            </a:extLst>
          </p:cNvPr>
          <p:cNvSpPr>
            <a:spLocks xmlns:a="http://schemas.openxmlformats.org/drawingml/2006/main" noGrp="1"/>
          </p:cNvSpPr>
          <p:nvPr/>
        </p:nvSpPr>
        <p:spPr>
          <a:xfrm xmlns:a="http://schemas.openxmlformats.org/drawingml/2006/main">
            <a:off x="6572250" y="44291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05" b="0" i="0">
                <a:solidFill>
                  <a:srgbClr val="33343F"/>
                </a:solidFill>
                <a:latin typeface="Arial"/>
                <a:ea typeface="Arial"/>
                <a:cs typeface="Arial"/>
              </a:defRPr>
            </a:pPr>
            <a:r>
              <a:rPr sz="1005" b="0" i="0">
                <a:solidFill>
                  <a:srgbClr val="33343F"/>
                </a:solidFill>
                <a:latin typeface="Arial"/>
                <a:ea typeface="Arial"/>
                <a:cs typeface="Arial"/>
              </a:rPr>
              <a:t>English Profile. English Vocabulary Profile and English Grammar Profile.</a:t>
            </a:r>
          </a:p>
        </p:txBody>
      </p:sp>
      <p:sp>
        <p:nvSpPr>
          <p:cNvPr id="20" name="">
            <a:extLst xmlns:a="http://schemas.openxmlformats.org/drawingml/2006/main">
              <a:ext uri="{FF2B5EF4-FFF2-40B4-BE49-F238E27FC236}">
                <a16:creationId xmlns:a16="http://schemas.microsoft.com/office/drawing/2014/main" id="{AB16F500-BD70-4F9C-A00A-2501EB9B27F0}"/>
              </a:ext>
            </a:extLst>
          </p:cNvPr>
          <p:cNvSpPr>
            <a:spLocks xmlns:a="http://schemas.openxmlformats.org/drawingml/2006/main" noGrp="1"/>
          </p:cNvSpPr>
          <p:nvPr/>
        </p:nvSpPr>
        <p:spPr>
          <a:xfrm xmlns:a="http://schemas.openxmlformats.org/drawingml/2006/main">
            <a:off x="6572250" y="49625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05" b="1" i="0">
                <a:solidFill>
                  <a:srgbClr val="33343F"/>
                </a:solidFill>
                <a:latin typeface="Arial"/>
                <a:ea typeface="Arial"/>
                <a:cs typeface="Arial"/>
              </a:defRPr>
            </a:pPr>
            <a:r>
              <a:rPr sz="1005" b="1" i="0">
                <a:solidFill>
                  <a:srgbClr val="33343F"/>
                </a:solidFill>
                <a:latin typeface="Arial"/>
                <a:ea typeface="Arial"/>
                <a:cs typeface="Arial"/>
              </a:rPr>
              <a:t>MIWAE Corpus Analysis API. (2026). Version 0.1, open research prototype.</a:t>
            </a:r>
          </a:p>
        </p:txBody>
      </p:sp>
      <p:sp>
        <p:nvSpPr>
          <p:cNvPr id="21" name="">
            <a:extLst xmlns:a="http://schemas.openxmlformats.org/drawingml/2006/main">
              <a:ext uri="{FF2B5EF4-FFF2-40B4-BE49-F238E27FC236}">
                <a16:creationId xmlns:a16="http://schemas.microsoft.com/office/drawing/2014/main" id="{FDE9AF2A-6987-42B5-BA0C-E2A93FF640EA}"/>
              </a:ext>
            </a:extLst>
          </p:cNvPr>
          <p:cNvSpPr>
            <a:spLocks xmlns:a="http://schemas.openxmlformats.org/drawingml/2006/main" noGrp="1"/>
          </p:cNvSpPr>
          <p:nvPr/>
        </p:nvSpPr>
        <p:spPr>
          <a:xfrm xmlns:a="http://schemas.openxmlformats.org/drawingml/2006/main">
            <a:off x="1714500" y="5905500"/>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0" i="0">
                <a:solidFill>
                  <a:srgbClr val="626777"/>
                </a:solidFill>
                <a:latin typeface="Arial"/>
                <a:ea typeface="Arial"/>
                <a:cs typeface="Arial"/>
              </a:defRPr>
            </a:pPr>
            <a:r>
              <a:rPr sz="1200" b="0" i="0">
                <a:solidFill>
                  <a:srgbClr val="626777"/>
                </a:solidFill>
                <a:latin typeface="Arial"/>
                <a:ea typeface="Arial"/>
                <a:cs typeface="Arial"/>
              </a:rPr>
              <a:t>Full bibliographic details and textbook editions should be finalised in the paper and conference handout.</a:t>
            </a:r>
          </a:p>
        </p:txBody>
      </p:sp>
      <p:sp>
        <p:nvSpPr>
          <p:cNvPr id="22" name="">
            <a:extLst xmlns:a="http://schemas.openxmlformats.org/drawingml/2006/main">
              <a:ext uri="{FF2B5EF4-FFF2-40B4-BE49-F238E27FC236}">
                <a16:creationId xmlns:a16="http://schemas.microsoft.com/office/drawing/2014/main" id="{86724135-69D1-4B72-9694-5E83157616FA}"/>
              </a:ext>
            </a:extLst>
          </p:cNvPr>
          <p:cNvSpPr>
            <a:spLocks xmlns:a="http://schemas.openxmlformats.org/drawingml/2006/main" noGrp="1"/>
          </p:cNvSpPr>
          <p:nvPr/>
        </p:nvSpPr>
        <p:spPr>
          <a:xfrm xmlns:a="http://schemas.openxmlformats.org/drawingml/2006/main">
            <a:off x="685800" y="6457950"/>
            <a:ext cx="10839450" cy="0"/>
          </a:xfrm>
          <a:prstGeom xmlns:a="http://schemas.openxmlformats.org/drawingml/2006/main" prst="line">
            <a:avLst/>
          </a:prstGeom>
          <a:noFill xmlns:a="http://schemas.openxmlformats.org/drawingml/2006/main"/>
          <a:ln xmlns:a="http://schemas.openxmlformats.org/drawingml/2006/main" w="9525">
            <a:solidFill>
              <a:srgbClr val="C8C9D3"/>
            </a:solidFill>
          </a:ln>
        </p:spPr>
      </p:sp>
      <p:sp>
        <p:nvSpPr>
          <p:cNvPr id="23" name="">
            <a:extLst xmlns:a="http://schemas.openxmlformats.org/drawingml/2006/main">
              <a:ext uri="{FF2B5EF4-FFF2-40B4-BE49-F238E27FC236}">
                <a16:creationId xmlns:a16="http://schemas.microsoft.com/office/drawing/2014/main" id="{9FA47048-919C-425A-BCC8-C25B15A7C87D}"/>
              </a:ext>
            </a:extLst>
          </p:cNvPr>
          <p:cNvSpPr>
            <a:spLocks xmlns:a="http://schemas.openxmlformats.org/drawingml/2006/main" noGrp="1"/>
          </p:cNvSpPr>
          <p:nvPr/>
        </p:nvSpPr>
        <p:spPr>
          <a:xfrm xmlns:a="http://schemas.openxmlformats.org/drawingml/2006/main">
            <a:off x="685800" y="6534150"/>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3333"/>
          </a:bodyPr>
          <a:lstStyle xmlns:a="http://schemas.openxmlformats.org/drawingml/2006/main"/>
          <a:p xmlns:a="http://schemas.openxmlformats.org/drawingml/2006/main">
            <a:pPr algn="l">
              <a:defRPr sz="750" b="1" i="0">
                <a:solidFill>
                  <a:srgbClr val="626777"/>
                </a:solidFill>
                <a:latin typeface="Arial"/>
                <a:ea typeface="Arial"/>
                <a:cs typeface="Arial"/>
              </a:defRPr>
            </a:pPr>
            <a:r>
              <a:rPr sz="750" b="1" i="0">
                <a:solidFill>
                  <a:srgbClr val="626777"/>
                </a:solidFill>
                <a:latin typeface="Arial"/>
                <a:ea typeface="Arial"/>
                <a:cs typeface="Arial"/>
              </a:rPr>
              <a:t>MIWAE</a:t>
            </a:r>
          </a:p>
        </p:txBody>
      </p:sp>
    </p:spTree>
    <p:extLst>
      <p:ext uri="{BB962C8B-B14F-4D97-AF65-F5344CB8AC3E}">
        <p14:creationId xmlns:p14="http://schemas.microsoft.com/office/powerpoint/2010/main" val="597705091"/>
      </p:ext>
    </p:extLst>
  </p:cSld>
</p:sld>
</file>

<file path=ppt/theme/theme1.xml><?xml version="1.0" encoding="utf-8"?>
<a:theme xmlns:a="http://schemas.openxmlformats.org/drawingml/2006/main" name="MIWAE">
  <a:themeElements>
    <a:clrScheme name="MIWA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IWA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Microsoft PowerPoint</ap:Application>
  <ap:PresentationFormat>Widescreen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Mehmet Altay and Dogan Yuksel</dc:creator>
  <lastModifiedBy>Mehmet Altay and Dogan Yuksel</lastModifiedBy>
  <dc:title>Pragmatic Considerations for Authors and Publishers on Modification of Input in Written Academic English</dc:title>
  <dcterms:created xsi:type="dcterms:W3CDTF">2026-09-21T20:50:19.1480000Z</dcterms:created>
  <dcterms:modified xsi:type="dcterms:W3CDTF">2026-09-21T20:50:19.1480000Z</dcterms:modified>
</coreProperties>
</file>