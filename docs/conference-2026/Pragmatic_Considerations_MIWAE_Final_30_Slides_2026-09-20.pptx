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6"/>
  </p:normalViewPr>
  <p:slideViewPr>
    <p:cSldViewPr snapToGrid="0">
      <p:cViewPr varScale="1">
        <p:scale>
          <a:sx n="112" d="100"/>
          <a:sy n="112" d="100"/>
        </p:scale>
        <p:origin x="7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al__ma_Sayfas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al__ma_Sayfas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autoTitleDeleted val="1"/>
    <c:plotArea>
      <c:layout/>
      <c:barChart>
        <c:barDir val="col"/>
        <c:grouping val="clustered"/>
        <c:varyColors val="0"/>
        <c:ser>
          <c:idx val="0"/>
          <c:order val="0"/>
          <c:tx>
            <c:v>Mean challenge</c:v>
          </c:tx>
          <c:spPr>
            <a:solidFill>
              <a:srgbClr val="176082"/>
            </a:solidFill>
          </c:spPr>
          <c:invertIfNegative val="1"/>
          <c:dLbls>
            <c:spPr>
              <a:noFill/>
              <a:ln>
                <a:noFill/>
              </a:ln>
              <a:effectLst/>
            </c:spPr>
            <c:txPr>
              <a:bodyPr anchorCtr="1"/>
              <a:lstStyle/>
              <a:p>
                <a:pPr>
                  <a:defRPr sz="900" b="1">
                    <a:solidFill>
                      <a:srgbClr val="33343F"/>
                    </a:solidFill>
                    <a:latin typeface="Arial"/>
                    <a:ea typeface="Arial"/>
                    <a:cs typeface="Arial"/>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Data'!$A$2:$A$11</c:f>
              <c:strCache>
                <c:ptCount val="10"/>
                <c:pt idx="0">
                  <c:v>Specific
vocabulary</c:v>
                </c:pt>
                <c:pt idx="1">
                  <c:v>Difficult
words</c:v>
                </c:pt>
                <c:pt idx="2">
                  <c:v>Careful
reading</c:v>
                </c:pt>
                <c:pt idx="3">
                  <c:v>Scan for
detail</c:v>
                </c:pt>
                <c:pt idx="4">
                  <c:v>Supporting
ideas</c:v>
                </c:pt>
                <c:pt idx="5">
                  <c:v>Read for
gist</c:v>
                </c:pt>
                <c:pt idx="6">
                  <c:v>Key ideas</c:v>
                </c:pt>
                <c:pt idx="7">
                  <c:v>Brief
notes</c:v>
                </c:pt>
                <c:pt idx="8">
                  <c:v>Own-word
notes</c:v>
                </c:pt>
                <c:pt idx="9">
                  <c:v>Text
organisation</c:v>
                </c:pt>
              </c:strCache>
            </c:strRef>
          </c:cat>
          <c:val>
            <c:numRef>
              <c:f>'Chart Data'!$B$2:$B$11</c:f>
              <c:numCache>
                <c:formatCode>General</c:formatCode>
                <c:ptCount val="10"/>
                <c:pt idx="0">
                  <c:v>3.48</c:v>
                </c:pt>
                <c:pt idx="1">
                  <c:v>3.43</c:v>
                </c:pt>
                <c:pt idx="2">
                  <c:v>3.08</c:v>
                </c:pt>
                <c:pt idx="3">
                  <c:v>2.9</c:v>
                </c:pt>
                <c:pt idx="4">
                  <c:v>3.14</c:v>
                </c:pt>
                <c:pt idx="5">
                  <c:v>3.05</c:v>
                </c:pt>
                <c:pt idx="6">
                  <c:v>3.06</c:v>
                </c:pt>
                <c:pt idx="7">
                  <c:v>3.29</c:v>
                </c:pt>
                <c:pt idx="8">
                  <c:v>3.39</c:v>
                </c:pt>
                <c:pt idx="9">
                  <c:v>3.12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817-C443-837D-B1D1679B6F30}"/>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825">
                <a:solidFill>
                  <a:srgbClr val="626777"/>
                </a:solidFill>
                <a:latin typeface="Arial"/>
                <a:ea typeface="Arial"/>
                <a:cs typeface="Arial"/>
              </a:defRPr>
            </a:pPr>
            <a:endParaRPr lang="tr-TR"/>
          </a:p>
        </c:txPr>
        <c:crossAx val="48672768"/>
        <c:crosses val="autoZero"/>
        <c:auto val="1"/>
        <c:lblAlgn val="ctr"/>
        <c:lblOffset val="100"/>
        <c:noMultiLvlLbl val="1"/>
      </c:catAx>
      <c:valAx>
        <c:axId val="48672768"/>
        <c:scaling>
          <c:orientation val="minMax"/>
          <c:max val="6"/>
          <c:min val="0"/>
        </c:scaling>
        <c:delete val="0"/>
        <c:axPos val="l"/>
        <c:majorGridlines>
          <c:spPr>
            <a:ln w="9525">
              <a:solidFill>
                <a:srgbClr val="C8C9D3"/>
              </a:solidFill>
            </a:ln>
          </c:spPr>
        </c:majorGridlines>
        <c:title>
          <c:tx>
            <c:rich>
              <a:bodyPr/>
              <a:lstStyle/>
              <a:p>
                <a:r>
                  <a:rPr>
                    <a:latin typeface="Arial"/>
                    <a:ea typeface="Arial"/>
                    <a:cs typeface="Arial"/>
                  </a:rPr>
                  <a:t>Mean score (1–6)</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626777"/>
                </a:solidFill>
                <a:latin typeface="Arial"/>
                <a:ea typeface="Arial"/>
                <a:cs typeface="Arial"/>
              </a:defRPr>
            </a:pPr>
            <a:endParaRPr lang="tr-TR"/>
          </a:p>
        </c:txPr>
        <c:crossAx val="48650112"/>
        <c:crosses val="autoZero"/>
        <c:crossBetween val="between"/>
        <c:majorUnit val="1"/>
      </c:valAx>
      <c:spPr>
        <a:solidFill>
          <a:srgbClr val="FAFAFA"/>
        </a:solidFill>
      </c:spPr>
    </c:plotArea>
    <c:plotVisOnly val="1"/>
    <c:dispBlanksAs val="zero"/>
    <c:showDLblsOverMax val="1"/>
  </c:chart>
  <c:spPr>
    <a:solidFill>
      <a:srgbClr val="FAFAFA"/>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autoTitleDeleted val="1"/>
    <c:plotArea>
      <c:layout/>
      <c:barChart>
        <c:barDir val="bar"/>
        <c:grouping val="clustered"/>
        <c:varyColors val="0"/>
        <c:ser>
          <c:idx val="0"/>
          <c:order val="0"/>
          <c:tx>
            <c:v>Figure references per 10k words</c:v>
          </c:tx>
          <c:spPr>
            <a:solidFill>
              <a:srgbClr val="176082"/>
            </a:solidFill>
          </c:spPr>
          <c:invertIfNegative val="1"/>
          <c:dPt>
            <c:idx val="0"/>
            <c:invertIfNegative val="0"/>
            <c:bubble3D val="0"/>
            <c:extLst>
              <c:ext xmlns:c16="http://schemas.microsoft.com/office/drawing/2014/chart" uri="{C3380CC4-5D6E-409C-BE32-E72D297353CC}">
                <c16:uniqueId val="{00000001-8059-2146-BF51-EB38F62670A2}"/>
              </c:ext>
            </c:extLst>
          </c:dPt>
          <c:dPt>
            <c:idx val="1"/>
            <c:invertIfNegative val="0"/>
            <c:bubble3D val="0"/>
            <c:extLst>
              <c:ext xmlns:c16="http://schemas.microsoft.com/office/drawing/2014/chart" uri="{C3380CC4-5D6E-409C-BE32-E72D297353CC}">
                <c16:uniqueId val="{00000003-8059-2146-BF51-EB38F62670A2}"/>
              </c:ext>
            </c:extLst>
          </c:dPt>
          <c:dPt>
            <c:idx val="2"/>
            <c:invertIfNegative val="0"/>
            <c:bubble3D val="0"/>
            <c:extLst>
              <c:ext xmlns:c16="http://schemas.microsoft.com/office/drawing/2014/chart" uri="{C3380CC4-5D6E-409C-BE32-E72D297353CC}">
                <c16:uniqueId val="{00000005-8059-2146-BF51-EB38F62670A2}"/>
              </c:ext>
            </c:extLst>
          </c:dPt>
          <c:dPt>
            <c:idx val="3"/>
            <c:invertIfNegative val="0"/>
            <c:bubble3D val="0"/>
            <c:extLst>
              <c:ext xmlns:c16="http://schemas.microsoft.com/office/drawing/2014/chart" uri="{C3380CC4-5D6E-409C-BE32-E72D297353CC}">
                <c16:uniqueId val="{00000007-8059-2146-BF51-EB38F62670A2}"/>
              </c:ext>
            </c:extLst>
          </c:dPt>
          <c:dPt>
            <c:idx val="4"/>
            <c:invertIfNegative val="0"/>
            <c:bubble3D val="0"/>
            <c:spPr>
              <a:solidFill>
                <a:srgbClr val="D58C00"/>
              </a:solidFill>
            </c:spPr>
            <c:extLst>
              <c:ext xmlns:c16="http://schemas.microsoft.com/office/drawing/2014/chart" uri="{C3380CC4-5D6E-409C-BE32-E72D297353CC}">
                <c16:uniqueId val="{00000009-8059-2146-BF51-EB38F62670A2}"/>
              </c:ext>
            </c:extLst>
          </c:dPt>
          <c:dPt>
            <c:idx val="5"/>
            <c:invertIfNegative val="0"/>
            <c:bubble3D val="0"/>
            <c:spPr>
              <a:solidFill>
                <a:srgbClr val="D58C00"/>
              </a:solidFill>
            </c:spPr>
            <c:extLst>
              <c:ext xmlns:c16="http://schemas.microsoft.com/office/drawing/2014/chart" uri="{C3380CC4-5D6E-409C-BE32-E72D297353CC}">
                <c16:uniqueId val="{0000000B-8059-2146-BF51-EB38F62670A2}"/>
              </c:ext>
            </c:extLst>
          </c:dPt>
          <c:dPt>
            <c:idx val="6"/>
            <c:invertIfNegative val="0"/>
            <c:bubble3D val="0"/>
            <c:spPr>
              <a:solidFill>
                <a:srgbClr val="D58C00"/>
              </a:solidFill>
            </c:spPr>
            <c:extLst>
              <c:ext xmlns:c16="http://schemas.microsoft.com/office/drawing/2014/chart" uri="{C3380CC4-5D6E-409C-BE32-E72D297353CC}">
                <c16:uniqueId val="{0000000D-8059-2146-BF51-EB38F62670A2}"/>
              </c:ext>
            </c:extLst>
          </c:dPt>
          <c:dPt>
            <c:idx val="7"/>
            <c:invertIfNegative val="0"/>
            <c:bubble3D val="0"/>
            <c:spPr>
              <a:solidFill>
                <a:srgbClr val="D58C00"/>
              </a:solidFill>
            </c:spPr>
            <c:extLst>
              <c:ext xmlns:c16="http://schemas.microsoft.com/office/drawing/2014/chart" uri="{C3380CC4-5D6E-409C-BE32-E72D297353CC}">
                <c16:uniqueId val="{0000000F-8059-2146-BF51-EB38F62670A2}"/>
              </c:ext>
            </c:extLst>
          </c:dPt>
          <c:dPt>
            <c:idx val="8"/>
            <c:invertIfNegative val="0"/>
            <c:bubble3D val="0"/>
            <c:spPr>
              <a:solidFill>
                <a:srgbClr val="D58C00"/>
              </a:solidFill>
            </c:spPr>
            <c:extLst>
              <c:ext xmlns:c16="http://schemas.microsoft.com/office/drawing/2014/chart" uri="{C3380CC4-5D6E-409C-BE32-E72D297353CC}">
                <c16:uniqueId val="{00000011-8059-2146-BF51-EB38F62670A2}"/>
              </c:ext>
            </c:extLst>
          </c:dPt>
          <c:dLbls>
            <c:spPr>
              <a:noFill/>
              <a:ln>
                <a:noFill/>
              </a:ln>
              <a:effectLst/>
            </c:spPr>
            <c:txPr>
              <a:bodyPr anchorCtr="1"/>
              <a:lstStyle/>
              <a:p>
                <a:pPr>
                  <a:defRPr sz="750" b="1">
                    <a:solidFill>
                      <a:srgbClr val="33343F"/>
                    </a:solidFill>
                    <a:latin typeface="Arial"/>
                    <a:ea typeface="Arial"/>
                    <a:cs typeface="Arial"/>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Data'!$A$2:$A$10</c:f>
              <c:strCache>
                <c:ptCount val="9"/>
                <c:pt idx="0">
                  <c:v>Sadiku</c:v>
                </c:pt>
                <c:pt idx="1">
                  <c:v>Hambley</c:v>
                </c:pt>
                <c:pt idx="2">
                  <c:v>Sedra</c:v>
                </c:pt>
                <c:pt idx="3">
                  <c:v>Oppenheim</c:v>
                </c:pt>
                <c:pt idx="4">
                  <c:v>Goldstein</c:v>
                </c:pt>
                <c:pt idx="5">
                  <c:v>Blanton</c:v>
                </c:pt>
                <c:pt idx="6">
                  <c:v>Mingst</c:v>
                </c:pt>
                <c:pt idx="7">
                  <c:v>Baylis</c:v>
                </c:pt>
                <c:pt idx="8">
                  <c:v>Dunne</c:v>
                </c:pt>
              </c:strCache>
            </c:strRef>
          </c:cat>
          <c:val>
            <c:numRef>
              <c:f>'Chart Data'!$B$2:$B$10</c:f>
              <c:numCache>
                <c:formatCode>General</c:formatCode>
                <c:ptCount val="9"/>
                <c:pt idx="0">
                  <c:v>158.25</c:v>
                </c:pt>
                <c:pt idx="1">
                  <c:v>66.61</c:v>
                </c:pt>
                <c:pt idx="2">
                  <c:v>66.430000000000007</c:v>
                </c:pt>
                <c:pt idx="3">
                  <c:v>47.44</c:v>
                </c:pt>
                <c:pt idx="4">
                  <c:v>5.95</c:v>
                </c:pt>
                <c:pt idx="5">
                  <c:v>3.15</c:v>
                </c:pt>
                <c:pt idx="6">
                  <c:v>1.81</c:v>
                </c:pt>
                <c:pt idx="7">
                  <c:v>1.2</c:v>
                </c:pt>
                <c:pt idx="8">
                  <c:v>0.63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2-8059-2146-BF51-EB38F62670A2}"/>
            </c:ext>
          </c:extLst>
        </c:ser>
        <c:dLbls>
          <c:dLblPos val="outEnd"/>
          <c:showLegendKey val="0"/>
          <c:showVal val="1"/>
          <c:showCatName val="0"/>
          <c:showSerName val="0"/>
          <c:showPercent val="0"/>
          <c:showBubbleSize val="0"/>
        </c:dLbls>
        <c:gapWidth val="28"/>
        <c:axId val="48650112"/>
        <c:axId val="48672768"/>
      </c:barChart>
      <c:catAx>
        <c:axId val="48650112"/>
        <c:scaling>
          <c:orientation val="minMax"/>
        </c:scaling>
        <c:delete val="0"/>
        <c:axPos val="l"/>
        <c:majorGridlines>
          <c:spPr>
            <a:ln w="9525">
              <a:solidFill>
                <a:srgbClr val="C8C9D3"/>
              </a:solidFill>
            </a:ln>
          </c:spPr>
        </c:majorGridlines>
        <c:title>
          <c:tx>
            <c:rich>
              <a:bodyPr/>
              <a:lstStyle/>
              <a:p>
                <a:r>
                  <a:rPr>
                    <a:latin typeface="Arial"/>
                    <a:ea typeface="Arial"/>
                    <a:cs typeface="Arial"/>
                  </a:rPr>
                  <a:t>Figure references per 10,000 words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825">
                <a:solidFill>
                  <a:srgbClr val="626777"/>
                </a:solidFill>
                <a:latin typeface="Arial"/>
                <a:ea typeface="Arial"/>
                <a:cs typeface="Arial"/>
              </a:defRPr>
            </a:pPr>
            <a:endParaRPr lang="tr-T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AFAFA"/>
        </a:solidFill>
      </c:spPr>
    </c:plotArea>
    <c:plotVisOnly val="1"/>
    <c:dispBlanksAs val="zero"/>
    <c:showDLblsOverMax val="1"/>
  </c:chart>
  <c:spPr>
    <a:solidFill>
      <a:srgbClr val="FAFAFA"/>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exact conference title. Explain that pragmatic considerations refer to choices made by authors and publishers about how written academic input is organised, related and supported. The ICLHE logo and palette are drawn from the official association website, https://www.iclhe.org/. The MIWAE API repository is available at https://github.com/MehmetDEU/MIWAE. Student records and interview excerpts are from the study; literature and located textbook examples are source-based.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McKinley to widen the familiar proficiency-plus-content account. Academic literacy includes discipline-specific ways of reading, reasoning and interpreting evidence. MIWAE then examines the written input with which those practices interact. Modification here means purposeful support: making relations, organisation and multimodal cues available at the point of need. It does not mean removing technical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follows the author's highlighted contrast. Avoid describing EAP as uniformly SLA based; the source specifically contrasts mode, setting and norm orientation.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Jenkins and Mauranen volume documents textbook incomprehension and course-material problems. It does not propose MIWAE's design remedy, which is the research gap.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sources distinct. Mauranen supplies the academic ELF orientation and the written-research gap. Björkman and Seidlhofer support a functional reading of signposting, accommodation and purposeful redundancy. Jenkins and Mauranen document coursebook difficulty in EMI. McKinley argues that preparedness must include discipline-specific academic literacy. None of these sources provides a ready-made textbook scale; MIWAE is the proposed operational synthesis.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CEFR describes user competence, not a textbook rating system. This mapping is MIWAE's operational extension to production-side choices in written disciplinary communication.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project definition, not a direct quotation from the literature.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contribution is a review and selection framework, not a validated psychometric scale.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balanced set contains five Engineering and five International Relations textbooks. Hambley replaces the unsuitable Nilsson solution manual. Mano enters the 50-passage Text Inspector analysis through OCR, while whole-book scripts use the other nine texts.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wording: We developed an open, extensible MIWAE Corpus Analysis API, available at https://github.com/MehmetDEU/MIWAE. It accepts text, PDF, DOCX and structured corpus inputs and generates transparent candidate profiles for functions, grammatical forms and distribution. It can import authorized Text Inspector exports and user-supplied EVP or EGP mappings. Do not claim an official live connection to either provider. The pilot run used 10 books, 50 stratified passages and 9,810 words. Automatic hits require contextual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the distinction between the public repository and the local service. GitHub provides the code; localhost exposes the running Swagger interface on the presenter's computer.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interface slowly. The endpoint label is clicked, not pasted. The JSON goes into the Request body editor. Execute sends the passage to the local 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uses the real response from the demonstration passage. Explain the hierarchy before interpreting any metric. A single short segment cannot support meaningful dispersion claims, and normalized rates can appear large.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n=100. English r=-.548 and GPA r=-.481 with reading challenge.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excerpts are from the study interviews.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excerpts reflect the contrast between disciplines without claiming that social-science knowledge is merely subjective.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Avoid a simple objective-versus-subjective binary. The defensible contrast concerns semiotic resources and epistemic organisation.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located illustrations from the reviewed textbooks. The first six examples come from concordance checking in the nine complete text layers. The seventh summarises the recurring alignment of figure references and labelled circuit diagrams in the Sadiku sample. Do not use this slide to claim whole-book prevalence. Distribution requires a defined denominator and systematic sampling, which is introduced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interview counts are from the study interviews. Figure-reference densities are descriptive counts from four complete EE texts and five complete IR texts. Mano is excluded because only five OCR passages are available.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analysis uses five stratified passages from each of ten books. Hambley and Mano replace the previously unsuitable Engineering materials. Mano passages were recovered by OCR. Lower Flesch reading ease and higher grade and Fog scores indicate greater conventional readability burden in the IR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disciplinary contrast concerns semiotic resources and epistemic organisation, not a simple objective-versus-subjective binary. Treat the numerical findings as descriptive pilot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Distribution is conditional on eligible opportunities. Define the denominator before coding. A definition is eligible at a term's first required use; a conceptual bridge is eligible where a new explanation depends on earlier content. Textual distribution and participant-mentioned distribution answer different questions and must not be combined.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forms are an open coding inventory rather than a closed checklist. Distribution is recorded with an explicit denominator, timing and spread. An opportunity counts as eligible only when the relevant communicative need exists in that location.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procedure turns the framework into a reproducible local selection instrument for syllabus designers.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rubric is a provisional decision aid. It has not undergone reliability or validity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Any accuracy failure overrides a high support rating. The cross-cutting gates protect against oversimplification and inappropriate standardisation.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tags separate what the text visibly contains from what readers report and what comprehension evidence demonstrates.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the audience to test whether the dimensions and decision rule capture what they value when choosing EMI textbooks.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accepted abstract's past-tense findings language must be reconciled with the actual research status before conference 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ICLHE logo and palette are taken from the official association website: https://www.iclhe.org/. Verify the final bibliography against the conference paper and the editions actually analysed.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5" name="Dikdörtgen 14">
            <a:extLst>
              <a:ext uri="{FF2B5EF4-FFF2-40B4-BE49-F238E27FC236}">
                <a16:creationId xmlns:a16="http://schemas.microsoft.com/office/drawing/2014/main" id="{50CF7135-32E9-40CE-AF3A-DE5A8322AA2F}"/>
              </a:ext>
            </a:extLst>
          </p:cNvPr>
          <p:cNvSpPr>
            <a:spLocks noGrp="1"/>
          </p:cNvSpPr>
          <p:nvPr/>
        </p:nvSpPr>
        <p:spPr>
          <a:xfrm>
            <a:off x="0" y="0"/>
            <a:ext cx="228600" cy="6858000"/>
          </a:xfrm>
          <a:prstGeom prst="rect">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22B0F4E8-7C61-4494-820D-16A14879776A}"/>
              </a:ext>
            </a:extLst>
          </p:cNvPr>
          <p:cNvSpPr>
            <a:spLocks noGrp="1"/>
          </p:cNvSpPr>
          <p:nvPr/>
        </p:nvSpPr>
        <p:spPr>
          <a:xfrm>
            <a:off x="228600" y="0"/>
            <a:ext cx="123825" cy="6858000"/>
          </a:xfrm>
          <a:prstGeom prst="rect">
            <a:avLst/>
          </a:prstGeom>
          <a:solidFill>
            <a:srgbClr val="F0B113"/>
          </a:solidFill>
          <a:ln w="0">
            <a:noFill/>
          </a:ln>
        </p:spPr>
        <p:txBody>
          <a:bodyPr/>
          <a:lstStyle/>
          <a:p>
            <a:endParaRPr lang="tr-TR"/>
          </a:p>
        </p:txBody>
      </p:sp>
      <p:sp>
        <p:nvSpPr>
          <p:cNvPr id="3" name="Dikdörtgen 2">
            <a:extLst>
              <a:ext uri="{FF2B5EF4-FFF2-40B4-BE49-F238E27FC236}">
                <a16:creationId xmlns:a16="http://schemas.microsoft.com/office/drawing/2014/main" id="{A520C59F-1A80-4A2F-B734-4577EE4C3CD2}"/>
              </a:ext>
            </a:extLst>
          </p:cNvPr>
          <p:cNvSpPr>
            <a:spLocks noGrp="1"/>
          </p:cNvSpPr>
          <p:nvPr/>
        </p:nvSpPr>
        <p:spPr>
          <a:xfrm>
            <a:off x="781050" y="476250"/>
            <a:ext cx="49530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ICLHE SYMPOSIUM 2026 · ORAL PRESENTATION</a:t>
            </a:r>
          </a:p>
        </p:txBody>
      </p:sp>
      <p:pic>
        <p:nvPicPr>
          <p:cNvPr id="18" name="Resim 17"/>
          <p:cNvPicPr>
            <a:picLocks noChangeAspect="1"/>
          </p:cNvPicPr>
          <p:nvPr/>
        </p:nvPicPr>
        <p:blipFill>
          <a:blip r:embed="rId3"/>
          <a:stretch/>
        </p:blipFill>
        <p:spPr>
          <a:xfrm>
            <a:off x="9335207" y="323850"/>
            <a:ext cx="2189336" cy="1200150"/>
          </a:xfrm>
          <a:prstGeom prst="rect">
            <a:avLst/>
          </a:prstGeom>
        </p:spPr>
      </p:pic>
      <p:sp>
        <p:nvSpPr>
          <p:cNvPr id="5" name="Dikdörtgen 4">
            <a:extLst>
              <a:ext uri="{FF2B5EF4-FFF2-40B4-BE49-F238E27FC236}">
                <a16:creationId xmlns:a16="http://schemas.microsoft.com/office/drawing/2014/main" id="{AAECB4FB-3A91-44B9-80D3-5F2259F868E7}"/>
              </a:ext>
            </a:extLst>
          </p:cNvPr>
          <p:cNvSpPr>
            <a:spLocks noGrp="1"/>
          </p:cNvSpPr>
          <p:nvPr/>
        </p:nvSpPr>
        <p:spPr>
          <a:xfrm>
            <a:off x="781050" y="1352550"/>
            <a:ext cx="10287000" cy="1952625"/>
          </a:xfrm>
          <a:prstGeom prst="rect">
            <a:avLst/>
          </a:prstGeom>
          <a:noFill/>
          <a:ln w="0">
            <a:noFill/>
          </a:ln>
        </p:spPr>
        <p:txBody>
          <a:bodyPr anchor="t">
            <a:normAutofit/>
          </a:bodyPr>
          <a:lstStyle/>
          <a:p>
            <a:pPr algn="l">
              <a:defRPr sz="3150" b="1" i="0">
                <a:solidFill>
                  <a:srgbClr val="33343F"/>
                </a:solidFill>
                <a:latin typeface="Arial"/>
                <a:ea typeface="Arial"/>
                <a:cs typeface="Arial"/>
              </a:defRPr>
            </a:pPr>
            <a:r>
              <a:rPr sz="3150" b="1" i="0">
                <a:solidFill>
                  <a:srgbClr val="33343F"/>
                </a:solidFill>
                <a:latin typeface="Arial"/>
                <a:ea typeface="Arial"/>
                <a:cs typeface="Arial"/>
              </a:rPr>
              <a:t>Pragmatic Considerations for Authors and Publishers on</a:t>
            </a:r>
          </a:p>
          <a:p>
            <a:pPr algn="l">
              <a:defRPr sz="3150" b="1" i="0">
                <a:solidFill>
                  <a:srgbClr val="33343F"/>
                </a:solidFill>
                <a:latin typeface="Arial"/>
                <a:ea typeface="Arial"/>
                <a:cs typeface="Arial"/>
              </a:defRPr>
            </a:pPr>
            <a:r>
              <a:rPr sz="3150" b="1" i="0">
                <a:solidFill>
                  <a:srgbClr val="33343F"/>
                </a:solidFill>
                <a:latin typeface="Arial"/>
                <a:ea typeface="Arial"/>
                <a:cs typeface="Arial"/>
              </a:rPr>
              <a:t>Modification of Input in Written Academic English</a:t>
            </a:r>
          </a:p>
        </p:txBody>
      </p:sp>
      <p:sp>
        <p:nvSpPr>
          <p:cNvPr id="6" name="Dikdörtgen 5">
            <a:extLst>
              <a:ext uri="{FF2B5EF4-FFF2-40B4-BE49-F238E27FC236}">
                <a16:creationId xmlns:a16="http://schemas.microsoft.com/office/drawing/2014/main" id="{1CFC88E5-6EA6-47D8-9BE3-50E53FAD0F41}"/>
              </a:ext>
            </a:extLst>
          </p:cNvPr>
          <p:cNvSpPr>
            <a:spLocks noGrp="1"/>
          </p:cNvSpPr>
          <p:nvPr/>
        </p:nvSpPr>
        <p:spPr>
          <a:xfrm>
            <a:off x="800100" y="3514725"/>
            <a:ext cx="9477375" cy="552450"/>
          </a:xfrm>
          <a:prstGeom prst="rect">
            <a:avLst/>
          </a:prstGeom>
          <a:noFill/>
          <a:ln w="0">
            <a:noFill/>
          </a:ln>
        </p:spPr>
        <p:txBody>
          <a:bodyPr anchor="t">
            <a:normAutofit/>
          </a:bodyPr>
          <a:lstStyle/>
          <a:p>
            <a:pPr algn="l">
              <a:defRPr sz="1725" b="0" i="0">
                <a:solidFill>
                  <a:srgbClr val="626777"/>
                </a:solidFill>
                <a:latin typeface="Arial"/>
                <a:ea typeface="Arial"/>
                <a:cs typeface="Arial"/>
              </a:defRPr>
            </a:pPr>
            <a:r>
              <a:rPr sz="1725" b="0" i="0">
                <a:solidFill>
                  <a:srgbClr val="626777"/>
                </a:solidFill>
                <a:latin typeface="Arial"/>
                <a:ea typeface="Arial"/>
                <a:cs typeface="Arial"/>
              </a:rPr>
              <a:t>MIWAE: an ELF-informed coursebook-fit framework for multilingual EMI readers</a:t>
            </a:r>
          </a:p>
        </p:txBody>
      </p:sp>
      <p:sp>
        <p:nvSpPr>
          <p:cNvPr id="7" name="Düz Bağlayıcı 6">
            <a:extLst>
              <a:ext uri="{FF2B5EF4-FFF2-40B4-BE49-F238E27FC236}">
                <a16:creationId xmlns:a16="http://schemas.microsoft.com/office/drawing/2014/main" id="{60713813-B7B3-4C8D-B45B-EB392430C033}"/>
              </a:ext>
            </a:extLst>
          </p:cNvPr>
          <p:cNvSpPr>
            <a:spLocks noGrp="1"/>
          </p:cNvSpPr>
          <p:nvPr/>
        </p:nvSpPr>
        <p:spPr>
          <a:xfrm>
            <a:off x="781050" y="4476750"/>
            <a:ext cx="10601325" cy="0"/>
          </a:xfrm>
          <a:prstGeom prst="line">
            <a:avLst/>
          </a:prstGeom>
          <a:noFill/>
          <a:ln w="14288">
            <a:solidFill>
              <a:srgbClr val="C8C9D3"/>
            </a:solidFill>
          </a:ln>
        </p:spPr>
        <p:txBody>
          <a:bodyPr/>
          <a:lstStyle/>
          <a:p>
            <a:endParaRPr lang="tr-TR"/>
          </a:p>
        </p:txBody>
      </p:sp>
      <p:sp>
        <p:nvSpPr>
          <p:cNvPr id="8" name="Dikdörtgen 7">
            <a:extLst>
              <a:ext uri="{FF2B5EF4-FFF2-40B4-BE49-F238E27FC236}">
                <a16:creationId xmlns:a16="http://schemas.microsoft.com/office/drawing/2014/main" id="{F119BF68-25B8-4124-98C4-3D48092F7EDD}"/>
              </a:ext>
            </a:extLst>
          </p:cNvPr>
          <p:cNvSpPr>
            <a:spLocks noGrp="1"/>
          </p:cNvSpPr>
          <p:nvPr/>
        </p:nvSpPr>
        <p:spPr>
          <a:xfrm>
            <a:off x="781050" y="4714875"/>
            <a:ext cx="4953000" cy="285750"/>
          </a:xfrm>
          <a:prstGeom prst="rect">
            <a:avLst/>
          </a:prstGeom>
          <a:noFill/>
          <a:ln w="0">
            <a:noFill/>
          </a:ln>
        </p:spPr>
        <p:txBody>
          <a:bodyPr anchor="t">
            <a:normAutofit fontScale="89474"/>
          </a:bodyPr>
          <a:lstStyle/>
          <a:p>
            <a:pPr algn="l">
              <a:defRPr sz="1425" b="1" i="0">
                <a:solidFill>
                  <a:srgbClr val="33343F"/>
                </a:solidFill>
                <a:latin typeface="Arial"/>
                <a:ea typeface="Arial"/>
                <a:cs typeface="Arial"/>
              </a:defRPr>
            </a:pPr>
            <a:r>
              <a:rPr sz="1425" b="1" i="0">
                <a:solidFill>
                  <a:srgbClr val="33343F"/>
                </a:solidFill>
                <a:latin typeface="Arial"/>
                <a:ea typeface="Arial"/>
                <a:cs typeface="Arial"/>
              </a:rPr>
              <a:t>Mehmet Altay · Kocaeli University</a:t>
            </a:r>
          </a:p>
        </p:txBody>
      </p:sp>
      <p:sp>
        <p:nvSpPr>
          <p:cNvPr id="9" name="Dikdörtgen 8">
            <a:extLst>
              <a:ext uri="{FF2B5EF4-FFF2-40B4-BE49-F238E27FC236}">
                <a16:creationId xmlns:a16="http://schemas.microsoft.com/office/drawing/2014/main" id="{D97C3CD7-FBE6-401D-9370-83568CB2BB05}"/>
              </a:ext>
            </a:extLst>
          </p:cNvPr>
          <p:cNvSpPr>
            <a:spLocks noGrp="1"/>
          </p:cNvSpPr>
          <p:nvPr/>
        </p:nvSpPr>
        <p:spPr>
          <a:xfrm>
            <a:off x="781050" y="5067300"/>
            <a:ext cx="6667500" cy="266700"/>
          </a:xfrm>
          <a:prstGeom prst="rect">
            <a:avLst/>
          </a:prstGeom>
          <a:noFill/>
          <a:ln w="0">
            <a:noFill/>
          </a:ln>
        </p:spPr>
        <p:txBody>
          <a:bodyPr anchor="t">
            <a:normAutofit fontScale="97696" lnSpcReduction="10000"/>
          </a:bodyPr>
          <a:lstStyle/>
          <a:p>
            <a:pPr algn="l">
              <a:defRPr sz="1275" b="0" i="0">
                <a:solidFill>
                  <a:srgbClr val="626777"/>
                </a:solidFill>
                <a:latin typeface="Arial"/>
                <a:ea typeface="Arial"/>
                <a:cs typeface="Arial"/>
              </a:defRPr>
            </a:pPr>
            <a:r>
              <a:rPr sz="1275" b="1" i="0">
                <a:solidFill>
                  <a:srgbClr val="626777"/>
                </a:solidFill>
                <a:latin typeface="Arial"/>
                <a:ea typeface="Arial"/>
                <a:cs typeface="Arial"/>
              </a:rPr>
              <a:t>Dogan Yuksel · The Open University / Kocaeli University</a:t>
            </a:r>
          </a:p>
        </p:txBody>
      </p:sp>
      <p:sp>
        <p:nvSpPr>
          <p:cNvPr id="12" name="Dikdörtgen 11">
            <a:extLst>
              <a:ext uri="{FF2B5EF4-FFF2-40B4-BE49-F238E27FC236}">
                <a16:creationId xmlns:a16="http://schemas.microsoft.com/office/drawing/2014/main" id="{F75D2BCD-EEA7-4D38-8D4D-37EA93930979}"/>
              </a:ext>
            </a:extLst>
          </p:cNvPr>
          <p:cNvSpPr>
            <a:spLocks noGrp="1"/>
          </p:cNvSpPr>
          <p:nvPr/>
        </p:nvSpPr>
        <p:spPr>
          <a:xfrm>
            <a:off x="3333750" y="5819775"/>
            <a:ext cx="4476750" cy="238125"/>
          </a:xfrm>
          <a:prstGeom prst="rect">
            <a:avLst/>
          </a:prstGeom>
          <a:noFill/>
          <a:ln w="0">
            <a:noFill/>
          </a:ln>
        </p:spPr>
        <p:txBody>
          <a:bodyPr anchor="t">
            <a:normAutofit fontScale="85556"/>
          </a:bodyPr>
          <a:lstStyle/>
          <a:p>
            <a:pPr algn="l">
              <a:defRPr sz="1125" b="0" i="0">
                <a:solidFill>
                  <a:srgbClr val="626777"/>
                </a:solidFill>
                <a:latin typeface="Arial"/>
                <a:ea typeface="Arial"/>
                <a:cs typeface="Arial"/>
              </a:defRPr>
            </a:pPr>
            <a:r>
              <a:rPr sz="1125" b="0" i="0">
                <a:solidFill>
                  <a:srgbClr val="626777"/>
                </a:solidFill>
                <a:latin typeface="Arial"/>
                <a:ea typeface="Arial"/>
                <a:cs typeface="Arial"/>
              </a:rPr>
              <a:t>15–16 October 2026 · ZHAW Winterthur</a:t>
            </a:r>
          </a:p>
        </p:txBody>
      </p:sp>
      <p:pic>
        <p:nvPicPr>
          <p:cNvPr id="27" name="Resim 26"/>
          <p:cNvPicPr>
            <a:picLocks noChangeAspect="1"/>
          </p:cNvPicPr>
          <p:nvPr/>
        </p:nvPicPr>
        <p:blipFill>
          <a:blip r:embed="rId4"/>
          <a:stretch/>
        </p:blipFill>
        <p:spPr>
          <a:xfrm>
            <a:off x="8267700" y="5699643"/>
            <a:ext cx="361950" cy="354563"/>
          </a:xfrm>
          <a:prstGeom prst="rect">
            <a:avLst/>
          </a:prstGeom>
        </p:spPr>
      </p:pic>
      <p:sp>
        <p:nvSpPr>
          <p:cNvPr id="14" name="Dikdörtgen 13">
            <a:extLst>
              <a:ext uri="{FF2B5EF4-FFF2-40B4-BE49-F238E27FC236}">
                <a16:creationId xmlns:a16="http://schemas.microsoft.com/office/drawing/2014/main" id="{66081C1B-3E1A-4BE4-B5EE-E4B28E4DDEA3}"/>
              </a:ext>
            </a:extLst>
          </p:cNvPr>
          <p:cNvSpPr>
            <a:spLocks noGrp="1"/>
          </p:cNvSpPr>
          <p:nvPr/>
        </p:nvSpPr>
        <p:spPr>
          <a:xfrm>
            <a:off x="8724900" y="5753100"/>
            <a:ext cx="2667000" cy="247650"/>
          </a:xfrm>
          <a:prstGeom prst="rect">
            <a:avLst/>
          </a:prstGeom>
          <a:noFill/>
          <a:ln w="0">
            <a:noFill/>
          </a:ln>
        </p:spPr>
        <p:txBody>
          <a:bodyPr anchor="ctr">
            <a:normAutofit fontScale="97619"/>
          </a:bodyPr>
          <a:lstStyle/>
          <a:p>
            <a:pPr algn="r">
              <a:defRPr sz="1050" b="1" i="0">
                <a:solidFill>
                  <a:srgbClr val="33343F"/>
                </a:solidFill>
                <a:latin typeface="Arial"/>
                <a:ea typeface="Arial"/>
                <a:cs typeface="Arial"/>
              </a:defRPr>
            </a:pPr>
            <a:r>
              <a:rPr sz="1050" b="1" i="0">
                <a:solidFill>
                  <a:srgbClr val="33343F"/>
                </a:solidFill>
                <a:latin typeface="Arial"/>
                <a:ea typeface="Arial"/>
                <a:cs typeface="Arial"/>
              </a:rPr>
              <a:t>github.com/MehmetDEU/MIWAE</a:t>
            </a:r>
          </a:p>
        </p:txBody>
      </p:sp>
    </p:spTree>
    <p:extLst>
      <p:ext uri="{BB962C8B-B14F-4D97-AF65-F5344CB8AC3E}">
        <p14:creationId xmlns:p14="http://schemas.microsoft.com/office/powerpoint/2010/main" val="598191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0" name="Yuvarlatılmış Dikdörtgen 19">
            <a:extLst>
              <a:ext uri="{FF2B5EF4-FFF2-40B4-BE49-F238E27FC236}">
                <a16:creationId xmlns:a16="http://schemas.microsoft.com/office/drawing/2014/main" id="{07E290DA-F019-48AE-805B-80B859FB7D99}"/>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5400B143-CF27-4712-B740-F5645744E1D3}"/>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C9E4DA42-DB91-4400-BB5B-5AFBAC51F39A}"/>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Input modification is a pragmatic choice on the textbook side</a:t>
            </a:r>
          </a:p>
        </p:txBody>
      </p:sp>
      <p:sp>
        <p:nvSpPr>
          <p:cNvPr id="4" name="Düz Bağlayıcı 3">
            <a:extLst>
              <a:ext uri="{FF2B5EF4-FFF2-40B4-BE49-F238E27FC236}">
                <a16:creationId xmlns:a16="http://schemas.microsoft.com/office/drawing/2014/main" id="{A0E08506-D716-4900-AC26-C94C8156EA5B}"/>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22823DF3-6218-40EF-B90B-7CF37FAD7369}"/>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02</a:t>
            </a:r>
          </a:p>
        </p:txBody>
      </p:sp>
      <p:sp>
        <p:nvSpPr>
          <p:cNvPr id="6" name="Dikdörtgen 5">
            <a:extLst>
              <a:ext uri="{FF2B5EF4-FFF2-40B4-BE49-F238E27FC236}">
                <a16:creationId xmlns:a16="http://schemas.microsoft.com/office/drawing/2014/main" id="{B3975E32-C4EA-4506-85F5-6932F8436D23}"/>
              </a:ext>
            </a:extLst>
          </p:cNvPr>
          <p:cNvSpPr>
            <a:spLocks noGrp="1"/>
          </p:cNvSpPr>
          <p:nvPr/>
        </p:nvSpPr>
        <p:spPr>
          <a:xfrm>
            <a:off x="857250" y="1676400"/>
            <a:ext cx="5619750" cy="342900"/>
          </a:xfrm>
          <a:prstGeom prst="rect">
            <a:avLst/>
          </a:prstGeom>
          <a:noFill/>
          <a:ln w="0">
            <a:noFill/>
          </a:ln>
        </p:spPr>
        <p:txBody>
          <a:bodyPr anchor="t">
            <a:normAutofit/>
          </a:bodyPr>
          <a:lstStyle/>
          <a:p>
            <a:pPr algn="l">
              <a:defRPr sz="1650" b="1" i="0">
                <a:solidFill>
                  <a:srgbClr val="626777"/>
                </a:solidFill>
                <a:latin typeface="Arial"/>
                <a:ea typeface="Arial"/>
                <a:cs typeface="Arial"/>
              </a:defRPr>
            </a:pPr>
            <a:r>
              <a:rPr sz="1650" b="1" i="0">
                <a:solidFill>
                  <a:srgbClr val="626777"/>
                </a:solidFill>
                <a:latin typeface="Arial"/>
                <a:ea typeface="Arial"/>
                <a:cs typeface="Arial"/>
              </a:rPr>
              <a:t>Academic reading brings three resources into relation</a:t>
            </a:r>
          </a:p>
        </p:txBody>
      </p:sp>
      <p:sp>
        <p:nvSpPr>
          <p:cNvPr id="7" name="Yuvarlatılmış Dikdörtgen 6">
            <a:extLst>
              <a:ext uri="{FF2B5EF4-FFF2-40B4-BE49-F238E27FC236}">
                <a16:creationId xmlns:a16="http://schemas.microsoft.com/office/drawing/2014/main" id="{62E0CB53-6566-4FE1-9C3F-82CD31D52EFE}"/>
              </a:ext>
            </a:extLst>
          </p:cNvPr>
          <p:cNvSpPr>
            <a:spLocks noGrp="1"/>
          </p:cNvSpPr>
          <p:nvPr/>
        </p:nvSpPr>
        <p:spPr>
          <a:xfrm>
            <a:off x="781050" y="2333625"/>
            <a:ext cx="2714625" cy="1676400"/>
          </a:xfrm>
          <a:prstGeom prst="roundRect">
            <a:avLst>
              <a:gd name="adj" fmla="val 4545"/>
            </a:avLst>
          </a:prstGeom>
          <a:solidFill>
            <a:srgbClr val="FFFFFF"/>
          </a:solidFill>
          <a:ln w="9525">
            <a:solidFill>
              <a:srgbClr val="C8C9D3"/>
            </a:solidFill>
          </a:ln>
        </p:spPr>
        <p:txBody>
          <a:bodyPr/>
          <a:lstStyle/>
          <a:p>
            <a:endParaRPr lang="tr-TR"/>
          </a:p>
        </p:txBody>
      </p:sp>
      <p:sp>
        <p:nvSpPr>
          <p:cNvPr id="8" name="Dikdörtgen 7">
            <a:extLst>
              <a:ext uri="{FF2B5EF4-FFF2-40B4-BE49-F238E27FC236}">
                <a16:creationId xmlns:a16="http://schemas.microsoft.com/office/drawing/2014/main" id="{0305ACDA-E4A4-48F1-A937-1FE96279329D}"/>
              </a:ext>
            </a:extLst>
          </p:cNvPr>
          <p:cNvSpPr>
            <a:spLocks noGrp="1"/>
          </p:cNvSpPr>
          <p:nvPr/>
        </p:nvSpPr>
        <p:spPr>
          <a:xfrm>
            <a:off x="1066800" y="2571750"/>
            <a:ext cx="20955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READER</a:t>
            </a:r>
          </a:p>
        </p:txBody>
      </p:sp>
      <p:sp>
        <p:nvSpPr>
          <p:cNvPr id="9" name="Dikdörtgen 8">
            <a:extLst>
              <a:ext uri="{FF2B5EF4-FFF2-40B4-BE49-F238E27FC236}">
                <a16:creationId xmlns:a16="http://schemas.microsoft.com/office/drawing/2014/main" id="{8DACAD49-4B9F-453F-A98B-34A766669306}"/>
              </a:ext>
            </a:extLst>
          </p:cNvPr>
          <p:cNvSpPr>
            <a:spLocks noGrp="1"/>
          </p:cNvSpPr>
          <p:nvPr/>
        </p:nvSpPr>
        <p:spPr>
          <a:xfrm>
            <a:off x="1028700" y="3048000"/>
            <a:ext cx="2209800" cy="819150"/>
          </a:xfrm>
          <a:prstGeom prst="rect">
            <a:avLst/>
          </a:prstGeom>
          <a:noFill/>
          <a:ln w="0">
            <a:noFill/>
          </a:ln>
        </p:spPr>
        <p:txBody>
          <a:bodyPr anchor="t">
            <a:normAutofit fontScale="87602"/>
          </a:bodyPr>
          <a:lstStyle/>
          <a:p>
            <a:pPr algn="ctr">
              <a:defRPr sz="1500" b="0" i="0">
                <a:solidFill>
                  <a:srgbClr val="33343F"/>
                </a:solidFill>
                <a:latin typeface="Arial"/>
                <a:ea typeface="Arial"/>
                <a:cs typeface="Arial"/>
              </a:defRPr>
            </a:pPr>
            <a:r>
              <a:rPr sz="1500" b="0" i="0">
                <a:solidFill>
                  <a:srgbClr val="33343F"/>
                </a:solidFill>
                <a:latin typeface="Arial"/>
                <a:ea typeface="Arial"/>
                <a:cs typeface="Arial"/>
              </a:rPr>
              <a:t>English repertoire</a:t>
            </a:r>
          </a:p>
          <a:p>
            <a:pPr algn="ctr">
              <a:defRPr sz="1500" b="0" i="0">
                <a:solidFill>
                  <a:srgbClr val="33343F"/>
                </a:solidFill>
                <a:latin typeface="Arial"/>
                <a:ea typeface="Arial"/>
                <a:cs typeface="Arial"/>
              </a:defRPr>
            </a:pPr>
            <a:r>
              <a:rPr sz="1500" b="0" i="0">
                <a:solidFill>
                  <a:srgbClr val="33343F"/>
                </a:solidFill>
                <a:latin typeface="Arial"/>
                <a:ea typeface="Arial"/>
                <a:cs typeface="Arial"/>
              </a:rPr>
              <a:t>Disciplinary knowledge</a:t>
            </a:r>
          </a:p>
          <a:p>
            <a:pPr algn="ctr">
              <a:defRPr sz="1500" b="0" i="0">
                <a:solidFill>
                  <a:srgbClr val="33343F"/>
                </a:solidFill>
                <a:latin typeface="Arial"/>
                <a:ea typeface="Arial"/>
                <a:cs typeface="Arial"/>
              </a:defRPr>
            </a:pPr>
            <a:r>
              <a:rPr sz="1500" b="0" i="0">
                <a:solidFill>
                  <a:srgbClr val="33343F"/>
                </a:solidFill>
                <a:latin typeface="Arial"/>
                <a:ea typeface="Arial"/>
                <a:cs typeface="Arial"/>
              </a:rPr>
              <a:t>Academic literacy practices</a:t>
            </a:r>
          </a:p>
        </p:txBody>
      </p:sp>
      <p:sp>
        <p:nvSpPr>
          <p:cNvPr id="10" name="Yuvarlatılmış Dikdörtgen 9">
            <a:extLst>
              <a:ext uri="{FF2B5EF4-FFF2-40B4-BE49-F238E27FC236}">
                <a16:creationId xmlns:a16="http://schemas.microsoft.com/office/drawing/2014/main" id="{D7D6E095-C097-4C6A-A5B4-EE53650BE18B}"/>
              </a:ext>
            </a:extLst>
          </p:cNvPr>
          <p:cNvSpPr>
            <a:spLocks noGrp="1"/>
          </p:cNvSpPr>
          <p:nvPr/>
        </p:nvSpPr>
        <p:spPr>
          <a:xfrm>
            <a:off x="8696325" y="2333625"/>
            <a:ext cx="2714625" cy="1676400"/>
          </a:xfrm>
          <a:prstGeom prst="roundRect">
            <a:avLst>
              <a:gd name="adj" fmla="val 4545"/>
            </a:avLst>
          </a:prstGeom>
          <a:solidFill>
            <a:srgbClr val="FFFFFF"/>
          </a:solid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BEE39B3D-9415-4932-82B7-7B6F8020C972}"/>
              </a:ext>
            </a:extLst>
          </p:cNvPr>
          <p:cNvSpPr>
            <a:spLocks noGrp="1"/>
          </p:cNvSpPr>
          <p:nvPr/>
        </p:nvSpPr>
        <p:spPr>
          <a:xfrm>
            <a:off x="8982075" y="2571750"/>
            <a:ext cx="209550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WRITTEN INPUT</a:t>
            </a:r>
          </a:p>
        </p:txBody>
      </p:sp>
      <p:sp>
        <p:nvSpPr>
          <p:cNvPr id="12" name="Dikdörtgen 11">
            <a:extLst>
              <a:ext uri="{FF2B5EF4-FFF2-40B4-BE49-F238E27FC236}">
                <a16:creationId xmlns:a16="http://schemas.microsoft.com/office/drawing/2014/main" id="{681B73DE-5C73-4A7D-B46B-BC179E0AAADA}"/>
              </a:ext>
            </a:extLst>
          </p:cNvPr>
          <p:cNvSpPr>
            <a:spLocks noGrp="1"/>
          </p:cNvSpPr>
          <p:nvPr/>
        </p:nvSpPr>
        <p:spPr>
          <a:xfrm>
            <a:off x="8943975" y="3048000"/>
            <a:ext cx="2209800" cy="819150"/>
          </a:xfrm>
          <a:prstGeom prst="rect">
            <a:avLst/>
          </a:prstGeom>
          <a:noFill/>
          <a:ln w="0">
            <a:noFill/>
          </a:ln>
        </p:spPr>
        <p:txBody>
          <a:bodyPr anchor="t">
            <a:normAutofit fontScale="79583"/>
          </a:bodyPr>
          <a:lstStyle/>
          <a:p>
            <a:pPr algn="ctr">
              <a:defRPr sz="1500" b="0" i="0">
                <a:solidFill>
                  <a:srgbClr val="33343F"/>
                </a:solidFill>
                <a:latin typeface="Arial"/>
                <a:ea typeface="Arial"/>
                <a:cs typeface="Arial"/>
              </a:defRPr>
            </a:pPr>
            <a:r>
              <a:rPr sz="1500" b="0" i="0">
                <a:solidFill>
                  <a:srgbClr val="33343F"/>
                </a:solidFill>
                <a:latin typeface="Arial"/>
                <a:ea typeface="Arial"/>
                <a:cs typeface="Arial"/>
              </a:rPr>
              <a:t>Wording and relations</a:t>
            </a:r>
          </a:p>
          <a:p>
            <a:pPr algn="ctr">
              <a:defRPr sz="1500" b="0" i="0">
                <a:solidFill>
                  <a:srgbClr val="33343F"/>
                </a:solidFill>
                <a:latin typeface="Arial"/>
                <a:ea typeface="Arial"/>
                <a:cs typeface="Arial"/>
              </a:defRPr>
            </a:pPr>
            <a:r>
              <a:rPr sz="1500" b="0" i="0">
                <a:solidFill>
                  <a:srgbClr val="33343F"/>
                </a:solidFill>
                <a:latin typeface="Arial"/>
                <a:ea typeface="Arial"/>
                <a:cs typeface="Arial"/>
              </a:rPr>
              <a:t>Sequencing and placement</a:t>
            </a:r>
          </a:p>
          <a:p>
            <a:pPr algn="ctr">
              <a:defRPr sz="1500" b="0" i="0">
                <a:solidFill>
                  <a:srgbClr val="33343F"/>
                </a:solidFill>
                <a:latin typeface="Arial"/>
                <a:ea typeface="Arial"/>
                <a:cs typeface="Arial"/>
              </a:defRPr>
            </a:pPr>
            <a:r>
              <a:rPr sz="1500" b="0" i="0">
                <a:solidFill>
                  <a:srgbClr val="33343F"/>
                </a:solidFill>
                <a:latin typeface="Arial"/>
                <a:ea typeface="Arial"/>
                <a:cs typeface="Arial"/>
              </a:rPr>
              <a:t>Visuals, notation and examples</a:t>
            </a:r>
          </a:p>
        </p:txBody>
      </p:sp>
      <p:sp>
        <p:nvSpPr>
          <p:cNvPr id="13" name="Düz Bağlayıcı 12">
            <a:extLst>
              <a:ext uri="{FF2B5EF4-FFF2-40B4-BE49-F238E27FC236}">
                <a16:creationId xmlns:a16="http://schemas.microsoft.com/office/drawing/2014/main" id="{17B598EB-4EBC-4B20-83AD-8801D31953FD}"/>
              </a:ext>
            </a:extLst>
          </p:cNvPr>
          <p:cNvSpPr>
            <a:spLocks noGrp="1"/>
          </p:cNvSpPr>
          <p:nvPr/>
        </p:nvSpPr>
        <p:spPr>
          <a:xfrm>
            <a:off x="3667125" y="3181350"/>
            <a:ext cx="4857750" cy="0"/>
          </a:xfrm>
          <a:prstGeom prst="line">
            <a:avLst/>
          </a:prstGeom>
          <a:noFill/>
          <a:ln w="38100">
            <a:solidFill>
              <a:srgbClr val="176082"/>
            </a:solidFill>
          </a:ln>
        </p:spPr>
        <p:txBody>
          <a:bodyPr/>
          <a:lstStyle/>
          <a:p>
            <a:endParaRPr lang="tr-TR"/>
          </a:p>
        </p:txBody>
      </p:sp>
      <p:sp>
        <p:nvSpPr>
          <p:cNvPr id="14" name="Dikdörtgen 13">
            <a:extLst>
              <a:ext uri="{FF2B5EF4-FFF2-40B4-BE49-F238E27FC236}">
                <a16:creationId xmlns:a16="http://schemas.microsoft.com/office/drawing/2014/main" id="{EBE2100A-FE11-44E8-918F-36CCB724D586}"/>
              </a:ext>
            </a:extLst>
          </p:cNvPr>
          <p:cNvSpPr>
            <a:spLocks noGrp="1"/>
          </p:cNvSpPr>
          <p:nvPr/>
        </p:nvSpPr>
        <p:spPr>
          <a:xfrm>
            <a:off x="4667250" y="2752725"/>
            <a:ext cx="2857500" cy="314325"/>
          </a:xfrm>
          <a:prstGeom prst="rect">
            <a:avLst/>
          </a:prstGeom>
          <a:noFill/>
          <a:ln w="0">
            <a:noFill/>
          </a:ln>
        </p:spPr>
        <p:txBody>
          <a:bodyPr anchor="t">
            <a:normAutofit/>
          </a:bodyPr>
          <a:lstStyle/>
          <a:p>
            <a:pPr algn="ctr">
              <a:defRPr sz="1350" b="1" i="0">
                <a:solidFill>
                  <a:srgbClr val="176082"/>
                </a:solidFill>
                <a:latin typeface="Arial"/>
                <a:ea typeface="Arial"/>
                <a:cs typeface="Arial"/>
              </a:defRPr>
            </a:pPr>
            <a:r>
              <a:rPr sz="1350" b="1" i="0">
                <a:solidFill>
                  <a:srgbClr val="176082"/>
                </a:solidFill>
                <a:latin typeface="Arial"/>
                <a:ea typeface="Arial"/>
                <a:cs typeface="Arial"/>
              </a:rPr>
              <a:t>disciplinary meaning</a:t>
            </a:r>
          </a:p>
        </p:txBody>
      </p:sp>
      <p:sp>
        <p:nvSpPr>
          <p:cNvPr id="15" name="Yuvarlatılmış Dikdörtgen 14">
            <a:extLst>
              <a:ext uri="{FF2B5EF4-FFF2-40B4-BE49-F238E27FC236}">
                <a16:creationId xmlns:a16="http://schemas.microsoft.com/office/drawing/2014/main" id="{616CE294-3DE1-4E24-AFB0-E39E27B2D9DB}"/>
              </a:ext>
            </a:extLst>
          </p:cNvPr>
          <p:cNvSpPr>
            <a:spLocks noGrp="1"/>
          </p:cNvSpPr>
          <p:nvPr/>
        </p:nvSpPr>
        <p:spPr>
          <a:xfrm>
            <a:off x="1381125" y="4619625"/>
            <a:ext cx="9429750" cy="971550"/>
          </a:xfrm>
          <a:prstGeom prst="roundRect">
            <a:avLst>
              <a:gd name="adj" fmla="val 7843"/>
            </a:avLst>
          </a:prstGeom>
          <a:solidFill>
            <a:srgbClr val="E6F0F5"/>
          </a:solidFill>
          <a:ln w="0">
            <a:noFill/>
          </a:ln>
        </p:spPr>
        <p:txBody>
          <a:bodyPr/>
          <a:lstStyle/>
          <a:p>
            <a:endParaRPr lang="tr-TR"/>
          </a:p>
        </p:txBody>
      </p:sp>
      <p:sp>
        <p:nvSpPr>
          <p:cNvPr id="16" name="Dikdörtgen 15">
            <a:extLst>
              <a:ext uri="{FF2B5EF4-FFF2-40B4-BE49-F238E27FC236}">
                <a16:creationId xmlns:a16="http://schemas.microsoft.com/office/drawing/2014/main" id="{0CFDC39F-8A7D-4841-B2FB-6793B6F81A67}"/>
              </a:ext>
            </a:extLst>
          </p:cNvPr>
          <p:cNvSpPr>
            <a:spLocks noGrp="1"/>
          </p:cNvSpPr>
          <p:nvPr/>
        </p:nvSpPr>
        <p:spPr>
          <a:xfrm>
            <a:off x="1762125" y="4829175"/>
            <a:ext cx="8667750" cy="600075"/>
          </a:xfrm>
          <a:prstGeom prst="rect">
            <a:avLst/>
          </a:prstGeom>
          <a:noFill/>
          <a:ln w="0">
            <a:noFill/>
          </a:ln>
        </p:spPr>
        <p:txBody>
          <a:bodyPr anchor="ctr">
            <a:normAutofit fontScale="89000"/>
          </a:bodyPr>
          <a:lstStyle/>
          <a:p>
            <a:pPr algn="ctr">
              <a:defRPr sz="1875" b="1" i="0">
                <a:solidFill>
                  <a:srgbClr val="33343F"/>
                </a:solidFill>
                <a:latin typeface="Arial"/>
                <a:ea typeface="Arial"/>
                <a:cs typeface="Arial"/>
              </a:defRPr>
            </a:pPr>
            <a:r>
              <a:rPr sz="1875" b="1" i="0">
                <a:solidFill>
                  <a:srgbClr val="33343F"/>
                </a:solidFill>
                <a:latin typeface="Arial"/>
                <a:ea typeface="Arial"/>
                <a:cs typeface="Arial"/>
              </a:rPr>
              <a:t>MIWAE asks whether authors and publishers make disciplinary meaning accessible without replacing technical precision with general-language simplification.</a:t>
            </a:r>
          </a:p>
        </p:txBody>
      </p:sp>
      <p:sp>
        <p:nvSpPr>
          <p:cNvPr id="17" name="Dikdörtgen 16">
            <a:extLst>
              <a:ext uri="{FF2B5EF4-FFF2-40B4-BE49-F238E27FC236}">
                <a16:creationId xmlns:a16="http://schemas.microsoft.com/office/drawing/2014/main" id="{4818A70A-C935-4755-9FA5-5F5920989CC9}"/>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Canale &amp; Swain, 1980; Council of Europe, 2020; McKinley, 2025</a:t>
            </a:r>
          </a:p>
        </p:txBody>
      </p:sp>
      <p:sp>
        <p:nvSpPr>
          <p:cNvPr id="18" name="Düz Bağlayıcı 17">
            <a:extLst>
              <a:ext uri="{FF2B5EF4-FFF2-40B4-BE49-F238E27FC236}">
                <a16:creationId xmlns:a16="http://schemas.microsoft.com/office/drawing/2014/main" id="{4A87AFA0-8A09-42E1-B8E4-F65373F36F2A}"/>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D8F29093-A724-47C0-B5C7-EE95F858B5FF}"/>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461296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3" name="Yuvarlatılmış Dikdörtgen 22">
            <a:extLst>
              <a:ext uri="{FF2B5EF4-FFF2-40B4-BE49-F238E27FC236}">
                <a16:creationId xmlns:a16="http://schemas.microsoft.com/office/drawing/2014/main" id="{F5B82F33-AB54-49D5-B6F2-6E81AB2F4863}"/>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8D762961-0C95-4DF2-8142-3D35A9E89D59}"/>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3C7E1A13-E2D5-4059-9366-B3B8A9F462DA}"/>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EAP and academic ELF began from different traditions</a:t>
            </a:r>
          </a:p>
        </p:txBody>
      </p:sp>
      <p:sp>
        <p:nvSpPr>
          <p:cNvPr id="4" name="Düz Bağlayıcı 3">
            <a:extLst>
              <a:ext uri="{FF2B5EF4-FFF2-40B4-BE49-F238E27FC236}">
                <a16:creationId xmlns:a16="http://schemas.microsoft.com/office/drawing/2014/main" id="{81039C3E-7E2D-4098-BD52-8F1D293D4130}"/>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E3F0B624-6286-4C51-81D2-BE1A7F05F64C}"/>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03</a:t>
            </a:r>
          </a:p>
        </p:txBody>
      </p:sp>
      <p:sp>
        <p:nvSpPr>
          <p:cNvPr id="6" name="Yuvarlatılmış Dikdörtgen 5">
            <a:extLst>
              <a:ext uri="{FF2B5EF4-FFF2-40B4-BE49-F238E27FC236}">
                <a16:creationId xmlns:a16="http://schemas.microsoft.com/office/drawing/2014/main" id="{7E80C065-F520-41EA-AD61-AE9A166AC8A4}"/>
              </a:ext>
            </a:extLst>
          </p:cNvPr>
          <p:cNvSpPr>
            <a:spLocks noGrp="1"/>
          </p:cNvSpPr>
          <p:nvPr/>
        </p:nvSpPr>
        <p:spPr>
          <a:xfrm>
            <a:off x="809625" y="1771650"/>
            <a:ext cx="4857750" cy="3381375"/>
          </a:xfrm>
          <a:prstGeom prst="roundRect">
            <a:avLst>
              <a:gd name="adj" fmla="val 2254"/>
            </a:avLst>
          </a:prstGeom>
          <a:solidFill>
            <a:srgbClr val="FFFFFF"/>
          </a:solidFill>
          <a:ln w="9525">
            <a:solidFill>
              <a:srgbClr val="C8C9D3"/>
            </a:solidFill>
          </a:ln>
        </p:spPr>
        <p:txBody>
          <a:bodyPr/>
          <a:lstStyle/>
          <a:p>
            <a:endParaRPr lang="tr-TR"/>
          </a:p>
        </p:txBody>
      </p:sp>
      <p:sp>
        <p:nvSpPr>
          <p:cNvPr id="7" name="Dikdörtgen 6">
            <a:extLst>
              <a:ext uri="{FF2B5EF4-FFF2-40B4-BE49-F238E27FC236}">
                <a16:creationId xmlns:a16="http://schemas.microsoft.com/office/drawing/2014/main" id="{F8D74EC1-9288-41A3-8AF5-EA1E19B2F821}"/>
              </a:ext>
            </a:extLst>
          </p:cNvPr>
          <p:cNvSpPr>
            <a:spLocks noGrp="1"/>
          </p:cNvSpPr>
          <p:nvPr/>
        </p:nvSpPr>
        <p:spPr>
          <a:xfrm>
            <a:off x="1143000" y="2076450"/>
            <a:ext cx="28575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EAP TRADITION</a:t>
            </a:r>
          </a:p>
        </p:txBody>
      </p:sp>
      <p:sp>
        <p:nvSpPr>
          <p:cNvPr id="8" name="Dikdörtgen 7">
            <a:extLst>
              <a:ext uri="{FF2B5EF4-FFF2-40B4-BE49-F238E27FC236}">
                <a16:creationId xmlns:a16="http://schemas.microsoft.com/office/drawing/2014/main" id="{B3EAAAB7-5801-4A7A-81B4-3EDA4C231E52}"/>
              </a:ext>
            </a:extLst>
          </p:cNvPr>
          <p:cNvSpPr>
            <a:spLocks noGrp="1"/>
          </p:cNvSpPr>
          <p:nvPr/>
        </p:nvSpPr>
        <p:spPr>
          <a:xfrm>
            <a:off x="1143000" y="2514600"/>
            <a:ext cx="4000500" cy="323850"/>
          </a:xfrm>
          <a:prstGeom prst="rect">
            <a:avLst/>
          </a:prstGeom>
          <a:noFill/>
          <a:ln w="0">
            <a:noFill/>
          </a:ln>
        </p:spPr>
        <p:txBody>
          <a:bodyPr anchor="t">
            <a:normAutofit fontScale="75309"/>
          </a:bodyPr>
          <a:lstStyle/>
          <a:p>
            <a:pPr algn="l">
              <a:defRPr sz="2025" b="1" i="0">
                <a:solidFill>
                  <a:srgbClr val="33343F"/>
                </a:solidFill>
                <a:latin typeface="Arial"/>
                <a:ea typeface="Arial"/>
                <a:cs typeface="Arial"/>
              </a:defRPr>
            </a:pPr>
            <a:r>
              <a:rPr sz="2025" b="1" i="0">
                <a:solidFill>
                  <a:srgbClr val="33343F"/>
                </a:solidFill>
                <a:latin typeface="Arial"/>
                <a:ea typeface="Arial"/>
                <a:cs typeface="Arial"/>
              </a:rPr>
              <a:t>Written language</a:t>
            </a:r>
          </a:p>
        </p:txBody>
      </p:sp>
      <p:sp>
        <p:nvSpPr>
          <p:cNvPr id="9" name="Dikdörtgen 8">
            <a:extLst>
              <a:ext uri="{FF2B5EF4-FFF2-40B4-BE49-F238E27FC236}">
                <a16:creationId xmlns:a16="http://schemas.microsoft.com/office/drawing/2014/main" id="{1DB8B7F1-3DBE-4135-8F43-3FAF4D86B202}"/>
              </a:ext>
            </a:extLst>
          </p:cNvPr>
          <p:cNvSpPr>
            <a:spLocks noGrp="1"/>
          </p:cNvSpPr>
          <p:nvPr/>
        </p:nvSpPr>
        <p:spPr>
          <a:xfrm>
            <a:off x="1143000" y="2981325"/>
            <a:ext cx="4000500" cy="304800"/>
          </a:xfrm>
          <a:prstGeom prst="rect">
            <a:avLst/>
          </a:prstGeom>
          <a:noFill/>
          <a:ln w="0">
            <a:noFill/>
          </a:ln>
        </p:spPr>
        <p:txBody>
          <a:bodyPr anchor="t">
            <a:normAutofit fontScale="88889"/>
          </a:bodyPr>
          <a:lstStyle/>
          <a:p>
            <a:pPr algn="l">
              <a:defRPr sz="1575" b="0" i="0">
                <a:solidFill>
                  <a:srgbClr val="626777"/>
                </a:solidFill>
                <a:latin typeface="Arial"/>
                <a:ea typeface="Arial"/>
                <a:cs typeface="Arial"/>
              </a:defRPr>
            </a:pPr>
            <a:r>
              <a:rPr sz="1575" b="0" i="0">
                <a:solidFill>
                  <a:srgbClr val="626777"/>
                </a:solidFill>
                <a:latin typeface="Arial"/>
                <a:ea typeface="Arial"/>
                <a:cs typeface="Arial"/>
              </a:rPr>
              <a:t>Reading and writing pedagogy</a:t>
            </a:r>
          </a:p>
        </p:txBody>
      </p:sp>
      <p:sp>
        <p:nvSpPr>
          <p:cNvPr id="10" name="Düz Bağlayıcı 9">
            <a:extLst>
              <a:ext uri="{FF2B5EF4-FFF2-40B4-BE49-F238E27FC236}">
                <a16:creationId xmlns:a16="http://schemas.microsoft.com/office/drawing/2014/main" id="{56C78E74-FDF0-4ECA-A86F-879EDC2C53B0}"/>
              </a:ext>
            </a:extLst>
          </p:cNvPr>
          <p:cNvSpPr>
            <a:spLocks noGrp="1"/>
          </p:cNvSpPr>
          <p:nvPr/>
        </p:nvSpPr>
        <p:spPr>
          <a:xfrm>
            <a:off x="1143000" y="3476625"/>
            <a:ext cx="4095750" cy="0"/>
          </a:xfrm>
          <a:prstGeom prst="line">
            <a:avLst/>
          </a:prstGeom>
          <a:no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462B8C6D-EDD5-45DC-A7B6-BF396200E453}"/>
              </a:ext>
            </a:extLst>
          </p:cNvPr>
          <p:cNvSpPr>
            <a:spLocks noGrp="1"/>
          </p:cNvSpPr>
          <p:nvPr/>
        </p:nvSpPr>
        <p:spPr>
          <a:xfrm>
            <a:off x="1143000" y="3743325"/>
            <a:ext cx="4000500" cy="762000"/>
          </a:xfrm>
          <a:prstGeom prst="rect">
            <a:avLst/>
          </a:prstGeom>
          <a:noFill/>
          <a:ln w="0">
            <a:noFill/>
          </a:ln>
        </p:spPr>
        <p:txBody>
          <a:bodyPr anchor="t">
            <a:normAutofit/>
          </a:bodyPr>
          <a:lstStyle/>
          <a:p>
            <a:pPr algn="l">
              <a:defRPr sz="1650" b="1" i="0">
                <a:solidFill>
                  <a:srgbClr val="33343F"/>
                </a:solidFill>
                <a:latin typeface="Arial"/>
                <a:ea typeface="Arial"/>
                <a:cs typeface="Arial"/>
              </a:defRPr>
            </a:pPr>
            <a:r>
              <a:rPr sz="1650" b="1" i="0">
                <a:solidFill>
                  <a:srgbClr val="33343F"/>
                </a:solidFill>
                <a:latin typeface="Arial"/>
                <a:ea typeface="Arial"/>
                <a:cs typeface="Arial"/>
              </a:rPr>
              <a:t>Native-speaker usage often supplied the reference norm</a:t>
            </a:r>
          </a:p>
        </p:txBody>
      </p:sp>
      <p:sp>
        <p:nvSpPr>
          <p:cNvPr id="12" name="Dikdörtgen 11">
            <a:extLst>
              <a:ext uri="{FF2B5EF4-FFF2-40B4-BE49-F238E27FC236}">
                <a16:creationId xmlns:a16="http://schemas.microsoft.com/office/drawing/2014/main" id="{8A9A8C58-49D9-42FD-956A-60D6D099B1E2}"/>
              </a:ext>
            </a:extLst>
          </p:cNvPr>
          <p:cNvSpPr>
            <a:spLocks noGrp="1"/>
          </p:cNvSpPr>
          <p:nvPr/>
        </p:nvSpPr>
        <p:spPr>
          <a:xfrm>
            <a:off x="1143000" y="4591050"/>
            <a:ext cx="4000500" cy="428625"/>
          </a:xfrm>
          <a:prstGeom prst="rect">
            <a:avLst/>
          </a:prstGeom>
          <a:noFill/>
          <a:ln w="0">
            <a:noFill/>
          </a:ln>
        </p:spPr>
        <p:txBody>
          <a:bodyPr anchor="t">
            <a:normAutofit fontScale="86765"/>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Contrastive work frequently measured L2 writers against that norm.</a:t>
            </a:r>
          </a:p>
        </p:txBody>
      </p:sp>
      <p:sp>
        <p:nvSpPr>
          <p:cNvPr id="13" name="Yuvarlatılmış Dikdörtgen 12">
            <a:extLst>
              <a:ext uri="{FF2B5EF4-FFF2-40B4-BE49-F238E27FC236}">
                <a16:creationId xmlns:a16="http://schemas.microsoft.com/office/drawing/2014/main" id="{CC250076-D92A-4B8F-9CFE-8D8EC32F587D}"/>
              </a:ext>
            </a:extLst>
          </p:cNvPr>
          <p:cNvSpPr>
            <a:spLocks noGrp="1"/>
          </p:cNvSpPr>
          <p:nvPr/>
        </p:nvSpPr>
        <p:spPr>
          <a:xfrm>
            <a:off x="6524625" y="1771650"/>
            <a:ext cx="4857750" cy="3381375"/>
          </a:xfrm>
          <a:prstGeom prst="roundRect">
            <a:avLst>
              <a:gd name="adj" fmla="val 2254"/>
            </a:avLst>
          </a:prstGeom>
          <a:solidFill>
            <a:srgbClr val="123B53"/>
          </a:solidFill>
          <a:ln w="0">
            <a:noFill/>
          </a:ln>
        </p:spPr>
        <p:txBody>
          <a:bodyPr/>
          <a:lstStyle/>
          <a:p>
            <a:endParaRPr lang="tr-TR"/>
          </a:p>
        </p:txBody>
      </p:sp>
      <p:sp>
        <p:nvSpPr>
          <p:cNvPr id="14" name="Dikdörtgen 13">
            <a:extLst>
              <a:ext uri="{FF2B5EF4-FFF2-40B4-BE49-F238E27FC236}">
                <a16:creationId xmlns:a16="http://schemas.microsoft.com/office/drawing/2014/main" id="{A6C778F9-65E5-4015-BA99-D01A2A808D36}"/>
              </a:ext>
            </a:extLst>
          </p:cNvPr>
          <p:cNvSpPr>
            <a:spLocks noGrp="1"/>
          </p:cNvSpPr>
          <p:nvPr/>
        </p:nvSpPr>
        <p:spPr>
          <a:xfrm>
            <a:off x="6858000" y="2076450"/>
            <a:ext cx="333375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ACADEMIC ELF TRADITION</a:t>
            </a:r>
          </a:p>
        </p:txBody>
      </p:sp>
      <p:sp>
        <p:nvSpPr>
          <p:cNvPr id="15" name="Dikdörtgen 14">
            <a:extLst>
              <a:ext uri="{FF2B5EF4-FFF2-40B4-BE49-F238E27FC236}">
                <a16:creationId xmlns:a16="http://schemas.microsoft.com/office/drawing/2014/main" id="{34EC5111-5F40-498A-8145-B4C591B106C7}"/>
              </a:ext>
            </a:extLst>
          </p:cNvPr>
          <p:cNvSpPr>
            <a:spLocks noGrp="1"/>
          </p:cNvSpPr>
          <p:nvPr/>
        </p:nvSpPr>
        <p:spPr>
          <a:xfrm>
            <a:off x="6858000" y="2514600"/>
            <a:ext cx="4000500" cy="323850"/>
          </a:xfrm>
          <a:prstGeom prst="rect">
            <a:avLst/>
          </a:prstGeom>
          <a:noFill/>
          <a:ln w="0">
            <a:noFill/>
          </a:ln>
        </p:spPr>
        <p:txBody>
          <a:bodyPr anchor="t">
            <a:normAutofit fontScale="75309"/>
          </a:bodyPr>
          <a:lstStyle/>
          <a:p>
            <a:pPr algn="l">
              <a:defRPr sz="2025" b="1" i="0">
                <a:solidFill>
                  <a:srgbClr val="FFFFFF"/>
                </a:solidFill>
                <a:latin typeface="Arial"/>
                <a:ea typeface="Arial"/>
                <a:cs typeface="Arial"/>
              </a:defRPr>
            </a:pPr>
            <a:r>
              <a:rPr sz="2025" b="1" i="0">
                <a:solidFill>
                  <a:srgbClr val="FFFFFF"/>
                </a:solidFill>
                <a:latin typeface="Arial"/>
                <a:ea typeface="Arial"/>
                <a:cs typeface="Arial"/>
              </a:rPr>
              <a:t>Spoken interaction</a:t>
            </a:r>
          </a:p>
        </p:txBody>
      </p:sp>
      <p:sp>
        <p:nvSpPr>
          <p:cNvPr id="16" name="Dikdörtgen 15">
            <a:extLst>
              <a:ext uri="{FF2B5EF4-FFF2-40B4-BE49-F238E27FC236}">
                <a16:creationId xmlns:a16="http://schemas.microsoft.com/office/drawing/2014/main" id="{6B9DEA0C-F2F1-445C-AD44-AF07E566854E}"/>
              </a:ext>
            </a:extLst>
          </p:cNvPr>
          <p:cNvSpPr>
            <a:spLocks noGrp="1"/>
          </p:cNvSpPr>
          <p:nvPr/>
        </p:nvSpPr>
        <p:spPr>
          <a:xfrm>
            <a:off x="6858000" y="2981325"/>
            <a:ext cx="4000500" cy="304800"/>
          </a:xfrm>
          <a:prstGeom prst="rect">
            <a:avLst/>
          </a:prstGeom>
          <a:noFill/>
          <a:ln w="0">
            <a:noFill/>
          </a:ln>
        </p:spPr>
        <p:txBody>
          <a:bodyPr anchor="t">
            <a:normAutofit fontScale="88889"/>
          </a:bodyPr>
          <a:lstStyle/>
          <a:p>
            <a:pPr algn="l">
              <a:defRPr sz="1575" b="0" i="0">
                <a:solidFill>
                  <a:srgbClr val="FFFFFF"/>
                </a:solidFill>
                <a:latin typeface="Arial"/>
                <a:ea typeface="Arial"/>
                <a:cs typeface="Arial"/>
              </a:defRPr>
            </a:pPr>
            <a:r>
              <a:rPr sz="1575" b="0" i="0">
                <a:solidFill>
                  <a:srgbClr val="FFFFFF"/>
                </a:solidFill>
                <a:latin typeface="Arial"/>
                <a:ea typeface="Arial"/>
                <a:cs typeface="Arial"/>
              </a:rPr>
              <a:t>Communication in international settings</a:t>
            </a:r>
          </a:p>
        </p:txBody>
      </p:sp>
      <p:sp>
        <p:nvSpPr>
          <p:cNvPr id="17" name="Düz Bağlayıcı 16">
            <a:extLst>
              <a:ext uri="{FF2B5EF4-FFF2-40B4-BE49-F238E27FC236}">
                <a16:creationId xmlns:a16="http://schemas.microsoft.com/office/drawing/2014/main" id="{D1D69D90-52EC-49BC-8EC6-1D27F809A536}"/>
              </a:ext>
            </a:extLst>
          </p:cNvPr>
          <p:cNvSpPr>
            <a:spLocks noGrp="1"/>
          </p:cNvSpPr>
          <p:nvPr/>
        </p:nvSpPr>
        <p:spPr>
          <a:xfrm>
            <a:off x="6858000" y="3476625"/>
            <a:ext cx="4095750" cy="0"/>
          </a:xfrm>
          <a:prstGeom prst="line">
            <a:avLst/>
          </a:prstGeom>
          <a:noFill/>
          <a:ln w="9525">
            <a:solidFill>
              <a:srgbClr val="47636B"/>
            </a:solidFill>
          </a:ln>
        </p:spPr>
        <p:txBody>
          <a:bodyPr/>
          <a:lstStyle/>
          <a:p>
            <a:endParaRPr lang="tr-TR"/>
          </a:p>
        </p:txBody>
      </p:sp>
      <p:sp>
        <p:nvSpPr>
          <p:cNvPr id="18" name="Dikdörtgen 17">
            <a:extLst>
              <a:ext uri="{FF2B5EF4-FFF2-40B4-BE49-F238E27FC236}">
                <a16:creationId xmlns:a16="http://schemas.microsoft.com/office/drawing/2014/main" id="{6AE03636-DE80-4EFD-B6B7-3F8CA7847451}"/>
              </a:ext>
            </a:extLst>
          </p:cNvPr>
          <p:cNvSpPr>
            <a:spLocks noGrp="1"/>
          </p:cNvSpPr>
          <p:nvPr/>
        </p:nvSpPr>
        <p:spPr>
          <a:xfrm>
            <a:off x="6858000" y="3743325"/>
            <a:ext cx="4000500" cy="876300"/>
          </a:xfrm>
          <a:prstGeom prst="rect">
            <a:avLst/>
          </a:prstGeom>
          <a:noFill/>
          <a:ln w="0">
            <a:noFill/>
          </a:ln>
        </p:spPr>
        <p:txBody>
          <a:bodyPr anchor="t">
            <a:normAutofit/>
          </a:body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Communicative success, accommodation and changing sources of norms</a:t>
            </a:r>
          </a:p>
        </p:txBody>
      </p:sp>
      <p:sp>
        <p:nvSpPr>
          <p:cNvPr id="19" name="Dikdörtgen 18">
            <a:extLst>
              <a:ext uri="{FF2B5EF4-FFF2-40B4-BE49-F238E27FC236}">
                <a16:creationId xmlns:a16="http://schemas.microsoft.com/office/drawing/2014/main" id="{2E011B81-EE0C-4DD8-9CE1-7820902EEE46}"/>
              </a:ext>
            </a:extLst>
          </p:cNvPr>
          <p:cNvSpPr>
            <a:spLocks noGrp="1"/>
          </p:cNvSpPr>
          <p:nvPr/>
        </p:nvSpPr>
        <p:spPr>
          <a:xfrm>
            <a:off x="6858000" y="4695825"/>
            <a:ext cx="4000500" cy="323850"/>
          </a:xfrm>
          <a:prstGeom prst="rect">
            <a:avLst/>
          </a:prstGeom>
          <a:noFill/>
          <a:ln w="0">
            <a:noFill/>
          </a:ln>
        </p:spPr>
        <p:txBody>
          <a:bodyPr anchor="t">
            <a:normAutofit/>
          </a:bodyPr>
          <a:lstStyle/>
          <a:p>
            <a:pPr algn="l">
              <a:defRPr sz="1275" b="0" i="0">
                <a:solidFill>
                  <a:srgbClr val="FFFFFF"/>
                </a:solidFill>
                <a:latin typeface="Arial"/>
                <a:ea typeface="Arial"/>
                <a:cs typeface="Arial"/>
              </a:defRPr>
            </a:pPr>
            <a:r>
              <a:rPr sz="1275" b="0" i="0">
                <a:solidFill>
                  <a:srgbClr val="FFFFFF"/>
                </a:solidFill>
                <a:latin typeface="Arial"/>
                <a:ea typeface="Arial"/>
                <a:cs typeface="Arial"/>
              </a:rPr>
              <a:t>Research later began to extend into written genres.</a:t>
            </a:r>
          </a:p>
        </p:txBody>
      </p:sp>
      <p:sp>
        <p:nvSpPr>
          <p:cNvPr id="20" name="Dikdörtgen 19">
            <a:extLst>
              <a:ext uri="{FF2B5EF4-FFF2-40B4-BE49-F238E27FC236}">
                <a16:creationId xmlns:a16="http://schemas.microsoft.com/office/drawing/2014/main" id="{B57FF319-F94C-4C0C-914A-D77D8F1AB868}"/>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Mauranen, Hynninen &amp; Ranta, 2016, pp. 44–45 (PDF pp. 69–70)</a:t>
            </a:r>
          </a:p>
        </p:txBody>
      </p:sp>
      <p:sp>
        <p:nvSpPr>
          <p:cNvPr id="21" name="Düz Bağlayıcı 20">
            <a:extLst>
              <a:ext uri="{FF2B5EF4-FFF2-40B4-BE49-F238E27FC236}">
                <a16:creationId xmlns:a16="http://schemas.microsoft.com/office/drawing/2014/main" id="{260D8C87-FDB8-454E-9A0E-92F0947A3D79}"/>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2" name="Dikdörtgen 21">
            <a:extLst>
              <a:ext uri="{FF2B5EF4-FFF2-40B4-BE49-F238E27FC236}">
                <a16:creationId xmlns:a16="http://schemas.microsoft.com/office/drawing/2014/main" id="{8F49C79E-03D0-4664-AB6F-BC8684B3E941}"/>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772766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1" name="Yuvarlatılmış Dikdörtgen 20">
            <a:extLst>
              <a:ext uri="{FF2B5EF4-FFF2-40B4-BE49-F238E27FC236}">
                <a16:creationId xmlns:a16="http://schemas.microsoft.com/office/drawing/2014/main" id="{FB8F631E-66EC-4136-9384-3CD1356C7E18}"/>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EB63D280-40C8-420E-8B76-C6A18E2A482A}"/>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51E76F32-1408-4657-A889-E25FA5358FD2}"/>
              </a:ext>
            </a:extLst>
          </p:cNvPr>
          <p:cNvSpPr>
            <a:spLocks noGrp="1"/>
          </p:cNvSpPr>
          <p:nvPr/>
        </p:nvSpPr>
        <p:spPr>
          <a:xfrm>
            <a:off x="685800" y="628650"/>
            <a:ext cx="10668000" cy="666750"/>
          </a:xfrm>
          <a:prstGeom prst="rect">
            <a:avLst/>
          </a:prstGeom>
          <a:noFill/>
          <a:ln w="0">
            <a:noFill/>
          </a:ln>
        </p:spPr>
        <p:txBody>
          <a:bodyPr anchor="t">
            <a:normAutofit fontScale="92004"/>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Textbook difficulty is documented, but textbook design is rarely examined</a:t>
            </a:r>
          </a:p>
        </p:txBody>
      </p:sp>
      <p:sp>
        <p:nvSpPr>
          <p:cNvPr id="4" name="Düz Bağlayıcı 3">
            <a:extLst>
              <a:ext uri="{FF2B5EF4-FFF2-40B4-BE49-F238E27FC236}">
                <a16:creationId xmlns:a16="http://schemas.microsoft.com/office/drawing/2014/main" id="{2AB80205-FAEA-49D2-822A-3B3E0390FB9E}"/>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1730ECED-BA77-4480-888D-1C155681011E}"/>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04</a:t>
            </a:r>
          </a:p>
        </p:txBody>
      </p:sp>
      <p:sp>
        <p:nvSpPr>
          <p:cNvPr id="6" name="Yuvarlatılmış Dikdörtgen 5">
            <a:extLst>
              <a:ext uri="{FF2B5EF4-FFF2-40B4-BE49-F238E27FC236}">
                <a16:creationId xmlns:a16="http://schemas.microsoft.com/office/drawing/2014/main" id="{2BE2123F-7512-4BA4-A4F5-64148C334DD1}"/>
              </a:ext>
            </a:extLst>
          </p:cNvPr>
          <p:cNvSpPr>
            <a:spLocks noGrp="1"/>
          </p:cNvSpPr>
          <p:nvPr/>
        </p:nvSpPr>
        <p:spPr>
          <a:xfrm>
            <a:off x="762000" y="1790700"/>
            <a:ext cx="5048250" cy="3238500"/>
          </a:xfrm>
          <a:prstGeom prst="roundRect">
            <a:avLst>
              <a:gd name="adj" fmla="val 2353"/>
            </a:avLst>
          </a:prstGeom>
          <a:solidFill>
            <a:srgbClr val="123B53"/>
          </a:solidFill>
          <a:ln w="0">
            <a:noFill/>
          </a:ln>
        </p:spPr>
        <p:txBody>
          <a:bodyPr/>
          <a:lstStyle/>
          <a:p>
            <a:endParaRPr lang="tr-TR"/>
          </a:p>
        </p:txBody>
      </p:sp>
      <p:sp>
        <p:nvSpPr>
          <p:cNvPr id="7" name="Dikdörtgen 6">
            <a:extLst>
              <a:ext uri="{FF2B5EF4-FFF2-40B4-BE49-F238E27FC236}">
                <a16:creationId xmlns:a16="http://schemas.microsoft.com/office/drawing/2014/main" id="{791F4319-7B89-421C-B7A0-02F23E0F3747}"/>
              </a:ext>
            </a:extLst>
          </p:cNvPr>
          <p:cNvSpPr>
            <a:spLocks noGrp="1"/>
          </p:cNvSpPr>
          <p:nvPr/>
        </p:nvSpPr>
        <p:spPr>
          <a:xfrm>
            <a:off x="1095375" y="2095500"/>
            <a:ext cx="30480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EMI STUDENT ACCOUNT</a:t>
            </a:r>
          </a:p>
        </p:txBody>
      </p:sp>
      <p:sp>
        <p:nvSpPr>
          <p:cNvPr id="8" name="Dikdörtgen 7">
            <a:extLst>
              <a:ext uri="{FF2B5EF4-FFF2-40B4-BE49-F238E27FC236}">
                <a16:creationId xmlns:a16="http://schemas.microsoft.com/office/drawing/2014/main" id="{5E1642AF-1209-49FF-ADD1-D0719936E93A}"/>
              </a:ext>
            </a:extLst>
          </p:cNvPr>
          <p:cNvSpPr>
            <a:spLocks noGrp="1"/>
          </p:cNvSpPr>
          <p:nvPr/>
        </p:nvSpPr>
        <p:spPr>
          <a:xfrm>
            <a:off x="1143000" y="2724150"/>
            <a:ext cx="4286250" cy="1238250"/>
          </a:xfrm>
          <a:prstGeom prst="rect">
            <a:avLst/>
          </a:prstGeom>
          <a:noFill/>
          <a:ln w="0">
            <a:noFill/>
          </a:ln>
        </p:spPr>
        <p:txBody>
          <a:bodyPr anchor="ctr">
            <a:normAutofit/>
          </a:bodyPr>
          <a:lstStyle/>
          <a:p>
            <a:pPr algn="ctr">
              <a:defRPr sz="2325" b="1" i="1">
                <a:solidFill>
                  <a:srgbClr val="FFFFFF"/>
                </a:solidFill>
                <a:latin typeface="Arial"/>
                <a:ea typeface="Arial"/>
                <a:cs typeface="Arial"/>
              </a:defRPr>
            </a:pPr>
            <a:r>
              <a:rPr sz="2325" b="1" i="1">
                <a:solidFill>
                  <a:srgbClr val="FFFFFF"/>
                </a:solidFill>
                <a:latin typeface="Arial"/>
                <a:ea typeface="Arial"/>
                <a:cs typeface="Arial"/>
              </a:rPr>
              <a:t>“I read the book several times but still could not understand it.”</a:t>
            </a:r>
          </a:p>
        </p:txBody>
      </p:sp>
      <p:sp>
        <p:nvSpPr>
          <p:cNvPr id="9" name="Dikdörtgen 8">
            <a:extLst>
              <a:ext uri="{FF2B5EF4-FFF2-40B4-BE49-F238E27FC236}">
                <a16:creationId xmlns:a16="http://schemas.microsoft.com/office/drawing/2014/main" id="{6AB4F74C-B5AC-414B-B613-A62722D17FAD}"/>
              </a:ext>
            </a:extLst>
          </p:cNvPr>
          <p:cNvSpPr>
            <a:spLocks noGrp="1"/>
          </p:cNvSpPr>
          <p:nvPr/>
        </p:nvSpPr>
        <p:spPr>
          <a:xfrm>
            <a:off x="1219200" y="4343400"/>
            <a:ext cx="4143375" cy="333375"/>
          </a:xfrm>
          <a:prstGeom prst="rect">
            <a:avLst/>
          </a:prstGeom>
          <a:noFill/>
          <a:ln w="0">
            <a:noFill/>
          </a:ln>
        </p:spPr>
        <p:txBody>
          <a:bodyPr anchor="t">
            <a:normAutofit/>
          </a:bodyPr>
          <a:lstStyle/>
          <a:p>
            <a:pPr algn="ctr">
              <a:defRPr sz="1125" b="0" i="0">
                <a:solidFill>
                  <a:srgbClr val="78A9C0"/>
                </a:solidFill>
                <a:latin typeface="Arial"/>
                <a:ea typeface="Arial"/>
                <a:cs typeface="Arial"/>
              </a:defRPr>
            </a:pPr>
            <a:r>
              <a:rPr sz="1125" b="0" i="0">
                <a:solidFill>
                  <a:srgbClr val="78A9C0"/>
                </a:solidFill>
                <a:latin typeface="Arial"/>
                <a:ea typeface="Arial"/>
                <a:cs typeface="Arial"/>
              </a:rPr>
              <a:t>Chinese EMI case reported in Jenkins &amp; Mauranen (2019)</a:t>
            </a:r>
          </a:p>
        </p:txBody>
      </p:sp>
      <p:sp>
        <p:nvSpPr>
          <p:cNvPr id="10" name="Yuvarlatılmış Dikdörtgen 9">
            <a:extLst>
              <a:ext uri="{FF2B5EF4-FFF2-40B4-BE49-F238E27FC236}">
                <a16:creationId xmlns:a16="http://schemas.microsoft.com/office/drawing/2014/main" id="{647DCEAD-2760-48AB-B3FD-E5222891F325}"/>
              </a:ext>
            </a:extLst>
          </p:cNvPr>
          <p:cNvSpPr>
            <a:spLocks noGrp="1"/>
          </p:cNvSpPr>
          <p:nvPr/>
        </p:nvSpPr>
        <p:spPr>
          <a:xfrm>
            <a:off x="6524625" y="1790700"/>
            <a:ext cx="4905375" cy="3238500"/>
          </a:xfrm>
          <a:prstGeom prst="roundRect">
            <a:avLst>
              <a:gd name="adj" fmla="val 2353"/>
            </a:avLst>
          </a:prstGeom>
          <a:solidFill>
            <a:srgbClr val="FFFFFF"/>
          </a:solid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A13AE378-43BB-47F9-B090-76172DD0530A}"/>
              </a:ext>
            </a:extLst>
          </p:cNvPr>
          <p:cNvSpPr>
            <a:spLocks noGrp="1"/>
          </p:cNvSpPr>
          <p:nvPr/>
        </p:nvSpPr>
        <p:spPr>
          <a:xfrm>
            <a:off x="6858000" y="2095500"/>
            <a:ext cx="39052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WHAT THE LITERATURE USUALLY EXPLAINS</a:t>
            </a:r>
          </a:p>
        </p:txBody>
      </p:sp>
      <p:sp>
        <p:nvSpPr>
          <p:cNvPr id="12" name="Dikdörtgen 11">
            <a:extLst>
              <a:ext uri="{FF2B5EF4-FFF2-40B4-BE49-F238E27FC236}">
                <a16:creationId xmlns:a16="http://schemas.microsoft.com/office/drawing/2014/main" id="{CFACFD77-454C-42F8-A935-5EA9D9112F83}"/>
              </a:ext>
            </a:extLst>
          </p:cNvPr>
          <p:cNvSpPr>
            <a:spLocks noGrp="1"/>
          </p:cNvSpPr>
          <p:nvPr/>
        </p:nvSpPr>
        <p:spPr>
          <a:xfrm>
            <a:off x="6858000" y="2609850"/>
            <a:ext cx="4000500" cy="304800"/>
          </a:xfrm>
          <a:prstGeom prst="rect">
            <a:avLst/>
          </a:prstGeom>
          <a:noFill/>
          <a:ln w="0">
            <a:noFill/>
          </a:ln>
        </p:spPr>
        <p:txBody>
          <a:bodyPr anchor="t">
            <a:normAutofit fontScale="81159"/>
          </a:bodyPr>
          <a:lstStyle/>
          <a:p>
            <a:pPr algn="l">
              <a:defRPr sz="1725" b="1" i="0">
                <a:solidFill>
                  <a:srgbClr val="33343F"/>
                </a:solidFill>
                <a:latin typeface="Arial"/>
                <a:ea typeface="Arial"/>
                <a:cs typeface="Arial"/>
              </a:defRPr>
            </a:pPr>
            <a:r>
              <a:rPr sz="1725" b="1" i="0">
                <a:solidFill>
                  <a:srgbClr val="33343F"/>
                </a:solidFill>
                <a:latin typeface="Arial"/>
                <a:ea typeface="Arial"/>
                <a:cs typeface="Arial"/>
              </a:rPr>
              <a:t>Proficiency thresholds</a:t>
            </a:r>
          </a:p>
        </p:txBody>
      </p:sp>
      <p:sp>
        <p:nvSpPr>
          <p:cNvPr id="13" name="Dikdörtgen 12">
            <a:extLst>
              <a:ext uri="{FF2B5EF4-FFF2-40B4-BE49-F238E27FC236}">
                <a16:creationId xmlns:a16="http://schemas.microsoft.com/office/drawing/2014/main" id="{0BD46468-19F1-4508-9EE7-C9D4667D5BAE}"/>
              </a:ext>
            </a:extLst>
          </p:cNvPr>
          <p:cNvSpPr>
            <a:spLocks noGrp="1"/>
          </p:cNvSpPr>
          <p:nvPr/>
        </p:nvSpPr>
        <p:spPr>
          <a:xfrm>
            <a:off x="6858000" y="3105150"/>
            <a:ext cx="4000500" cy="428625"/>
          </a:xfrm>
          <a:prstGeom prst="rect">
            <a:avLst/>
          </a:prstGeom>
          <a:noFill/>
          <a:ln w="0">
            <a:noFill/>
          </a:ln>
        </p:spPr>
        <p:txBody>
          <a:bodyPr anchor="t">
            <a:normAutofit fontScale="90893"/>
          </a:bodyPr>
          <a:lstStyle/>
          <a:p>
            <a:pPr algn="l">
              <a:defRPr sz="1725" b="1" i="0">
                <a:solidFill>
                  <a:srgbClr val="33343F"/>
                </a:solidFill>
                <a:latin typeface="Arial"/>
                <a:ea typeface="Arial"/>
                <a:cs typeface="Arial"/>
              </a:defRPr>
            </a:pPr>
            <a:r>
              <a:rPr sz="1725" b="1" i="0">
                <a:solidFill>
                  <a:srgbClr val="33343F"/>
                </a:solidFill>
                <a:latin typeface="Arial"/>
                <a:ea typeface="Arial"/>
                <a:cs typeface="Arial"/>
              </a:rPr>
              <a:t>Textbook choice and imported materials</a:t>
            </a:r>
          </a:p>
        </p:txBody>
      </p:sp>
      <p:sp>
        <p:nvSpPr>
          <p:cNvPr id="14" name="Dikdörtgen 13">
            <a:extLst>
              <a:ext uri="{FF2B5EF4-FFF2-40B4-BE49-F238E27FC236}">
                <a16:creationId xmlns:a16="http://schemas.microsoft.com/office/drawing/2014/main" id="{97ADB709-235B-4083-A97D-DE03DD1C2EF5}"/>
              </a:ext>
            </a:extLst>
          </p:cNvPr>
          <p:cNvSpPr>
            <a:spLocks noGrp="1"/>
          </p:cNvSpPr>
          <p:nvPr/>
        </p:nvSpPr>
        <p:spPr>
          <a:xfrm>
            <a:off x="6858000" y="3752850"/>
            <a:ext cx="4000500" cy="342900"/>
          </a:xfrm>
          <a:prstGeom prst="rect">
            <a:avLst/>
          </a:prstGeom>
          <a:noFill/>
          <a:ln w="0">
            <a:noFill/>
          </a:ln>
        </p:spPr>
        <p:txBody>
          <a:bodyPr anchor="t">
            <a:normAutofit fontScale="95652"/>
          </a:bodyPr>
          <a:lstStyle/>
          <a:p>
            <a:pPr algn="l">
              <a:defRPr sz="1725" b="1" i="0">
                <a:solidFill>
                  <a:srgbClr val="33343F"/>
                </a:solidFill>
                <a:latin typeface="Arial"/>
                <a:ea typeface="Arial"/>
                <a:cs typeface="Arial"/>
              </a:defRPr>
            </a:pPr>
            <a:r>
              <a:rPr sz="1725" b="1" i="0">
                <a:solidFill>
                  <a:srgbClr val="33343F"/>
                </a:solidFill>
                <a:latin typeface="Arial"/>
                <a:ea typeface="Arial"/>
                <a:cs typeface="Arial"/>
              </a:rPr>
              <a:t>Availability of L1 supplements</a:t>
            </a:r>
          </a:p>
        </p:txBody>
      </p:sp>
      <p:sp>
        <p:nvSpPr>
          <p:cNvPr id="15" name="Düz Bağlayıcı 14">
            <a:extLst>
              <a:ext uri="{FF2B5EF4-FFF2-40B4-BE49-F238E27FC236}">
                <a16:creationId xmlns:a16="http://schemas.microsoft.com/office/drawing/2014/main" id="{2EA9E730-367A-4DC9-86DA-21C4E2C97CA9}"/>
              </a:ext>
            </a:extLst>
          </p:cNvPr>
          <p:cNvSpPr>
            <a:spLocks noGrp="1"/>
          </p:cNvSpPr>
          <p:nvPr/>
        </p:nvSpPr>
        <p:spPr>
          <a:xfrm>
            <a:off x="6858000" y="4314825"/>
            <a:ext cx="4143375" cy="0"/>
          </a:xfrm>
          <a:prstGeom prst="line">
            <a:avLst/>
          </a:prstGeom>
          <a:noFill/>
          <a:ln w="9525">
            <a:solidFill>
              <a:srgbClr val="C8C9D3"/>
            </a:solidFill>
          </a:ln>
        </p:spPr>
        <p:txBody>
          <a:bodyPr/>
          <a:lstStyle/>
          <a:p>
            <a:endParaRPr lang="tr-TR"/>
          </a:p>
        </p:txBody>
      </p:sp>
      <p:sp>
        <p:nvSpPr>
          <p:cNvPr id="16" name="Dikdörtgen 15">
            <a:extLst>
              <a:ext uri="{FF2B5EF4-FFF2-40B4-BE49-F238E27FC236}">
                <a16:creationId xmlns:a16="http://schemas.microsoft.com/office/drawing/2014/main" id="{6CF40069-4D2B-4728-BD36-F209BC8E2231}"/>
              </a:ext>
            </a:extLst>
          </p:cNvPr>
          <p:cNvSpPr>
            <a:spLocks noGrp="1"/>
          </p:cNvSpPr>
          <p:nvPr/>
        </p:nvSpPr>
        <p:spPr>
          <a:xfrm>
            <a:off x="6858000" y="4514850"/>
            <a:ext cx="4000500" cy="476250"/>
          </a:xfrm>
          <a:prstGeom prst="rect">
            <a:avLst/>
          </a:prstGeom>
          <a:noFill/>
          <a:ln w="0">
            <a:noFill/>
          </a:ln>
        </p:spPr>
        <p:txBody>
          <a:bodyPr anchor="t">
            <a:normAutofit fontScale="93518"/>
          </a:bodyPr>
          <a:lstStyle/>
          <a:p>
            <a:pPr algn="l">
              <a:defRPr sz="1350" b="1" i="0">
                <a:solidFill>
                  <a:srgbClr val="D58C00"/>
                </a:solidFill>
                <a:latin typeface="Arial"/>
                <a:ea typeface="Arial"/>
                <a:cs typeface="Arial"/>
              </a:defRPr>
            </a:pPr>
            <a:r>
              <a:rPr sz="1350" b="1" i="0">
                <a:solidFill>
                  <a:srgbClr val="D58C00"/>
                </a:solidFill>
                <a:latin typeface="Arial"/>
                <a:ea typeface="Arial"/>
                <a:cs typeface="Arial"/>
              </a:rPr>
              <a:t>MIWAE adds discourse and design as possible sources of support or obstruction.</a:t>
            </a:r>
          </a:p>
        </p:txBody>
      </p:sp>
      <p:sp>
        <p:nvSpPr>
          <p:cNvPr id="17" name="Dikdörtgen 16">
            <a:extLst>
              <a:ext uri="{FF2B5EF4-FFF2-40B4-BE49-F238E27FC236}">
                <a16:creationId xmlns:a16="http://schemas.microsoft.com/office/drawing/2014/main" id="{15223C08-5BD8-43E9-838D-A7147693489E}"/>
              </a:ext>
            </a:extLst>
          </p:cNvPr>
          <p:cNvSpPr>
            <a:spLocks noGrp="1"/>
          </p:cNvSpPr>
          <p:nvPr/>
        </p:nvSpPr>
        <p:spPr>
          <a:xfrm>
            <a:off x="1143000" y="5429250"/>
            <a:ext cx="9906000" cy="523875"/>
          </a:xfrm>
          <a:prstGeom prst="rect">
            <a:avLst/>
          </a:prstGeom>
          <a:noFill/>
          <a:ln w="0">
            <a:noFill/>
          </a:ln>
        </p:spPr>
        <p:txBody>
          <a:bodyPr anchor="t">
            <a:normAutofit fontScale="82246"/>
          </a:bodyPr>
          <a:lstStyle/>
          <a:p>
            <a:pPr algn="ctr">
              <a:defRPr sz="1725" b="1" i="0">
                <a:solidFill>
                  <a:srgbClr val="33343F"/>
                </a:solidFill>
                <a:latin typeface="Arial"/>
                <a:ea typeface="Arial"/>
                <a:cs typeface="Arial"/>
              </a:defRPr>
            </a:pPr>
            <a:r>
              <a:rPr sz="1725" b="1" i="0">
                <a:solidFill>
                  <a:srgbClr val="33343F"/>
                </a:solidFill>
                <a:latin typeface="Arial"/>
                <a:ea typeface="Arial"/>
                <a:cs typeface="Arial"/>
              </a:rPr>
              <a:t>Gap: almost no ELFA research examines the written design of EMI textbooks, despite their role as a primary route to disciplinary knowledge.</a:t>
            </a:r>
          </a:p>
        </p:txBody>
      </p:sp>
      <p:sp>
        <p:nvSpPr>
          <p:cNvPr id="18" name="Dikdörtgen 17">
            <a:extLst>
              <a:ext uri="{FF2B5EF4-FFF2-40B4-BE49-F238E27FC236}">
                <a16:creationId xmlns:a16="http://schemas.microsoft.com/office/drawing/2014/main" id="{64C8AEF0-C2D4-40A8-90C9-EF9CF68B3F64}"/>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Fang &amp; Xie in Jenkins &amp; Mauranen, 2019, pp. 127, 132–133; Mauranen et al., 2016, p. 53</a:t>
            </a:r>
          </a:p>
        </p:txBody>
      </p:sp>
      <p:sp>
        <p:nvSpPr>
          <p:cNvPr id="19" name="Düz Bağlayıcı 18">
            <a:extLst>
              <a:ext uri="{FF2B5EF4-FFF2-40B4-BE49-F238E27FC236}">
                <a16:creationId xmlns:a16="http://schemas.microsoft.com/office/drawing/2014/main" id="{AA170503-9170-4F15-89FC-CCAD1234D17E}"/>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0" name="Dikdörtgen 19">
            <a:extLst>
              <a:ext uri="{FF2B5EF4-FFF2-40B4-BE49-F238E27FC236}">
                <a16:creationId xmlns:a16="http://schemas.microsoft.com/office/drawing/2014/main" id="{81DA0B0D-52A0-437A-9D45-49162F234F1F}"/>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631995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7" name="Yuvarlatılmış Dikdörtgen 26">
            <a:extLst>
              <a:ext uri="{FF2B5EF4-FFF2-40B4-BE49-F238E27FC236}">
                <a16:creationId xmlns:a16="http://schemas.microsoft.com/office/drawing/2014/main" id="{A93AE338-CC36-4747-B5F0-EA6C94386089}"/>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D0960F56-451F-4AE6-A95D-BE3660EC0D1C}"/>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2939A9E3-E7A6-4485-A335-211F9C6CD3AD}"/>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Four literature moves inform MIWAE</a:t>
            </a:r>
          </a:p>
        </p:txBody>
      </p:sp>
      <p:sp>
        <p:nvSpPr>
          <p:cNvPr id="4" name="Düz Bağlayıcı 3">
            <a:extLst>
              <a:ext uri="{FF2B5EF4-FFF2-40B4-BE49-F238E27FC236}">
                <a16:creationId xmlns:a16="http://schemas.microsoft.com/office/drawing/2014/main" id="{D6609349-5B65-4B92-9C61-F0E74B70C3A5}"/>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2992F385-F46F-40ED-A4D7-E1CE84406246}"/>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05</a:t>
            </a:r>
          </a:p>
        </p:txBody>
      </p:sp>
      <p:sp>
        <p:nvSpPr>
          <p:cNvPr id="6" name="Yuvarlatılmış Dikdörtgen 5">
            <a:extLst>
              <a:ext uri="{FF2B5EF4-FFF2-40B4-BE49-F238E27FC236}">
                <a16:creationId xmlns:a16="http://schemas.microsoft.com/office/drawing/2014/main" id="{C26FE3F0-3D22-4A52-8398-7666BF7F9FF3}"/>
              </a:ext>
            </a:extLst>
          </p:cNvPr>
          <p:cNvSpPr>
            <a:spLocks noGrp="1"/>
          </p:cNvSpPr>
          <p:nvPr/>
        </p:nvSpPr>
        <p:spPr>
          <a:xfrm>
            <a:off x="781050" y="1619250"/>
            <a:ext cx="10620375" cy="800100"/>
          </a:xfrm>
          <a:prstGeom prst="roundRect">
            <a:avLst>
              <a:gd name="adj" fmla="val 9524"/>
            </a:avLst>
          </a:prstGeom>
          <a:solidFill>
            <a:srgbClr val="FFFFFF"/>
          </a:solidFill>
          <a:ln w="9525">
            <a:solidFill>
              <a:srgbClr val="C8C9D3"/>
            </a:solidFill>
          </a:ln>
        </p:spPr>
        <p:txBody>
          <a:bodyPr/>
          <a:lstStyle/>
          <a:p>
            <a:endParaRPr lang="tr-TR"/>
          </a:p>
        </p:txBody>
      </p:sp>
      <p:sp>
        <p:nvSpPr>
          <p:cNvPr id="7" name="Yuvarlatılmış Dikdörtgen 6">
            <a:extLst>
              <a:ext uri="{FF2B5EF4-FFF2-40B4-BE49-F238E27FC236}">
                <a16:creationId xmlns:a16="http://schemas.microsoft.com/office/drawing/2014/main" id="{E3613372-7CBF-4F43-9F4A-B8E0C3D31004}"/>
              </a:ext>
            </a:extLst>
          </p:cNvPr>
          <p:cNvSpPr>
            <a:spLocks noGrp="1"/>
          </p:cNvSpPr>
          <p:nvPr/>
        </p:nvSpPr>
        <p:spPr>
          <a:xfrm>
            <a:off x="781050" y="1619250"/>
            <a:ext cx="123825" cy="800100"/>
          </a:xfrm>
          <a:prstGeom prst="roundRect">
            <a:avLst>
              <a:gd name="adj" fmla="val 50000"/>
            </a:avLst>
          </a:prstGeom>
          <a:solidFill>
            <a:srgbClr val="176082"/>
          </a:solidFill>
          <a:ln w="0">
            <a:noFill/>
          </a:ln>
        </p:spPr>
        <p:txBody>
          <a:bodyPr/>
          <a:lstStyle/>
          <a:p>
            <a:endParaRPr lang="tr-TR"/>
          </a:p>
        </p:txBody>
      </p:sp>
      <p:sp>
        <p:nvSpPr>
          <p:cNvPr id="8" name="Dikdörtgen 7">
            <a:extLst>
              <a:ext uri="{FF2B5EF4-FFF2-40B4-BE49-F238E27FC236}">
                <a16:creationId xmlns:a16="http://schemas.microsoft.com/office/drawing/2014/main" id="{5776170C-E31C-4FC0-B484-A23D66E53FCA}"/>
              </a:ext>
            </a:extLst>
          </p:cNvPr>
          <p:cNvSpPr>
            <a:spLocks noGrp="1"/>
          </p:cNvSpPr>
          <p:nvPr/>
        </p:nvSpPr>
        <p:spPr>
          <a:xfrm>
            <a:off x="1104900" y="1752600"/>
            <a:ext cx="3143250" cy="295275"/>
          </a:xfrm>
          <a:prstGeom prst="rect">
            <a:avLst/>
          </a:prstGeom>
          <a:noFill/>
          <a:ln w="0">
            <a:noFill/>
          </a:ln>
        </p:spPr>
        <p:txBody>
          <a:bodyPr anchor="t">
            <a:normAutofit fontScale="99074"/>
          </a:bodyPr>
          <a:lstStyle/>
          <a:p>
            <a:pPr algn="l">
              <a:defRPr sz="1350" b="1" i="0">
                <a:solidFill>
                  <a:srgbClr val="176082"/>
                </a:solidFill>
                <a:latin typeface="Arial"/>
                <a:ea typeface="Arial"/>
                <a:cs typeface="Arial"/>
              </a:defRPr>
            </a:pPr>
            <a:r>
              <a:rPr sz="1350" b="1" i="0">
                <a:solidFill>
                  <a:srgbClr val="176082"/>
                </a:solidFill>
                <a:latin typeface="Arial"/>
                <a:ea typeface="Arial"/>
                <a:cs typeface="Arial"/>
              </a:rPr>
              <a:t>Mauranen et al. (2016)</a:t>
            </a:r>
          </a:p>
        </p:txBody>
      </p:sp>
      <p:sp>
        <p:nvSpPr>
          <p:cNvPr id="9" name="Dikdörtgen 8">
            <a:extLst>
              <a:ext uri="{FF2B5EF4-FFF2-40B4-BE49-F238E27FC236}">
                <a16:creationId xmlns:a16="http://schemas.microsoft.com/office/drawing/2014/main" id="{223C69C8-4B60-4B6B-BE34-9F092B99B771}"/>
              </a:ext>
            </a:extLst>
          </p:cNvPr>
          <p:cNvSpPr>
            <a:spLocks noGrp="1"/>
          </p:cNvSpPr>
          <p:nvPr/>
        </p:nvSpPr>
        <p:spPr>
          <a:xfrm>
            <a:off x="4333875" y="1714500"/>
            <a:ext cx="6667500" cy="561975"/>
          </a:xfrm>
          <a:prstGeom prst="rect">
            <a:avLst/>
          </a:prstGeom>
          <a:noFill/>
          <a:ln w="0">
            <a:noFill/>
          </a:ln>
        </p:spPr>
        <p:txBody>
          <a:bodyPr anchor="t">
            <a:normAutofit/>
          </a:bodyPr>
          <a:lstStyle/>
          <a:p>
            <a:pPr algn="l">
              <a:defRPr sz="1350" b="0" i="0">
                <a:solidFill>
                  <a:srgbClr val="33343F"/>
                </a:solidFill>
                <a:latin typeface="Arial"/>
                <a:ea typeface="Arial"/>
                <a:cs typeface="Arial"/>
              </a:defRPr>
            </a:pPr>
            <a:r>
              <a:rPr sz="1350" b="0" i="0">
                <a:solidFill>
                  <a:srgbClr val="33343F"/>
                </a:solidFill>
                <a:latin typeface="Arial"/>
                <a:ea typeface="Arial"/>
                <a:cs typeface="Arial"/>
              </a:rPr>
              <a:t>Academic ELF research privileges communication over native likeness and leaves written pedagogical texts largely unexplored.</a:t>
            </a:r>
          </a:p>
        </p:txBody>
      </p:sp>
      <p:sp>
        <p:nvSpPr>
          <p:cNvPr id="10" name="Yuvarlatılmış Dikdörtgen 9">
            <a:extLst>
              <a:ext uri="{FF2B5EF4-FFF2-40B4-BE49-F238E27FC236}">
                <a16:creationId xmlns:a16="http://schemas.microsoft.com/office/drawing/2014/main" id="{0F5ACADF-28BD-4BD2-A05E-D597261F6FED}"/>
              </a:ext>
            </a:extLst>
          </p:cNvPr>
          <p:cNvSpPr>
            <a:spLocks noGrp="1"/>
          </p:cNvSpPr>
          <p:nvPr/>
        </p:nvSpPr>
        <p:spPr>
          <a:xfrm>
            <a:off x="781050" y="2647950"/>
            <a:ext cx="10620375" cy="800100"/>
          </a:xfrm>
          <a:prstGeom prst="roundRect">
            <a:avLst>
              <a:gd name="adj" fmla="val 9524"/>
            </a:avLst>
          </a:prstGeom>
          <a:solidFill>
            <a:srgbClr val="FFFFFF"/>
          </a:solidFill>
          <a:ln w="9525">
            <a:solidFill>
              <a:srgbClr val="C8C9D3"/>
            </a:solidFill>
          </a:ln>
        </p:spPr>
        <p:txBody>
          <a:bodyPr/>
          <a:lstStyle/>
          <a:p>
            <a:endParaRPr lang="tr-TR"/>
          </a:p>
        </p:txBody>
      </p:sp>
      <p:sp>
        <p:nvSpPr>
          <p:cNvPr id="11" name="Yuvarlatılmış Dikdörtgen 10">
            <a:extLst>
              <a:ext uri="{FF2B5EF4-FFF2-40B4-BE49-F238E27FC236}">
                <a16:creationId xmlns:a16="http://schemas.microsoft.com/office/drawing/2014/main" id="{BDA55014-2091-4FBA-BF35-083D3E2A77BF}"/>
              </a:ext>
            </a:extLst>
          </p:cNvPr>
          <p:cNvSpPr>
            <a:spLocks noGrp="1"/>
          </p:cNvSpPr>
          <p:nvPr/>
        </p:nvSpPr>
        <p:spPr>
          <a:xfrm>
            <a:off x="781050" y="2647950"/>
            <a:ext cx="123825" cy="800100"/>
          </a:xfrm>
          <a:prstGeom prst="roundRect">
            <a:avLst>
              <a:gd name="adj" fmla="val 50000"/>
            </a:avLst>
          </a:prstGeom>
          <a:solidFill>
            <a:srgbClr val="D58C00"/>
          </a:solidFill>
          <a:ln w="0">
            <a:noFill/>
          </a:ln>
        </p:spPr>
        <p:txBody>
          <a:bodyPr/>
          <a:lstStyle/>
          <a:p>
            <a:endParaRPr lang="tr-TR"/>
          </a:p>
        </p:txBody>
      </p:sp>
      <p:sp>
        <p:nvSpPr>
          <p:cNvPr id="12" name="Dikdörtgen 11">
            <a:extLst>
              <a:ext uri="{FF2B5EF4-FFF2-40B4-BE49-F238E27FC236}">
                <a16:creationId xmlns:a16="http://schemas.microsoft.com/office/drawing/2014/main" id="{D38FE2B3-74D1-4EFF-ACA2-F8E945CE79FE}"/>
              </a:ext>
            </a:extLst>
          </p:cNvPr>
          <p:cNvSpPr>
            <a:spLocks noGrp="1"/>
          </p:cNvSpPr>
          <p:nvPr/>
        </p:nvSpPr>
        <p:spPr>
          <a:xfrm>
            <a:off x="1104900" y="2781300"/>
            <a:ext cx="3143250" cy="295275"/>
          </a:xfrm>
          <a:prstGeom prst="rect">
            <a:avLst/>
          </a:prstGeom>
          <a:noFill/>
          <a:ln w="0">
            <a:noFill/>
          </a:ln>
        </p:spPr>
        <p:txBody>
          <a:bodyPr anchor="t">
            <a:normAutofit fontScale="99074"/>
          </a:bodyPr>
          <a:lstStyle/>
          <a:p>
            <a:pPr algn="l">
              <a:defRPr sz="1350" b="1" i="0">
                <a:solidFill>
                  <a:srgbClr val="D58C00"/>
                </a:solidFill>
                <a:latin typeface="Arial"/>
                <a:ea typeface="Arial"/>
                <a:cs typeface="Arial"/>
              </a:defRPr>
            </a:pPr>
            <a:r>
              <a:rPr sz="1350" b="1" i="0">
                <a:solidFill>
                  <a:srgbClr val="D58C00"/>
                </a:solidFill>
                <a:latin typeface="Arial"/>
                <a:ea typeface="Arial"/>
                <a:cs typeface="Arial"/>
              </a:rPr>
              <a:t>Björkman (2013) + Seidlhofer (2011)</a:t>
            </a:r>
          </a:p>
        </p:txBody>
      </p:sp>
      <p:sp>
        <p:nvSpPr>
          <p:cNvPr id="13" name="Dikdörtgen 12">
            <a:extLst>
              <a:ext uri="{FF2B5EF4-FFF2-40B4-BE49-F238E27FC236}">
                <a16:creationId xmlns:a16="http://schemas.microsoft.com/office/drawing/2014/main" id="{73530649-80A8-4F04-BE6B-1F8255A162B1}"/>
              </a:ext>
            </a:extLst>
          </p:cNvPr>
          <p:cNvSpPr>
            <a:spLocks noGrp="1"/>
          </p:cNvSpPr>
          <p:nvPr/>
        </p:nvSpPr>
        <p:spPr>
          <a:xfrm>
            <a:off x="4333875" y="2743200"/>
            <a:ext cx="6667500" cy="561975"/>
          </a:xfrm>
          <a:prstGeom prst="rect">
            <a:avLst/>
          </a:prstGeom>
          <a:noFill/>
          <a:ln w="0">
            <a:noFill/>
          </a:ln>
        </p:spPr>
        <p:txBody>
          <a:bodyPr anchor="t">
            <a:normAutofit/>
          </a:bodyPr>
          <a:lstStyle/>
          <a:p>
            <a:pPr algn="l">
              <a:defRPr sz="1350" b="0" i="0">
                <a:solidFill>
                  <a:srgbClr val="33343F"/>
                </a:solidFill>
                <a:latin typeface="Arial"/>
                <a:ea typeface="Arial"/>
                <a:cs typeface="Arial"/>
              </a:defRPr>
            </a:pPr>
            <a:r>
              <a:rPr sz="1350" b="0" i="0">
                <a:solidFill>
                  <a:srgbClr val="33343F"/>
                </a:solidFill>
                <a:latin typeface="Arial"/>
                <a:ea typeface="Arial"/>
                <a:cs typeface="Arial"/>
              </a:rPr>
              <a:t>Signposting, repetition, accommodation and shared knowledge can support meaning when their local communicative purpose is clear.</a:t>
            </a:r>
          </a:p>
        </p:txBody>
      </p:sp>
      <p:sp>
        <p:nvSpPr>
          <p:cNvPr id="14" name="Yuvarlatılmış Dikdörtgen 13">
            <a:extLst>
              <a:ext uri="{FF2B5EF4-FFF2-40B4-BE49-F238E27FC236}">
                <a16:creationId xmlns:a16="http://schemas.microsoft.com/office/drawing/2014/main" id="{FCE9F3F5-FFDF-4705-B475-3A28971FCEFC}"/>
              </a:ext>
            </a:extLst>
          </p:cNvPr>
          <p:cNvSpPr>
            <a:spLocks noGrp="1"/>
          </p:cNvSpPr>
          <p:nvPr/>
        </p:nvSpPr>
        <p:spPr>
          <a:xfrm>
            <a:off x="781050" y="3676650"/>
            <a:ext cx="10620375" cy="800100"/>
          </a:xfrm>
          <a:prstGeom prst="roundRect">
            <a:avLst>
              <a:gd name="adj" fmla="val 9524"/>
            </a:avLst>
          </a:prstGeom>
          <a:solidFill>
            <a:srgbClr val="123B53"/>
          </a:solidFill>
          <a:ln w="9525">
            <a:solidFill>
              <a:srgbClr val="C8C9D3"/>
            </a:solidFill>
          </a:ln>
        </p:spPr>
        <p:txBody>
          <a:bodyPr/>
          <a:lstStyle/>
          <a:p>
            <a:endParaRPr lang="tr-TR"/>
          </a:p>
        </p:txBody>
      </p:sp>
      <p:sp>
        <p:nvSpPr>
          <p:cNvPr id="15" name="Yuvarlatılmış Dikdörtgen 14">
            <a:extLst>
              <a:ext uri="{FF2B5EF4-FFF2-40B4-BE49-F238E27FC236}">
                <a16:creationId xmlns:a16="http://schemas.microsoft.com/office/drawing/2014/main" id="{4666BC03-430D-4962-A8DD-88F4A8C0CD15}"/>
              </a:ext>
            </a:extLst>
          </p:cNvPr>
          <p:cNvSpPr>
            <a:spLocks noGrp="1"/>
          </p:cNvSpPr>
          <p:nvPr/>
        </p:nvSpPr>
        <p:spPr>
          <a:xfrm>
            <a:off x="781050" y="3676650"/>
            <a:ext cx="123825" cy="800100"/>
          </a:xfrm>
          <a:prstGeom prst="roundRect">
            <a:avLst>
              <a:gd name="adj" fmla="val 50000"/>
            </a:avLst>
          </a:prstGeom>
          <a:solidFill>
            <a:srgbClr val="123B53"/>
          </a:solidFill>
          <a:ln w="0">
            <a:noFill/>
          </a:ln>
        </p:spPr>
        <p:txBody>
          <a:bodyPr/>
          <a:lstStyle/>
          <a:p>
            <a:endParaRPr lang="tr-TR"/>
          </a:p>
        </p:txBody>
      </p:sp>
      <p:sp>
        <p:nvSpPr>
          <p:cNvPr id="16" name="Dikdörtgen 15">
            <a:extLst>
              <a:ext uri="{FF2B5EF4-FFF2-40B4-BE49-F238E27FC236}">
                <a16:creationId xmlns:a16="http://schemas.microsoft.com/office/drawing/2014/main" id="{6BA84741-EADF-4871-83C1-B910BB3BA3E7}"/>
              </a:ext>
            </a:extLst>
          </p:cNvPr>
          <p:cNvSpPr>
            <a:spLocks noGrp="1"/>
          </p:cNvSpPr>
          <p:nvPr/>
        </p:nvSpPr>
        <p:spPr>
          <a:xfrm>
            <a:off x="1104900" y="3810000"/>
            <a:ext cx="3143250" cy="295275"/>
          </a:xfrm>
          <a:prstGeom prst="rect">
            <a:avLst/>
          </a:prstGeom>
          <a:noFill/>
          <a:ln w="0">
            <a:noFill/>
          </a:ln>
        </p:spPr>
        <p:txBody>
          <a:bodyPr anchor="t">
            <a:normAutofit fontScale="99074"/>
          </a:bodyPr>
          <a:lstStyle/>
          <a:p>
            <a:pPr algn="l">
              <a:defRPr sz="1350" b="1" i="0">
                <a:solidFill>
                  <a:srgbClr val="FFFFFF"/>
                </a:solidFill>
                <a:latin typeface="Arial"/>
                <a:ea typeface="Arial"/>
                <a:cs typeface="Arial"/>
              </a:defRPr>
            </a:pPr>
            <a:r>
              <a:rPr sz="1350" b="1" i="0">
                <a:solidFill>
                  <a:srgbClr val="FFFFFF"/>
                </a:solidFill>
                <a:latin typeface="Arial"/>
                <a:ea typeface="Arial"/>
                <a:cs typeface="Arial"/>
              </a:rPr>
              <a:t>Jenkins &amp; Mauranen (2019)</a:t>
            </a:r>
          </a:p>
        </p:txBody>
      </p:sp>
      <p:sp>
        <p:nvSpPr>
          <p:cNvPr id="17" name="Dikdörtgen 16">
            <a:extLst>
              <a:ext uri="{FF2B5EF4-FFF2-40B4-BE49-F238E27FC236}">
                <a16:creationId xmlns:a16="http://schemas.microsoft.com/office/drawing/2014/main" id="{D946228B-F1F7-4A2C-8374-EE94041400D9}"/>
              </a:ext>
            </a:extLst>
          </p:cNvPr>
          <p:cNvSpPr>
            <a:spLocks noGrp="1"/>
          </p:cNvSpPr>
          <p:nvPr/>
        </p:nvSpPr>
        <p:spPr>
          <a:xfrm>
            <a:off x="4333875" y="3771900"/>
            <a:ext cx="6667500" cy="561975"/>
          </a:xfrm>
          <a:prstGeom prst="rect">
            <a:avLst/>
          </a:prstGeom>
          <a:noFill/>
          <a:ln w="0">
            <a:noFill/>
          </a:ln>
        </p:spPr>
        <p:txBody>
          <a:bodyPr anchor="t">
            <a:normAutofit/>
          </a:bodyPr>
          <a:lstStyle/>
          <a:p>
            <a:pPr algn="l">
              <a:defRPr sz="1350" b="0" i="0">
                <a:solidFill>
                  <a:srgbClr val="FFFFFF"/>
                </a:solidFill>
                <a:latin typeface="Arial"/>
                <a:ea typeface="Arial"/>
                <a:cs typeface="Arial"/>
              </a:defRPr>
            </a:pPr>
            <a:r>
              <a:rPr sz="1350" b="0" i="0">
                <a:solidFill>
                  <a:srgbClr val="FFFFFF"/>
                </a:solidFill>
                <a:latin typeface="Arial"/>
                <a:ea typeface="Arial"/>
                <a:cs typeface="Arial"/>
              </a:rPr>
              <a:t>EMI students report difficulty with imported English textbooks, while language support in course design is often limited.</a:t>
            </a:r>
          </a:p>
        </p:txBody>
      </p:sp>
      <p:sp>
        <p:nvSpPr>
          <p:cNvPr id="18" name="Yuvarlatılmış Dikdörtgen 17">
            <a:extLst>
              <a:ext uri="{FF2B5EF4-FFF2-40B4-BE49-F238E27FC236}">
                <a16:creationId xmlns:a16="http://schemas.microsoft.com/office/drawing/2014/main" id="{64811E23-751B-4C02-A9BB-6EC88E003015}"/>
              </a:ext>
            </a:extLst>
          </p:cNvPr>
          <p:cNvSpPr>
            <a:spLocks noGrp="1"/>
          </p:cNvSpPr>
          <p:nvPr/>
        </p:nvSpPr>
        <p:spPr>
          <a:xfrm>
            <a:off x="781050" y="4705350"/>
            <a:ext cx="10620375" cy="800100"/>
          </a:xfrm>
          <a:prstGeom prst="roundRect">
            <a:avLst>
              <a:gd name="adj" fmla="val 9524"/>
            </a:avLst>
          </a:prstGeom>
          <a:solidFill>
            <a:srgbClr val="FFFFFF"/>
          </a:solidFill>
          <a:ln w="9525">
            <a:solidFill>
              <a:srgbClr val="C8C9D3"/>
            </a:solidFill>
          </a:ln>
        </p:spPr>
        <p:txBody>
          <a:bodyPr/>
          <a:lstStyle/>
          <a:p>
            <a:endParaRPr lang="tr-TR"/>
          </a:p>
        </p:txBody>
      </p:sp>
      <p:sp>
        <p:nvSpPr>
          <p:cNvPr id="19" name="Yuvarlatılmış Dikdörtgen 18">
            <a:extLst>
              <a:ext uri="{FF2B5EF4-FFF2-40B4-BE49-F238E27FC236}">
                <a16:creationId xmlns:a16="http://schemas.microsoft.com/office/drawing/2014/main" id="{E199F58C-3F62-4AF6-B59A-2AD49ADFCC96}"/>
              </a:ext>
            </a:extLst>
          </p:cNvPr>
          <p:cNvSpPr>
            <a:spLocks noGrp="1"/>
          </p:cNvSpPr>
          <p:nvPr/>
        </p:nvSpPr>
        <p:spPr>
          <a:xfrm>
            <a:off x="781050" y="4705350"/>
            <a:ext cx="123825" cy="800100"/>
          </a:xfrm>
          <a:prstGeom prst="roundRect">
            <a:avLst>
              <a:gd name="adj" fmla="val 50000"/>
            </a:avLst>
          </a:prstGeom>
          <a:solidFill>
            <a:srgbClr val="F0B113"/>
          </a:solidFill>
          <a:ln w="0">
            <a:noFill/>
          </a:ln>
        </p:spPr>
        <p:txBody>
          <a:bodyPr/>
          <a:lstStyle/>
          <a:p>
            <a:endParaRPr lang="tr-TR"/>
          </a:p>
        </p:txBody>
      </p:sp>
      <p:sp>
        <p:nvSpPr>
          <p:cNvPr id="20" name="Dikdörtgen 19">
            <a:extLst>
              <a:ext uri="{FF2B5EF4-FFF2-40B4-BE49-F238E27FC236}">
                <a16:creationId xmlns:a16="http://schemas.microsoft.com/office/drawing/2014/main" id="{84D235D6-FE7F-4D43-803E-6DD92C404D0C}"/>
              </a:ext>
            </a:extLst>
          </p:cNvPr>
          <p:cNvSpPr>
            <a:spLocks noGrp="1"/>
          </p:cNvSpPr>
          <p:nvPr/>
        </p:nvSpPr>
        <p:spPr>
          <a:xfrm>
            <a:off x="1104900" y="4838700"/>
            <a:ext cx="3143250" cy="295275"/>
          </a:xfrm>
          <a:prstGeom prst="rect">
            <a:avLst/>
          </a:prstGeom>
          <a:noFill/>
          <a:ln w="0">
            <a:noFill/>
          </a:ln>
        </p:spPr>
        <p:txBody>
          <a:bodyPr anchor="t">
            <a:normAutofit fontScale="99074"/>
          </a:bodyPr>
          <a:lstStyle/>
          <a:p>
            <a:pPr algn="l">
              <a:defRPr sz="1350" b="1" i="0">
                <a:solidFill>
                  <a:srgbClr val="F0B113"/>
                </a:solidFill>
                <a:latin typeface="Arial"/>
                <a:ea typeface="Arial"/>
                <a:cs typeface="Arial"/>
              </a:defRPr>
            </a:pPr>
            <a:r>
              <a:rPr sz="1350" b="1" i="0">
                <a:solidFill>
                  <a:srgbClr val="F0B113"/>
                </a:solidFill>
                <a:latin typeface="Arial"/>
                <a:ea typeface="Arial"/>
                <a:cs typeface="Arial"/>
              </a:rPr>
              <a:t>McKinley (2025)</a:t>
            </a:r>
          </a:p>
        </p:txBody>
      </p:sp>
      <p:sp>
        <p:nvSpPr>
          <p:cNvPr id="21" name="Dikdörtgen 20">
            <a:extLst>
              <a:ext uri="{FF2B5EF4-FFF2-40B4-BE49-F238E27FC236}">
                <a16:creationId xmlns:a16="http://schemas.microsoft.com/office/drawing/2014/main" id="{C26D17E7-1BD1-46C4-BC04-CEB798EE4D91}"/>
              </a:ext>
            </a:extLst>
          </p:cNvPr>
          <p:cNvSpPr>
            <a:spLocks noGrp="1"/>
          </p:cNvSpPr>
          <p:nvPr/>
        </p:nvSpPr>
        <p:spPr>
          <a:xfrm>
            <a:off x="4333875" y="4800600"/>
            <a:ext cx="6667500" cy="561975"/>
          </a:xfrm>
          <a:prstGeom prst="rect">
            <a:avLst/>
          </a:prstGeom>
          <a:noFill/>
          <a:ln w="0">
            <a:noFill/>
          </a:ln>
        </p:spPr>
        <p:txBody>
          <a:bodyPr anchor="t">
            <a:normAutofit/>
          </a:bodyPr>
          <a:lstStyle/>
          <a:p>
            <a:pPr algn="l">
              <a:defRPr sz="1350" b="1" i="0">
                <a:solidFill>
                  <a:srgbClr val="33343F"/>
                </a:solidFill>
                <a:latin typeface="Arial"/>
                <a:ea typeface="Arial"/>
                <a:cs typeface="Arial"/>
              </a:defRPr>
            </a:pPr>
            <a:r>
              <a:rPr sz="1350" b="1" i="0">
                <a:solidFill>
                  <a:srgbClr val="33343F"/>
                </a:solidFill>
                <a:latin typeface="Arial"/>
                <a:ea typeface="Arial"/>
                <a:cs typeface="Arial"/>
              </a:rPr>
              <a:t>EMI preparedness depends on discipline-specific academic literacy, not general English proficiency alone.</a:t>
            </a:r>
          </a:p>
        </p:txBody>
      </p:sp>
      <p:sp>
        <p:nvSpPr>
          <p:cNvPr id="22" name="Yuvarlatılmış Dikdörtgen 21">
            <a:extLst>
              <a:ext uri="{FF2B5EF4-FFF2-40B4-BE49-F238E27FC236}">
                <a16:creationId xmlns:a16="http://schemas.microsoft.com/office/drawing/2014/main" id="{8F686F75-7711-4E3A-9784-36E224B9F1DE}"/>
              </a:ext>
            </a:extLst>
          </p:cNvPr>
          <p:cNvSpPr>
            <a:spLocks noGrp="1"/>
          </p:cNvSpPr>
          <p:nvPr/>
        </p:nvSpPr>
        <p:spPr>
          <a:xfrm>
            <a:off x="1428750" y="5791200"/>
            <a:ext cx="9334500" cy="361950"/>
          </a:xfrm>
          <a:prstGeom prst="roundRect">
            <a:avLst>
              <a:gd name="adj" fmla="val 21053"/>
            </a:avLst>
          </a:prstGeom>
          <a:solidFill>
            <a:srgbClr val="E6F0F5"/>
          </a:solidFill>
          <a:ln w="0">
            <a:noFill/>
          </a:ln>
        </p:spPr>
        <p:txBody>
          <a:bodyPr/>
          <a:lstStyle/>
          <a:p>
            <a:endParaRPr lang="tr-TR"/>
          </a:p>
        </p:txBody>
      </p:sp>
      <p:sp>
        <p:nvSpPr>
          <p:cNvPr id="23" name="Dikdörtgen 22">
            <a:extLst>
              <a:ext uri="{FF2B5EF4-FFF2-40B4-BE49-F238E27FC236}">
                <a16:creationId xmlns:a16="http://schemas.microsoft.com/office/drawing/2014/main" id="{20566A75-EFEA-4971-A94D-A250D66B318C}"/>
              </a:ext>
            </a:extLst>
          </p:cNvPr>
          <p:cNvSpPr>
            <a:spLocks noGrp="1"/>
          </p:cNvSpPr>
          <p:nvPr/>
        </p:nvSpPr>
        <p:spPr>
          <a:xfrm>
            <a:off x="1666875" y="5857875"/>
            <a:ext cx="8858250" cy="228600"/>
          </a:xfrm>
          <a:prstGeom prst="rect">
            <a:avLst/>
          </a:prstGeom>
          <a:noFill/>
          <a:ln w="0">
            <a:noFill/>
          </a:ln>
        </p:spPr>
        <p:txBody>
          <a:bodyPr anchor="t">
            <a:normAutofit fontScale="66667"/>
          </a:bodyPr>
          <a:lstStyle/>
          <a:p>
            <a:pPr algn="ctr">
              <a:defRPr sz="1350" b="1" i="0">
                <a:solidFill>
                  <a:srgbClr val="176082"/>
                </a:solidFill>
                <a:latin typeface="Arial"/>
                <a:ea typeface="Arial"/>
                <a:cs typeface="Arial"/>
              </a:defRPr>
            </a:pPr>
            <a:r>
              <a:rPr sz="1350" b="1" i="0">
                <a:solidFill>
                  <a:srgbClr val="176082"/>
                </a:solidFill>
                <a:latin typeface="Arial"/>
                <a:ea typeface="Arial"/>
                <a:cs typeface="Arial"/>
              </a:rPr>
              <a:t>Implication: textbook design is part of the academic literacy environment that EMI readers must navigate.</a:t>
            </a:r>
          </a:p>
        </p:txBody>
      </p:sp>
      <p:sp>
        <p:nvSpPr>
          <p:cNvPr id="24" name="Dikdörtgen 23">
            <a:extLst>
              <a:ext uri="{FF2B5EF4-FFF2-40B4-BE49-F238E27FC236}">
                <a16:creationId xmlns:a16="http://schemas.microsoft.com/office/drawing/2014/main" id="{16E2A587-8906-4685-8B23-3BFBA3502CC4}"/>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Björkman, 2013; Seidlhofer, 2011; Mauranen et al., 2016; Jenkins &amp; Mauranen, 2019; McKinley, 2025</a:t>
            </a:r>
          </a:p>
        </p:txBody>
      </p:sp>
      <p:sp>
        <p:nvSpPr>
          <p:cNvPr id="25" name="Düz Bağlayıcı 24">
            <a:extLst>
              <a:ext uri="{FF2B5EF4-FFF2-40B4-BE49-F238E27FC236}">
                <a16:creationId xmlns:a16="http://schemas.microsoft.com/office/drawing/2014/main" id="{0A3E32A5-3006-49C4-84A3-C3E5A42313B2}"/>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6" name="Dikdörtgen 25">
            <a:extLst>
              <a:ext uri="{FF2B5EF4-FFF2-40B4-BE49-F238E27FC236}">
                <a16:creationId xmlns:a16="http://schemas.microsoft.com/office/drawing/2014/main" id="{1CBABA20-BABD-463C-90FF-E81592690BC5}"/>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02926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1" name="Yuvarlatılmış Dikdörtgen 30">
            <a:extLst>
              <a:ext uri="{FF2B5EF4-FFF2-40B4-BE49-F238E27FC236}">
                <a16:creationId xmlns:a16="http://schemas.microsoft.com/office/drawing/2014/main" id="{75D2221E-AA2C-4A0D-A11A-045A0CD54213}"/>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988F6807-E86B-4394-ADB8-778840661EA0}"/>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272631F3-E3B6-46EF-AD1C-8CEF9600479D}"/>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Pragmatic competence provides the bridge to textbook design</a:t>
            </a:r>
          </a:p>
        </p:txBody>
      </p:sp>
      <p:sp>
        <p:nvSpPr>
          <p:cNvPr id="4" name="Düz Bağlayıcı 3">
            <a:extLst>
              <a:ext uri="{FF2B5EF4-FFF2-40B4-BE49-F238E27FC236}">
                <a16:creationId xmlns:a16="http://schemas.microsoft.com/office/drawing/2014/main" id="{C6D03A03-DD86-4FFD-AF36-C71A9F756F1A}"/>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5C58D07D-FCA5-433D-ACD7-BCD29134062A}"/>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06</a:t>
            </a:r>
          </a:p>
        </p:txBody>
      </p:sp>
      <p:sp>
        <p:nvSpPr>
          <p:cNvPr id="6" name="Dikdörtgen 5">
            <a:extLst>
              <a:ext uri="{FF2B5EF4-FFF2-40B4-BE49-F238E27FC236}">
                <a16:creationId xmlns:a16="http://schemas.microsoft.com/office/drawing/2014/main" id="{BD4CAF89-0DA3-44C2-9F0D-26D676AA9A8D}"/>
              </a:ext>
            </a:extLst>
          </p:cNvPr>
          <p:cNvSpPr>
            <a:spLocks noGrp="1"/>
          </p:cNvSpPr>
          <p:nvPr/>
        </p:nvSpPr>
        <p:spPr>
          <a:xfrm>
            <a:off x="714375" y="1790700"/>
            <a:ext cx="3810000" cy="400050"/>
          </a:xfrm>
          <a:prstGeom prst="rect">
            <a:avLst/>
          </a:prstGeom>
          <a:noFill/>
          <a:ln w="0">
            <a:noFill/>
          </a:ln>
        </p:spPr>
        <p:txBody>
          <a:bodyPr anchor="t">
            <a:normAutofit/>
          </a:bodyPr>
          <a:lstStyle/>
          <a:p>
            <a:pPr algn="l">
              <a:defRPr sz="1875" b="1" i="0">
                <a:solidFill>
                  <a:srgbClr val="33343F"/>
                </a:solidFill>
                <a:latin typeface="Arial"/>
                <a:ea typeface="Arial"/>
                <a:cs typeface="Arial"/>
              </a:defRPr>
            </a:pPr>
            <a:r>
              <a:rPr sz="1875" b="1" i="0">
                <a:solidFill>
                  <a:srgbClr val="33343F"/>
                </a:solidFill>
                <a:latin typeface="Arial"/>
                <a:ea typeface="Arial"/>
                <a:cs typeface="Arial"/>
              </a:rPr>
              <a:t>CEFR pragmatic competence</a:t>
            </a:r>
          </a:p>
        </p:txBody>
      </p:sp>
      <p:sp>
        <p:nvSpPr>
          <p:cNvPr id="7" name="Dikdörtgen 6">
            <a:extLst>
              <a:ext uri="{FF2B5EF4-FFF2-40B4-BE49-F238E27FC236}">
                <a16:creationId xmlns:a16="http://schemas.microsoft.com/office/drawing/2014/main" id="{EB5B96B7-5F9F-4E1C-8185-42FFD1A7AD65}"/>
              </a:ext>
            </a:extLst>
          </p:cNvPr>
          <p:cNvSpPr>
            <a:spLocks noGrp="1"/>
          </p:cNvSpPr>
          <p:nvPr/>
        </p:nvSpPr>
        <p:spPr>
          <a:xfrm>
            <a:off x="6858000" y="1790700"/>
            <a:ext cx="4095750" cy="400050"/>
          </a:xfrm>
          <a:prstGeom prst="rect">
            <a:avLst/>
          </a:prstGeom>
          <a:noFill/>
          <a:ln w="0">
            <a:noFill/>
          </a:ln>
        </p:spPr>
        <p:txBody>
          <a:bodyPr anchor="t">
            <a:normAutofit/>
          </a:bodyPr>
          <a:lstStyle/>
          <a:p>
            <a:pPr algn="l">
              <a:defRPr sz="1875" b="1" i="0">
                <a:solidFill>
                  <a:srgbClr val="33343F"/>
                </a:solidFill>
                <a:latin typeface="Arial"/>
                <a:ea typeface="Arial"/>
                <a:cs typeface="Arial"/>
              </a:defRPr>
            </a:pPr>
            <a:r>
              <a:rPr sz="1875" b="1" i="0">
                <a:solidFill>
                  <a:srgbClr val="33343F"/>
                </a:solidFill>
                <a:latin typeface="Arial"/>
                <a:ea typeface="Arial"/>
                <a:cs typeface="Arial"/>
              </a:rPr>
              <a:t>Textbook-side operationalisation</a:t>
            </a:r>
          </a:p>
        </p:txBody>
      </p:sp>
      <p:sp>
        <p:nvSpPr>
          <p:cNvPr id="8" name="Yuvarlatılmış Dikdörtgen 7">
            <a:extLst>
              <a:ext uri="{FF2B5EF4-FFF2-40B4-BE49-F238E27FC236}">
                <a16:creationId xmlns:a16="http://schemas.microsoft.com/office/drawing/2014/main" id="{092911CC-C2AF-43C0-9912-9D987CE48990}"/>
              </a:ext>
            </a:extLst>
          </p:cNvPr>
          <p:cNvSpPr>
            <a:spLocks noGrp="1"/>
          </p:cNvSpPr>
          <p:nvPr/>
        </p:nvSpPr>
        <p:spPr>
          <a:xfrm>
            <a:off x="714375" y="24193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9" name="Yuvarlatılmış Dikdörtgen 8">
            <a:extLst>
              <a:ext uri="{FF2B5EF4-FFF2-40B4-BE49-F238E27FC236}">
                <a16:creationId xmlns:a16="http://schemas.microsoft.com/office/drawing/2014/main" id="{D9362E0F-211A-4EAF-A5EF-7808CC3049C7}"/>
              </a:ext>
            </a:extLst>
          </p:cNvPr>
          <p:cNvSpPr>
            <a:spLocks noGrp="1"/>
          </p:cNvSpPr>
          <p:nvPr/>
        </p:nvSpPr>
        <p:spPr>
          <a:xfrm>
            <a:off x="6667500" y="24193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10" name="Dikdörtgen 9">
            <a:extLst>
              <a:ext uri="{FF2B5EF4-FFF2-40B4-BE49-F238E27FC236}">
                <a16:creationId xmlns:a16="http://schemas.microsoft.com/office/drawing/2014/main" id="{F003C3E4-793D-4BE2-A833-63D298686E15}"/>
              </a:ext>
            </a:extLst>
          </p:cNvPr>
          <p:cNvSpPr>
            <a:spLocks noGrp="1"/>
          </p:cNvSpPr>
          <p:nvPr/>
        </p:nvSpPr>
        <p:spPr>
          <a:xfrm>
            <a:off x="1000125" y="2543175"/>
            <a:ext cx="4095750" cy="257175"/>
          </a:xfrm>
          <a:prstGeom prst="rect">
            <a:avLst/>
          </a:prstGeom>
          <a:noFill/>
          <a:ln w="0">
            <a:noFill/>
          </a:ln>
        </p:spPr>
        <p:txBody>
          <a:bodyPr anchor="t">
            <a:normAutofit fontScale="76316"/>
          </a:bodyPr>
          <a:lstStyle/>
          <a:p>
            <a:pPr algn="l">
              <a:defRPr sz="1425" b="1" i="0">
                <a:solidFill>
                  <a:srgbClr val="176082"/>
                </a:solidFill>
                <a:latin typeface="Arial"/>
                <a:ea typeface="Arial"/>
                <a:cs typeface="Arial"/>
              </a:defRPr>
            </a:pPr>
            <a:r>
              <a:rPr sz="1425" b="1" i="0">
                <a:solidFill>
                  <a:srgbClr val="176082"/>
                </a:solidFill>
                <a:latin typeface="Arial"/>
                <a:ea typeface="Arial"/>
                <a:cs typeface="Arial"/>
              </a:rPr>
              <a:t>Discourse competence</a:t>
            </a:r>
          </a:p>
        </p:txBody>
      </p:sp>
      <p:sp>
        <p:nvSpPr>
          <p:cNvPr id="11" name="Dikdörtgen 10">
            <a:extLst>
              <a:ext uri="{FF2B5EF4-FFF2-40B4-BE49-F238E27FC236}">
                <a16:creationId xmlns:a16="http://schemas.microsoft.com/office/drawing/2014/main" id="{1FCFC927-9ADC-4C9A-BD61-20C34E7B1F49}"/>
              </a:ext>
            </a:extLst>
          </p:cNvPr>
          <p:cNvSpPr>
            <a:spLocks noGrp="1"/>
          </p:cNvSpPr>
          <p:nvPr/>
        </p:nvSpPr>
        <p:spPr>
          <a:xfrm>
            <a:off x="1000125" y="2847975"/>
            <a:ext cx="4095750" cy="247650"/>
          </a:xfrm>
          <a:prstGeom prst="rect">
            <a:avLst/>
          </a:prstGeom>
          <a:noFill/>
          <a:ln w="0">
            <a:noFill/>
          </a:ln>
        </p:spPr>
        <p:txBody>
          <a:bodyPr anchor="t">
            <a:normAutofit fontScale="85417"/>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Cohesion, coherence and organisation</a:t>
            </a:r>
          </a:p>
        </p:txBody>
      </p:sp>
      <p:sp>
        <p:nvSpPr>
          <p:cNvPr id="12" name="Dikdörtgen 11">
            <a:extLst>
              <a:ext uri="{FF2B5EF4-FFF2-40B4-BE49-F238E27FC236}">
                <a16:creationId xmlns:a16="http://schemas.microsoft.com/office/drawing/2014/main" id="{A916D274-C6D0-43DA-98F9-6A176EBC6BBD}"/>
              </a:ext>
            </a:extLst>
          </p:cNvPr>
          <p:cNvSpPr>
            <a:spLocks noGrp="1"/>
          </p:cNvSpPr>
          <p:nvPr/>
        </p:nvSpPr>
        <p:spPr>
          <a:xfrm>
            <a:off x="6953250" y="2619375"/>
            <a:ext cx="4238625" cy="428625"/>
          </a:xfrm>
          <a:prstGeom prst="rect">
            <a:avLst/>
          </a:prstGeom>
          <a:noFill/>
          <a:ln w="0">
            <a:noFill/>
          </a:ln>
        </p:spPr>
        <p:txBody>
          <a:bodyPr anchor="t">
            <a:normAutofit fontScale="85450"/>
          </a:bodyPr>
          <a:lstStyle/>
          <a:p>
            <a:pPr algn="ctr">
              <a:defRPr sz="1425" b="1" i="0">
                <a:solidFill>
                  <a:srgbClr val="33343F"/>
                </a:solidFill>
                <a:latin typeface="Arial"/>
                <a:ea typeface="Arial"/>
                <a:cs typeface="Arial"/>
              </a:defRPr>
            </a:pPr>
            <a:r>
              <a:rPr sz="1425" b="1" i="0">
                <a:solidFill>
                  <a:srgbClr val="33343F"/>
                </a:solidFill>
                <a:latin typeface="Arial"/>
                <a:ea typeface="Arial"/>
                <a:cs typeface="Arial"/>
              </a:rPr>
              <a:t>orientation · rhetorical relations · conceptual continuity</a:t>
            </a:r>
          </a:p>
        </p:txBody>
      </p:sp>
      <p:sp>
        <p:nvSpPr>
          <p:cNvPr id="13" name="Düz Bağlayıcı 12">
            <a:extLst>
              <a:ext uri="{FF2B5EF4-FFF2-40B4-BE49-F238E27FC236}">
                <a16:creationId xmlns:a16="http://schemas.microsoft.com/office/drawing/2014/main" id="{971AF1B7-A9C9-4419-9F56-B461993B7F67}"/>
              </a:ext>
            </a:extLst>
          </p:cNvPr>
          <p:cNvSpPr>
            <a:spLocks noGrp="1"/>
          </p:cNvSpPr>
          <p:nvPr/>
        </p:nvSpPr>
        <p:spPr>
          <a:xfrm>
            <a:off x="5524500" y="2828925"/>
            <a:ext cx="1143000" cy="0"/>
          </a:xfrm>
          <a:prstGeom prst="line">
            <a:avLst/>
          </a:prstGeom>
          <a:noFill/>
          <a:ln w="28575">
            <a:solidFill>
              <a:srgbClr val="176082"/>
            </a:solidFill>
          </a:ln>
        </p:spPr>
        <p:txBody>
          <a:bodyPr/>
          <a:lstStyle/>
          <a:p>
            <a:endParaRPr lang="tr-TR"/>
          </a:p>
        </p:txBody>
      </p:sp>
      <p:sp>
        <p:nvSpPr>
          <p:cNvPr id="14" name="Yuvarlatılmış Dikdörtgen 13">
            <a:extLst>
              <a:ext uri="{FF2B5EF4-FFF2-40B4-BE49-F238E27FC236}">
                <a16:creationId xmlns:a16="http://schemas.microsoft.com/office/drawing/2014/main" id="{CC205B18-827E-4E50-B1FA-8679D44FE3CA}"/>
              </a:ext>
            </a:extLst>
          </p:cNvPr>
          <p:cNvSpPr>
            <a:spLocks noGrp="1"/>
          </p:cNvSpPr>
          <p:nvPr/>
        </p:nvSpPr>
        <p:spPr>
          <a:xfrm>
            <a:off x="714375" y="34861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15" name="Yuvarlatılmış Dikdörtgen 14">
            <a:extLst>
              <a:ext uri="{FF2B5EF4-FFF2-40B4-BE49-F238E27FC236}">
                <a16:creationId xmlns:a16="http://schemas.microsoft.com/office/drawing/2014/main" id="{4A5F76DA-02C1-4013-86D4-53AC8A697709}"/>
              </a:ext>
            </a:extLst>
          </p:cNvPr>
          <p:cNvSpPr>
            <a:spLocks noGrp="1"/>
          </p:cNvSpPr>
          <p:nvPr/>
        </p:nvSpPr>
        <p:spPr>
          <a:xfrm>
            <a:off x="6667500" y="34861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16" name="Dikdörtgen 15">
            <a:extLst>
              <a:ext uri="{FF2B5EF4-FFF2-40B4-BE49-F238E27FC236}">
                <a16:creationId xmlns:a16="http://schemas.microsoft.com/office/drawing/2014/main" id="{054C9FD2-5CDA-4818-B50D-A249445FB04E}"/>
              </a:ext>
            </a:extLst>
          </p:cNvPr>
          <p:cNvSpPr>
            <a:spLocks noGrp="1"/>
          </p:cNvSpPr>
          <p:nvPr/>
        </p:nvSpPr>
        <p:spPr>
          <a:xfrm>
            <a:off x="1000125" y="3609975"/>
            <a:ext cx="4095750" cy="257175"/>
          </a:xfrm>
          <a:prstGeom prst="rect">
            <a:avLst/>
          </a:prstGeom>
          <a:noFill/>
          <a:ln w="0">
            <a:noFill/>
          </a:ln>
        </p:spPr>
        <p:txBody>
          <a:bodyPr anchor="t">
            <a:normAutofit fontScale="76316"/>
          </a:bodyPr>
          <a:lstStyle/>
          <a:p>
            <a:pPr algn="l">
              <a:defRPr sz="1425" b="1" i="0">
                <a:solidFill>
                  <a:srgbClr val="D58C00"/>
                </a:solidFill>
                <a:latin typeface="Arial"/>
                <a:ea typeface="Arial"/>
                <a:cs typeface="Arial"/>
              </a:defRPr>
            </a:pPr>
            <a:r>
              <a:rPr sz="1425" b="1" i="0">
                <a:solidFill>
                  <a:srgbClr val="D58C00"/>
                </a:solidFill>
                <a:latin typeface="Arial"/>
                <a:ea typeface="Arial"/>
                <a:cs typeface="Arial"/>
              </a:rPr>
              <a:t>Functional competence</a:t>
            </a:r>
          </a:p>
        </p:txBody>
      </p:sp>
      <p:sp>
        <p:nvSpPr>
          <p:cNvPr id="17" name="Dikdörtgen 16">
            <a:extLst>
              <a:ext uri="{FF2B5EF4-FFF2-40B4-BE49-F238E27FC236}">
                <a16:creationId xmlns:a16="http://schemas.microsoft.com/office/drawing/2014/main" id="{2D5B285F-448D-4AEF-B164-55DD6B5FC3DF}"/>
              </a:ext>
            </a:extLst>
          </p:cNvPr>
          <p:cNvSpPr>
            <a:spLocks noGrp="1"/>
          </p:cNvSpPr>
          <p:nvPr/>
        </p:nvSpPr>
        <p:spPr>
          <a:xfrm>
            <a:off x="1000125" y="3914775"/>
            <a:ext cx="4095750" cy="247650"/>
          </a:xfrm>
          <a:prstGeom prst="rect">
            <a:avLst/>
          </a:prstGeom>
          <a:noFill/>
          <a:ln w="0">
            <a:noFill/>
          </a:ln>
        </p:spPr>
        <p:txBody>
          <a:bodyPr anchor="t">
            <a:normAutofit fontScale="85417"/>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Communicative functions and patterns</a:t>
            </a:r>
          </a:p>
        </p:txBody>
      </p:sp>
      <p:sp>
        <p:nvSpPr>
          <p:cNvPr id="18" name="Dikdörtgen 17">
            <a:extLst>
              <a:ext uri="{FF2B5EF4-FFF2-40B4-BE49-F238E27FC236}">
                <a16:creationId xmlns:a16="http://schemas.microsoft.com/office/drawing/2014/main" id="{BCDF44C5-FD71-4DD4-AD38-BF09808EC9AC}"/>
              </a:ext>
            </a:extLst>
          </p:cNvPr>
          <p:cNvSpPr>
            <a:spLocks noGrp="1"/>
          </p:cNvSpPr>
          <p:nvPr/>
        </p:nvSpPr>
        <p:spPr>
          <a:xfrm>
            <a:off x="6953250" y="3686175"/>
            <a:ext cx="4238625" cy="428625"/>
          </a:xfrm>
          <a:prstGeom prst="rect">
            <a:avLst/>
          </a:prstGeom>
          <a:noFill/>
          <a:ln w="0">
            <a:noFill/>
          </a:ln>
        </p:spPr>
        <p:txBody>
          <a:bodyPr anchor="t">
            <a:normAutofit/>
          </a:bodyPr>
          <a:lstStyle/>
          <a:p>
            <a:pPr algn="ctr">
              <a:defRPr sz="1425" b="1" i="0">
                <a:solidFill>
                  <a:srgbClr val="33343F"/>
                </a:solidFill>
                <a:latin typeface="Arial"/>
                <a:ea typeface="Arial"/>
                <a:cs typeface="Arial"/>
              </a:defRPr>
            </a:pPr>
            <a:r>
              <a:rPr sz="1425" b="1" i="0">
                <a:solidFill>
                  <a:srgbClr val="33343F"/>
                </a:solidFill>
                <a:latin typeface="Arial"/>
                <a:ea typeface="Arial"/>
                <a:cs typeface="Arial"/>
              </a:rPr>
              <a:t>meaning access · reader engagement</a:t>
            </a:r>
          </a:p>
        </p:txBody>
      </p:sp>
      <p:sp>
        <p:nvSpPr>
          <p:cNvPr id="19" name="Düz Bağlayıcı 18">
            <a:extLst>
              <a:ext uri="{FF2B5EF4-FFF2-40B4-BE49-F238E27FC236}">
                <a16:creationId xmlns:a16="http://schemas.microsoft.com/office/drawing/2014/main" id="{31CDF103-D3C5-4767-8E8F-D04C71F75814}"/>
              </a:ext>
            </a:extLst>
          </p:cNvPr>
          <p:cNvSpPr>
            <a:spLocks noGrp="1"/>
          </p:cNvSpPr>
          <p:nvPr/>
        </p:nvSpPr>
        <p:spPr>
          <a:xfrm>
            <a:off x="5524500" y="3895725"/>
            <a:ext cx="1143000" cy="0"/>
          </a:xfrm>
          <a:prstGeom prst="line">
            <a:avLst/>
          </a:prstGeom>
          <a:noFill/>
          <a:ln w="28575">
            <a:solidFill>
              <a:srgbClr val="D58C00"/>
            </a:solidFill>
          </a:ln>
        </p:spPr>
        <p:txBody>
          <a:bodyPr/>
          <a:lstStyle/>
          <a:p>
            <a:endParaRPr lang="tr-TR"/>
          </a:p>
        </p:txBody>
      </p:sp>
      <p:sp>
        <p:nvSpPr>
          <p:cNvPr id="20" name="Yuvarlatılmış Dikdörtgen 19">
            <a:extLst>
              <a:ext uri="{FF2B5EF4-FFF2-40B4-BE49-F238E27FC236}">
                <a16:creationId xmlns:a16="http://schemas.microsoft.com/office/drawing/2014/main" id="{5A7A58E4-2DD0-4034-87FE-E5A37503D393}"/>
              </a:ext>
            </a:extLst>
          </p:cNvPr>
          <p:cNvSpPr>
            <a:spLocks noGrp="1"/>
          </p:cNvSpPr>
          <p:nvPr/>
        </p:nvSpPr>
        <p:spPr>
          <a:xfrm>
            <a:off x="714375" y="45529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21" name="Yuvarlatılmış Dikdörtgen 20">
            <a:extLst>
              <a:ext uri="{FF2B5EF4-FFF2-40B4-BE49-F238E27FC236}">
                <a16:creationId xmlns:a16="http://schemas.microsoft.com/office/drawing/2014/main" id="{6435AFE9-38F0-49B4-B799-A3AA7715DC17}"/>
              </a:ext>
            </a:extLst>
          </p:cNvPr>
          <p:cNvSpPr>
            <a:spLocks noGrp="1"/>
          </p:cNvSpPr>
          <p:nvPr/>
        </p:nvSpPr>
        <p:spPr>
          <a:xfrm>
            <a:off x="6667500" y="4552950"/>
            <a:ext cx="4810125" cy="819150"/>
          </a:xfrm>
          <a:prstGeom prst="roundRect">
            <a:avLst>
              <a:gd name="adj" fmla="val 9302"/>
            </a:avLst>
          </a:prstGeom>
          <a:solidFill>
            <a:srgbClr val="FFFFFF"/>
          </a:solidFill>
          <a:ln w="9525">
            <a:solidFill>
              <a:srgbClr val="C8C9D3"/>
            </a:solidFill>
          </a:ln>
        </p:spPr>
        <p:txBody>
          <a:bodyPr/>
          <a:lstStyle/>
          <a:p>
            <a:endParaRPr lang="tr-TR"/>
          </a:p>
        </p:txBody>
      </p:sp>
      <p:sp>
        <p:nvSpPr>
          <p:cNvPr id="22" name="Dikdörtgen 21">
            <a:extLst>
              <a:ext uri="{FF2B5EF4-FFF2-40B4-BE49-F238E27FC236}">
                <a16:creationId xmlns:a16="http://schemas.microsoft.com/office/drawing/2014/main" id="{477F6201-49F9-4FEB-8C5F-13E8874A5040}"/>
              </a:ext>
            </a:extLst>
          </p:cNvPr>
          <p:cNvSpPr>
            <a:spLocks noGrp="1"/>
          </p:cNvSpPr>
          <p:nvPr/>
        </p:nvSpPr>
        <p:spPr>
          <a:xfrm>
            <a:off x="1000125" y="4676775"/>
            <a:ext cx="4095750" cy="257175"/>
          </a:xfrm>
          <a:prstGeom prst="rect">
            <a:avLst/>
          </a:prstGeom>
          <a:noFill/>
          <a:ln w="0">
            <a:noFill/>
          </a:ln>
        </p:spPr>
        <p:txBody>
          <a:bodyPr anchor="t">
            <a:normAutofit fontScale="76316"/>
          </a:bodyPr>
          <a:lstStyle/>
          <a:p>
            <a:pPr algn="l">
              <a:defRPr sz="1425" b="1" i="0">
                <a:solidFill>
                  <a:srgbClr val="FFD45A"/>
                </a:solidFill>
                <a:latin typeface="Arial"/>
                <a:ea typeface="Arial"/>
                <a:cs typeface="Arial"/>
              </a:defRPr>
            </a:pPr>
            <a:r>
              <a:rPr sz="1425" b="1" i="0">
                <a:solidFill>
                  <a:srgbClr val="FFD45A"/>
                </a:solidFill>
                <a:latin typeface="Arial"/>
                <a:ea typeface="Arial"/>
                <a:cs typeface="Arial"/>
              </a:rPr>
              <a:t>Design competence</a:t>
            </a:r>
          </a:p>
        </p:txBody>
      </p:sp>
      <p:sp>
        <p:nvSpPr>
          <p:cNvPr id="23" name="Dikdörtgen 22">
            <a:extLst>
              <a:ext uri="{FF2B5EF4-FFF2-40B4-BE49-F238E27FC236}">
                <a16:creationId xmlns:a16="http://schemas.microsoft.com/office/drawing/2014/main" id="{1C9D0CC5-9621-4A4F-93C2-0CD7FA2A2667}"/>
              </a:ext>
            </a:extLst>
          </p:cNvPr>
          <p:cNvSpPr>
            <a:spLocks noGrp="1"/>
          </p:cNvSpPr>
          <p:nvPr/>
        </p:nvSpPr>
        <p:spPr>
          <a:xfrm>
            <a:off x="1000125" y="4981575"/>
            <a:ext cx="4095750" cy="247650"/>
          </a:xfrm>
          <a:prstGeom prst="rect">
            <a:avLst/>
          </a:prstGeom>
          <a:noFill/>
          <a:ln w="0">
            <a:noFill/>
          </a:ln>
        </p:spPr>
        <p:txBody>
          <a:bodyPr anchor="t">
            <a:normAutofit fontScale="85417"/>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Sequencing and arrangement of messages</a:t>
            </a:r>
          </a:p>
        </p:txBody>
      </p:sp>
      <p:sp>
        <p:nvSpPr>
          <p:cNvPr id="24" name="Dikdörtgen 23">
            <a:extLst>
              <a:ext uri="{FF2B5EF4-FFF2-40B4-BE49-F238E27FC236}">
                <a16:creationId xmlns:a16="http://schemas.microsoft.com/office/drawing/2014/main" id="{052A27F1-B502-4BC8-801C-B9FEB4856A14}"/>
              </a:ext>
            </a:extLst>
          </p:cNvPr>
          <p:cNvSpPr>
            <a:spLocks noGrp="1"/>
          </p:cNvSpPr>
          <p:nvPr/>
        </p:nvSpPr>
        <p:spPr>
          <a:xfrm>
            <a:off x="6953250" y="4752975"/>
            <a:ext cx="4238625" cy="428625"/>
          </a:xfrm>
          <a:prstGeom prst="rect">
            <a:avLst/>
          </a:prstGeom>
          <a:noFill/>
          <a:ln w="0">
            <a:noFill/>
          </a:ln>
        </p:spPr>
        <p:txBody>
          <a:bodyPr anchor="t">
            <a:normAutofit fontScale="96992"/>
          </a:bodyPr>
          <a:lstStyle/>
          <a:p>
            <a:pPr algn="ctr">
              <a:defRPr sz="1425" b="1" i="0">
                <a:solidFill>
                  <a:srgbClr val="33343F"/>
                </a:solidFill>
                <a:latin typeface="Arial"/>
                <a:ea typeface="Arial"/>
                <a:cs typeface="Arial"/>
              </a:defRPr>
            </a:pPr>
            <a:r>
              <a:rPr sz="1425" b="1" i="0">
                <a:solidFill>
                  <a:srgbClr val="33343F"/>
                </a:solidFill>
                <a:latin typeface="Arial"/>
                <a:ea typeface="Arial"/>
                <a:cs typeface="Arial"/>
              </a:rPr>
              <a:t>placement · distribution · multimodal integration</a:t>
            </a:r>
          </a:p>
        </p:txBody>
      </p:sp>
      <p:sp>
        <p:nvSpPr>
          <p:cNvPr id="25" name="Düz Bağlayıcı 24">
            <a:extLst>
              <a:ext uri="{FF2B5EF4-FFF2-40B4-BE49-F238E27FC236}">
                <a16:creationId xmlns:a16="http://schemas.microsoft.com/office/drawing/2014/main" id="{C93CFF0C-9068-4CBF-B304-CCCEE622FAF2}"/>
              </a:ext>
            </a:extLst>
          </p:cNvPr>
          <p:cNvSpPr>
            <a:spLocks noGrp="1"/>
          </p:cNvSpPr>
          <p:nvPr/>
        </p:nvSpPr>
        <p:spPr>
          <a:xfrm>
            <a:off x="5524500" y="4962525"/>
            <a:ext cx="1143000" cy="0"/>
          </a:xfrm>
          <a:prstGeom prst="line">
            <a:avLst/>
          </a:prstGeom>
          <a:noFill/>
          <a:ln w="28575">
            <a:solidFill>
              <a:srgbClr val="FFD45A"/>
            </a:solidFill>
          </a:ln>
        </p:spPr>
        <p:txBody>
          <a:bodyPr/>
          <a:lstStyle/>
          <a:p>
            <a:endParaRPr lang="tr-TR"/>
          </a:p>
        </p:txBody>
      </p:sp>
      <p:sp>
        <p:nvSpPr>
          <p:cNvPr id="26" name="Yuvarlatılmış Dikdörtgen 25">
            <a:extLst>
              <a:ext uri="{FF2B5EF4-FFF2-40B4-BE49-F238E27FC236}">
                <a16:creationId xmlns:a16="http://schemas.microsoft.com/office/drawing/2014/main" id="{3F5059D1-B31E-46A6-AE19-7E0DBF862604}"/>
              </a:ext>
            </a:extLst>
          </p:cNvPr>
          <p:cNvSpPr>
            <a:spLocks noGrp="1"/>
          </p:cNvSpPr>
          <p:nvPr/>
        </p:nvSpPr>
        <p:spPr>
          <a:xfrm>
            <a:off x="1476375" y="5734050"/>
            <a:ext cx="9239250" cy="381000"/>
          </a:xfrm>
          <a:prstGeom prst="roundRect">
            <a:avLst>
              <a:gd name="adj" fmla="val 20000"/>
            </a:avLst>
          </a:prstGeom>
          <a:solidFill>
            <a:srgbClr val="E6F0F5"/>
          </a:solidFill>
          <a:ln w="0">
            <a:noFill/>
          </a:ln>
        </p:spPr>
        <p:txBody>
          <a:bodyPr/>
          <a:lstStyle/>
          <a:p>
            <a:endParaRPr lang="tr-TR"/>
          </a:p>
        </p:txBody>
      </p:sp>
      <p:sp>
        <p:nvSpPr>
          <p:cNvPr id="27" name="Dikdörtgen 26">
            <a:extLst>
              <a:ext uri="{FF2B5EF4-FFF2-40B4-BE49-F238E27FC236}">
                <a16:creationId xmlns:a16="http://schemas.microsoft.com/office/drawing/2014/main" id="{8728A93D-494E-4CF7-8887-061EC8B2189C}"/>
              </a:ext>
            </a:extLst>
          </p:cNvPr>
          <p:cNvSpPr>
            <a:spLocks noGrp="1"/>
          </p:cNvSpPr>
          <p:nvPr/>
        </p:nvSpPr>
        <p:spPr>
          <a:xfrm>
            <a:off x="1714500" y="5800725"/>
            <a:ext cx="8763000" cy="238125"/>
          </a:xfrm>
          <a:prstGeom prst="rect">
            <a:avLst/>
          </a:prstGeom>
          <a:noFill/>
          <a:ln w="0">
            <a:noFill/>
          </a:ln>
        </p:spPr>
        <p:txBody>
          <a:bodyPr anchor="t">
            <a:normAutofit fontScale="71296"/>
          </a:bodyPr>
          <a:lstStyle/>
          <a:p>
            <a:pPr algn="ctr">
              <a:defRPr sz="1350" b="1" i="0">
                <a:solidFill>
                  <a:srgbClr val="176082"/>
                </a:solidFill>
                <a:latin typeface="Arial"/>
                <a:ea typeface="Arial"/>
                <a:cs typeface="Arial"/>
              </a:defRPr>
            </a:pPr>
            <a:r>
              <a:rPr sz="1350" b="1" i="0">
                <a:solidFill>
                  <a:srgbClr val="176082"/>
                </a:solidFill>
                <a:latin typeface="Arial"/>
                <a:ea typeface="Arial"/>
                <a:cs typeface="Arial"/>
              </a:rPr>
              <a:t>MIWAE treats pragmatic competence as distributed across reader, text and task.</a:t>
            </a:r>
          </a:p>
        </p:txBody>
      </p:sp>
      <p:sp>
        <p:nvSpPr>
          <p:cNvPr id="28" name="Dikdörtgen 27">
            <a:extLst>
              <a:ext uri="{FF2B5EF4-FFF2-40B4-BE49-F238E27FC236}">
                <a16:creationId xmlns:a16="http://schemas.microsoft.com/office/drawing/2014/main" id="{12D1CA98-5708-4591-A7FB-231F48D31DA1}"/>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Council of Europe, 2020; Canale &amp; Swain, 1980; accepted abstract</a:t>
            </a:r>
          </a:p>
        </p:txBody>
      </p:sp>
      <p:sp>
        <p:nvSpPr>
          <p:cNvPr id="29" name="Düz Bağlayıcı 28">
            <a:extLst>
              <a:ext uri="{FF2B5EF4-FFF2-40B4-BE49-F238E27FC236}">
                <a16:creationId xmlns:a16="http://schemas.microsoft.com/office/drawing/2014/main" id="{7DAB76A5-08A9-4AF7-AFAA-5E61D2B21ABF}"/>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0" name="Dikdörtgen 29">
            <a:extLst>
              <a:ext uri="{FF2B5EF4-FFF2-40B4-BE49-F238E27FC236}">
                <a16:creationId xmlns:a16="http://schemas.microsoft.com/office/drawing/2014/main" id="{E591D29E-E278-45AF-8F30-46C83034815B}"/>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778083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7" name="Yuvarlatılmış Dikdörtgen 16">
            <a:extLst>
              <a:ext uri="{FF2B5EF4-FFF2-40B4-BE49-F238E27FC236}">
                <a16:creationId xmlns:a16="http://schemas.microsoft.com/office/drawing/2014/main" id="{9F94AAD4-D243-4158-8769-8FE7AA1D5D77}"/>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D6DA68F5-DB52-4FE1-9896-394AF7C13C95}"/>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15C960C3-3B50-4708-856A-01E9CDCF8A40}"/>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Working meaning of ELFA friendliness</a:t>
            </a:r>
          </a:p>
        </p:txBody>
      </p:sp>
      <p:sp>
        <p:nvSpPr>
          <p:cNvPr id="4" name="Düz Bağlayıcı 3">
            <a:extLst>
              <a:ext uri="{FF2B5EF4-FFF2-40B4-BE49-F238E27FC236}">
                <a16:creationId xmlns:a16="http://schemas.microsoft.com/office/drawing/2014/main" id="{1AE34D00-1BF9-4942-8910-9BE8FD4A9D88}"/>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2DD6DB8D-5B28-41D4-8CB1-6A4D77DBDCBA}"/>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07</a:t>
            </a:r>
          </a:p>
        </p:txBody>
      </p:sp>
      <p:sp>
        <p:nvSpPr>
          <p:cNvPr id="6" name="Dikdörtgen 5">
            <a:extLst>
              <a:ext uri="{FF2B5EF4-FFF2-40B4-BE49-F238E27FC236}">
                <a16:creationId xmlns:a16="http://schemas.microsoft.com/office/drawing/2014/main" id="{D60796C6-7B85-4819-BC7D-37BCC03EAA26}"/>
              </a:ext>
            </a:extLst>
          </p:cNvPr>
          <p:cNvSpPr>
            <a:spLocks noGrp="1"/>
          </p:cNvSpPr>
          <p:nvPr/>
        </p:nvSpPr>
        <p:spPr>
          <a:xfrm>
            <a:off x="1143000" y="1743075"/>
            <a:ext cx="9906000" cy="647700"/>
          </a:xfrm>
          <a:prstGeom prst="rect">
            <a:avLst/>
          </a:prstGeom>
          <a:noFill/>
          <a:ln w="0">
            <a:noFill/>
          </a:ln>
        </p:spPr>
        <p:txBody>
          <a:bodyPr anchor="t">
            <a:normAutofit fontScale="81111"/>
          </a:bodyPr>
          <a:lstStyle/>
          <a:p>
            <a:pPr algn="ctr">
              <a:defRPr sz="2250" b="1" i="0">
                <a:solidFill>
                  <a:srgbClr val="33343F"/>
                </a:solidFill>
                <a:latin typeface="Arial"/>
                <a:ea typeface="Arial"/>
                <a:cs typeface="Arial"/>
              </a:defRPr>
            </a:pPr>
            <a:r>
              <a:rPr sz="2250" b="1" i="0">
                <a:solidFill>
                  <a:srgbClr val="33343F"/>
                </a:solidFill>
                <a:latin typeface="Arial"/>
                <a:ea typeface="Arial"/>
                <a:cs typeface="Arial"/>
              </a:rPr>
              <a:t>An ELFA-friendly textbook anticipates multilingual readers while preserving disciplinary meaning.</a:t>
            </a:r>
          </a:p>
        </p:txBody>
      </p:sp>
      <p:sp>
        <p:nvSpPr>
          <p:cNvPr id="7" name="Yuvarlatılmış Dikdörtgen 6">
            <a:extLst>
              <a:ext uri="{FF2B5EF4-FFF2-40B4-BE49-F238E27FC236}">
                <a16:creationId xmlns:a16="http://schemas.microsoft.com/office/drawing/2014/main" id="{363661CB-4D78-4D5B-A39C-D6EA2E662C63}"/>
              </a:ext>
            </a:extLst>
          </p:cNvPr>
          <p:cNvSpPr>
            <a:spLocks noGrp="1"/>
          </p:cNvSpPr>
          <p:nvPr/>
        </p:nvSpPr>
        <p:spPr>
          <a:xfrm>
            <a:off x="1047750" y="2762250"/>
            <a:ext cx="4572000" cy="2143125"/>
          </a:xfrm>
          <a:prstGeom prst="roundRect">
            <a:avLst>
              <a:gd name="adj" fmla="val 3556"/>
            </a:avLst>
          </a:prstGeom>
          <a:solidFill>
            <a:srgbClr val="E6F0F5"/>
          </a:solidFill>
          <a:ln w="0">
            <a:noFill/>
          </a:ln>
        </p:spPr>
        <p:txBody>
          <a:bodyPr/>
          <a:lstStyle/>
          <a:p>
            <a:endParaRPr lang="tr-TR"/>
          </a:p>
        </p:txBody>
      </p:sp>
      <p:sp>
        <p:nvSpPr>
          <p:cNvPr id="8" name="Dikdörtgen 7">
            <a:extLst>
              <a:ext uri="{FF2B5EF4-FFF2-40B4-BE49-F238E27FC236}">
                <a16:creationId xmlns:a16="http://schemas.microsoft.com/office/drawing/2014/main" id="{208A325C-5594-46B7-8FAA-D6217821086F}"/>
              </a:ext>
            </a:extLst>
          </p:cNvPr>
          <p:cNvSpPr>
            <a:spLocks noGrp="1"/>
          </p:cNvSpPr>
          <p:nvPr/>
        </p:nvSpPr>
        <p:spPr>
          <a:xfrm>
            <a:off x="1381125" y="3048000"/>
            <a:ext cx="34290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THE FRAMEWORK LOOKS FOR</a:t>
            </a:r>
          </a:p>
        </p:txBody>
      </p:sp>
      <p:sp>
        <p:nvSpPr>
          <p:cNvPr id="9" name="Dikdörtgen 8">
            <a:extLst>
              <a:ext uri="{FF2B5EF4-FFF2-40B4-BE49-F238E27FC236}">
                <a16:creationId xmlns:a16="http://schemas.microsoft.com/office/drawing/2014/main" id="{55FF5F1A-9603-49AB-BA42-C89F8674820D}"/>
              </a:ext>
            </a:extLst>
          </p:cNvPr>
          <p:cNvSpPr>
            <a:spLocks noGrp="1"/>
          </p:cNvSpPr>
          <p:nvPr/>
        </p:nvSpPr>
        <p:spPr>
          <a:xfrm>
            <a:off x="1381125" y="3476625"/>
            <a:ext cx="3810000" cy="1238250"/>
          </a:xfrm>
          <a:prstGeom prst="rect">
            <a:avLst/>
          </a:prstGeom>
          <a:noFill/>
          <a:ln w="0">
            <a:noFill/>
          </a:ln>
        </p:spPr>
        <p:txBody>
          <a:bodyPr anchor="t">
            <a:normAutofit/>
          </a:bodyPr>
          <a:lstStyle/>
          <a:p>
            <a:pPr algn="l">
              <a:defRPr sz="1500" b="0" i="0">
                <a:solidFill>
                  <a:srgbClr val="33343F"/>
                </a:solidFill>
                <a:latin typeface="Arial"/>
                <a:ea typeface="Arial"/>
                <a:cs typeface="Arial"/>
              </a:defRPr>
            </a:pPr>
            <a:r>
              <a:rPr sz="1500" b="0" i="0">
                <a:solidFill>
                  <a:srgbClr val="33343F"/>
                </a:solidFill>
                <a:latin typeface="Arial"/>
                <a:ea typeface="Arial"/>
                <a:cs typeface="Arial"/>
              </a:rPr>
              <a:t>Accessible disciplinary meanings</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Visible organisation and relations</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Support placed where readers need it</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Coordination of words, visuals and notation</a:t>
            </a:r>
          </a:p>
        </p:txBody>
      </p:sp>
      <p:sp>
        <p:nvSpPr>
          <p:cNvPr id="10" name="Yuvarlatılmış Dikdörtgen 9">
            <a:extLst>
              <a:ext uri="{FF2B5EF4-FFF2-40B4-BE49-F238E27FC236}">
                <a16:creationId xmlns:a16="http://schemas.microsoft.com/office/drawing/2014/main" id="{B6FD08E5-BA6E-4936-BFE5-11B1DDA3521D}"/>
              </a:ext>
            </a:extLst>
          </p:cNvPr>
          <p:cNvSpPr>
            <a:spLocks noGrp="1"/>
          </p:cNvSpPr>
          <p:nvPr/>
        </p:nvSpPr>
        <p:spPr>
          <a:xfrm>
            <a:off x="6572250" y="2762250"/>
            <a:ext cx="4572000" cy="2143125"/>
          </a:xfrm>
          <a:prstGeom prst="roundRect">
            <a:avLst>
              <a:gd name="adj" fmla="val 3556"/>
            </a:avLst>
          </a:prstGeom>
          <a:solidFill>
            <a:srgbClr val="FFF4D8"/>
          </a:solidFill>
          <a:ln w="0">
            <a:noFill/>
          </a:ln>
        </p:spPr>
        <p:txBody>
          <a:bodyPr/>
          <a:lstStyle/>
          <a:p>
            <a:endParaRPr lang="tr-TR"/>
          </a:p>
        </p:txBody>
      </p:sp>
      <p:sp>
        <p:nvSpPr>
          <p:cNvPr id="11" name="Dikdörtgen 10">
            <a:extLst>
              <a:ext uri="{FF2B5EF4-FFF2-40B4-BE49-F238E27FC236}">
                <a16:creationId xmlns:a16="http://schemas.microsoft.com/office/drawing/2014/main" id="{241A4E28-78B5-4542-A530-E94E08D160D6}"/>
              </a:ext>
            </a:extLst>
          </p:cNvPr>
          <p:cNvSpPr>
            <a:spLocks noGrp="1"/>
          </p:cNvSpPr>
          <p:nvPr/>
        </p:nvSpPr>
        <p:spPr>
          <a:xfrm>
            <a:off x="6905625" y="3048000"/>
            <a:ext cx="3714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THE FRAMEWORK DOES NOT REWARD</a:t>
            </a:r>
          </a:p>
        </p:txBody>
      </p:sp>
      <p:sp>
        <p:nvSpPr>
          <p:cNvPr id="12" name="Dikdörtgen 11">
            <a:extLst>
              <a:ext uri="{FF2B5EF4-FFF2-40B4-BE49-F238E27FC236}">
                <a16:creationId xmlns:a16="http://schemas.microsoft.com/office/drawing/2014/main" id="{73DED44B-F533-4E3A-98C1-2431CBAC65BD}"/>
              </a:ext>
            </a:extLst>
          </p:cNvPr>
          <p:cNvSpPr>
            <a:spLocks noGrp="1"/>
          </p:cNvSpPr>
          <p:nvPr/>
        </p:nvSpPr>
        <p:spPr>
          <a:xfrm>
            <a:off x="6905625" y="3476625"/>
            <a:ext cx="3810000" cy="1238250"/>
          </a:xfrm>
          <a:prstGeom prst="rect">
            <a:avLst/>
          </a:prstGeom>
          <a:noFill/>
          <a:ln w="0">
            <a:noFill/>
          </a:ln>
        </p:spPr>
        <p:txBody>
          <a:bodyPr anchor="t">
            <a:normAutofit/>
          </a:bodyPr>
          <a:lstStyle/>
          <a:p>
            <a:pPr algn="l">
              <a:defRPr sz="1500" b="0" i="0">
                <a:solidFill>
                  <a:srgbClr val="33343F"/>
                </a:solidFill>
                <a:latin typeface="Arial"/>
                <a:ea typeface="Arial"/>
                <a:cs typeface="Arial"/>
              </a:defRPr>
            </a:pPr>
            <a:r>
              <a:rPr sz="1500" b="0" i="0">
                <a:solidFill>
                  <a:srgbClr val="33343F"/>
                </a:solidFill>
                <a:latin typeface="Arial"/>
                <a:ea typeface="Arial"/>
                <a:cs typeface="Arial"/>
              </a:rPr>
              <a:t>Simpler English as an end in itself</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Removal of technical terminology</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Native-speaker imitation</a:t>
            </a:r>
          </a:p>
          <a:p>
            <a:pPr algn="l">
              <a:defRPr sz="1500" b="0" i="0">
                <a:solidFill>
                  <a:srgbClr val="33343F"/>
                </a:solidFill>
                <a:latin typeface="Arial"/>
                <a:ea typeface="Arial"/>
                <a:cs typeface="Arial"/>
              </a:defRPr>
            </a:pPr>
            <a:r>
              <a:rPr sz="1500" b="0" i="0">
                <a:solidFill>
                  <a:srgbClr val="33343F"/>
                </a:solidFill>
                <a:latin typeface="Arial"/>
                <a:ea typeface="Arial"/>
                <a:cs typeface="Arial"/>
              </a:rPr>
              <a:t>The same support recipe in every discipline</a:t>
            </a:r>
          </a:p>
        </p:txBody>
      </p:sp>
      <p:sp>
        <p:nvSpPr>
          <p:cNvPr id="13" name="Dikdörtgen 12">
            <a:extLst>
              <a:ext uri="{FF2B5EF4-FFF2-40B4-BE49-F238E27FC236}">
                <a16:creationId xmlns:a16="http://schemas.microsoft.com/office/drawing/2014/main" id="{CE3C7F85-364D-491C-9DBD-44C8F417212B}"/>
              </a:ext>
            </a:extLst>
          </p:cNvPr>
          <p:cNvSpPr>
            <a:spLocks noGrp="1"/>
          </p:cNvSpPr>
          <p:nvPr/>
        </p:nvSpPr>
        <p:spPr>
          <a:xfrm>
            <a:off x="1809750" y="5467350"/>
            <a:ext cx="8572500" cy="428625"/>
          </a:xfrm>
          <a:prstGeom prst="rect">
            <a:avLst/>
          </a:prstGeom>
          <a:noFill/>
          <a:ln w="0">
            <a:noFill/>
          </a:ln>
        </p:spPr>
        <p:txBody>
          <a:bodyPr anchor="t">
            <a:normAutofit/>
          </a:bodyPr>
          <a:lstStyle/>
          <a:p>
            <a:pPr algn="ctr">
              <a:defRPr sz="1650" b="1" i="0">
                <a:solidFill>
                  <a:srgbClr val="176082"/>
                </a:solidFill>
                <a:latin typeface="Arial"/>
                <a:ea typeface="Arial"/>
                <a:cs typeface="Arial"/>
              </a:defRPr>
            </a:pPr>
            <a:r>
              <a:rPr sz="1650" b="1" i="0">
                <a:solidFill>
                  <a:srgbClr val="176082"/>
                </a:solidFill>
                <a:latin typeface="Arial"/>
                <a:ea typeface="Arial"/>
                <a:cs typeface="Arial"/>
              </a:rPr>
              <a:t>Preserve the term; unpack the meaning and relation when evidence shows a need.</a:t>
            </a:r>
          </a:p>
        </p:txBody>
      </p:sp>
      <p:sp>
        <p:nvSpPr>
          <p:cNvPr id="14" name="Dikdörtgen 13">
            <a:extLst>
              <a:ext uri="{FF2B5EF4-FFF2-40B4-BE49-F238E27FC236}">
                <a16:creationId xmlns:a16="http://schemas.microsoft.com/office/drawing/2014/main" id="{4CBDE8FB-D446-4747-86BD-348D2631F41B}"/>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Seidlhofer, 2011, §§6.3–7.3; Mauranen et al., 2016, pp. 49–53</a:t>
            </a:r>
          </a:p>
        </p:txBody>
      </p:sp>
      <p:sp>
        <p:nvSpPr>
          <p:cNvPr id="15" name="Düz Bağlayıcı 14">
            <a:extLst>
              <a:ext uri="{FF2B5EF4-FFF2-40B4-BE49-F238E27FC236}">
                <a16:creationId xmlns:a16="http://schemas.microsoft.com/office/drawing/2014/main" id="{FE5B3F20-F81C-4B28-AA73-DFF63A7DE616}"/>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6" name="Dikdörtgen 15">
            <a:extLst>
              <a:ext uri="{FF2B5EF4-FFF2-40B4-BE49-F238E27FC236}">
                <a16:creationId xmlns:a16="http://schemas.microsoft.com/office/drawing/2014/main" id="{E641334D-83B6-4D1F-99BE-233F1F31863B}"/>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830131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ECDD597A-4C6D-4EB8-ACCD-E4FE9A7ABAF9}"/>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44BE2B43-A378-42DA-9B93-ADF58DF33C0A}"/>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Dikdörtgen 2">
            <a:extLst>
              <a:ext uri="{FF2B5EF4-FFF2-40B4-BE49-F238E27FC236}">
                <a16:creationId xmlns:a16="http://schemas.microsoft.com/office/drawing/2014/main" id="{4C5A5AB3-EF7D-4DCD-B749-C44B34CBC5A6}"/>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Research question and contribution</a:t>
            </a:r>
          </a:p>
        </p:txBody>
      </p:sp>
      <p:sp>
        <p:nvSpPr>
          <p:cNvPr id="4" name="Düz Bağlayıcı 3">
            <a:extLst>
              <a:ext uri="{FF2B5EF4-FFF2-40B4-BE49-F238E27FC236}">
                <a16:creationId xmlns:a16="http://schemas.microsoft.com/office/drawing/2014/main" id="{B4894539-E632-439B-90D9-F93D39F6AD86}"/>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DE9BEA2E-1101-49F7-B1C8-D58292B8238E}"/>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08</a:t>
            </a:r>
          </a:p>
        </p:txBody>
      </p:sp>
      <p:sp>
        <p:nvSpPr>
          <p:cNvPr id="6" name="Yuvarlatılmış Dikdörtgen 5">
            <a:extLst>
              <a:ext uri="{FF2B5EF4-FFF2-40B4-BE49-F238E27FC236}">
                <a16:creationId xmlns:a16="http://schemas.microsoft.com/office/drawing/2014/main" id="{5E714963-9392-423E-9E58-2C019B342F86}"/>
              </a:ext>
            </a:extLst>
          </p:cNvPr>
          <p:cNvSpPr>
            <a:spLocks noGrp="1"/>
          </p:cNvSpPr>
          <p:nvPr/>
        </p:nvSpPr>
        <p:spPr>
          <a:xfrm>
            <a:off x="1000125" y="1809750"/>
            <a:ext cx="10191750" cy="1143000"/>
          </a:xfrm>
          <a:prstGeom prst="roundRect">
            <a:avLst>
              <a:gd name="adj" fmla="val 6667"/>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B667E38B-6522-4632-B57C-FE3CF5CF2F33}"/>
              </a:ext>
            </a:extLst>
          </p:cNvPr>
          <p:cNvSpPr>
            <a:spLocks noGrp="1"/>
          </p:cNvSpPr>
          <p:nvPr/>
        </p:nvSpPr>
        <p:spPr>
          <a:xfrm>
            <a:off x="1524000" y="2076450"/>
            <a:ext cx="9144000" cy="666750"/>
          </a:xfrm>
          <a:prstGeom prst="rect">
            <a:avLst/>
          </a:prstGeom>
          <a:noFill/>
          <a:ln w="0">
            <a:noFill/>
          </a:ln>
        </p:spPr>
        <p:txBody>
          <a:bodyPr anchor="ctr">
            <a:normAutofit fontScale="86782"/>
          </a:bodyPr>
          <a:lstStyle/>
          <a:p>
            <a:pPr algn="ctr">
              <a:defRPr sz="2175" b="1" i="0">
                <a:solidFill>
                  <a:srgbClr val="FFFFFF"/>
                </a:solidFill>
                <a:latin typeface="Arial"/>
                <a:ea typeface="Arial"/>
                <a:cs typeface="Arial"/>
              </a:defRPr>
            </a:pPr>
            <a:r>
              <a:rPr sz="2175" b="1" i="0">
                <a:solidFill>
                  <a:srgbClr val="FFFFFF"/>
                </a:solidFill>
                <a:latin typeface="Arial"/>
                <a:ea typeface="Arial"/>
                <a:cs typeface="Arial"/>
              </a:rPr>
              <a:t>How can EMI textbooks be examined for the support they offer multilingual students engaged in disciplinary reading?</a:t>
            </a:r>
          </a:p>
        </p:txBody>
      </p:sp>
      <p:sp>
        <p:nvSpPr>
          <p:cNvPr id="8" name="Yuvarlatılmış Dikdörtgen 7">
            <a:extLst>
              <a:ext uri="{FF2B5EF4-FFF2-40B4-BE49-F238E27FC236}">
                <a16:creationId xmlns:a16="http://schemas.microsoft.com/office/drawing/2014/main" id="{239B3F30-2EFB-4378-A477-832FDC4169CD}"/>
              </a:ext>
            </a:extLst>
          </p:cNvPr>
          <p:cNvSpPr>
            <a:spLocks noGrp="1"/>
          </p:cNvSpPr>
          <p:nvPr/>
        </p:nvSpPr>
        <p:spPr>
          <a:xfrm>
            <a:off x="666750" y="3838575"/>
            <a:ext cx="2476500" cy="819150"/>
          </a:xfrm>
          <a:prstGeom prst="roundRect">
            <a:avLst>
              <a:gd name="adj" fmla="val 9302"/>
            </a:avLst>
          </a:prstGeom>
          <a:solidFill>
            <a:srgbClr val="FFFFFF"/>
          </a:solid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07E20551-560A-478F-A1DE-FF5916743F5E}"/>
              </a:ext>
            </a:extLst>
          </p:cNvPr>
          <p:cNvSpPr>
            <a:spLocks noGrp="1"/>
          </p:cNvSpPr>
          <p:nvPr/>
        </p:nvSpPr>
        <p:spPr>
          <a:xfrm>
            <a:off x="809625" y="4067175"/>
            <a:ext cx="2190750" cy="381000"/>
          </a:xfrm>
          <a:prstGeom prst="rect">
            <a:avLst/>
          </a:prstGeom>
          <a:noFill/>
          <a:ln w="0">
            <a:noFill/>
          </a:ln>
        </p:spPr>
        <p:txBody>
          <a:bodyPr anchor="ctr">
            <a:normAutofit/>
          </a:bodyPr>
          <a:lstStyle/>
          <a:p>
            <a:pPr algn="ctr">
              <a:defRPr sz="1350" b="1" i="0">
                <a:solidFill>
                  <a:srgbClr val="33343F"/>
                </a:solidFill>
                <a:latin typeface="Arial"/>
                <a:ea typeface="Arial"/>
                <a:cs typeface="Arial"/>
              </a:defRPr>
            </a:pPr>
            <a:r>
              <a:rPr sz="1350" b="1" i="0">
                <a:solidFill>
                  <a:srgbClr val="33343F"/>
                </a:solidFill>
                <a:latin typeface="Arial"/>
                <a:ea typeface="Arial"/>
                <a:cs typeface="Arial"/>
              </a:rPr>
              <a:t>Reader challenge</a:t>
            </a:r>
          </a:p>
        </p:txBody>
      </p:sp>
      <p:sp>
        <p:nvSpPr>
          <p:cNvPr id="10" name="Düz Bağlayıcı 9">
            <a:extLst>
              <a:ext uri="{FF2B5EF4-FFF2-40B4-BE49-F238E27FC236}">
                <a16:creationId xmlns:a16="http://schemas.microsoft.com/office/drawing/2014/main" id="{C4F504C1-8620-4CF8-986B-AD7E198435CB}"/>
              </a:ext>
            </a:extLst>
          </p:cNvPr>
          <p:cNvSpPr>
            <a:spLocks noGrp="1"/>
          </p:cNvSpPr>
          <p:nvPr/>
        </p:nvSpPr>
        <p:spPr>
          <a:xfrm>
            <a:off x="3143250" y="4248150"/>
            <a:ext cx="333375" cy="0"/>
          </a:xfrm>
          <a:prstGeom prst="line">
            <a:avLst/>
          </a:prstGeom>
          <a:noFill/>
          <a:ln w="28575">
            <a:solidFill>
              <a:srgbClr val="176082"/>
            </a:solidFill>
          </a:ln>
        </p:spPr>
        <p:txBody>
          <a:bodyPr/>
          <a:lstStyle/>
          <a:p>
            <a:endParaRPr lang="tr-TR"/>
          </a:p>
        </p:txBody>
      </p:sp>
      <p:sp>
        <p:nvSpPr>
          <p:cNvPr id="11" name="Yuvarlatılmış Dikdörtgen 10">
            <a:extLst>
              <a:ext uri="{FF2B5EF4-FFF2-40B4-BE49-F238E27FC236}">
                <a16:creationId xmlns:a16="http://schemas.microsoft.com/office/drawing/2014/main" id="{46D2EC30-B850-45A4-B4DD-1D777B5FFFCF}"/>
              </a:ext>
            </a:extLst>
          </p:cNvPr>
          <p:cNvSpPr>
            <a:spLocks noGrp="1"/>
          </p:cNvSpPr>
          <p:nvPr/>
        </p:nvSpPr>
        <p:spPr>
          <a:xfrm>
            <a:off x="3524250" y="3838575"/>
            <a:ext cx="2476500" cy="819150"/>
          </a:xfrm>
          <a:prstGeom prst="roundRect">
            <a:avLst>
              <a:gd name="adj" fmla="val 9302"/>
            </a:avLst>
          </a:prstGeom>
          <a:solidFill>
            <a:srgbClr val="FFFFFF"/>
          </a:solidFill>
          <a:ln w="9525">
            <a:solidFill>
              <a:srgbClr val="C8C9D3"/>
            </a:solidFill>
          </a:ln>
        </p:spPr>
        <p:txBody>
          <a:bodyPr/>
          <a:lstStyle/>
          <a:p>
            <a:endParaRPr lang="tr-TR"/>
          </a:p>
        </p:txBody>
      </p:sp>
      <p:sp>
        <p:nvSpPr>
          <p:cNvPr id="12" name="Dikdörtgen 11">
            <a:extLst>
              <a:ext uri="{FF2B5EF4-FFF2-40B4-BE49-F238E27FC236}">
                <a16:creationId xmlns:a16="http://schemas.microsoft.com/office/drawing/2014/main" id="{4C140BD2-265B-4D40-9415-096418A45F7E}"/>
              </a:ext>
            </a:extLst>
          </p:cNvPr>
          <p:cNvSpPr>
            <a:spLocks noGrp="1"/>
          </p:cNvSpPr>
          <p:nvPr/>
        </p:nvSpPr>
        <p:spPr>
          <a:xfrm>
            <a:off x="3667125" y="4067175"/>
            <a:ext cx="2190750" cy="381000"/>
          </a:xfrm>
          <a:prstGeom prst="rect">
            <a:avLst/>
          </a:prstGeom>
          <a:noFill/>
          <a:ln w="0">
            <a:noFill/>
          </a:ln>
        </p:spPr>
        <p:txBody>
          <a:bodyPr anchor="ctr">
            <a:normAutofit/>
          </a:bodyPr>
          <a:lstStyle/>
          <a:p>
            <a:pPr algn="ctr">
              <a:defRPr sz="1350" b="1" i="0">
                <a:solidFill>
                  <a:srgbClr val="33343F"/>
                </a:solidFill>
                <a:latin typeface="Arial"/>
                <a:ea typeface="Arial"/>
                <a:cs typeface="Arial"/>
              </a:defRPr>
            </a:pPr>
            <a:r>
              <a:rPr sz="1350" b="1" i="0">
                <a:solidFill>
                  <a:srgbClr val="33343F"/>
                </a:solidFill>
                <a:latin typeface="Arial"/>
                <a:ea typeface="Arial"/>
                <a:cs typeface="Arial"/>
              </a:rPr>
              <a:t>Reader account</a:t>
            </a:r>
          </a:p>
        </p:txBody>
      </p:sp>
      <p:sp>
        <p:nvSpPr>
          <p:cNvPr id="13" name="Düz Bağlayıcı 12">
            <a:extLst>
              <a:ext uri="{FF2B5EF4-FFF2-40B4-BE49-F238E27FC236}">
                <a16:creationId xmlns:a16="http://schemas.microsoft.com/office/drawing/2014/main" id="{0E7BD74F-E63D-49CC-982E-F3E570E9B027}"/>
              </a:ext>
            </a:extLst>
          </p:cNvPr>
          <p:cNvSpPr>
            <a:spLocks noGrp="1"/>
          </p:cNvSpPr>
          <p:nvPr/>
        </p:nvSpPr>
        <p:spPr>
          <a:xfrm>
            <a:off x="6000750" y="4248150"/>
            <a:ext cx="333375" cy="0"/>
          </a:xfrm>
          <a:prstGeom prst="line">
            <a:avLst/>
          </a:prstGeom>
          <a:noFill/>
          <a:ln w="28575">
            <a:solidFill>
              <a:srgbClr val="176082"/>
            </a:solidFill>
          </a:ln>
        </p:spPr>
        <p:txBody>
          <a:bodyPr/>
          <a:lstStyle/>
          <a:p>
            <a:endParaRPr lang="tr-TR"/>
          </a:p>
        </p:txBody>
      </p:sp>
      <p:sp>
        <p:nvSpPr>
          <p:cNvPr id="14" name="Yuvarlatılmış Dikdörtgen 13">
            <a:extLst>
              <a:ext uri="{FF2B5EF4-FFF2-40B4-BE49-F238E27FC236}">
                <a16:creationId xmlns:a16="http://schemas.microsoft.com/office/drawing/2014/main" id="{D293006D-81A0-4309-B77B-EB8A5FE19F1C}"/>
              </a:ext>
            </a:extLst>
          </p:cNvPr>
          <p:cNvSpPr>
            <a:spLocks noGrp="1"/>
          </p:cNvSpPr>
          <p:nvPr/>
        </p:nvSpPr>
        <p:spPr>
          <a:xfrm>
            <a:off x="6381750" y="3838575"/>
            <a:ext cx="2476500" cy="819150"/>
          </a:xfrm>
          <a:prstGeom prst="roundRect">
            <a:avLst>
              <a:gd name="adj" fmla="val 9302"/>
            </a:avLst>
          </a:prstGeom>
          <a:solidFill>
            <a:srgbClr val="FFFFFF"/>
          </a:solidFill>
          <a:ln w="9525">
            <a:solidFill>
              <a:srgbClr val="C8C9D3"/>
            </a:solidFill>
          </a:ln>
        </p:spPr>
        <p:txBody>
          <a:bodyPr/>
          <a:lstStyle/>
          <a:p>
            <a:endParaRPr lang="tr-TR"/>
          </a:p>
        </p:txBody>
      </p:sp>
      <p:sp>
        <p:nvSpPr>
          <p:cNvPr id="15" name="Dikdörtgen 14">
            <a:extLst>
              <a:ext uri="{FF2B5EF4-FFF2-40B4-BE49-F238E27FC236}">
                <a16:creationId xmlns:a16="http://schemas.microsoft.com/office/drawing/2014/main" id="{68499311-8D6C-4C45-951D-701D374078A7}"/>
              </a:ext>
            </a:extLst>
          </p:cNvPr>
          <p:cNvSpPr>
            <a:spLocks noGrp="1"/>
          </p:cNvSpPr>
          <p:nvPr/>
        </p:nvSpPr>
        <p:spPr>
          <a:xfrm>
            <a:off x="6524625" y="4067175"/>
            <a:ext cx="2190750" cy="381000"/>
          </a:xfrm>
          <a:prstGeom prst="rect">
            <a:avLst/>
          </a:prstGeom>
          <a:noFill/>
          <a:ln w="0">
            <a:noFill/>
          </a:ln>
        </p:spPr>
        <p:txBody>
          <a:bodyPr anchor="ctr">
            <a:normAutofit/>
          </a:bodyPr>
          <a:lstStyle/>
          <a:p>
            <a:pPr algn="ctr">
              <a:defRPr sz="1350" b="1" i="0">
                <a:solidFill>
                  <a:srgbClr val="33343F"/>
                </a:solidFill>
                <a:latin typeface="Arial"/>
                <a:ea typeface="Arial"/>
                <a:cs typeface="Arial"/>
              </a:defRPr>
            </a:pPr>
            <a:r>
              <a:rPr sz="1350" b="1" i="0">
                <a:solidFill>
                  <a:srgbClr val="33343F"/>
                </a:solidFill>
                <a:latin typeface="Arial"/>
                <a:ea typeface="Arial"/>
                <a:cs typeface="Arial"/>
              </a:rPr>
              <a:t>Textual evidence</a:t>
            </a:r>
          </a:p>
        </p:txBody>
      </p:sp>
      <p:sp>
        <p:nvSpPr>
          <p:cNvPr id="16" name="Düz Bağlayıcı 15">
            <a:extLst>
              <a:ext uri="{FF2B5EF4-FFF2-40B4-BE49-F238E27FC236}">
                <a16:creationId xmlns:a16="http://schemas.microsoft.com/office/drawing/2014/main" id="{94E34022-8C63-4C73-93B8-24383D2497C5}"/>
              </a:ext>
            </a:extLst>
          </p:cNvPr>
          <p:cNvSpPr>
            <a:spLocks noGrp="1"/>
          </p:cNvSpPr>
          <p:nvPr/>
        </p:nvSpPr>
        <p:spPr>
          <a:xfrm>
            <a:off x="8858250" y="4248150"/>
            <a:ext cx="333375" cy="0"/>
          </a:xfrm>
          <a:prstGeom prst="line">
            <a:avLst/>
          </a:prstGeom>
          <a:noFill/>
          <a:ln w="28575">
            <a:solidFill>
              <a:srgbClr val="176082"/>
            </a:solidFill>
          </a:ln>
        </p:spPr>
        <p:txBody>
          <a:bodyPr/>
          <a:lstStyle/>
          <a:p>
            <a:endParaRPr lang="tr-TR"/>
          </a:p>
        </p:txBody>
      </p:sp>
      <p:sp>
        <p:nvSpPr>
          <p:cNvPr id="17" name="Yuvarlatılmış Dikdörtgen 16">
            <a:extLst>
              <a:ext uri="{FF2B5EF4-FFF2-40B4-BE49-F238E27FC236}">
                <a16:creationId xmlns:a16="http://schemas.microsoft.com/office/drawing/2014/main" id="{A47F9319-C6DF-4076-B26D-E43F46DF8433}"/>
              </a:ext>
            </a:extLst>
          </p:cNvPr>
          <p:cNvSpPr>
            <a:spLocks noGrp="1"/>
          </p:cNvSpPr>
          <p:nvPr/>
        </p:nvSpPr>
        <p:spPr>
          <a:xfrm>
            <a:off x="9239250" y="3838575"/>
            <a:ext cx="2476500" cy="819150"/>
          </a:xfrm>
          <a:prstGeom prst="roundRect">
            <a:avLst>
              <a:gd name="adj" fmla="val 9302"/>
            </a:avLst>
          </a:prstGeom>
          <a:solidFill>
            <a:srgbClr val="D58C00"/>
          </a:solidFill>
          <a:ln w="9525">
            <a:solidFill>
              <a:srgbClr val="C8C9D3"/>
            </a:solidFill>
          </a:ln>
        </p:spPr>
        <p:txBody>
          <a:bodyPr/>
          <a:lstStyle/>
          <a:p>
            <a:endParaRPr lang="tr-TR"/>
          </a:p>
        </p:txBody>
      </p:sp>
      <p:sp>
        <p:nvSpPr>
          <p:cNvPr id="18" name="Dikdörtgen 17">
            <a:extLst>
              <a:ext uri="{FF2B5EF4-FFF2-40B4-BE49-F238E27FC236}">
                <a16:creationId xmlns:a16="http://schemas.microsoft.com/office/drawing/2014/main" id="{379E0DBC-F8F6-4842-B1E3-E158043B7219}"/>
              </a:ext>
            </a:extLst>
          </p:cNvPr>
          <p:cNvSpPr>
            <a:spLocks noGrp="1"/>
          </p:cNvSpPr>
          <p:nvPr/>
        </p:nvSpPr>
        <p:spPr>
          <a:xfrm>
            <a:off x="9382125" y="4067175"/>
            <a:ext cx="2190750" cy="381000"/>
          </a:xfrm>
          <a:prstGeom prst="rect">
            <a:avLst/>
          </a:prstGeom>
          <a:noFill/>
          <a:ln w="0">
            <a:noFill/>
          </a:ln>
        </p:spPr>
        <p:txBody>
          <a:bodyPr anchor="ctr">
            <a:normAutofit/>
          </a:bodyPr>
          <a:lstStyle/>
          <a:p>
            <a:pPr algn="ctr">
              <a:defRPr sz="1350" b="1" i="0">
                <a:solidFill>
                  <a:srgbClr val="FFFFFF"/>
                </a:solidFill>
                <a:latin typeface="Arial"/>
                <a:ea typeface="Arial"/>
                <a:cs typeface="Arial"/>
              </a:defRPr>
            </a:pPr>
            <a:r>
              <a:rPr sz="1350" b="1" i="0">
                <a:solidFill>
                  <a:srgbClr val="FFFFFF"/>
                </a:solidFill>
                <a:latin typeface="Arial"/>
                <a:ea typeface="Arial"/>
                <a:cs typeface="Arial"/>
              </a:rPr>
              <a:t>Coursebook-fit decision</a:t>
            </a:r>
          </a:p>
        </p:txBody>
      </p:sp>
      <p:sp>
        <p:nvSpPr>
          <p:cNvPr id="19" name="Dikdörtgen 18">
            <a:extLst>
              <a:ext uri="{FF2B5EF4-FFF2-40B4-BE49-F238E27FC236}">
                <a16:creationId xmlns:a16="http://schemas.microsoft.com/office/drawing/2014/main" id="{CCE98FCB-854D-4E9D-ADC3-FE8AC1D7C34E}"/>
              </a:ext>
            </a:extLst>
          </p:cNvPr>
          <p:cNvSpPr>
            <a:spLocks noGrp="1"/>
          </p:cNvSpPr>
          <p:nvPr/>
        </p:nvSpPr>
        <p:spPr>
          <a:xfrm>
            <a:off x="1809750" y="5286375"/>
            <a:ext cx="8572500" cy="457200"/>
          </a:xfrm>
          <a:prstGeom prst="rect">
            <a:avLst/>
          </a:prstGeom>
          <a:noFill/>
          <a:ln w="0">
            <a:noFill/>
          </a:ln>
        </p:spPr>
        <p:txBody>
          <a:bodyPr anchor="t">
            <a:normAutofit/>
          </a:bodyPr>
          <a:lstStyle/>
          <a:p>
            <a:pPr algn="ctr">
              <a:defRPr sz="1800" b="1" i="0">
                <a:solidFill>
                  <a:srgbClr val="33343F"/>
                </a:solidFill>
                <a:latin typeface="Arial"/>
                <a:ea typeface="Arial"/>
                <a:cs typeface="Arial"/>
              </a:defRPr>
            </a:pPr>
            <a:r>
              <a:rPr sz="1800" b="1" i="0">
                <a:solidFill>
                  <a:srgbClr val="33343F"/>
                </a:solidFill>
                <a:latin typeface="Arial"/>
                <a:ea typeface="Arial"/>
                <a:cs typeface="Arial"/>
              </a:rPr>
              <a:t>Output: a transparent profile for authors, publishers and syllabus designers.</a:t>
            </a:r>
          </a:p>
        </p:txBody>
      </p:sp>
      <p:sp>
        <p:nvSpPr>
          <p:cNvPr id="20" name="Düz Bağlayıcı 19">
            <a:extLst>
              <a:ext uri="{FF2B5EF4-FFF2-40B4-BE49-F238E27FC236}">
                <a16:creationId xmlns:a16="http://schemas.microsoft.com/office/drawing/2014/main" id="{D4AAC146-4CBA-49D6-896B-29EBFB2E6EEF}"/>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1" name="Dikdörtgen 20">
            <a:extLst>
              <a:ext uri="{FF2B5EF4-FFF2-40B4-BE49-F238E27FC236}">
                <a16:creationId xmlns:a16="http://schemas.microsoft.com/office/drawing/2014/main" id="{97E6F632-BF37-4118-B104-70FBBC6B0071}"/>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760533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3" name="Yuvarlatılmış Dikdörtgen 22">
            <a:extLst>
              <a:ext uri="{FF2B5EF4-FFF2-40B4-BE49-F238E27FC236}">
                <a16:creationId xmlns:a16="http://schemas.microsoft.com/office/drawing/2014/main" id="{80F46DC8-AE1F-4F58-AE77-FCFE9F8603F2}"/>
              </a:ext>
            </a:extLst>
          </p:cNvPr>
          <p:cNvSpPr>
            <a:spLocks noGrp="1"/>
          </p:cNvSpPr>
          <p:nvPr/>
        </p:nvSpPr>
        <p:spPr>
          <a:xfrm>
            <a:off x="685800" y="371475"/>
            <a:ext cx="66675" cy="171450"/>
          </a:xfrm>
          <a:prstGeom prst="roundRect">
            <a:avLst>
              <a:gd name="adj" fmla="val 50000"/>
            </a:avLst>
          </a:prstGeom>
          <a:solidFill>
            <a:srgbClr val="D58C00"/>
          </a:solidFill>
          <a:ln w="0">
            <a:noFill/>
          </a:ln>
        </p:spPr>
        <p:txBody>
          <a:bodyPr/>
          <a:lstStyle/>
          <a:p>
            <a:endParaRPr lang="tr-TR"/>
          </a:p>
        </p:txBody>
      </p:sp>
      <p:sp>
        <p:nvSpPr>
          <p:cNvPr id="2" name="Dikdörtgen 1">
            <a:extLst>
              <a:ext uri="{FF2B5EF4-FFF2-40B4-BE49-F238E27FC236}">
                <a16:creationId xmlns:a16="http://schemas.microsoft.com/office/drawing/2014/main" id="{2A0D3E12-9C90-4114-B341-16F3D55E20F9}"/>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Dikdörtgen 2">
            <a:extLst>
              <a:ext uri="{FF2B5EF4-FFF2-40B4-BE49-F238E27FC236}">
                <a16:creationId xmlns:a16="http://schemas.microsoft.com/office/drawing/2014/main" id="{1A84AD95-8A0B-4B3B-B4AE-BAF56C6AB133}"/>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Demonstration design and corpus scope</a:t>
            </a:r>
          </a:p>
        </p:txBody>
      </p:sp>
      <p:sp>
        <p:nvSpPr>
          <p:cNvPr id="4" name="Düz Bağlayıcı 3">
            <a:extLst>
              <a:ext uri="{FF2B5EF4-FFF2-40B4-BE49-F238E27FC236}">
                <a16:creationId xmlns:a16="http://schemas.microsoft.com/office/drawing/2014/main" id="{3330B84A-7644-446F-88D6-DD04BE050CF2}"/>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4546DE73-8807-416D-AFC9-C9F204463147}"/>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09</a:t>
            </a:r>
          </a:p>
        </p:txBody>
      </p:sp>
      <p:sp>
        <p:nvSpPr>
          <p:cNvPr id="6" name="Yuvarlatılmış Dikdörtgen 5">
            <a:extLst>
              <a:ext uri="{FF2B5EF4-FFF2-40B4-BE49-F238E27FC236}">
                <a16:creationId xmlns:a16="http://schemas.microsoft.com/office/drawing/2014/main" id="{58496BA7-A9C1-4FC0-940D-26404ECB3AA1}"/>
              </a:ext>
            </a:extLst>
          </p:cNvPr>
          <p:cNvSpPr>
            <a:spLocks noGrp="1"/>
          </p:cNvSpPr>
          <p:nvPr/>
        </p:nvSpPr>
        <p:spPr>
          <a:xfrm>
            <a:off x="9239250" y="381000"/>
            <a:ext cx="2143125" cy="266700"/>
          </a:xfrm>
          <a:prstGeom prst="roundRect">
            <a:avLst>
              <a:gd name="adj" fmla="val 28571"/>
            </a:avLst>
          </a:prstGeom>
          <a:solidFill>
            <a:srgbClr val="D58C00"/>
          </a:solidFill>
          <a:ln w="0">
            <a:noFill/>
          </a:ln>
        </p:spPr>
        <p:txBody>
          <a:bodyPr/>
          <a:lstStyle/>
          <a:p>
            <a:endParaRPr lang="tr-TR"/>
          </a:p>
        </p:txBody>
      </p:sp>
      <p:sp>
        <p:nvSpPr>
          <p:cNvPr id="7" name="Dikdörtgen 6">
            <a:extLst>
              <a:ext uri="{FF2B5EF4-FFF2-40B4-BE49-F238E27FC236}">
                <a16:creationId xmlns:a16="http://schemas.microsoft.com/office/drawing/2014/main" id="{765B2232-7E5A-4B7D-9117-7CF4038FEFC2}"/>
              </a:ext>
            </a:extLst>
          </p:cNvPr>
          <p:cNvSpPr>
            <a:spLocks noGrp="1"/>
          </p:cNvSpPr>
          <p:nvPr/>
        </p:nvSpPr>
        <p:spPr>
          <a:xfrm>
            <a:off x="9315450" y="409575"/>
            <a:ext cx="1990725"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STUDENT DATA</a:t>
            </a:r>
          </a:p>
        </p:txBody>
      </p:sp>
      <p:sp>
        <p:nvSpPr>
          <p:cNvPr id="8" name="Dikdörtgen 7">
            <a:extLst>
              <a:ext uri="{FF2B5EF4-FFF2-40B4-BE49-F238E27FC236}">
                <a16:creationId xmlns:a16="http://schemas.microsoft.com/office/drawing/2014/main" id="{EE3A56BE-58B6-4F1B-827C-06A5ACF756B3}"/>
              </a:ext>
            </a:extLst>
          </p:cNvPr>
          <p:cNvSpPr>
            <a:spLocks noGrp="1"/>
          </p:cNvSpPr>
          <p:nvPr/>
        </p:nvSpPr>
        <p:spPr>
          <a:xfrm>
            <a:off x="781050" y="1714500"/>
            <a:ext cx="2190750" cy="533400"/>
          </a:xfrm>
          <a:prstGeom prst="rect">
            <a:avLst/>
          </a:prstGeom>
          <a:noFill/>
          <a:ln w="0">
            <a:noFill/>
          </a:ln>
        </p:spPr>
        <p:txBody>
          <a:bodyPr anchor="t">
            <a:normAutofit fontScale="92063"/>
          </a:bodyPr>
          <a:lstStyle/>
          <a:p>
            <a:pPr algn="l">
              <a:defRPr sz="3150" b="1" i="0">
                <a:solidFill>
                  <a:srgbClr val="176082"/>
                </a:solidFill>
                <a:latin typeface="Arial"/>
                <a:ea typeface="Arial"/>
                <a:cs typeface="Arial"/>
              </a:defRPr>
            </a:pPr>
            <a:r>
              <a:rPr sz="3150" b="1" i="0">
                <a:solidFill>
                  <a:srgbClr val="176082"/>
                </a:solidFill>
                <a:latin typeface="Arial"/>
                <a:ea typeface="Arial"/>
                <a:cs typeface="Arial"/>
              </a:rPr>
              <a:t>100</a:t>
            </a:r>
          </a:p>
        </p:txBody>
      </p:sp>
      <p:sp>
        <p:nvSpPr>
          <p:cNvPr id="9" name="Dikdörtgen 8">
            <a:extLst>
              <a:ext uri="{FF2B5EF4-FFF2-40B4-BE49-F238E27FC236}">
                <a16:creationId xmlns:a16="http://schemas.microsoft.com/office/drawing/2014/main" id="{484AFFAF-8B91-4253-B794-5378C3DEE352}"/>
              </a:ext>
            </a:extLst>
          </p:cNvPr>
          <p:cNvSpPr>
            <a:spLocks noGrp="1"/>
          </p:cNvSpPr>
          <p:nvPr/>
        </p:nvSpPr>
        <p:spPr>
          <a:xfrm>
            <a:off x="781050" y="2266950"/>
            <a:ext cx="219075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second-year students</a:t>
            </a:r>
          </a:p>
          <a:p>
            <a:pPr algn="l">
              <a:defRPr sz="1275" b="0" i="0">
                <a:solidFill>
                  <a:srgbClr val="626777"/>
                </a:solidFill>
                <a:latin typeface="Arial"/>
                <a:ea typeface="Arial"/>
                <a:cs typeface="Arial"/>
              </a:defRPr>
            </a:pPr>
            <a:r>
              <a:rPr sz="1275" b="0" i="0">
                <a:solidFill>
                  <a:srgbClr val="626777"/>
                </a:solidFill>
                <a:latin typeface="Arial"/>
                <a:ea typeface="Arial"/>
                <a:cs typeface="Arial"/>
              </a:rPr>
              <a:t>50 EE + 50 IR</a:t>
            </a:r>
          </a:p>
        </p:txBody>
      </p:sp>
      <p:sp>
        <p:nvSpPr>
          <p:cNvPr id="10" name="Dikdörtgen 9">
            <a:extLst>
              <a:ext uri="{FF2B5EF4-FFF2-40B4-BE49-F238E27FC236}">
                <a16:creationId xmlns:a16="http://schemas.microsoft.com/office/drawing/2014/main" id="{41A7BC3E-D23D-4014-A430-66AF2A5E1337}"/>
              </a:ext>
            </a:extLst>
          </p:cNvPr>
          <p:cNvSpPr>
            <a:spLocks noGrp="1"/>
          </p:cNvSpPr>
          <p:nvPr/>
        </p:nvSpPr>
        <p:spPr>
          <a:xfrm>
            <a:off x="3238500" y="1714500"/>
            <a:ext cx="2286000" cy="533400"/>
          </a:xfrm>
          <a:prstGeom prst="rect">
            <a:avLst/>
          </a:prstGeom>
          <a:noFill/>
          <a:ln w="0">
            <a:noFill/>
          </a:ln>
        </p:spPr>
        <p:txBody>
          <a:bodyPr anchor="t">
            <a:normAutofit fontScale="92063"/>
          </a:bodyPr>
          <a:lstStyle/>
          <a:p>
            <a:pPr algn="l">
              <a:defRPr sz="3150" b="1" i="0">
                <a:solidFill>
                  <a:srgbClr val="176082"/>
                </a:solidFill>
                <a:latin typeface="Arial"/>
                <a:ea typeface="Arial"/>
                <a:cs typeface="Arial"/>
              </a:defRPr>
            </a:pPr>
            <a:r>
              <a:rPr sz="3150" b="1" i="0">
                <a:solidFill>
                  <a:srgbClr val="176082"/>
                </a:solidFill>
                <a:latin typeface="Arial"/>
                <a:ea typeface="Arial"/>
                <a:cs typeface="Arial"/>
              </a:rPr>
              <a:t>20</a:t>
            </a:r>
          </a:p>
        </p:txBody>
      </p:sp>
      <p:sp>
        <p:nvSpPr>
          <p:cNvPr id="11" name="Dikdörtgen 10">
            <a:extLst>
              <a:ext uri="{FF2B5EF4-FFF2-40B4-BE49-F238E27FC236}">
                <a16:creationId xmlns:a16="http://schemas.microsoft.com/office/drawing/2014/main" id="{9CBEFEBA-7224-42BF-AACE-643DFC124846}"/>
              </a:ext>
            </a:extLst>
          </p:cNvPr>
          <p:cNvSpPr>
            <a:spLocks noGrp="1"/>
          </p:cNvSpPr>
          <p:nvPr/>
        </p:nvSpPr>
        <p:spPr>
          <a:xfrm>
            <a:off x="3238500" y="2266950"/>
            <a:ext cx="228600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semi-structured interviews</a:t>
            </a:r>
          </a:p>
          <a:p>
            <a:pPr algn="l">
              <a:defRPr sz="1275" b="0" i="0">
                <a:solidFill>
                  <a:srgbClr val="626777"/>
                </a:solidFill>
                <a:latin typeface="Arial"/>
                <a:ea typeface="Arial"/>
                <a:cs typeface="Arial"/>
              </a:defRPr>
            </a:pPr>
            <a:r>
              <a:rPr sz="1275" b="0" i="0">
                <a:solidFill>
                  <a:srgbClr val="626777"/>
                </a:solidFill>
                <a:latin typeface="Arial"/>
                <a:ea typeface="Arial"/>
                <a:cs typeface="Arial"/>
              </a:rPr>
              <a:t>10 per discipline</a:t>
            </a:r>
          </a:p>
        </p:txBody>
      </p:sp>
      <p:sp>
        <p:nvSpPr>
          <p:cNvPr id="12" name="Dikdörtgen 11">
            <a:extLst>
              <a:ext uri="{FF2B5EF4-FFF2-40B4-BE49-F238E27FC236}">
                <a16:creationId xmlns:a16="http://schemas.microsoft.com/office/drawing/2014/main" id="{82A77260-58FA-403F-AF36-E6CDE96A04A4}"/>
              </a:ext>
            </a:extLst>
          </p:cNvPr>
          <p:cNvSpPr>
            <a:spLocks noGrp="1"/>
          </p:cNvSpPr>
          <p:nvPr/>
        </p:nvSpPr>
        <p:spPr>
          <a:xfrm>
            <a:off x="5905500" y="1714500"/>
            <a:ext cx="2286000" cy="533400"/>
          </a:xfrm>
          <a:prstGeom prst="rect">
            <a:avLst/>
          </a:prstGeom>
          <a:noFill/>
          <a:ln w="0">
            <a:noFill/>
          </a:ln>
        </p:spPr>
        <p:txBody>
          <a:bodyPr anchor="t">
            <a:normAutofit fontScale="92063"/>
          </a:bodyPr>
          <a:lstStyle/>
          <a:p>
            <a:pPr algn="l">
              <a:defRPr sz="3150" b="1" i="0">
                <a:solidFill>
                  <a:srgbClr val="176082"/>
                </a:solidFill>
                <a:latin typeface="Arial"/>
                <a:ea typeface="Arial"/>
                <a:cs typeface="Arial"/>
              </a:defRPr>
            </a:pPr>
            <a:r>
              <a:rPr sz="3150" b="1" i="0">
                <a:solidFill>
                  <a:srgbClr val="176082"/>
                </a:solidFill>
                <a:latin typeface="Arial"/>
                <a:ea typeface="Arial"/>
                <a:cs typeface="Arial"/>
              </a:rPr>
              <a:t>10</a:t>
            </a:r>
          </a:p>
        </p:txBody>
      </p:sp>
      <p:sp>
        <p:nvSpPr>
          <p:cNvPr id="13" name="Dikdörtgen 12">
            <a:extLst>
              <a:ext uri="{FF2B5EF4-FFF2-40B4-BE49-F238E27FC236}">
                <a16:creationId xmlns:a16="http://schemas.microsoft.com/office/drawing/2014/main" id="{A49A63B0-F166-4BE7-94A0-69A2DD0F30B2}"/>
              </a:ext>
            </a:extLst>
          </p:cNvPr>
          <p:cNvSpPr>
            <a:spLocks noGrp="1"/>
          </p:cNvSpPr>
          <p:nvPr/>
        </p:nvSpPr>
        <p:spPr>
          <a:xfrm>
            <a:off x="5905500" y="2266950"/>
            <a:ext cx="228600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reviewed textbooks</a:t>
            </a:r>
          </a:p>
          <a:p>
            <a:pPr algn="l">
              <a:defRPr sz="1275" b="0" i="0">
                <a:solidFill>
                  <a:srgbClr val="626777"/>
                </a:solidFill>
                <a:latin typeface="Arial"/>
                <a:ea typeface="Arial"/>
                <a:cs typeface="Arial"/>
              </a:defRPr>
            </a:pPr>
            <a:r>
              <a:rPr sz="1275" b="0" i="0">
                <a:solidFill>
                  <a:srgbClr val="626777"/>
                </a:solidFill>
                <a:latin typeface="Arial"/>
                <a:ea typeface="Arial"/>
                <a:cs typeface="Arial"/>
              </a:rPr>
              <a:t>5 EE + 5 IR</a:t>
            </a:r>
          </a:p>
        </p:txBody>
      </p:sp>
      <p:sp>
        <p:nvSpPr>
          <p:cNvPr id="14" name="Dikdörtgen 13">
            <a:extLst>
              <a:ext uri="{FF2B5EF4-FFF2-40B4-BE49-F238E27FC236}">
                <a16:creationId xmlns:a16="http://schemas.microsoft.com/office/drawing/2014/main" id="{35A111CE-B1A5-4DBF-AAEA-092ACC4D6EF4}"/>
              </a:ext>
            </a:extLst>
          </p:cNvPr>
          <p:cNvSpPr>
            <a:spLocks noGrp="1"/>
          </p:cNvSpPr>
          <p:nvPr/>
        </p:nvSpPr>
        <p:spPr>
          <a:xfrm>
            <a:off x="8572500" y="1714500"/>
            <a:ext cx="2381250" cy="533400"/>
          </a:xfrm>
          <a:prstGeom prst="rect">
            <a:avLst/>
          </a:prstGeom>
          <a:noFill/>
          <a:ln w="0">
            <a:noFill/>
          </a:ln>
        </p:spPr>
        <p:txBody>
          <a:bodyPr anchor="t">
            <a:normAutofit fontScale="92063"/>
          </a:bodyPr>
          <a:lstStyle/>
          <a:p>
            <a:pPr algn="l">
              <a:defRPr sz="3150" b="1" i="0">
                <a:solidFill>
                  <a:srgbClr val="176082"/>
                </a:solidFill>
                <a:latin typeface="Arial"/>
                <a:ea typeface="Arial"/>
                <a:cs typeface="Arial"/>
              </a:defRPr>
            </a:pPr>
            <a:r>
              <a:rPr sz="3150" b="1" i="0">
                <a:solidFill>
                  <a:srgbClr val="176082"/>
                </a:solidFill>
                <a:latin typeface="Arial"/>
                <a:ea typeface="Arial"/>
                <a:cs typeface="Arial"/>
              </a:rPr>
              <a:t>50</a:t>
            </a:r>
          </a:p>
        </p:txBody>
      </p:sp>
      <p:sp>
        <p:nvSpPr>
          <p:cNvPr id="15" name="Dikdörtgen 14">
            <a:extLst>
              <a:ext uri="{FF2B5EF4-FFF2-40B4-BE49-F238E27FC236}">
                <a16:creationId xmlns:a16="http://schemas.microsoft.com/office/drawing/2014/main" id="{14F9F9CA-88E7-4BD3-B922-E404FB725844}"/>
              </a:ext>
            </a:extLst>
          </p:cNvPr>
          <p:cNvSpPr>
            <a:spLocks noGrp="1"/>
          </p:cNvSpPr>
          <p:nvPr/>
        </p:nvSpPr>
        <p:spPr>
          <a:xfrm>
            <a:off x="8572500" y="2266950"/>
            <a:ext cx="238125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matched passages</a:t>
            </a:r>
          </a:p>
          <a:p>
            <a:pPr algn="l">
              <a:defRPr sz="1275" b="0" i="0">
                <a:solidFill>
                  <a:srgbClr val="626777"/>
                </a:solidFill>
                <a:latin typeface="Arial"/>
                <a:ea typeface="Arial"/>
                <a:cs typeface="Arial"/>
              </a:defRPr>
            </a:pPr>
            <a:r>
              <a:rPr sz="1275" b="0" i="0">
                <a:solidFill>
                  <a:srgbClr val="626777"/>
                </a:solidFill>
                <a:latin typeface="Arial"/>
                <a:ea typeface="Arial"/>
                <a:cs typeface="Arial"/>
              </a:rPr>
              <a:t>5 per textbook</a:t>
            </a:r>
          </a:p>
        </p:txBody>
      </p:sp>
      <p:sp>
        <p:nvSpPr>
          <p:cNvPr id="16" name="Düz Bağlayıcı 15">
            <a:extLst>
              <a:ext uri="{FF2B5EF4-FFF2-40B4-BE49-F238E27FC236}">
                <a16:creationId xmlns:a16="http://schemas.microsoft.com/office/drawing/2014/main" id="{F96ED2BB-C675-4CED-8253-AEBFDABB0D07}"/>
              </a:ext>
            </a:extLst>
          </p:cNvPr>
          <p:cNvSpPr>
            <a:spLocks noGrp="1"/>
          </p:cNvSpPr>
          <p:nvPr/>
        </p:nvSpPr>
        <p:spPr>
          <a:xfrm>
            <a:off x="781050" y="3238500"/>
            <a:ext cx="10553700" cy="0"/>
          </a:xfrm>
          <a:prstGeom prst="line">
            <a:avLst/>
          </a:prstGeom>
          <a:noFill/>
          <a:ln w="14288">
            <a:solidFill>
              <a:srgbClr val="C8C9D3"/>
            </a:solidFill>
          </a:ln>
        </p:spPr>
        <p:txBody>
          <a:bodyPr/>
          <a:lstStyle/>
          <a:p>
            <a:endParaRPr lang="tr-TR"/>
          </a:p>
        </p:txBody>
      </p:sp>
      <p:sp>
        <p:nvSpPr>
          <p:cNvPr id="17" name="Dikdörtgen 16">
            <a:extLst>
              <a:ext uri="{FF2B5EF4-FFF2-40B4-BE49-F238E27FC236}">
                <a16:creationId xmlns:a16="http://schemas.microsoft.com/office/drawing/2014/main" id="{F0992AD4-62CC-43A0-8526-DA3ADD18846C}"/>
              </a:ext>
            </a:extLst>
          </p:cNvPr>
          <p:cNvSpPr>
            <a:spLocks noGrp="1"/>
          </p:cNvSpPr>
          <p:nvPr/>
        </p:nvSpPr>
        <p:spPr>
          <a:xfrm>
            <a:off x="857250" y="3524250"/>
            <a:ext cx="2381250" cy="285750"/>
          </a:xfrm>
          <a:prstGeom prst="rect">
            <a:avLst/>
          </a:prstGeom>
          <a:noFill/>
          <a:ln w="0">
            <a:noFill/>
          </a:ln>
        </p:spPr>
        <p:txBody>
          <a:bodyPr anchor="t">
            <a:normAutofit fontScale="94444"/>
          </a:bodyPr>
          <a:lstStyle/>
          <a:p>
            <a:pPr algn="l">
              <a:defRPr sz="1350" b="1" i="0">
                <a:solidFill>
                  <a:srgbClr val="D58C00"/>
                </a:solidFill>
                <a:latin typeface="Arial"/>
                <a:ea typeface="Arial"/>
                <a:cs typeface="Arial"/>
              </a:defRPr>
            </a:pPr>
            <a:r>
              <a:rPr sz="1350" b="1" i="0">
                <a:solidFill>
                  <a:srgbClr val="D58C00"/>
                </a:solidFill>
                <a:latin typeface="Arial"/>
                <a:ea typeface="Arial"/>
                <a:cs typeface="Arial"/>
              </a:rPr>
              <a:t>Text corpus</a:t>
            </a:r>
          </a:p>
        </p:txBody>
      </p:sp>
      <p:sp>
        <p:nvSpPr>
          <p:cNvPr id="18" name="Dikdörtgen 17">
            <a:extLst>
              <a:ext uri="{FF2B5EF4-FFF2-40B4-BE49-F238E27FC236}">
                <a16:creationId xmlns:a16="http://schemas.microsoft.com/office/drawing/2014/main" id="{AEE4921B-C5C6-4404-AD52-55B77B41F4DA}"/>
              </a:ext>
            </a:extLst>
          </p:cNvPr>
          <p:cNvSpPr>
            <a:spLocks noGrp="1"/>
          </p:cNvSpPr>
          <p:nvPr/>
        </p:nvSpPr>
        <p:spPr>
          <a:xfrm>
            <a:off x="857250" y="3905250"/>
            <a:ext cx="10287000" cy="419100"/>
          </a:xfrm>
          <a:prstGeom prst="rect">
            <a:avLst/>
          </a:prstGeom>
          <a:noFill/>
          <a:ln w="0">
            <a:noFill/>
          </a:ln>
        </p:spPr>
        <p:txBody>
          <a:bodyPr anchor="t">
            <a:normAutofit fontScale="89718"/>
          </a:bodyPr>
          <a:lstStyle/>
          <a:p>
            <a:pPr algn="l">
              <a:defRPr sz="1425" b="1" i="0">
                <a:solidFill>
                  <a:srgbClr val="33343F"/>
                </a:solidFill>
                <a:latin typeface="Arial"/>
                <a:ea typeface="Arial"/>
                <a:cs typeface="Arial"/>
              </a:defRPr>
            </a:pPr>
            <a:r>
              <a:rPr sz="1425" b="1" i="0">
                <a:solidFill>
                  <a:srgbClr val="33343F"/>
                </a:solidFill>
                <a:latin typeface="Arial"/>
                <a:ea typeface="Arial"/>
                <a:cs typeface="Arial"/>
              </a:rPr>
              <a:t>Nine books support whole-text concordance and figure-reference analyses. All ten books enter the matched Text Inspector sample.</a:t>
            </a:r>
          </a:p>
        </p:txBody>
      </p:sp>
      <p:sp>
        <p:nvSpPr>
          <p:cNvPr id="19" name="Dikdörtgen 18">
            <a:extLst>
              <a:ext uri="{FF2B5EF4-FFF2-40B4-BE49-F238E27FC236}">
                <a16:creationId xmlns:a16="http://schemas.microsoft.com/office/drawing/2014/main" id="{DD4690EE-E793-4B31-808F-CE2E92B4990F}"/>
              </a:ext>
            </a:extLst>
          </p:cNvPr>
          <p:cNvSpPr>
            <a:spLocks noGrp="1"/>
          </p:cNvSpPr>
          <p:nvPr/>
        </p:nvSpPr>
        <p:spPr>
          <a:xfrm>
            <a:off x="857250" y="4476750"/>
            <a:ext cx="10287000" cy="457200"/>
          </a:xfrm>
          <a:prstGeom prst="rect">
            <a:avLst/>
          </a:prstGeom>
          <a:noFill/>
          <a:ln w="0">
            <a:noFill/>
          </a:ln>
        </p:spPr>
        <p:txBody>
          <a:bodyPr anchor="t">
            <a:normAutofit fontScale="95003"/>
          </a:bodyPr>
          <a:lstStyle/>
          <a:p>
            <a:pPr algn="l">
              <a:defRPr sz="1350" b="0" i="0">
                <a:solidFill>
                  <a:srgbClr val="626777"/>
                </a:solidFill>
                <a:latin typeface="Arial"/>
                <a:ea typeface="Arial"/>
                <a:cs typeface="Arial"/>
              </a:defRPr>
            </a:pPr>
            <a:r>
              <a:rPr sz="1350" b="0" i="0">
                <a:solidFill>
                  <a:srgbClr val="626777"/>
                </a:solidFill>
                <a:latin typeface="Arial"/>
                <a:ea typeface="Arial"/>
                <a:cs typeface="Arial"/>
              </a:rPr>
              <a:t>Hambley replaces the Nilsson instructor solution manual. Mano is an image-only scan, so five stratified passages were recovered with OCR.</a:t>
            </a:r>
          </a:p>
        </p:txBody>
      </p:sp>
      <p:sp>
        <p:nvSpPr>
          <p:cNvPr id="20" name="Dikdörtgen 19">
            <a:extLst>
              <a:ext uri="{FF2B5EF4-FFF2-40B4-BE49-F238E27FC236}">
                <a16:creationId xmlns:a16="http://schemas.microsoft.com/office/drawing/2014/main" id="{D593BC1C-AB65-4B37-BA11-1DAFCE771A1C}"/>
              </a:ext>
            </a:extLst>
          </p:cNvPr>
          <p:cNvSpPr>
            <a:spLocks noGrp="1"/>
          </p:cNvSpPr>
          <p:nvPr/>
        </p:nvSpPr>
        <p:spPr>
          <a:xfrm>
            <a:off x="1857375" y="5505450"/>
            <a:ext cx="8477250" cy="361950"/>
          </a:xfrm>
          <a:prstGeom prst="rect">
            <a:avLst/>
          </a:prstGeom>
          <a:noFill/>
          <a:ln w="0">
            <a:noFill/>
          </a:ln>
        </p:spPr>
        <p:txBody>
          <a:bodyPr anchor="t">
            <a:normAutofit/>
          </a:bodyPr>
          <a:lstStyle/>
          <a:p>
            <a:pPr algn="ctr">
              <a:defRPr sz="1425" b="1" i="0">
                <a:solidFill>
                  <a:srgbClr val="B94D35"/>
                </a:solidFill>
                <a:latin typeface="Arial"/>
                <a:ea typeface="Arial"/>
                <a:cs typeface="Arial"/>
              </a:defRPr>
            </a:pPr>
            <a:r>
              <a:rPr sz="1425" b="1" i="0">
                <a:solidFill>
                  <a:srgbClr val="B94D35"/>
                </a:solidFill>
                <a:latin typeface="Arial"/>
                <a:ea typeface="Arial"/>
                <a:cs typeface="Arial"/>
              </a:rPr>
              <a:t>Student records and interview quotations are from the study participants.</a:t>
            </a:r>
          </a:p>
        </p:txBody>
      </p:sp>
      <p:sp>
        <p:nvSpPr>
          <p:cNvPr id="21" name="Düz Bağlayıcı 20">
            <a:extLst>
              <a:ext uri="{FF2B5EF4-FFF2-40B4-BE49-F238E27FC236}">
                <a16:creationId xmlns:a16="http://schemas.microsoft.com/office/drawing/2014/main" id="{B02D768F-E5E0-4A87-B6A9-767DE719B306}"/>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2" name="Dikdörtgen 21">
            <a:extLst>
              <a:ext uri="{FF2B5EF4-FFF2-40B4-BE49-F238E27FC236}">
                <a16:creationId xmlns:a16="http://schemas.microsoft.com/office/drawing/2014/main" id="{DD686010-EF80-4B4C-BE6F-BC15DBA12D83}"/>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031184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45" name="Yuvarlatılmış Dikdörtgen 44">
            <a:extLst>
              <a:ext uri="{FF2B5EF4-FFF2-40B4-BE49-F238E27FC236}">
                <a16:creationId xmlns:a16="http://schemas.microsoft.com/office/drawing/2014/main" id="{5034826A-9228-4FCB-9D06-BDEB19A0B831}"/>
              </a:ext>
            </a:extLst>
          </p:cNvPr>
          <p:cNvSpPr>
            <a:spLocks noGrp="1"/>
          </p:cNvSpPr>
          <p:nvPr/>
        </p:nvSpPr>
        <p:spPr>
          <a:xfrm>
            <a:off x="685800" y="371475"/>
            <a:ext cx="66675" cy="171450"/>
          </a:xfrm>
          <a:prstGeom prst="roundRect">
            <a:avLst>
              <a:gd name="adj" fmla="val 50000"/>
            </a:avLst>
          </a:prstGeom>
          <a:solidFill>
            <a:srgbClr val="D58C00"/>
          </a:solidFill>
          <a:ln w="0">
            <a:noFill/>
          </a:ln>
        </p:spPr>
        <p:txBody>
          <a:bodyPr/>
          <a:lstStyle/>
          <a:p>
            <a:endParaRPr lang="tr-TR"/>
          </a:p>
        </p:txBody>
      </p:sp>
      <p:sp>
        <p:nvSpPr>
          <p:cNvPr id="2" name="Dikdörtgen 1">
            <a:extLst>
              <a:ext uri="{FF2B5EF4-FFF2-40B4-BE49-F238E27FC236}">
                <a16:creationId xmlns:a16="http://schemas.microsoft.com/office/drawing/2014/main" id="{CCE2C097-BB2A-4E16-9623-62A32F219A73}"/>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Dikdörtgen 2">
            <a:extLst>
              <a:ext uri="{FF2B5EF4-FFF2-40B4-BE49-F238E27FC236}">
                <a16:creationId xmlns:a16="http://schemas.microsoft.com/office/drawing/2014/main" id="{125F9736-F1BC-4A16-B75B-7AB470417B08}"/>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MIWAE Corpus Analysis API</a:t>
            </a:r>
          </a:p>
        </p:txBody>
      </p:sp>
      <p:sp>
        <p:nvSpPr>
          <p:cNvPr id="4" name="Düz Bağlayıcı 3">
            <a:extLst>
              <a:ext uri="{FF2B5EF4-FFF2-40B4-BE49-F238E27FC236}">
                <a16:creationId xmlns:a16="http://schemas.microsoft.com/office/drawing/2014/main" id="{6385AC92-DDD4-4E31-A7C3-EEA6E468F420}"/>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2737EBE7-381C-4EE1-B11B-2ED1BE40EE5B}"/>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10</a:t>
            </a:r>
          </a:p>
        </p:txBody>
      </p:sp>
      <p:sp>
        <p:nvSpPr>
          <p:cNvPr id="6" name="Yuvarlatılmış Dikdörtgen 5">
            <a:extLst>
              <a:ext uri="{FF2B5EF4-FFF2-40B4-BE49-F238E27FC236}">
                <a16:creationId xmlns:a16="http://schemas.microsoft.com/office/drawing/2014/main" id="{21C08C6D-0D92-49CD-9ABB-265F131100DF}"/>
              </a:ext>
            </a:extLst>
          </p:cNvPr>
          <p:cNvSpPr>
            <a:spLocks noGrp="1"/>
          </p:cNvSpPr>
          <p:nvPr/>
        </p:nvSpPr>
        <p:spPr>
          <a:xfrm>
            <a:off x="9620250" y="381000"/>
            <a:ext cx="1714500" cy="266700"/>
          </a:xfrm>
          <a:prstGeom prst="roundRect">
            <a:avLst>
              <a:gd name="adj" fmla="val 28571"/>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80A4699C-ABD4-4921-9991-BCF8DA3770AB}"/>
              </a:ext>
            </a:extLst>
          </p:cNvPr>
          <p:cNvSpPr>
            <a:spLocks noGrp="1"/>
          </p:cNvSpPr>
          <p:nvPr/>
        </p:nvSpPr>
        <p:spPr>
          <a:xfrm>
            <a:off x="9696450" y="409575"/>
            <a:ext cx="156210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OPEN PROTOTYPE</a:t>
            </a:r>
          </a:p>
        </p:txBody>
      </p:sp>
      <p:sp>
        <p:nvSpPr>
          <p:cNvPr id="8" name="Yuvarlatılmış Dikdörtgen 7">
            <a:extLst>
              <a:ext uri="{FF2B5EF4-FFF2-40B4-BE49-F238E27FC236}">
                <a16:creationId xmlns:a16="http://schemas.microsoft.com/office/drawing/2014/main" id="{B8BFDC3C-2260-4C70-A847-9DF3F39A3635}"/>
              </a:ext>
            </a:extLst>
          </p:cNvPr>
          <p:cNvSpPr>
            <a:spLocks noGrp="1"/>
          </p:cNvSpPr>
          <p:nvPr/>
        </p:nvSpPr>
        <p:spPr>
          <a:xfrm>
            <a:off x="400050" y="1752600"/>
            <a:ext cx="2095500" cy="1695450"/>
          </a:xfrm>
          <a:prstGeom prst="roundRect">
            <a:avLst>
              <a:gd name="adj" fmla="val 4494"/>
            </a:avLst>
          </a:prstGeom>
          <a:solidFill>
            <a:srgbClr val="FFFFFF"/>
          </a:solid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22B2FDAE-59AB-4A10-AB20-BAF597BF5E43}"/>
              </a:ext>
            </a:extLst>
          </p:cNvPr>
          <p:cNvSpPr>
            <a:spLocks noGrp="1"/>
          </p:cNvSpPr>
          <p:nvPr/>
        </p:nvSpPr>
        <p:spPr>
          <a:xfrm>
            <a:off x="581025" y="1981200"/>
            <a:ext cx="17145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SOURCE</a:t>
            </a:r>
          </a:p>
        </p:txBody>
      </p:sp>
      <p:sp>
        <p:nvSpPr>
          <p:cNvPr id="10" name="Dikdörtgen 9">
            <a:extLst>
              <a:ext uri="{FF2B5EF4-FFF2-40B4-BE49-F238E27FC236}">
                <a16:creationId xmlns:a16="http://schemas.microsoft.com/office/drawing/2014/main" id="{9313F8C2-98CA-4DA4-9970-6EC61BBEDD86}"/>
              </a:ext>
            </a:extLst>
          </p:cNvPr>
          <p:cNvSpPr>
            <a:spLocks noGrp="1"/>
          </p:cNvSpPr>
          <p:nvPr/>
        </p:nvSpPr>
        <p:spPr>
          <a:xfrm>
            <a:off x="590550" y="2476500"/>
            <a:ext cx="1714500" cy="723900"/>
          </a:xfrm>
          <a:prstGeom prst="rect">
            <a:avLst/>
          </a:prstGeom>
          <a:noFill/>
          <a:ln w="0">
            <a:noFill/>
          </a:ln>
        </p:spPr>
        <p:txBody>
          <a:bodyPr anchor="ctr">
            <a:normAutofit/>
          </a:bodyPr>
          <a:lstStyle/>
          <a:p>
            <a:pPr algn="ctr">
              <a:defRPr sz="1275" b="1" i="0">
                <a:solidFill>
                  <a:srgbClr val="33343F"/>
                </a:solidFill>
                <a:latin typeface="Arial"/>
                <a:ea typeface="Arial"/>
                <a:cs typeface="Arial"/>
              </a:defRPr>
            </a:pPr>
            <a:r>
              <a:rPr sz="1275" b="1" i="0">
                <a:solidFill>
                  <a:srgbClr val="33343F"/>
                </a:solidFill>
                <a:latin typeface="Arial"/>
                <a:ea typeface="Arial"/>
                <a:cs typeface="Arial"/>
              </a:rPr>
              <a:t>TXT, Markdown, PDF, DOCX or grouped CSV</a:t>
            </a:r>
          </a:p>
        </p:txBody>
      </p:sp>
      <p:sp>
        <p:nvSpPr>
          <p:cNvPr id="11" name="Düz Bağlayıcı 10">
            <a:extLst>
              <a:ext uri="{FF2B5EF4-FFF2-40B4-BE49-F238E27FC236}">
                <a16:creationId xmlns:a16="http://schemas.microsoft.com/office/drawing/2014/main" id="{A5F6184B-7B09-407A-836C-824B13407B21}"/>
              </a:ext>
            </a:extLst>
          </p:cNvPr>
          <p:cNvSpPr>
            <a:spLocks noGrp="1"/>
          </p:cNvSpPr>
          <p:nvPr/>
        </p:nvSpPr>
        <p:spPr>
          <a:xfrm>
            <a:off x="2495550" y="2609850"/>
            <a:ext cx="247650" cy="0"/>
          </a:xfrm>
          <a:prstGeom prst="line">
            <a:avLst/>
          </a:prstGeom>
          <a:noFill/>
          <a:ln w="28575">
            <a:solidFill>
              <a:srgbClr val="176082"/>
            </a:solidFill>
          </a:ln>
        </p:spPr>
        <p:txBody>
          <a:bodyPr/>
          <a:lstStyle/>
          <a:p>
            <a:endParaRPr lang="tr-TR"/>
          </a:p>
        </p:txBody>
      </p:sp>
      <p:sp>
        <p:nvSpPr>
          <p:cNvPr id="12" name="Yuvarlatılmış Dikdörtgen 11">
            <a:extLst>
              <a:ext uri="{FF2B5EF4-FFF2-40B4-BE49-F238E27FC236}">
                <a16:creationId xmlns:a16="http://schemas.microsoft.com/office/drawing/2014/main" id="{E64E9E29-F98D-424B-8142-8961617B878B}"/>
              </a:ext>
            </a:extLst>
          </p:cNvPr>
          <p:cNvSpPr>
            <a:spLocks noGrp="1"/>
          </p:cNvSpPr>
          <p:nvPr/>
        </p:nvSpPr>
        <p:spPr>
          <a:xfrm>
            <a:off x="2762250" y="1752600"/>
            <a:ext cx="2095500" cy="1695450"/>
          </a:xfrm>
          <a:prstGeom prst="roundRect">
            <a:avLst>
              <a:gd name="adj" fmla="val 4494"/>
            </a:avLst>
          </a:prstGeom>
          <a:solidFill>
            <a:srgbClr val="FFFFFF"/>
          </a:solidFill>
          <a:ln w="9525">
            <a:solidFill>
              <a:srgbClr val="C8C9D3"/>
            </a:solidFill>
          </a:ln>
        </p:spPr>
        <p:txBody>
          <a:bodyPr/>
          <a:lstStyle/>
          <a:p>
            <a:endParaRPr lang="tr-TR"/>
          </a:p>
        </p:txBody>
      </p:sp>
      <p:sp>
        <p:nvSpPr>
          <p:cNvPr id="13" name="Dikdörtgen 12">
            <a:extLst>
              <a:ext uri="{FF2B5EF4-FFF2-40B4-BE49-F238E27FC236}">
                <a16:creationId xmlns:a16="http://schemas.microsoft.com/office/drawing/2014/main" id="{854E735C-F34A-4E90-BCA7-28093CDA74FD}"/>
              </a:ext>
            </a:extLst>
          </p:cNvPr>
          <p:cNvSpPr>
            <a:spLocks noGrp="1"/>
          </p:cNvSpPr>
          <p:nvPr/>
        </p:nvSpPr>
        <p:spPr>
          <a:xfrm>
            <a:off x="2943225" y="1981200"/>
            <a:ext cx="171450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SEGMENT</a:t>
            </a:r>
          </a:p>
        </p:txBody>
      </p:sp>
      <p:sp>
        <p:nvSpPr>
          <p:cNvPr id="14" name="Dikdörtgen 13">
            <a:extLst>
              <a:ext uri="{FF2B5EF4-FFF2-40B4-BE49-F238E27FC236}">
                <a16:creationId xmlns:a16="http://schemas.microsoft.com/office/drawing/2014/main" id="{1E2BB618-E4F9-4EBC-A496-6567EC4FADBE}"/>
              </a:ext>
            </a:extLst>
          </p:cNvPr>
          <p:cNvSpPr>
            <a:spLocks noGrp="1"/>
          </p:cNvSpPr>
          <p:nvPr/>
        </p:nvSpPr>
        <p:spPr>
          <a:xfrm>
            <a:off x="2952750" y="2476500"/>
            <a:ext cx="1714500" cy="723900"/>
          </a:xfrm>
          <a:prstGeom prst="rect">
            <a:avLst/>
          </a:prstGeom>
          <a:noFill/>
          <a:ln w="0">
            <a:noFill/>
          </a:ln>
        </p:spPr>
        <p:txBody>
          <a:bodyPr anchor="ctr">
            <a:normAutofit/>
          </a:bodyPr>
          <a:lstStyle/>
          <a:p>
            <a:pPr algn="ctr">
              <a:defRPr sz="1275" b="1" i="0">
                <a:solidFill>
                  <a:srgbClr val="33343F"/>
                </a:solidFill>
                <a:latin typeface="Arial"/>
                <a:ea typeface="Arial"/>
                <a:cs typeface="Arial"/>
              </a:defRPr>
            </a:pPr>
            <a:r>
              <a:rPr sz="1275" b="1" i="0">
                <a:solidFill>
                  <a:srgbClr val="33343F"/>
                </a:solidFill>
                <a:latin typeface="Arial"/>
                <a:ea typeface="Arial"/>
                <a:cs typeface="Arial"/>
              </a:rPr>
              <a:t>Pages, paragraphs or matched passages</a:t>
            </a:r>
          </a:p>
        </p:txBody>
      </p:sp>
      <p:sp>
        <p:nvSpPr>
          <p:cNvPr id="15" name="Düz Bağlayıcı 14">
            <a:extLst>
              <a:ext uri="{FF2B5EF4-FFF2-40B4-BE49-F238E27FC236}">
                <a16:creationId xmlns:a16="http://schemas.microsoft.com/office/drawing/2014/main" id="{A3367C4F-CA9F-46A5-B8DC-7415D54FB9E9}"/>
              </a:ext>
            </a:extLst>
          </p:cNvPr>
          <p:cNvSpPr>
            <a:spLocks noGrp="1"/>
          </p:cNvSpPr>
          <p:nvPr/>
        </p:nvSpPr>
        <p:spPr>
          <a:xfrm>
            <a:off x="4857750" y="2609850"/>
            <a:ext cx="247650" cy="0"/>
          </a:xfrm>
          <a:prstGeom prst="line">
            <a:avLst/>
          </a:prstGeom>
          <a:noFill/>
          <a:ln w="28575">
            <a:solidFill>
              <a:srgbClr val="176082"/>
            </a:solidFill>
          </a:ln>
        </p:spPr>
        <p:txBody>
          <a:bodyPr/>
          <a:lstStyle/>
          <a:p>
            <a:endParaRPr lang="tr-TR"/>
          </a:p>
        </p:txBody>
      </p:sp>
      <p:sp>
        <p:nvSpPr>
          <p:cNvPr id="16" name="Yuvarlatılmış Dikdörtgen 15">
            <a:extLst>
              <a:ext uri="{FF2B5EF4-FFF2-40B4-BE49-F238E27FC236}">
                <a16:creationId xmlns:a16="http://schemas.microsoft.com/office/drawing/2014/main" id="{877A4463-BFC2-40A8-9FE9-DE60BA2DA154}"/>
              </a:ext>
            </a:extLst>
          </p:cNvPr>
          <p:cNvSpPr>
            <a:spLocks noGrp="1"/>
          </p:cNvSpPr>
          <p:nvPr/>
        </p:nvSpPr>
        <p:spPr>
          <a:xfrm>
            <a:off x="5124450" y="1752600"/>
            <a:ext cx="2095500" cy="1695450"/>
          </a:xfrm>
          <a:prstGeom prst="roundRect">
            <a:avLst>
              <a:gd name="adj" fmla="val 4494"/>
            </a:avLst>
          </a:prstGeom>
          <a:solidFill>
            <a:srgbClr val="FFFFFF"/>
          </a:solidFill>
          <a:ln w="9525">
            <a:solidFill>
              <a:srgbClr val="C8C9D3"/>
            </a:solidFill>
          </a:ln>
        </p:spPr>
        <p:txBody>
          <a:bodyPr/>
          <a:lstStyle/>
          <a:p>
            <a:endParaRPr lang="tr-TR"/>
          </a:p>
        </p:txBody>
      </p:sp>
      <p:sp>
        <p:nvSpPr>
          <p:cNvPr id="17" name="Dikdörtgen 16">
            <a:extLst>
              <a:ext uri="{FF2B5EF4-FFF2-40B4-BE49-F238E27FC236}">
                <a16:creationId xmlns:a16="http://schemas.microsoft.com/office/drawing/2014/main" id="{E3FED6D5-2AB6-4469-A0F4-60811041CB53}"/>
              </a:ext>
            </a:extLst>
          </p:cNvPr>
          <p:cNvSpPr>
            <a:spLocks noGrp="1"/>
          </p:cNvSpPr>
          <p:nvPr/>
        </p:nvSpPr>
        <p:spPr>
          <a:xfrm>
            <a:off x="5305425" y="1981200"/>
            <a:ext cx="171450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PROFILE</a:t>
            </a:r>
          </a:p>
        </p:txBody>
      </p:sp>
      <p:sp>
        <p:nvSpPr>
          <p:cNvPr id="18" name="Dikdörtgen 17">
            <a:extLst>
              <a:ext uri="{FF2B5EF4-FFF2-40B4-BE49-F238E27FC236}">
                <a16:creationId xmlns:a16="http://schemas.microsoft.com/office/drawing/2014/main" id="{C0FD0987-BA58-4E38-AD3E-86F315BE6C4D}"/>
              </a:ext>
            </a:extLst>
          </p:cNvPr>
          <p:cNvSpPr>
            <a:spLocks noGrp="1"/>
          </p:cNvSpPr>
          <p:nvPr/>
        </p:nvSpPr>
        <p:spPr>
          <a:xfrm>
            <a:off x="5314950" y="2476500"/>
            <a:ext cx="1714500" cy="723900"/>
          </a:xfrm>
          <a:prstGeom prst="rect">
            <a:avLst/>
          </a:prstGeom>
          <a:noFill/>
          <a:ln w="0">
            <a:noFill/>
          </a:ln>
        </p:spPr>
        <p:txBody>
          <a:bodyPr anchor="ctr">
            <a:normAutofit/>
          </a:bodyPr>
          <a:lstStyle/>
          <a:p>
            <a:pPr algn="ctr">
              <a:defRPr sz="1275" b="1" i="0">
                <a:solidFill>
                  <a:srgbClr val="33343F"/>
                </a:solidFill>
                <a:latin typeface="Arial"/>
                <a:ea typeface="Arial"/>
                <a:cs typeface="Arial"/>
              </a:defRPr>
            </a:pPr>
            <a:r>
              <a:rPr sz="1275" b="1" i="0">
                <a:solidFill>
                  <a:srgbClr val="33343F"/>
                </a:solidFill>
                <a:latin typeface="Arial"/>
                <a:ea typeface="Arial"/>
                <a:cs typeface="Arial"/>
              </a:rPr>
              <a:t>7 functions and 19 form candidates</a:t>
            </a:r>
          </a:p>
        </p:txBody>
      </p:sp>
      <p:sp>
        <p:nvSpPr>
          <p:cNvPr id="19" name="Düz Bağlayıcı 18">
            <a:extLst>
              <a:ext uri="{FF2B5EF4-FFF2-40B4-BE49-F238E27FC236}">
                <a16:creationId xmlns:a16="http://schemas.microsoft.com/office/drawing/2014/main" id="{69648C09-34DC-40EF-962C-6C46C9B4A699}"/>
              </a:ext>
            </a:extLst>
          </p:cNvPr>
          <p:cNvSpPr>
            <a:spLocks noGrp="1"/>
          </p:cNvSpPr>
          <p:nvPr/>
        </p:nvSpPr>
        <p:spPr>
          <a:xfrm>
            <a:off x="7219950" y="2609850"/>
            <a:ext cx="247650" cy="0"/>
          </a:xfrm>
          <a:prstGeom prst="line">
            <a:avLst/>
          </a:prstGeom>
          <a:noFill/>
          <a:ln w="28575">
            <a:solidFill>
              <a:srgbClr val="176082"/>
            </a:solidFill>
          </a:ln>
        </p:spPr>
        <p:txBody>
          <a:bodyPr/>
          <a:lstStyle/>
          <a:p>
            <a:endParaRPr lang="tr-TR"/>
          </a:p>
        </p:txBody>
      </p:sp>
      <p:sp>
        <p:nvSpPr>
          <p:cNvPr id="20" name="Yuvarlatılmış Dikdörtgen 19">
            <a:extLst>
              <a:ext uri="{FF2B5EF4-FFF2-40B4-BE49-F238E27FC236}">
                <a16:creationId xmlns:a16="http://schemas.microsoft.com/office/drawing/2014/main" id="{D2381A3A-73F5-4A8A-82D6-9231ACF02F75}"/>
              </a:ext>
            </a:extLst>
          </p:cNvPr>
          <p:cNvSpPr>
            <a:spLocks noGrp="1"/>
          </p:cNvSpPr>
          <p:nvPr/>
        </p:nvSpPr>
        <p:spPr>
          <a:xfrm>
            <a:off x="7486650" y="1752600"/>
            <a:ext cx="2095500" cy="1695450"/>
          </a:xfrm>
          <a:prstGeom prst="roundRect">
            <a:avLst>
              <a:gd name="adj" fmla="val 4494"/>
            </a:avLst>
          </a:prstGeom>
          <a:solidFill>
            <a:srgbClr val="FFFFFF"/>
          </a:solidFill>
          <a:ln w="9525">
            <a:solidFill>
              <a:srgbClr val="C8C9D3"/>
            </a:solidFill>
          </a:ln>
        </p:spPr>
        <p:txBody>
          <a:bodyPr/>
          <a:lstStyle/>
          <a:p>
            <a:endParaRPr lang="tr-TR"/>
          </a:p>
        </p:txBody>
      </p:sp>
      <p:sp>
        <p:nvSpPr>
          <p:cNvPr id="21" name="Dikdörtgen 20">
            <a:extLst>
              <a:ext uri="{FF2B5EF4-FFF2-40B4-BE49-F238E27FC236}">
                <a16:creationId xmlns:a16="http://schemas.microsoft.com/office/drawing/2014/main" id="{51681F71-8F0F-4580-9E58-6BE7C4A7E973}"/>
              </a:ext>
            </a:extLst>
          </p:cNvPr>
          <p:cNvSpPr>
            <a:spLocks noGrp="1"/>
          </p:cNvSpPr>
          <p:nvPr/>
        </p:nvSpPr>
        <p:spPr>
          <a:xfrm>
            <a:off x="7667625" y="1981200"/>
            <a:ext cx="17145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DISTRIBUTE</a:t>
            </a:r>
          </a:p>
        </p:txBody>
      </p:sp>
      <p:sp>
        <p:nvSpPr>
          <p:cNvPr id="22" name="Dikdörtgen 21">
            <a:extLst>
              <a:ext uri="{FF2B5EF4-FFF2-40B4-BE49-F238E27FC236}">
                <a16:creationId xmlns:a16="http://schemas.microsoft.com/office/drawing/2014/main" id="{6699C405-F9B5-4327-945F-E918A5750155}"/>
              </a:ext>
            </a:extLst>
          </p:cNvPr>
          <p:cNvSpPr>
            <a:spLocks noGrp="1"/>
          </p:cNvSpPr>
          <p:nvPr/>
        </p:nvSpPr>
        <p:spPr>
          <a:xfrm>
            <a:off x="7677150" y="2476500"/>
            <a:ext cx="1714500" cy="723900"/>
          </a:xfrm>
          <a:prstGeom prst="rect">
            <a:avLst/>
          </a:prstGeom>
          <a:noFill/>
          <a:ln w="0">
            <a:noFill/>
          </a:ln>
        </p:spPr>
        <p:txBody>
          <a:bodyPr anchor="ctr">
            <a:normAutofit fontScale="89773"/>
          </a:bodyPr>
          <a:lstStyle/>
          <a:p>
            <a:pPr algn="ctr">
              <a:defRPr sz="1275" b="1" i="0">
                <a:solidFill>
                  <a:srgbClr val="33343F"/>
                </a:solidFill>
                <a:latin typeface="Arial"/>
                <a:ea typeface="Arial"/>
                <a:cs typeface="Arial"/>
              </a:defRPr>
            </a:pPr>
            <a:r>
              <a:rPr sz="1275" b="1" i="0">
                <a:solidFill>
                  <a:srgbClr val="33343F"/>
                </a:solidFill>
                <a:latin typeface="Arial"/>
                <a:ea typeface="Arial"/>
                <a:cs typeface="Arial"/>
              </a:rPr>
              <a:t>Rate, coverage, evenness and optional opportunities</a:t>
            </a:r>
          </a:p>
        </p:txBody>
      </p:sp>
      <p:sp>
        <p:nvSpPr>
          <p:cNvPr id="23" name="Düz Bağlayıcı 22">
            <a:extLst>
              <a:ext uri="{FF2B5EF4-FFF2-40B4-BE49-F238E27FC236}">
                <a16:creationId xmlns:a16="http://schemas.microsoft.com/office/drawing/2014/main" id="{89A0390D-D4EA-44BA-8E7D-EF7FD5361EE6}"/>
              </a:ext>
            </a:extLst>
          </p:cNvPr>
          <p:cNvSpPr>
            <a:spLocks noGrp="1"/>
          </p:cNvSpPr>
          <p:nvPr/>
        </p:nvSpPr>
        <p:spPr>
          <a:xfrm>
            <a:off x="9582150" y="2609850"/>
            <a:ext cx="247650" cy="0"/>
          </a:xfrm>
          <a:prstGeom prst="line">
            <a:avLst/>
          </a:prstGeom>
          <a:noFill/>
          <a:ln w="28575">
            <a:solidFill>
              <a:srgbClr val="176082"/>
            </a:solidFill>
          </a:ln>
        </p:spPr>
        <p:txBody>
          <a:bodyPr/>
          <a:lstStyle/>
          <a:p>
            <a:endParaRPr lang="tr-TR"/>
          </a:p>
        </p:txBody>
      </p:sp>
      <p:sp>
        <p:nvSpPr>
          <p:cNvPr id="24" name="Yuvarlatılmış Dikdörtgen 23">
            <a:extLst>
              <a:ext uri="{FF2B5EF4-FFF2-40B4-BE49-F238E27FC236}">
                <a16:creationId xmlns:a16="http://schemas.microsoft.com/office/drawing/2014/main" id="{F8C46AE3-0AA1-4284-9931-80FD8159BEFE}"/>
              </a:ext>
            </a:extLst>
          </p:cNvPr>
          <p:cNvSpPr>
            <a:spLocks noGrp="1"/>
          </p:cNvSpPr>
          <p:nvPr/>
        </p:nvSpPr>
        <p:spPr>
          <a:xfrm>
            <a:off x="9848850" y="1752600"/>
            <a:ext cx="2095500" cy="1695450"/>
          </a:xfrm>
          <a:prstGeom prst="roundRect">
            <a:avLst>
              <a:gd name="adj" fmla="val 4494"/>
            </a:avLst>
          </a:prstGeom>
          <a:solidFill>
            <a:srgbClr val="123B53"/>
          </a:solidFill>
          <a:ln w="9525">
            <a:solidFill>
              <a:srgbClr val="C8C9D3"/>
            </a:solidFill>
          </a:ln>
        </p:spPr>
        <p:txBody>
          <a:bodyPr/>
          <a:lstStyle/>
          <a:p>
            <a:endParaRPr lang="tr-TR"/>
          </a:p>
        </p:txBody>
      </p:sp>
      <p:sp>
        <p:nvSpPr>
          <p:cNvPr id="25" name="Dikdörtgen 24">
            <a:extLst>
              <a:ext uri="{FF2B5EF4-FFF2-40B4-BE49-F238E27FC236}">
                <a16:creationId xmlns:a16="http://schemas.microsoft.com/office/drawing/2014/main" id="{473C2E18-65F0-4C61-88A1-5A1B09A66E1B}"/>
              </a:ext>
            </a:extLst>
          </p:cNvPr>
          <p:cNvSpPr>
            <a:spLocks noGrp="1"/>
          </p:cNvSpPr>
          <p:nvPr/>
        </p:nvSpPr>
        <p:spPr>
          <a:xfrm>
            <a:off x="10029825" y="1981200"/>
            <a:ext cx="1714500" cy="257175"/>
          </a:xfrm>
          <a:prstGeom prst="rect">
            <a:avLst/>
          </a:prstGeom>
          <a:noFill/>
          <a:ln w="0">
            <a:noFill/>
          </a:ln>
        </p:spPr>
        <p:txBody>
          <a:bodyPr anchor="ctr">
            <a:normAutofit/>
          </a:bodyPr>
          <a:lstStyle/>
          <a:p>
            <a:pPr algn="l">
              <a:defRPr sz="975" b="1" i="0">
                <a:solidFill>
                  <a:srgbClr val="123B53"/>
                </a:solidFill>
                <a:latin typeface="Arial"/>
                <a:ea typeface="Arial"/>
                <a:cs typeface="Arial"/>
              </a:defRPr>
            </a:pPr>
            <a:r>
              <a:rPr sz="975" b="1" i="0">
                <a:solidFill>
                  <a:srgbClr val="123B53"/>
                </a:solidFill>
                <a:latin typeface="Arial"/>
                <a:ea typeface="Arial"/>
                <a:cs typeface="Arial"/>
              </a:rPr>
              <a:t>REVIEW</a:t>
            </a:r>
          </a:p>
        </p:txBody>
      </p:sp>
      <p:sp>
        <p:nvSpPr>
          <p:cNvPr id="26" name="Dikdörtgen 25">
            <a:extLst>
              <a:ext uri="{FF2B5EF4-FFF2-40B4-BE49-F238E27FC236}">
                <a16:creationId xmlns:a16="http://schemas.microsoft.com/office/drawing/2014/main" id="{46220161-51E6-418A-9E52-22CC47C56FAA}"/>
              </a:ext>
            </a:extLst>
          </p:cNvPr>
          <p:cNvSpPr>
            <a:spLocks noGrp="1"/>
          </p:cNvSpPr>
          <p:nvPr/>
        </p:nvSpPr>
        <p:spPr>
          <a:xfrm>
            <a:off x="10039350" y="2476500"/>
            <a:ext cx="1714500" cy="723900"/>
          </a:xfrm>
          <a:prstGeom prst="rect">
            <a:avLst/>
          </a:prstGeom>
          <a:noFill/>
          <a:ln w="0">
            <a:noFill/>
          </a:ln>
        </p:spPr>
        <p:txBody>
          <a:bodyPr anchor="ctr">
            <a:norm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Contextual verification and export</a:t>
            </a:r>
          </a:p>
        </p:txBody>
      </p:sp>
      <p:sp>
        <p:nvSpPr>
          <p:cNvPr id="27" name="Yuvarlatılmış Dikdörtgen 26">
            <a:extLst>
              <a:ext uri="{FF2B5EF4-FFF2-40B4-BE49-F238E27FC236}">
                <a16:creationId xmlns:a16="http://schemas.microsoft.com/office/drawing/2014/main" id="{4F57E21B-9EC5-42FE-A9A4-124C45D0AFF1}"/>
              </a:ext>
            </a:extLst>
          </p:cNvPr>
          <p:cNvSpPr>
            <a:spLocks noGrp="1"/>
          </p:cNvSpPr>
          <p:nvPr/>
        </p:nvSpPr>
        <p:spPr>
          <a:xfrm>
            <a:off x="685800" y="3790950"/>
            <a:ext cx="10820400" cy="971550"/>
          </a:xfrm>
          <a:prstGeom prst="roundRect">
            <a:avLst>
              <a:gd name="adj" fmla="val 7843"/>
            </a:avLst>
          </a:prstGeom>
          <a:solidFill>
            <a:srgbClr val="E6F0F5"/>
          </a:solidFill>
          <a:ln w="0">
            <a:noFill/>
          </a:ln>
        </p:spPr>
        <p:txBody>
          <a:bodyPr/>
          <a:lstStyle/>
          <a:p>
            <a:endParaRPr lang="tr-TR"/>
          </a:p>
        </p:txBody>
      </p:sp>
      <p:sp>
        <p:nvSpPr>
          <p:cNvPr id="28" name="Dikdörtgen 27">
            <a:extLst>
              <a:ext uri="{FF2B5EF4-FFF2-40B4-BE49-F238E27FC236}">
                <a16:creationId xmlns:a16="http://schemas.microsoft.com/office/drawing/2014/main" id="{F67568B8-4A29-4E59-9884-C3F3A9609A5F}"/>
              </a:ext>
            </a:extLst>
          </p:cNvPr>
          <p:cNvSpPr>
            <a:spLocks noGrp="1"/>
          </p:cNvSpPr>
          <p:nvPr/>
        </p:nvSpPr>
        <p:spPr>
          <a:xfrm>
            <a:off x="933450" y="4000500"/>
            <a:ext cx="2000250" cy="247650"/>
          </a:xfrm>
          <a:prstGeom prst="rect">
            <a:avLst/>
          </a:prstGeom>
          <a:noFill/>
          <a:ln w="0">
            <a:noFill/>
          </a:ln>
        </p:spPr>
        <p:txBody>
          <a:bodyPr anchor="t">
            <a:normAutofit fontScale="85417"/>
          </a:bodyPr>
          <a:lstStyle/>
          <a:p>
            <a:pPr algn="l">
              <a:defRPr sz="1200" b="1" i="0">
                <a:solidFill>
                  <a:srgbClr val="176082"/>
                </a:solidFill>
                <a:latin typeface="Arial"/>
                <a:ea typeface="Arial"/>
                <a:cs typeface="Arial"/>
              </a:defRPr>
            </a:pPr>
            <a:r>
              <a:rPr sz="1200" b="1" i="0">
                <a:solidFill>
                  <a:srgbClr val="176082"/>
                </a:solidFill>
                <a:latin typeface="Arial"/>
                <a:ea typeface="Arial"/>
                <a:cs typeface="Arial"/>
              </a:rPr>
              <a:t>Optional adapters</a:t>
            </a:r>
          </a:p>
        </p:txBody>
      </p:sp>
      <p:sp>
        <p:nvSpPr>
          <p:cNvPr id="29" name="Dikdörtgen 28">
            <a:extLst>
              <a:ext uri="{FF2B5EF4-FFF2-40B4-BE49-F238E27FC236}">
                <a16:creationId xmlns:a16="http://schemas.microsoft.com/office/drawing/2014/main" id="{DC516A6E-30FF-4B8B-80D2-65BE366B0067}"/>
              </a:ext>
            </a:extLst>
          </p:cNvPr>
          <p:cNvSpPr>
            <a:spLocks noGrp="1"/>
          </p:cNvSpPr>
          <p:nvPr/>
        </p:nvSpPr>
        <p:spPr>
          <a:xfrm>
            <a:off x="3067050" y="3943350"/>
            <a:ext cx="3048000" cy="361950"/>
          </a:xfrm>
          <a:prstGeom prst="rect">
            <a:avLst/>
          </a:prstGeom>
          <a:noFill/>
          <a:ln w="0">
            <a:noFill/>
          </a:ln>
        </p:spPr>
        <p:txBody>
          <a:bodyPr anchor="t">
            <a:normAutofit fontScale="98345"/>
          </a:bodyPr>
          <a:lstStyle/>
          <a:p>
            <a:pPr algn="ctr">
              <a:defRPr sz="1425" b="1" i="0">
                <a:solidFill>
                  <a:srgbClr val="33343F"/>
                </a:solidFill>
                <a:latin typeface="Arial"/>
                <a:ea typeface="Arial"/>
                <a:cs typeface="Arial"/>
              </a:defRPr>
            </a:pPr>
            <a:r>
              <a:rPr sz="1425" b="1" i="0">
                <a:solidFill>
                  <a:srgbClr val="33343F"/>
                </a:solidFill>
                <a:latin typeface="Arial"/>
                <a:ea typeface="Arial"/>
                <a:cs typeface="Arial"/>
              </a:rPr>
              <a:t>Authorized Text Inspector exports</a:t>
            </a:r>
          </a:p>
        </p:txBody>
      </p:sp>
      <p:sp>
        <p:nvSpPr>
          <p:cNvPr id="30" name="Dikdörtgen 29">
            <a:extLst>
              <a:ext uri="{FF2B5EF4-FFF2-40B4-BE49-F238E27FC236}">
                <a16:creationId xmlns:a16="http://schemas.microsoft.com/office/drawing/2014/main" id="{0602E0CA-1D2C-4319-B9DA-390E77E8E235}"/>
              </a:ext>
            </a:extLst>
          </p:cNvPr>
          <p:cNvSpPr>
            <a:spLocks noGrp="1"/>
          </p:cNvSpPr>
          <p:nvPr/>
        </p:nvSpPr>
        <p:spPr>
          <a:xfrm>
            <a:off x="6743700" y="3943350"/>
            <a:ext cx="3714750" cy="361950"/>
          </a:xfrm>
          <a:prstGeom prst="rect">
            <a:avLst/>
          </a:prstGeom>
          <a:noFill/>
          <a:ln w="0">
            <a:noFill/>
          </a:ln>
        </p:spPr>
        <p:txBody>
          <a:bodyPr anchor="t">
            <a:normAutofit/>
          </a:bodyPr>
          <a:lstStyle/>
          <a:p>
            <a:pPr algn="ctr">
              <a:defRPr sz="1425" b="1" i="0">
                <a:solidFill>
                  <a:srgbClr val="33343F"/>
                </a:solidFill>
                <a:latin typeface="Arial"/>
                <a:ea typeface="Arial"/>
                <a:cs typeface="Arial"/>
              </a:defRPr>
            </a:pPr>
            <a:r>
              <a:rPr sz="1425" b="1" i="0">
                <a:solidFill>
                  <a:srgbClr val="33343F"/>
                </a:solidFill>
                <a:latin typeface="Arial"/>
                <a:ea typeface="Arial"/>
                <a:cs typeface="Arial"/>
              </a:rPr>
              <a:t>User-supplied EVP or EGP mappings</a:t>
            </a:r>
          </a:p>
        </p:txBody>
      </p:sp>
      <p:sp>
        <p:nvSpPr>
          <p:cNvPr id="31" name="Düz Bağlayıcı 30">
            <a:extLst>
              <a:ext uri="{FF2B5EF4-FFF2-40B4-BE49-F238E27FC236}">
                <a16:creationId xmlns:a16="http://schemas.microsoft.com/office/drawing/2014/main" id="{61A8AE2B-EB65-4369-92F3-BC79996AEA03}"/>
              </a:ext>
            </a:extLst>
          </p:cNvPr>
          <p:cNvSpPr>
            <a:spLocks noGrp="1"/>
          </p:cNvSpPr>
          <p:nvPr/>
        </p:nvSpPr>
        <p:spPr>
          <a:xfrm>
            <a:off x="6305550" y="3943350"/>
            <a:ext cx="0" cy="619125"/>
          </a:xfrm>
          <a:prstGeom prst="line">
            <a:avLst/>
          </a:prstGeom>
          <a:noFill/>
          <a:ln w="9525">
            <a:solidFill>
              <a:srgbClr val="C8C9D3"/>
            </a:solidFill>
          </a:ln>
        </p:spPr>
        <p:txBody>
          <a:bodyPr/>
          <a:lstStyle/>
          <a:p>
            <a:endParaRPr lang="tr-TR"/>
          </a:p>
        </p:txBody>
      </p:sp>
      <p:sp>
        <p:nvSpPr>
          <p:cNvPr id="32" name="Dikdörtgen 31">
            <a:extLst>
              <a:ext uri="{FF2B5EF4-FFF2-40B4-BE49-F238E27FC236}">
                <a16:creationId xmlns:a16="http://schemas.microsoft.com/office/drawing/2014/main" id="{9669E0BE-EC70-4A07-B8D9-06847DCF53F5}"/>
              </a:ext>
            </a:extLst>
          </p:cNvPr>
          <p:cNvSpPr>
            <a:spLocks noGrp="1"/>
          </p:cNvSpPr>
          <p:nvPr/>
        </p:nvSpPr>
        <p:spPr>
          <a:xfrm>
            <a:off x="895350" y="5076825"/>
            <a:ext cx="1809750" cy="400050"/>
          </a:xfrm>
          <a:prstGeom prst="rect">
            <a:avLst/>
          </a:prstGeom>
          <a:noFill/>
          <a:ln w="0">
            <a:noFill/>
          </a:ln>
        </p:spPr>
        <p:txBody>
          <a:bodyPr anchor="t">
            <a:normAutofit fontScale="90000"/>
          </a:bodyPr>
          <a:lstStyle/>
          <a:p>
            <a:pPr algn="ctr">
              <a:defRPr sz="2250" b="1" i="0">
                <a:solidFill>
                  <a:srgbClr val="176082"/>
                </a:solidFill>
                <a:latin typeface="Arial"/>
                <a:ea typeface="Arial"/>
                <a:cs typeface="Arial"/>
              </a:defRPr>
            </a:pPr>
            <a:r>
              <a:rPr sz="2250" b="1" i="0">
                <a:solidFill>
                  <a:srgbClr val="176082"/>
                </a:solidFill>
                <a:latin typeface="Arial"/>
                <a:ea typeface="Arial"/>
                <a:cs typeface="Arial"/>
              </a:rPr>
              <a:t>10</a:t>
            </a:r>
          </a:p>
        </p:txBody>
      </p:sp>
      <p:sp>
        <p:nvSpPr>
          <p:cNvPr id="33" name="Dikdörtgen 32">
            <a:extLst>
              <a:ext uri="{FF2B5EF4-FFF2-40B4-BE49-F238E27FC236}">
                <a16:creationId xmlns:a16="http://schemas.microsoft.com/office/drawing/2014/main" id="{5DFE2A28-2ED7-414E-B7D2-7C99B3CF3D8C}"/>
              </a:ext>
            </a:extLst>
          </p:cNvPr>
          <p:cNvSpPr>
            <a:spLocks noGrp="1"/>
          </p:cNvSpPr>
          <p:nvPr/>
        </p:nvSpPr>
        <p:spPr>
          <a:xfrm>
            <a:off x="895350" y="5476875"/>
            <a:ext cx="1809750" cy="266700"/>
          </a:xfrm>
          <a:prstGeom prst="rect">
            <a:avLst/>
          </a:prstGeom>
          <a:noFill/>
          <a:ln w="0">
            <a:noFill/>
          </a:ln>
        </p:spPr>
        <p:txBody>
          <a:bodyPr anchor="t">
            <a:normAutofit/>
          </a:bodyPr>
          <a:lstStyle/>
          <a:p>
            <a:pPr algn="ctr">
              <a:defRPr sz="1125" b="1" i="0">
                <a:solidFill>
                  <a:srgbClr val="626777"/>
                </a:solidFill>
                <a:latin typeface="Arial"/>
                <a:ea typeface="Arial"/>
                <a:cs typeface="Arial"/>
              </a:defRPr>
            </a:pPr>
            <a:r>
              <a:rPr sz="1125" b="1" i="0">
                <a:solidFill>
                  <a:srgbClr val="626777"/>
                </a:solidFill>
                <a:latin typeface="Arial"/>
                <a:ea typeface="Arial"/>
                <a:cs typeface="Arial"/>
              </a:rPr>
              <a:t>books</a:t>
            </a:r>
          </a:p>
        </p:txBody>
      </p:sp>
      <p:sp>
        <p:nvSpPr>
          <p:cNvPr id="34" name="Dikdörtgen 33">
            <a:extLst>
              <a:ext uri="{FF2B5EF4-FFF2-40B4-BE49-F238E27FC236}">
                <a16:creationId xmlns:a16="http://schemas.microsoft.com/office/drawing/2014/main" id="{05EBA93C-2146-4DC4-93C9-920719BDAE2F}"/>
              </a:ext>
            </a:extLst>
          </p:cNvPr>
          <p:cNvSpPr>
            <a:spLocks noGrp="1"/>
          </p:cNvSpPr>
          <p:nvPr/>
        </p:nvSpPr>
        <p:spPr>
          <a:xfrm>
            <a:off x="3609975" y="5076825"/>
            <a:ext cx="1809750" cy="400050"/>
          </a:xfrm>
          <a:prstGeom prst="rect">
            <a:avLst/>
          </a:prstGeom>
          <a:noFill/>
          <a:ln w="0">
            <a:noFill/>
          </a:ln>
        </p:spPr>
        <p:txBody>
          <a:bodyPr anchor="t">
            <a:normAutofit fontScale="90000"/>
          </a:bodyPr>
          <a:lstStyle/>
          <a:p>
            <a:pPr algn="ctr">
              <a:defRPr sz="2250" b="1" i="0">
                <a:solidFill>
                  <a:srgbClr val="176082"/>
                </a:solidFill>
                <a:latin typeface="Arial"/>
                <a:ea typeface="Arial"/>
                <a:cs typeface="Arial"/>
              </a:defRPr>
            </a:pPr>
            <a:r>
              <a:rPr sz="2250" b="1" i="0">
                <a:solidFill>
                  <a:srgbClr val="176082"/>
                </a:solidFill>
                <a:latin typeface="Arial"/>
                <a:ea typeface="Arial"/>
                <a:cs typeface="Arial"/>
              </a:rPr>
              <a:t>50</a:t>
            </a:r>
          </a:p>
        </p:txBody>
      </p:sp>
      <p:sp>
        <p:nvSpPr>
          <p:cNvPr id="35" name="Dikdörtgen 34">
            <a:extLst>
              <a:ext uri="{FF2B5EF4-FFF2-40B4-BE49-F238E27FC236}">
                <a16:creationId xmlns:a16="http://schemas.microsoft.com/office/drawing/2014/main" id="{57F38D27-A9E3-416E-84FF-90BDED67BFE2}"/>
              </a:ext>
            </a:extLst>
          </p:cNvPr>
          <p:cNvSpPr>
            <a:spLocks noGrp="1"/>
          </p:cNvSpPr>
          <p:nvPr/>
        </p:nvSpPr>
        <p:spPr>
          <a:xfrm>
            <a:off x="3609975" y="5476875"/>
            <a:ext cx="1809750" cy="266700"/>
          </a:xfrm>
          <a:prstGeom prst="rect">
            <a:avLst/>
          </a:prstGeom>
          <a:noFill/>
          <a:ln w="0">
            <a:noFill/>
          </a:ln>
        </p:spPr>
        <p:txBody>
          <a:bodyPr anchor="t">
            <a:normAutofit/>
          </a:bodyPr>
          <a:lstStyle/>
          <a:p>
            <a:pPr algn="ctr">
              <a:defRPr sz="1125" b="1" i="0">
                <a:solidFill>
                  <a:srgbClr val="626777"/>
                </a:solidFill>
                <a:latin typeface="Arial"/>
                <a:ea typeface="Arial"/>
                <a:cs typeface="Arial"/>
              </a:defRPr>
            </a:pPr>
            <a:r>
              <a:rPr sz="1125" b="1" i="0">
                <a:solidFill>
                  <a:srgbClr val="626777"/>
                </a:solidFill>
                <a:latin typeface="Arial"/>
                <a:ea typeface="Arial"/>
                <a:cs typeface="Arial"/>
              </a:rPr>
              <a:t>stratified passages</a:t>
            </a:r>
          </a:p>
        </p:txBody>
      </p:sp>
      <p:sp>
        <p:nvSpPr>
          <p:cNvPr id="36" name="Dikdörtgen 35">
            <a:extLst>
              <a:ext uri="{FF2B5EF4-FFF2-40B4-BE49-F238E27FC236}">
                <a16:creationId xmlns:a16="http://schemas.microsoft.com/office/drawing/2014/main" id="{BB559D01-29F4-4BED-9393-E2940D57DC4E}"/>
              </a:ext>
            </a:extLst>
          </p:cNvPr>
          <p:cNvSpPr>
            <a:spLocks noGrp="1"/>
          </p:cNvSpPr>
          <p:nvPr/>
        </p:nvSpPr>
        <p:spPr>
          <a:xfrm>
            <a:off x="6324600" y="5076825"/>
            <a:ext cx="1809750" cy="400050"/>
          </a:xfrm>
          <a:prstGeom prst="rect">
            <a:avLst/>
          </a:prstGeom>
          <a:noFill/>
          <a:ln w="0">
            <a:noFill/>
          </a:ln>
        </p:spPr>
        <p:txBody>
          <a:bodyPr anchor="t">
            <a:normAutofit fontScale="90000"/>
          </a:bodyPr>
          <a:lstStyle/>
          <a:p>
            <a:pPr algn="ctr">
              <a:defRPr sz="2250" b="1" i="0">
                <a:solidFill>
                  <a:srgbClr val="176082"/>
                </a:solidFill>
                <a:latin typeface="Arial"/>
                <a:ea typeface="Arial"/>
                <a:cs typeface="Arial"/>
              </a:defRPr>
            </a:pPr>
            <a:r>
              <a:rPr sz="2250" b="1" i="0">
                <a:solidFill>
                  <a:srgbClr val="176082"/>
                </a:solidFill>
                <a:latin typeface="Arial"/>
                <a:ea typeface="Arial"/>
                <a:cs typeface="Arial"/>
              </a:rPr>
              <a:t>9,810</a:t>
            </a:r>
          </a:p>
        </p:txBody>
      </p:sp>
      <p:sp>
        <p:nvSpPr>
          <p:cNvPr id="37" name="Dikdörtgen 36">
            <a:extLst>
              <a:ext uri="{FF2B5EF4-FFF2-40B4-BE49-F238E27FC236}">
                <a16:creationId xmlns:a16="http://schemas.microsoft.com/office/drawing/2014/main" id="{A7352355-906E-41AF-AB1C-4F37497DEE17}"/>
              </a:ext>
            </a:extLst>
          </p:cNvPr>
          <p:cNvSpPr>
            <a:spLocks noGrp="1"/>
          </p:cNvSpPr>
          <p:nvPr/>
        </p:nvSpPr>
        <p:spPr>
          <a:xfrm>
            <a:off x="6324600" y="5476875"/>
            <a:ext cx="1809750" cy="266700"/>
          </a:xfrm>
          <a:prstGeom prst="rect">
            <a:avLst/>
          </a:prstGeom>
          <a:noFill/>
          <a:ln w="0">
            <a:noFill/>
          </a:ln>
        </p:spPr>
        <p:txBody>
          <a:bodyPr anchor="t">
            <a:normAutofit/>
          </a:bodyPr>
          <a:lstStyle/>
          <a:p>
            <a:pPr algn="ctr">
              <a:defRPr sz="1125" b="1" i="0">
                <a:solidFill>
                  <a:srgbClr val="626777"/>
                </a:solidFill>
                <a:latin typeface="Arial"/>
                <a:ea typeface="Arial"/>
                <a:cs typeface="Arial"/>
              </a:defRPr>
            </a:pPr>
            <a:r>
              <a:rPr sz="1125" b="1" i="0">
                <a:solidFill>
                  <a:srgbClr val="626777"/>
                </a:solidFill>
                <a:latin typeface="Arial"/>
                <a:ea typeface="Arial"/>
                <a:cs typeface="Arial"/>
              </a:rPr>
              <a:t>words</a:t>
            </a:r>
          </a:p>
        </p:txBody>
      </p:sp>
      <p:sp>
        <p:nvSpPr>
          <p:cNvPr id="38" name="Dikdörtgen 37">
            <a:extLst>
              <a:ext uri="{FF2B5EF4-FFF2-40B4-BE49-F238E27FC236}">
                <a16:creationId xmlns:a16="http://schemas.microsoft.com/office/drawing/2014/main" id="{82CF4E06-4D90-4611-89C4-0E491965A18B}"/>
              </a:ext>
            </a:extLst>
          </p:cNvPr>
          <p:cNvSpPr>
            <a:spLocks noGrp="1"/>
          </p:cNvSpPr>
          <p:nvPr/>
        </p:nvSpPr>
        <p:spPr>
          <a:xfrm>
            <a:off x="9039225" y="5076825"/>
            <a:ext cx="1809750" cy="400050"/>
          </a:xfrm>
          <a:prstGeom prst="rect">
            <a:avLst/>
          </a:prstGeom>
          <a:noFill/>
          <a:ln w="0">
            <a:noFill/>
          </a:ln>
        </p:spPr>
        <p:txBody>
          <a:bodyPr anchor="t">
            <a:normAutofit fontScale="90000"/>
          </a:bodyPr>
          <a:lstStyle/>
          <a:p>
            <a:pPr algn="ctr">
              <a:defRPr sz="2250" b="1" i="0">
                <a:solidFill>
                  <a:srgbClr val="D58C00"/>
                </a:solidFill>
                <a:latin typeface="Arial"/>
                <a:ea typeface="Arial"/>
                <a:cs typeface="Arial"/>
              </a:defRPr>
            </a:pPr>
            <a:r>
              <a:rPr sz="2250" b="1" i="0">
                <a:solidFill>
                  <a:srgbClr val="D58C00"/>
                </a:solidFill>
                <a:latin typeface="Arial"/>
                <a:ea typeface="Arial"/>
                <a:cs typeface="Arial"/>
              </a:rPr>
              <a:t>260</a:t>
            </a:r>
          </a:p>
        </p:txBody>
      </p:sp>
      <p:sp>
        <p:nvSpPr>
          <p:cNvPr id="39" name="Dikdörtgen 38">
            <a:extLst>
              <a:ext uri="{FF2B5EF4-FFF2-40B4-BE49-F238E27FC236}">
                <a16:creationId xmlns:a16="http://schemas.microsoft.com/office/drawing/2014/main" id="{DECC7AC2-0032-4451-A9CD-E606D20C8E3B}"/>
              </a:ext>
            </a:extLst>
          </p:cNvPr>
          <p:cNvSpPr>
            <a:spLocks noGrp="1"/>
          </p:cNvSpPr>
          <p:nvPr/>
        </p:nvSpPr>
        <p:spPr>
          <a:xfrm>
            <a:off x="9039225" y="5476875"/>
            <a:ext cx="1809750" cy="266700"/>
          </a:xfrm>
          <a:prstGeom prst="rect">
            <a:avLst/>
          </a:prstGeom>
          <a:noFill/>
          <a:ln w="0">
            <a:noFill/>
          </a:ln>
        </p:spPr>
        <p:txBody>
          <a:bodyPr anchor="t">
            <a:normAutofit/>
          </a:bodyPr>
          <a:lstStyle/>
          <a:p>
            <a:pPr algn="ctr">
              <a:defRPr sz="1125" b="1" i="0">
                <a:solidFill>
                  <a:srgbClr val="626777"/>
                </a:solidFill>
                <a:latin typeface="Arial"/>
                <a:ea typeface="Arial"/>
                <a:cs typeface="Arial"/>
              </a:defRPr>
            </a:pPr>
            <a:r>
              <a:rPr sz="1125" b="1" i="0">
                <a:solidFill>
                  <a:srgbClr val="626777"/>
                </a:solidFill>
                <a:latin typeface="Arial"/>
                <a:ea typeface="Arial"/>
                <a:cs typeface="Arial"/>
              </a:rPr>
              <a:t>book-feature rows</a:t>
            </a:r>
          </a:p>
        </p:txBody>
      </p:sp>
      <p:sp>
        <p:nvSpPr>
          <p:cNvPr id="40" name="Dikdörtgen 39">
            <a:extLst>
              <a:ext uri="{FF2B5EF4-FFF2-40B4-BE49-F238E27FC236}">
                <a16:creationId xmlns:a16="http://schemas.microsoft.com/office/drawing/2014/main" id="{C7978EEB-6D4A-4EBF-B93D-03361FB12375}"/>
              </a:ext>
            </a:extLst>
          </p:cNvPr>
          <p:cNvSpPr>
            <a:spLocks noGrp="1"/>
          </p:cNvSpPr>
          <p:nvPr/>
        </p:nvSpPr>
        <p:spPr>
          <a:xfrm>
            <a:off x="2333625" y="5829300"/>
            <a:ext cx="7524750" cy="266700"/>
          </a:xfrm>
          <a:prstGeom prst="rect">
            <a:avLst/>
          </a:prstGeom>
          <a:noFill/>
          <a:ln w="0">
            <a:noFill/>
          </a:ln>
        </p:spPr>
        <p:txBody>
          <a:bodyPr anchor="t">
            <a:normAutofit fontScale="85185"/>
          </a:bodyPr>
          <a:lstStyle/>
          <a:p>
            <a:pPr algn="ctr">
              <a:defRPr sz="1350" b="1" i="0">
                <a:solidFill>
                  <a:srgbClr val="B94D35"/>
                </a:solidFill>
                <a:latin typeface="Arial"/>
                <a:ea typeface="Arial"/>
                <a:cs typeface="Arial"/>
              </a:defRPr>
            </a:pPr>
            <a:r>
              <a:rPr sz="1350" b="1" i="0">
                <a:solidFill>
                  <a:srgbClr val="B94D35"/>
                </a:solidFill>
                <a:latin typeface="Arial"/>
                <a:ea typeface="Arial"/>
                <a:cs typeface="Arial"/>
              </a:rPr>
              <a:t>Automatic matches remain candidates until contextual verification.</a:t>
            </a:r>
          </a:p>
        </p:txBody>
      </p:sp>
      <p:sp>
        <p:nvSpPr>
          <p:cNvPr id="41" name="Dikdörtgen 40">
            <a:extLst>
              <a:ext uri="{FF2B5EF4-FFF2-40B4-BE49-F238E27FC236}">
                <a16:creationId xmlns:a16="http://schemas.microsoft.com/office/drawing/2014/main" id="{10FCDF5C-56DB-48DE-A0F5-2959DB55B109}"/>
              </a:ext>
            </a:extLst>
          </p:cNvPr>
          <p:cNvSpPr>
            <a:spLocks noGrp="1"/>
          </p:cNvSpPr>
          <p:nvPr/>
        </p:nvSpPr>
        <p:spPr>
          <a:xfrm>
            <a:off x="4619625" y="6153150"/>
            <a:ext cx="6000750" cy="228600"/>
          </a:xfrm>
          <a:prstGeom prst="rect">
            <a:avLst/>
          </a:prstGeom>
          <a:noFill/>
          <a:ln w="0">
            <a:noFill/>
          </a:ln>
        </p:spPr>
        <p:txBody>
          <a:bodyPr anchor="t">
            <a:normAutofit fontScale="70588"/>
          </a:bodyPr>
          <a:lstStyle/>
          <a:p>
            <a:pPr algn="ctr">
              <a:defRPr sz="1275" b="1" i="0">
                <a:solidFill>
                  <a:srgbClr val="176082"/>
                </a:solidFill>
                <a:latin typeface="Arial"/>
                <a:ea typeface="Arial"/>
                <a:cs typeface="Arial"/>
              </a:defRPr>
            </a:pPr>
            <a:r>
              <a:rPr sz="1275" b="1" i="0">
                <a:solidFill>
                  <a:srgbClr val="176082"/>
                </a:solidFill>
                <a:latin typeface="Arial"/>
                <a:ea typeface="Arial"/>
                <a:cs typeface="Arial"/>
              </a:rPr>
              <a:t>github.com/MehmetDEU/MIWAE</a:t>
            </a:r>
          </a:p>
        </p:txBody>
      </p:sp>
      <p:sp>
        <p:nvSpPr>
          <p:cNvPr id="42" name="Düz Bağlayıcı 41">
            <a:extLst>
              <a:ext uri="{FF2B5EF4-FFF2-40B4-BE49-F238E27FC236}">
                <a16:creationId xmlns:a16="http://schemas.microsoft.com/office/drawing/2014/main" id="{6D34B71C-D1F9-4CAC-9648-8C72C20E1963}"/>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43" name="Dikdörtgen 42">
            <a:extLst>
              <a:ext uri="{FF2B5EF4-FFF2-40B4-BE49-F238E27FC236}">
                <a16:creationId xmlns:a16="http://schemas.microsoft.com/office/drawing/2014/main" id="{DD6FB754-19BC-47B2-A0B4-5279FE9A3C12}"/>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44" name="Dikdörtgen 43">
            <a:extLst>
              <a:ext uri="{FF2B5EF4-FFF2-40B4-BE49-F238E27FC236}">
                <a16:creationId xmlns:a16="http://schemas.microsoft.com/office/drawing/2014/main" id="{B30FFAF9-2604-460B-8F72-701BB73AADA6}"/>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MIWAE Corpus Analysis API v0.1</a:t>
            </a:r>
          </a:p>
        </p:txBody>
      </p:sp>
    </p:spTree>
    <p:extLst>
      <p:ext uri="{BB962C8B-B14F-4D97-AF65-F5344CB8AC3E}">
        <p14:creationId xmlns:p14="http://schemas.microsoft.com/office/powerpoint/2010/main" val="110107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4" name="Yuvarlatılmış Dikdörtgen 33">
            <a:extLst>
              <a:ext uri="{FF2B5EF4-FFF2-40B4-BE49-F238E27FC236}">
                <a16:creationId xmlns:a16="http://schemas.microsoft.com/office/drawing/2014/main" id="{FC634801-B3E0-4D07-8B4A-6C7416CB5B77}"/>
              </a:ext>
            </a:extLst>
          </p:cNvPr>
          <p:cNvSpPr>
            <a:spLocks noGrp="1"/>
          </p:cNvSpPr>
          <p:nvPr/>
        </p:nvSpPr>
        <p:spPr>
          <a:xfrm>
            <a:off x="685800" y="371475"/>
            <a:ext cx="66675" cy="171450"/>
          </a:xfrm>
          <a:prstGeom prst="roundRect">
            <a:avLst>
              <a:gd name="adj" fmla="val 50000"/>
            </a:avLst>
          </a:prstGeom>
          <a:solidFill>
            <a:srgbClr val="D58C00"/>
          </a:solidFill>
          <a:ln w="0">
            <a:noFill/>
          </a:ln>
        </p:spPr>
        <p:txBody>
          <a:bodyPr/>
          <a:lstStyle/>
          <a:p>
            <a:endParaRPr lang="tr-TR"/>
          </a:p>
        </p:txBody>
      </p:sp>
      <p:sp>
        <p:nvSpPr>
          <p:cNvPr id="2" name="Dikdörtgen 1">
            <a:extLst>
              <a:ext uri="{FF2B5EF4-FFF2-40B4-BE49-F238E27FC236}">
                <a16:creationId xmlns:a16="http://schemas.microsoft.com/office/drawing/2014/main" id="{93BFB1DF-71DA-4C9E-BC0E-5369AC8CA4EA}"/>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Dikdörtgen 2">
            <a:extLst>
              <a:ext uri="{FF2B5EF4-FFF2-40B4-BE49-F238E27FC236}">
                <a16:creationId xmlns:a16="http://schemas.microsoft.com/office/drawing/2014/main" id="{3EAD873E-0A0E-4F02-9DC4-3AE7783355F6}"/>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From GitHub to a running local API</a:t>
            </a:r>
          </a:p>
        </p:txBody>
      </p:sp>
      <p:sp>
        <p:nvSpPr>
          <p:cNvPr id="4" name="Düz Bağlayıcı 3">
            <a:extLst>
              <a:ext uri="{FF2B5EF4-FFF2-40B4-BE49-F238E27FC236}">
                <a16:creationId xmlns:a16="http://schemas.microsoft.com/office/drawing/2014/main" id="{28B78F48-D12C-4C68-A7C8-7B9B16C96067}"/>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6DD715D8-BC77-42C1-9179-BE9F648CAB95}"/>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11</a:t>
            </a:r>
          </a:p>
        </p:txBody>
      </p:sp>
      <p:sp>
        <p:nvSpPr>
          <p:cNvPr id="6" name="Yuvarlatılmış Dikdörtgen 5">
            <a:extLst>
              <a:ext uri="{FF2B5EF4-FFF2-40B4-BE49-F238E27FC236}">
                <a16:creationId xmlns:a16="http://schemas.microsoft.com/office/drawing/2014/main" id="{A272E8E9-697F-49C1-BBA2-6FE1466CF0A3}"/>
              </a:ext>
            </a:extLst>
          </p:cNvPr>
          <p:cNvSpPr>
            <a:spLocks noGrp="1"/>
          </p:cNvSpPr>
          <p:nvPr/>
        </p:nvSpPr>
        <p:spPr>
          <a:xfrm>
            <a:off x="9429750" y="381000"/>
            <a:ext cx="1762125" cy="266700"/>
          </a:xfrm>
          <a:prstGeom prst="roundRect">
            <a:avLst>
              <a:gd name="adj" fmla="val 28571"/>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555316C0-888A-4165-B7C0-514FA3E255C8}"/>
              </a:ext>
            </a:extLst>
          </p:cNvPr>
          <p:cNvSpPr>
            <a:spLocks noGrp="1"/>
          </p:cNvSpPr>
          <p:nvPr/>
        </p:nvSpPr>
        <p:spPr>
          <a:xfrm>
            <a:off x="9505950" y="409575"/>
            <a:ext cx="1609725"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PUBLIC REPOSITORY</a:t>
            </a:r>
          </a:p>
        </p:txBody>
      </p:sp>
      <p:sp>
        <p:nvSpPr>
          <p:cNvPr id="8" name="Yuvarlatılmış Dikdörtgen 7">
            <a:extLst>
              <a:ext uri="{FF2B5EF4-FFF2-40B4-BE49-F238E27FC236}">
                <a16:creationId xmlns:a16="http://schemas.microsoft.com/office/drawing/2014/main" id="{E3CD4AE9-D6C2-4585-A9F4-438C37CFC3F4}"/>
              </a:ext>
            </a:extLst>
          </p:cNvPr>
          <p:cNvSpPr>
            <a:spLocks noGrp="1"/>
          </p:cNvSpPr>
          <p:nvPr/>
        </p:nvSpPr>
        <p:spPr>
          <a:xfrm>
            <a:off x="590550" y="1752600"/>
            <a:ext cx="3219450" cy="3333750"/>
          </a:xfrm>
          <a:prstGeom prst="roundRect">
            <a:avLst>
              <a:gd name="adj" fmla="val 2367"/>
            </a:avLst>
          </a:prstGeom>
          <a:solidFill>
            <a:srgbClr val="FFFFFF"/>
          </a:solid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E34B6F57-B734-4483-A169-70282B32EE45}"/>
              </a:ext>
            </a:extLst>
          </p:cNvPr>
          <p:cNvSpPr>
            <a:spLocks noGrp="1"/>
          </p:cNvSpPr>
          <p:nvPr/>
        </p:nvSpPr>
        <p:spPr>
          <a:xfrm>
            <a:off x="876300" y="2009775"/>
            <a:ext cx="2333625"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1  ACCESS</a:t>
            </a:r>
          </a:p>
        </p:txBody>
      </p:sp>
      <p:sp>
        <p:nvSpPr>
          <p:cNvPr id="10" name="Dikdörtgen 9">
            <a:extLst>
              <a:ext uri="{FF2B5EF4-FFF2-40B4-BE49-F238E27FC236}">
                <a16:creationId xmlns:a16="http://schemas.microsoft.com/office/drawing/2014/main" id="{88F3B1C2-0CEE-4FE1-ABBE-E7AA05B4D5E4}"/>
              </a:ext>
            </a:extLst>
          </p:cNvPr>
          <p:cNvSpPr>
            <a:spLocks noGrp="1"/>
          </p:cNvSpPr>
          <p:nvPr/>
        </p:nvSpPr>
        <p:spPr>
          <a:xfrm>
            <a:off x="781050" y="2419350"/>
            <a:ext cx="2838450" cy="628650"/>
          </a:xfrm>
          <a:prstGeom prst="rect">
            <a:avLst/>
          </a:prstGeom>
          <a:noFill/>
          <a:ln w="0">
            <a:noFill/>
          </a:ln>
        </p:spPr>
        <p:txBody>
          <a:bodyPr anchor="ctr">
            <a:normAutofit/>
          </a:bodyPr>
          <a:lstStyle/>
          <a:p>
            <a:pPr algn="ctr">
              <a:defRPr sz="1500" b="1" i="0">
                <a:solidFill>
                  <a:srgbClr val="33343F"/>
                </a:solidFill>
                <a:latin typeface="Arial"/>
                <a:ea typeface="Arial"/>
                <a:cs typeface="Arial"/>
              </a:defRPr>
            </a:pPr>
            <a:r>
              <a:rPr sz="1500" b="1" i="0">
                <a:solidFill>
                  <a:srgbClr val="33343F"/>
                </a:solidFill>
                <a:latin typeface="Arial"/>
                <a:ea typeface="Arial"/>
                <a:cs typeface="Arial"/>
              </a:rPr>
              <a:t>github.com/</a:t>
            </a:r>
          </a:p>
          <a:p>
            <a:pPr algn="ctr">
              <a:defRPr sz="1500" b="1" i="0">
                <a:solidFill>
                  <a:srgbClr val="33343F"/>
                </a:solidFill>
                <a:latin typeface="Arial"/>
                <a:ea typeface="Arial"/>
                <a:cs typeface="Arial"/>
              </a:defRPr>
            </a:pPr>
            <a:r>
              <a:rPr sz="1500" b="1" i="0">
                <a:solidFill>
                  <a:srgbClr val="33343F"/>
                </a:solidFill>
                <a:latin typeface="Arial"/>
                <a:ea typeface="Arial"/>
                <a:cs typeface="Arial"/>
              </a:rPr>
              <a:t>MehmetDEU/MIWAE</a:t>
            </a:r>
          </a:p>
        </p:txBody>
      </p:sp>
      <p:sp>
        <p:nvSpPr>
          <p:cNvPr id="11" name="Yuvarlatılmış Dikdörtgen 10">
            <a:extLst>
              <a:ext uri="{FF2B5EF4-FFF2-40B4-BE49-F238E27FC236}">
                <a16:creationId xmlns:a16="http://schemas.microsoft.com/office/drawing/2014/main" id="{8F376DFD-7292-4BF8-BE8E-E69E2A06DC98}"/>
              </a:ext>
            </a:extLst>
          </p:cNvPr>
          <p:cNvSpPr>
            <a:spLocks noGrp="1"/>
          </p:cNvSpPr>
          <p:nvPr/>
        </p:nvSpPr>
        <p:spPr>
          <a:xfrm>
            <a:off x="952500" y="3267075"/>
            <a:ext cx="2495550" cy="400050"/>
          </a:xfrm>
          <a:prstGeom prst="roundRect">
            <a:avLst>
              <a:gd name="adj" fmla="val 19048"/>
            </a:avLst>
          </a:prstGeom>
          <a:solidFill>
            <a:srgbClr val="E6F0F5"/>
          </a:solidFill>
          <a:ln w="0">
            <a:noFill/>
          </a:ln>
        </p:spPr>
        <p:txBody>
          <a:bodyPr/>
          <a:lstStyle/>
          <a:p>
            <a:endParaRPr lang="tr-TR"/>
          </a:p>
        </p:txBody>
      </p:sp>
      <p:sp>
        <p:nvSpPr>
          <p:cNvPr id="12" name="Dikdörtgen 11">
            <a:extLst>
              <a:ext uri="{FF2B5EF4-FFF2-40B4-BE49-F238E27FC236}">
                <a16:creationId xmlns:a16="http://schemas.microsoft.com/office/drawing/2014/main" id="{6F615C41-DBD3-42B1-9C8E-784906061C5B}"/>
              </a:ext>
            </a:extLst>
          </p:cNvPr>
          <p:cNvSpPr>
            <a:spLocks noGrp="1"/>
          </p:cNvSpPr>
          <p:nvPr/>
        </p:nvSpPr>
        <p:spPr>
          <a:xfrm>
            <a:off x="1047750" y="3352800"/>
            <a:ext cx="2305050" cy="209550"/>
          </a:xfrm>
          <a:prstGeom prst="rect">
            <a:avLst/>
          </a:prstGeom>
          <a:noFill/>
          <a:ln w="0">
            <a:noFill/>
          </a:ln>
        </p:spPr>
        <p:txBody>
          <a:bodyPr anchor="t">
            <a:normAutofit fontScale="68889"/>
          </a:bodyPr>
          <a:lstStyle/>
          <a:p>
            <a:pPr algn="ctr">
              <a:defRPr sz="1125" b="1" i="0">
                <a:solidFill>
                  <a:srgbClr val="176082"/>
                </a:solidFill>
                <a:latin typeface="Arial"/>
                <a:ea typeface="Arial"/>
                <a:cs typeface="Arial"/>
              </a:defRPr>
            </a:pPr>
            <a:r>
              <a:rPr sz="1125" b="1" i="0">
                <a:solidFill>
                  <a:srgbClr val="176082"/>
                </a:solidFill>
                <a:latin typeface="Arial"/>
                <a:ea typeface="Arial"/>
                <a:cs typeface="Arial"/>
              </a:rPr>
              <a:t>source · methods · examples</a:t>
            </a:r>
          </a:p>
        </p:txBody>
      </p:sp>
      <p:sp>
        <p:nvSpPr>
          <p:cNvPr id="13" name="Dikdörtgen 12">
            <a:extLst>
              <a:ext uri="{FF2B5EF4-FFF2-40B4-BE49-F238E27FC236}">
                <a16:creationId xmlns:a16="http://schemas.microsoft.com/office/drawing/2014/main" id="{EF01DCA4-780A-46E6-A845-56DC3E43B069}"/>
              </a:ext>
            </a:extLst>
          </p:cNvPr>
          <p:cNvSpPr>
            <a:spLocks noGrp="1"/>
          </p:cNvSpPr>
          <p:nvPr/>
        </p:nvSpPr>
        <p:spPr>
          <a:xfrm>
            <a:off x="952500" y="4000500"/>
            <a:ext cx="2495550" cy="590550"/>
          </a:xfrm>
          <a:prstGeom prst="rect">
            <a:avLst/>
          </a:prstGeom>
          <a:noFill/>
          <a:ln w="0">
            <a:noFill/>
          </a:ln>
        </p:spPr>
        <p:txBody>
          <a:bodyPr anchor="t">
            <a:normAutofit/>
          </a:bodyPr>
          <a:lstStyle/>
          <a:p>
            <a:pPr algn="ctr">
              <a:defRPr sz="1350" b="0" i="0">
                <a:solidFill>
                  <a:srgbClr val="626777"/>
                </a:solidFill>
                <a:latin typeface="Arial"/>
                <a:ea typeface="Arial"/>
                <a:cs typeface="Arial"/>
              </a:defRPr>
            </a:pPr>
            <a:r>
              <a:rPr sz="1350" b="0" i="0">
                <a:solidFill>
                  <a:srgbClr val="626777"/>
                </a:solidFill>
                <a:latin typeface="Arial"/>
                <a:ea typeface="Arial"/>
                <a:cs typeface="Arial"/>
              </a:rPr>
              <a:t>Clone or download the public MIT-licensed prototype.</a:t>
            </a:r>
          </a:p>
        </p:txBody>
      </p:sp>
      <p:sp>
        <p:nvSpPr>
          <p:cNvPr id="14" name="Yuvarlatılmış Dikdörtgen 13">
            <a:extLst>
              <a:ext uri="{FF2B5EF4-FFF2-40B4-BE49-F238E27FC236}">
                <a16:creationId xmlns:a16="http://schemas.microsoft.com/office/drawing/2014/main" id="{89BA2493-2673-4A6C-B27D-FD608932A0AE}"/>
              </a:ext>
            </a:extLst>
          </p:cNvPr>
          <p:cNvSpPr>
            <a:spLocks noGrp="1"/>
          </p:cNvSpPr>
          <p:nvPr/>
        </p:nvSpPr>
        <p:spPr>
          <a:xfrm>
            <a:off x="4457700" y="1752600"/>
            <a:ext cx="4000500" cy="3333750"/>
          </a:xfrm>
          <a:prstGeom prst="roundRect">
            <a:avLst>
              <a:gd name="adj" fmla="val 2286"/>
            </a:avLst>
          </a:prstGeom>
          <a:solidFill>
            <a:srgbClr val="123B53"/>
          </a:solidFill>
          <a:ln w="0">
            <a:noFill/>
          </a:ln>
        </p:spPr>
        <p:txBody>
          <a:bodyPr/>
          <a:lstStyle/>
          <a:p>
            <a:endParaRPr lang="tr-TR"/>
          </a:p>
        </p:txBody>
      </p:sp>
      <p:sp>
        <p:nvSpPr>
          <p:cNvPr id="15" name="Dikdörtgen 14">
            <a:extLst>
              <a:ext uri="{FF2B5EF4-FFF2-40B4-BE49-F238E27FC236}">
                <a16:creationId xmlns:a16="http://schemas.microsoft.com/office/drawing/2014/main" id="{29BAC357-67B7-4F41-9C3C-7BAF07C7E774}"/>
              </a:ext>
            </a:extLst>
          </p:cNvPr>
          <p:cNvSpPr>
            <a:spLocks noGrp="1"/>
          </p:cNvSpPr>
          <p:nvPr/>
        </p:nvSpPr>
        <p:spPr>
          <a:xfrm>
            <a:off x="4762500" y="2009775"/>
            <a:ext cx="30480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2  LAUNCH IN TERMINAL</a:t>
            </a:r>
          </a:p>
        </p:txBody>
      </p:sp>
      <p:sp>
        <p:nvSpPr>
          <p:cNvPr id="16" name="Dikdörtgen 15">
            <a:extLst>
              <a:ext uri="{FF2B5EF4-FFF2-40B4-BE49-F238E27FC236}">
                <a16:creationId xmlns:a16="http://schemas.microsoft.com/office/drawing/2014/main" id="{E0600CAB-E2E2-47D8-B49C-55D4778BD387}"/>
              </a:ext>
            </a:extLst>
          </p:cNvPr>
          <p:cNvSpPr>
            <a:spLocks noGrp="1"/>
          </p:cNvSpPr>
          <p:nvPr/>
        </p:nvSpPr>
        <p:spPr>
          <a:xfrm>
            <a:off x="4762500" y="2457450"/>
            <a:ext cx="3381375" cy="1962150"/>
          </a:xfrm>
          <a:prstGeom prst="rect">
            <a:avLst/>
          </a:prstGeom>
          <a:noFill/>
          <a:ln w="0">
            <a:noFill/>
          </a:ln>
        </p:spPr>
        <p:txBody>
          <a:bodyPr anchor="t">
            <a:normAutofit/>
          </a:bodyPr>
          <a:lstStyle/>
          <a:p>
            <a:pPr algn="l">
              <a:defRPr sz="1125" b="0" i="0">
                <a:solidFill>
                  <a:srgbClr val="FFFFFF"/>
                </a:solidFill>
                <a:latin typeface="Arial"/>
                <a:ea typeface="Arial"/>
                <a:cs typeface="Arial"/>
              </a:defRPr>
            </a:pPr>
            <a:r>
              <a:rPr sz="1125" b="0" i="0">
                <a:solidFill>
                  <a:srgbClr val="FFFFFF"/>
                </a:solidFill>
                <a:latin typeface="Arial"/>
                <a:ea typeface="Arial"/>
                <a:cs typeface="Arial"/>
              </a:rPr>
              <a:t>git clone https://github.com/MehmetDEU/MIWAE.git</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cd MIWAE</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python3 -m venv .venv</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source .venv/bin/activate</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pip install '.[dev]'</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uvicorn miwae_api.app:app --reload</a:t>
            </a:r>
          </a:p>
        </p:txBody>
      </p:sp>
      <p:sp>
        <p:nvSpPr>
          <p:cNvPr id="17" name="Yuvarlatılmış Dikdörtgen 16">
            <a:extLst>
              <a:ext uri="{FF2B5EF4-FFF2-40B4-BE49-F238E27FC236}">
                <a16:creationId xmlns:a16="http://schemas.microsoft.com/office/drawing/2014/main" id="{6D1E8DEC-2DB3-4542-8D4C-1E9F7E9C6D20}"/>
              </a:ext>
            </a:extLst>
          </p:cNvPr>
          <p:cNvSpPr>
            <a:spLocks noGrp="1"/>
          </p:cNvSpPr>
          <p:nvPr/>
        </p:nvSpPr>
        <p:spPr>
          <a:xfrm>
            <a:off x="4857750" y="4552950"/>
            <a:ext cx="3200400" cy="304800"/>
          </a:xfrm>
          <a:prstGeom prst="roundRect">
            <a:avLst>
              <a:gd name="adj" fmla="val 25000"/>
            </a:avLst>
          </a:prstGeom>
          <a:solidFill>
            <a:srgbClr val="214653"/>
          </a:solidFill>
          <a:ln w="0">
            <a:noFill/>
          </a:ln>
        </p:spPr>
        <p:txBody>
          <a:bodyPr/>
          <a:lstStyle/>
          <a:p>
            <a:endParaRPr lang="tr-TR"/>
          </a:p>
        </p:txBody>
      </p:sp>
      <p:sp>
        <p:nvSpPr>
          <p:cNvPr id="18" name="Dikdörtgen 17">
            <a:extLst>
              <a:ext uri="{FF2B5EF4-FFF2-40B4-BE49-F238E27FC236}">
                <a16:creationId xmlns:a16="http://schemas.microsoft.com/office/drawing/2014/main" id="{5442B44F-B2A6-47D9-80FE-531100CDECD2}"/>
              </a:ext>
            </a:extLst>
          </p:cNvPr>
          <p:cNvSpPr>
            <a:spLocks noGrp="1"/>
          </p:cNvSpPr>
          <p:nvPr/>
        </p:nvSpPr>
        <p:spPr>
          <a:xfrm>
            <a:off x="4972050" y="4610100"/>
            <a:ext cx="2971800" cy="190500"/>
          </a:xfrm>
          <a:prstGeom prst="rect">
            <a:avLst/>
          </a:prstGeom>
          <a:noFill/>
          <a:ln w="0">
            <a:noFill/>
          </a:ln>
        </p:spPr>
        <p:txBody>
          <a:bodyPr anchor="t">
            <a:normAutofit fontScale="66667"/>
          </a:bodyPr>
          <a:lstStyle/>
          <a:p>
            <a:pPr algn="ctr">
              <a:defRPr sz="975" b="1" i="0">
                <a:solidFill>
                  <a:srgbClr val="78A9C0"/>
                </a:solidFill>
                <a:latin typeface="Arial"/>
                <a:ea typeface="Arial"/>
                <a:cs typeface="Arial"/>
              </a:defRPr>
            </a:pPr>
            <a:r>
              <a:rPr sz="975" b="1" i="0">
                <a:solidFill>
                  <a:srgbClr val="78A9C0"/>
                </a:solidFill>
                <a:latin typeface="Arial"/>
                <a:ea typeface="Arial"/>
                <a:cs typeface="Arial"/>
              </a:rPr>
              <a:t>Keep the Terminal process running</a:t>
            </a:r>
          </a:p>
        </p:txBody>
      </p:sp>
      <p:sp>
        <p:nvSpPr>
          <p:cNvPr id="19" name="Yuvarlatılmış Dikdörtgen 18">
            <a:extLst>
              <a:ext uri="{FF2B5EF4-FFF2-40B4-BE49-F238E27FC236}">
                <a16:creationId xmlns:a16="http://schemas.microsoft.com/office/drawing/2014/main" id="{C532B293-EB6D-4AAD-B38F-4D85544A2646}"/>
              </a:ext>
            </a:extLst>
          </p:cNvPr>
          <p:cNvSpPr>
            <a:spLocks noGrp="1"/>
          </p:cNvSpPr>
          <p:nvPr/>
        </p:nvSpPr>
        <p:spPr>
          <a:xfrm>
            <a:off x="9105900" y="1752600"/>
            <a:ext cx="2495550" cy="3333750"/>
          </a:xfrm>
          <a:prstGeom prst="roundRect">
            <a:avLst>
              <a:gd name="adj" fmla="val 3053"/>
            </a:avLst>
          </a:prstGeom>
          <a:solidFill>
            <a:srgbClr val="FFFFFF"/>
          </a:solidFill>
          <a:ln w="9525">
            <a:solidFill>
              <a:srgbClr val="C8C9D3"/>
            </a:solidFill>
          </a:ln>
        </p:spPr>
        <p:txBody>
          <a:bodyPr/>
          <a:lstStyle/>
          <a:p>
            <a:endParaRPr lang="tr-TR"/>
          </a:p>
        </p:txBody>
      </p:sp>
      <p:sp>
        <p:nvSpPr>
          <p:cNvPr id="20" name="Dikdörtgen 19">
            <a:extLst>
              <a:ext uri="{FF2B5EF4-FFF2-40B4-BE49-F238E27FC236}">
                <a16:creationId xmlns:a16="http://schemas.microsoft.com/office/drawing/2014/main" id="{BC6137C8-41F6-4C93-8453-C9E4EFC8FBCB}"/>
              </a:ext>
            </a:extLst>
          </p:cNvPr>
          <p:cNvSpPr>
            <a:spLocks noGrp="1"/>
          </p:cNvSpPr>
          <p:nvPr/>
        </p:nvSpPr>
        <p:spPr>
          <a:xfrm>
            <a:off x="9391650" y="2009775"/>
            <a:ext cx="1857375"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3  OPEN</a:t>
            </a:r>
          </a:p>
        </p:txBody>
      </p:sp>
      <p:sp>
        <p:nvSpPr>
          <p:cNvPr id="21" name="Dikdörtgen 20">
            <a:extLst>
              <a:ext uri="{FF2B5EF4-FFF2-40B4-BE49-F238E27FC236}">
                <a16:creationId xmlns:a16="http://schemas.microsoft.com/office/drawing/2014/main" id="{978EBB13-9295-429F-A447-0C832B7A6CD6}"/>
              </a:ext>
            </a:extLst>
          </p:cNvPr>
          <p:cNvSpPr>
            <a:spLocks noGrp="1"/>
          </p:cNvSpPr>
          <p:nvPr/>
        </p:nvSpPr>
        <p:spPr>
          <a:xfrm>
            <a:off x="9363075" y="2581275"/>
            <a:ext cx="1981200" cy="476250"/>
          </a:xfrm>
          <a:prstGeom prst="rect">
            <a:avLst/>
          </a:prstGeom>
          <a:noFill/>
          <a:ln w="0">
            <a:noFill/>
          </a:ln>
        </p:spPr>
        <p:txBody>
          <a:bodyPr anchor="ctr">
            <a:normAutofit fontScale="98897"/>
          </a:bodyPr>
          <a:lstStyle/>
          <a:p>
            <a:pPr algn="ctr">
              <a:defRPr sz="1500" b="1" i="0">
                <a:solidFill>
                  <a:srgbClr val="33343F"/>
                </a:solidFill>
                <a:latin typeface="Arial"/>
                <a:ea typeface="Arial"/>
                <a:cs typeface="Arial"/>
              </a:defRPr>
            </a:pPr>
            <a:r>
              <a:rPr sz="1500" b="1" i="0">
                <a:solidFill>
                  <a:srgbClr val="33343F"/>
                </a:solidFill>
                <a:latin typeface="Arial"/>
                <a:ea typeface="Arial"/>
                <a:cs typeface="Arial"/>
              </a:rPr>
              <a:t>localhost:8000/docs</a:t>
            </a:r>
          </a:p>
        </p:txBody>
      </p:sp>
      <p:sp>
        <p:nvSpPr>
          <p:cNvPr id="22" name="Yuvarlatılmış Dikdörtgen 21">
            <a:extLst>
              <a:ext uri="{FF2B5EF4-FFF2-40B4-BE49-F238E27FC236}">
                <a16:creationId xmlns:a16="http://schemas.microsoft.com/office/drawing/2014/main" id="{70ED0538-5CB1-4224-AB00-C4FC0AD96D80}"/>
              </a:ext>
            </a:extLst>
          </p:cNvPr>
          <p:cNvSpPr>
            <a:spLocks noGrp="1"/>
          </p:cNvSpPr>
          <p:nvPr/>
        </p:nvSpPr>
        <p:spPr>
          <a:xfrm>
            <a:off x="9401175" y="3305175"/>
            <a:ext cx="1905000" cy="552450"/>
          </a:xfrm>
          <a:prstGeom prst="roundRect">
            <a:avLst>
              <a:gd name="adj" fmla="val 13793"/>
            </a:avLst>
          </a:prstGeom>
          <a:solidFill>
            <a:srgbClr val="D58C00"/>
          </a:solidFill>
          <a:ln w="0">
            <a:noFill/>
          </a:ln>
        </p:spPr>
        <p:txBody>
          <a:bodyPr/>
          <a:lstStyle/>
          <a:p>
            <a:endParaRPr lang="tr-TR"/>
          </a:p>
        </p:txBody>
      </p:sp>
      <p:sp>
        <p:nvSpPr>
          <p:cNvPr id="23" name="Dikdörtgen 22">
            <a:extLst>
              <a:ext uri="{FF2B5EF4-FFF2-40B4-BE49-F238E27FC236}">
                <a16:creationId xmlns:a16="http://schemas.microsoft.com/office/drawing/2014/main" id="{70284744-FC97-4A58-82A9-81990A12DF76}"/>
              </a:ext>
            </a:extLst>
          </p:cNvPr>
          <p:cNvSpPr>
            <a:spLocks noGrp="1"/>
          </p:cNvSpPr>
          <p:nvPr/>
        </p:nvSpPr>
        <p:spPr>
          <a:xfrm>
            <a:off x="9544050" y="3448050"/>
            <a:ext cx="1619250" cy="247650"/>
          </a:xfrm>
          <a:prstGeom prst="rect">
            <a:avLst/>
          </a:prstGeom>
          <a:noFill/>
          <a:ln w="0">
            <a:noFill/>
          </a:ln>
        </p:spPr>
        <p:txBody>
          <a:bodyPr anchor="t">
            <a:normAutofit fontScale="91111"/>
          </a:bodyPr>
          <a:lstStyle/>
          <a:p>
            <a:pPr algn="ctr">
              <a:defRPr sz="1125" b="1" i="0">
                <a:solidFill>
                  <a:srgbClr val="FFFFFF"/>
                </a:solidFill>
                <a:latin typeface="Arial"/>
                <a:ea typeface="Arial"/>
                <a:cs typeface="Arial"/>
              </a:defRPr>
            </a:pPr>
            <a:r>
              <a:rPr sz="1125" b="1" i="0">
                <a:solidFill>
                  <a:srgbClr val="FFFFFF"/>
                </a:solidFill>
                <a:latin typeface="Arial"/>
                <a:ea typeface="Arial"/>
                <a:cs typeface="Arial"/>
              </a:rPr>
              <a:t>SWAGGER UI</a:t>
            </a:r>
          </a:p>
        </p:txBody>
      </p:sp>
      <p:sp>
        <p:nvSpPr>
          <p:cNvPr id="24" name="Dikdörtgen 23">
            <a:extLst>
              <a:ext uri="{FF2B5EF4-FFF2-40B4-BE49-F238E27FC236}">
                <a16:creationId xmlns:a16="http://schemas.microsoft.com/office/drawing/2014/main" id="{E7593FAD-8406-4EE3-83BE-1C7684601AFD}"/>
              </a:ext>
            </a:extLst>
          </p:cNvPr>
          <p:cNvSpPr>
            <a:spLocks noGrp="1"/>
          </p:cNvSpPr>
          <p:nvPr/>
        </p:nvSpPr>
        <p:spPr>
          <a:xfrm>
            <a:off x="9391650" y="4095750"/>
            <a:ext cx="1905000" cy="666750"/>
          </a:xfrm>
          <a:prstGeom prst="rect">
            <a:avLst/>
          </a:prstGeom>
          <a:noFill/>
          <a:ln w="0">
            <a:noFill/>
          </a:ln>
        </p:spPr>
        <p:txBody>
          <a:bodyPr anchor="t">
            <a:normAutofit fontScale="98693"/>
          </a:bodyPr>
          <a:lstStyle/>
          <a:p>
            <a:pPr algn="ctr">
              <a:defRPr sz="1275" b="0" i="0">
                <a:solidFill>
                  <a:srgbClr val="626777"/>
                </a:solidFill>
                <a:latin typeface="Arial"/>
                <a:ea typeface="Arial"/>
                <a:cs typeface="Arial"/>
              </a:defRPr>
            </a:pPr>
            <a:r>
              <a:rPr sz="1275" b="0" i="0">
                <a:solidFill>
                  <a:srgbClr val="626777"/>
                </a:solidFill>
                <a:latin typeface="Arial"/>
                <a:ea typeface="Arial"/>
                <a:cs typeface="Arial"/>
              </a:rPr>
              <a:t>Choose an endpoint, submit text or a file, and inspect the response.</a:t>
            </a:r>
          </a:p>
        </p:txBody>
      </p:sp>
      <p:sp>
        <p:nvSpPr>
          <p:cNvPr id="25" name="Düz Bağlayıcı 24">
            <a:extLst>
              <a:ext uri="{FF2B5EF4-FFF2-40B4-BE49-F238E27FC236}">
                <a16:creationId xmlns:a16="http://schemas.microsoft.com/office/drawing/2014/main" id="{B1D0F628-4194-426B-B9B9-CFA42D6487FF}"/>
              </a:ext>
            </a:extLst>
          </p:cNvPr>
          <p:cNvSpPr>
            <a:spLocks noGrp="1"/>
          </p:cNvSpPr>
          <p:nvPr/>
        </p:nvSpPr>
        <p:spPr>
          <a:xfrm>
            <a:off x="3829050" y="3381375"/>
            <a:ext cx="590550" cy="0"/>
          </a:xfrm>
          <a:prstGeom prst="line">
            <a:avLst/>
          </a:prstGeom>
          <a:noFill/>
          <a:ln w="38100">
            <a:solidFill>
              <a:srgbClr val="176082"/>
            </a:solidFill>
          </a:ln>
        </p:spPr>
        <p:txBody>
          <a:bodyPr/>
          <a:lstStyle/>
          <a:p>
            <a:endParaRPr lang="tr-TR"/>
          </a:p>
        </p:txBody>
      </p:sp>
      <p:sp>
        <p:nvSpPr>
          <p:cNvPr id="26" name="Düz Bağlayıcı 25">
            <a:extLst>
              <a:ext uri="{FF2B5EF4-FFF2-40B4-BE49-F238E27FC236}">
                <a16:creationId xmlns:a16="http://schemas.microsoft.com/office/drawing/2014/main" id="{6A53F644-0CE8-4D70-A2E2-2AD0EA8CA955}"/>
              </a:ext>
            </a:extLst>
          </p:cNvPr>
          <p:cNvSpPr>
            <a:spLocks noGrp="1"/>
          </p:cNvSpPr>
          <p:nvPr/>
        </p:nvSpPr>
        <p:spPr>
          <a:xfrm>
            <a:off x="8477250" y="3381375"/>
            <a:ext cx="590550" cy="0"/>
          </a:xfrm>
          <a:prstGeom prst="line">
            <a:avLst/>
          </a:prstGeom>
          <a:noFill/>
          <a:ln w="38100">
            <a:solidFill>
              <a:srgbClr val="176082"/>
            </a:solidFill>
          </a:ln>
        </p:spPr>
        <p:txBody>
          <a:bodyPr/>
          <a:lstStyle/>
          <a:p>
            <a:endParaRPr lang="tr-TR"/>
          </a:p>
        </p:txBody>
      </p:sp>
      <p:sp>
        <p:nvSpPr>
          <p:cNvPr id="27" name="Dikdörtgen 26">
            <a:extLst>
              <a:ext uri="{FF2B5EF4-FFF2-40B4-BE49-F238E27FC236}">
                <a16:creationId xmlns:a16="http://schemas.microsoft.com/office/drawing/2014/main" id="{823DD265-8652-46BA-A1FF-D7F73457AF4E}"/>
              </a:ext>
            </a:extLst>
          </p:cNvPr>
          <p:cNvSpPr>
            <a:spLocks noGrp="1"/>
          </p:cNvSpPr>
          <p:nvPr/>
        </p:nvSpPr>
        <p:spPr>
          <a:xfrm>
            <a:off x="1238250" y="5467350"/>
            <a:ext cx="2000250" cy="266700"/>
          </a:xfrm>
          <a:prstGeom prst="rect">
            <a:avLst/>
          </a:prstGeom>
          <a:noFill/>
          <a:ln w="0">
            <a:noFill/>
          </a:ln>
        </p:spPr>
        <p:txBody>
          <a:bodyPr anchor="t">
            <a:normAutofit fontScale="90196"/>
          </a:bodyPr>
          <a:lstStyle/>
          <a:p>
            <a:pPr algn="ctr">
              <a:defRPr sz="1275" b="1" i="0">
                <a:solidFill>
                  <a:srgbClr val="176082"/>
                </a:solidFill>
                <a:latin typeface="Arial"/>
                <a:ea typeface="Arial"/>
                <a:cs typeface="Arial"/>
              </a:defRPr>
            </a:pPr>
            <a:r>
              <a:rPr sz="1275" b="1" i="0">
                <a:solidFill>
                  <a:srgbClr val="176082"/>
                </a:solidFill>
                <a:latin typeface="Arial"/>
                <a:ea typeface="Arial"/>
                <a:cs typeface="Arial"/>
              </a:rPr>
              <a:t>Public source</a:t>
            </a:r>
          </a:p>
        </p:txBody>
      </p:sp>
      <p:sp>
        <p:nvSpPr>
          <p:cNvPr id="28" name="Dikdörtgen 27">
            <a:extLst>
              <a:ext uri="{FF2B5EF4-FFF2-40B4-BE49-F238E27FC236}">
                <a16:creationId xmlns:a16="http://schemas.microsoft.com/office/drawing/2014/main" id="{BFD87FDC-1006-4DBC-93B6-D06F1807EC77}"/>
              </a:ext>
            </a:extLst>
          </p:cNvPr>
          <p:cNvSpPr>
            <a:spLocks noGrp="1"/>
          </p:cNvSpPr>
          <p:nvPr/>
        </p:nvSpPr>
        <p:spPr>
          <a:xfrm>
            <a:off x="5457825" y="5467350"/>
            <a:ext cx="2000250" cy="266700"/>
          </a:xfrm>
          <a:prstGeom prst="rect">
            <a:avLst/>
          </a:prstGeom>
          <a:noFill/>
          <a:ln w="0">
            <a:noFill/>
          </a:ln>
        </p:spPr>
        <p:txBody>
          <a:bodyPr anchor="t">
            <a:normAutofit fontScale="90196"/>
          </a:bodyPr>
          <a:lstStyle/>
          <a:p>
            <a:pPr algn="ctr">
              <a:defRPr sz="1275" b="1" i="0">
                <a:solidFill>
                  <a:srgbClr val="D58C00"/>
                </a:solidFill>
                <a:latin typeface="Arial"/>
                <a:ea typeface="Arial"/>
                <a:cs typeface="Arial"/>
              </a:defRPr>
            </a:pPr>
            <a:r>
              <a:rPr sz="1275" b="1" i="0">
                <a:solidFill>
                  <a:srgbClr val="D58C00"/>
                </a:solidFill>
                <a:latin typeface="Arial"/>
                <a:ea typeface="Arial"/>
                <a:cs typeface="Arial"/>
              </a:rPr>
              <a:t>Local processing</a:t>
            </a:r>
          </a:p>
        </p:txBody>
      </p:sp>
      <p:sp>
        <p:nvSpPr>
          <p:cNvPr id="29" name="Dikdörtgen 28">
            <a:extLst>
              <a:ext uri="{FF2B5EF4-FFF2-40B4-BE49-F238E27FC236}">
                <a16:creationId xmlns:a16="http://schemas.microsoft.com/office/drawing/2014/main" id="{12FA0D4B-C6D0-412D-835E-485EB35443FF}"/>
              </a:ext>
            </a:extLst>
          </p:cNvPr>
          <p:cNvSpPr>
            <a:spLocks noGrp="1"/>
          </p:cNvSpPr>
          <p:nvPr/>
        </p:nvSpPr>
        <p:spPr>
          <a:xfrm>
            <a:off x="9353550" y="5467350"/>
            <a:ext cx="2000250" cy="266700"/>
          </a:xfrm>
          <a:prstGeom prst="rect">
            <a:avLst/>
          </a:prstGeom>
          <a:noFill/>
          <a:ln w="0">
            <a:noFill/>
          </a:ln>
        </p:spPr>
        <p:txBody>
          <a:bodyPr anchor="t">
            <a:normAutofit fontScale="90196"/>
          </a:bodyPr>
          <a:lstStyle/>
          <a:p>
            <a:pPr algn="ctr">
              <a:defRPr sz="1275" b="1" i="0">
                <a:solidFill>
                  <a:srgbClr val="176082"/>
                </a:solidFill>
                <a:latin typeface="Arial"/>
                <a:ea typeface="Arial"/>
                <a:cs typeface="Arial"/>
              </a:defRPr>
            </a:pPr>
            <a:r>
              <a:rPr sz="1275" b="1" i="0">
                <a:solidFill>
                  <a:srgbClr val="176082"/>
                </a:solidFill>
                <a:latin typeface="Arial"/>
                <a:ea typeface="Arial"/>
                <a:cs typeface="Arial"/>
              </a:rPr>
              <a:t>Interactive interface</a:t>
            </a:r>
          </a:p>
        </p:txBody>
      </p:sp>
      <p:sp>
        <p:nvSpPr>
          <p:cNvPr id="30" name="Dikdörtgen 29">
            <a:extLst>
              <a:ext uri="{FF2B5EF4-FFF2-40B4-BE49-F238E27FC236}">
                <a16:creationId xmlns:a16="http://schemas.microsoft.com/office/drawing/2014/main" id="{0740534E-34DF-4CAE-A56F-CD4D1029C0EF}"/>
              </a:ext>
            </a:extLst>
          </p:cNvPr>
          <p:cNvSpPr>
            <a:spLocks noGrp="1"/>
          </p:cNvSpPr>
          <p:nvPr/>
        </p:nvSpPr>
        <p:spPr>
          <a:xfrm>
            <a:off x="1571625" y="5953125"/>
            <a:ext cx="9048750" cy="266700"/>
          </a:xfrm>
          <a:prstGeom prst="rect">
            <a:avLst/>
          </a:prstGeom>
          <a:noFill/>
          <a:ln w="0">
            <a:noFill/>
          </a:ln>
        </p:spPr>
        <p:txBody>
          <a:bodyPr anchor="t">
            <a:normAutofit fontScale="90196"/>
          </a:bodyPr>
          <a:lstStyle/>
          <a:p>
            <a:pPr algn="ctr">
              <a:defRPr sz="1275" b="1" i="0">
                <a:solidFill>
                  <a:srgbClr val="B94D35"/>
                </a:solidFill>
                <a:latin typeface="Arial"/>
                <a:ea typeface="Arial"/>
                <a:cs typeface="Arial"/>
              </a:defRPr>
            </a:pPr>
            <a:r>
              <a:rPr sz="1275" b="1" i="0">
                <a:solidFill>
                  <a:srgbClr val="B94D35"/>
                </a:solidFill>
                <a:latin typeface="Arial"/>
                <a:ea typeface="Arial"/>
                <a:cs typeface="Arial"/>
              </a:rPr>
              <a:t>The GitHub URL is public. The localhost URL works only while the API is running on that computer.</a:t>
            </a:r>
          </a:p>
        </p:txBody>
      </p:sp>
      <p:sp>
        <p:nvSpPr>
          <p:cNvPr id="31" name="Düz Bağlayıcı 30">
            <a:extLst>
              <a:ext uri="{FF2B5EF4-FFF2-40B4-BE49-F238E27FC236}">
                <a16:creationId xmlns:a16="http://schemas.microsoft.com/office/drawing/2014/main" id="{76E17076-2DB7-417E-8069-9F6A632B034A}"/>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2" name="Dikdörtgen 31">
            <a:extLst>
              <a:ext uri="{FF2B5EF4-FFF2-40B4-BE49-F238E27FC236}">
                <a16:creationId xmlns:a16="http://schemas.microsoft.com/office/drawing/2014/main" id="{02BC1083-E8A0-46EC-89E3-BF58C80AACF8}"/>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33" name="Dikdörtgen 32">
            <a:extLst>
              <a:ext uri="{FF2B5EF4-FFF2-40B4-BE49-F238E27FC236}">
                <a16:creationId xmlns:a16="http://schemas.microsoft.com/office/drawing/2014/main" id="{F87AC0C0-F9B3-48D6-82D7-504F3F01C874}"/>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MIWAE Corpus Analysis API v0.1</a:t>
            </a:r>
          </a:p>
        </p:txBody>
      </p:sp>
    </p:spTree>
    <p:extLst>
      <p:ext uri="{BB962C8B-B14F-4D97-AF65-F5344CB8AC3E}">
        <p14:creationId xmlns:p14="http://schemas.microsoft.com/office/powerpoint/2010/main" val="523489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41" name="Yuvarlatılmış Dikdörtgen 40">
            <a:extLst>
              <a:ext uri="{FF2B5EF4-FFF2-40B4-BE49-F238E27FC236}">
                <a16:creationId xmlns:a16="http://schemas.microsoft.com/office/drawing/2014/main" id="{40703AE3-E988-4CF4-8BEC-7C32D9B741DC}"/>
              </a:ext>
            </a:extLst>
          </p:cNvPr>
          <p:cNvSpPr>
            <a:spLocks noGrp="1"/>
          </p:cNvSpPr>
          <p:nvPr/>
        </p:nvSpPr>
        <p:spPr>
          <a:xfrm>
            <a:off x="685800" y="371475"/>
            <a:ext cx="66675" cy="171450"/>
          </a:xfrm>
          <a:prstGeom prst="roundRect">
            <a:avLst>
              <a:gd name="adj" fmla="val 50000"/>
            </a:avLst>
          </a:prstGeom>
          <a:solidFill>
            <a:srgbClr val="D58C00"/>
          </a:solidFill>
          <a:ln w="0">
            <a:noFill/>
          </a:ln>
        </p:spPr>
        <p:txBody>
          <a:bodyPr/>
          <a:lstStyle/>
          <a:p>
            <a:endParaRPr lang="tr-TR"/>
          </a:p>
        </p:txBody>
      </p:sp>
      <p:sp>
        <p:nvSpPr>
          <p:cNvPr id="2" name="Dikdörtgen 1">
            <a:extLst>
              <a:ext uri="{FF2B5EF4-FFF2-40B4-BE49-F238E27FC236}">
                <a16:creationId xmlns:a16="http://schemas.microsoft.com/office/drawing/2014/main" id="{3EA52575-0172-4807-9165-8F101A69742B}"/>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Dikdörtgen 2">
            <a:extLst>
              <a:ext uri="{FF2B5EF4-FFF2-40B4-BE49-F238E27FC236}">
                <a16:creationId xmlns:a16="http://schemas.microsoft.com/office/drawing/2014/main" id="{D5475211-4140-4152-8AC8-40E63E9A5DDA}"/>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Four steps turn a passage into an analysis</a:t>
            </a:r>
          </a:p>
        </p:txBody>
      </p:sp>
      <p:sp>
        <p:nvSpPr>
          <p:cNvPr id="4" name="Düz Bağlayıcı 3">
            <a:extLst>
              <a:ext uri="{FF2B5EF4-FFF2-40B4-BE49-F238E27FC236}">
                <a16:creationId xmlns:a16="http://schemas.microsoft.com/office/drawing/2014/main" id="{60664DB3-CA95-46E3-88F5-377BF80596D2}"/>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4F7FFB70-A103-417D-B548-913908CF9AB3}"/>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12</a:t>
            </a:r>
          </a:p>
        </p:txBody>
      </p:sp>
      <p:sp>
        <p:nvSpPr>
          <p:cNvPr id="6" name="Yuvarlatılmış Dikdörtgen 5">
            <a:extLst>
              <a:ext uri="{FF2B5EF4-FFF2-40B4-BE49-F238E27FC236}">
                <a16:creationId xmlns:a16="http://schemas.microsoft.com/office/drawing/2014/main" id="{093AA437-4B7F-4E3D-BF06-00E627C038A6}"/>
              </a:ext>
            </a:extLst>
          </p:cNvPr>
          <p:cNvSpPr>
            <a:spLocks noGrp="1"/>
          </p:cNvSpPr>
          <p:nvPr/>
        </p:nvSpPr>
        <p:spPr>
          <a:xfrm>
            <a:off x="542925" y="1571625"/>
            <a:ext cx="2647950" cy="514350"/>
          </a:xfrm>
          <a:prstGeom prst="roundRect">
            <a:avLst>
              <a:gd name="adj" fmla="val 14815"/>
            </a:avLst>
          </a:prstGeom>
          <a:solidFill>
            <a:srgbClr val="FFFFFF"/>
          </a:solidFill>
          <a:ln w="9525">
            <a:solidFill>
              <a:srgbClr val="C8C9D3"/>
            </a:solidFill>
          </a:ln>
        </p:spPr>
        <p:txBody>
          <a:bodyPr/>
          <a:lstStyle/>
          <a:p>
            <a:endParaRPr lang="tr-TR"/>
          </a:p>
        </p:txBody>
      </p:sp>
      <p:sp>
        <p:nvSpPr>
          <p:cNvPr id="7" name="Yuvarlatılmış Dikdörtgen 6">
            <a:extLst>
              <a:ext uri="{FF2B5EF4-FFF2-40B4-BE49-F238E27FC236}">
                <a16:creationId xmlns:a16="http://schemas.microsoft.com/office/drawing/2014/main" id="{FF1D79E3-85E8-4BC2-A2D4-FA602DB76F0D}"/>
              </a:ext>
            </a:extLst>
          </p:cNvPr>
          <p:cNvSpPr>
            <a:spLocks noGrp="1"/>
          </p:cNvSpPr>
          <p:nvPr/>
        </p:nvSpPr>
        <p:spPr>
          <a:xfrm>
            <a:off x="657225" y="1676400"/>
            <a:ext cx="304800" cy="304800"/>
          </a:xfrm>
          <a:prstGeom prst="roundRect">
            <a:avLst>
              <a:gd name="adj" fmla="val 25000"/>
            </a:avLst>
          </a:prstGeom>
          <a:solidFill>
            <a:srgbClr val="176082"/>
          </a:solidFill>
          <a:ln w="0">
            <a:noFill/>
          </a:ln>
        </p:spPr>
        <p:txBody>
          <a:bodyPr/>
          <a:lstStyle/>
          <a:p>
            <a:endParaRPr lang="tr-TR"/>
          </a:p>
        </p:txBody>
      </p:sp>
      <p:sp>
        <p:nvSpPr>
          <p:cNvPr id="8" name="Dikdörtgen 7">
            <a:extLst>
              <a:ext uri="{FF2B5EF4-FFF2-40B4-BE49-F238E27FC236}">
                <a16:creationId xmlns:a16="http://schemas.microsoft.com/office/drawing/2014/main" id="{31A4D194-8009-4B42-88F2-F679902CFB27}"/>
              </a:ext>
            </a:extLst>
          </p:cNvPr>
          <p:cNvSpPr>
            <a:spLocks noGrp="1"/>
          </p:cNvSpPr>
          <p:nvPr/>
        </p:nvSpPr>
        <p:spPr>
          <a:xfrm>
            <a:off x="657225" y="1704975"/>
            <a:ext cx="304800" cy="219075"/>
          </a:xfrm>
          <a:prstGeom prst="rect">
            <a:avLst/>
          </a:prstGeom>
          <a:noFill/>
          <a:ln w="0">
            <a:noFill/>
          </a:ln>
        </p:spPr>
        <p:txBody>
          <a:bodyPr anchor="t">
            <a:normAutofit fontScale="79762"/>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9" name="Dikdörtgen 8">
            <a:extLst>
              <a:ext uri="{FF2B5EF4-FFF2-40B4-BE49-F238E27FC236}">
                <a16:creationId xmlns:a16="http://schemas.microsoft.com/office/drawing/2014/main" id="{C3FF7E88-8B67-434E-8F7C-A9FEF69920C9}"/>
              </a:ext>
            </a:extLst>
          </p:cNvPr>
          <p:cNvSpPr>
            <a:spLocks noGrp="1"/>
          </p:cNvSpPr>
          <p:nvPr/>
        </p:nvSpPr>
        <p:spPr>
          <a:xfrm>
            <a:off x="1066800" y="1695450"/>
            <a:ext cx="1952625" cy="266700"/>
          </a:xfrm>
          <a:prstGeom prst="rect">
            <a:avLst/>
          </a:prstGeom>
          <a:noFill/>
          <a:ln w="0">
            <a:noFill/>
          </a:ln>
        </p:spPr>
        <p:txBody>
          <a:bodyPr anchor="t">
            <a:normAutofit/>
          </a:bodyPr>
          <a:lstStyle/>
          <a:p>
            <a:pPr algn="ctr">
              <a:defRPr sz="1050" b="1" i="0">
                <a:solidFill>
                  <a:srgbClr val="33343F"/>
                </a:solidFill>
                <a:latin typeface="Arial"/>
                <a:ea typeface="Arial"/>
                <a:cs typeface="Arial"/>
              </a:defRPr>
            </a:pPr>
            <a:r>
              <a:rPr sz="1050" b="1" i="0">
                <a:solidFill>
                  <a:srgbClr val="33343F"/>
                </a:solidFill>
                <a:latin typeface="Arial"/>
                <a:ea typeface="Arial"/>
                <a:cs typeface="Arial"/>
              </a:rPr>
              <a:t>Open POST /v1/analyze/text</a:t>
            </a:r>
          </a:p>
        </p:txBody>
      </p:sp>
      <p:sp>
        <p:nvSpPr>
          <p:cNvPr id="10" name="Yuvarlatılmış Dikdörtgen 9">
            <a:extLst>
              <a:ext uri="{FF2B5EF4-FFF2-40B4-BE49-F238E27FC236}">
                <a16:creationId xmlns:a16="http://schemas.microsoft.com/office/drawing/2014/main" id="{766D51C4-E71A-4669-9CB2-D5FA651BDA44}"/>
              </a:ext>
            </a:extLst>
          </p:cNvPr>
          <p:cNvSpPr>
            <a:spLocks noGrp="1"/>
          </p:cNvSpPr>
          <p:nvPr/>
        </p:nvSpPr>
        <p:spPr>
          <a:xfrm>
            <a:off x="3448050" y="1571625"/>
            <a:ext cx="2647950" cy="514350"/>
          </a:xfrm>
          <a:prstGeom prst="roundRect">
            <a:avLst>
              <a:gd name="adj" fmla="val 14815"/>
            </a:avLst>
          </a:prstGeom>
          <a:solidFill>
            <a:srgbClr val="FFFFFF"/>
          </a:solidFill>
          <a:ln w="9525">
            <a:solidFill>
              <a:srgbClr val="C8C9D3"/>
            </a:solidFill>
          </a:ln>
        </p:spPr>
        <p:txBody>
          <a:bodyPr/>
          <a:lstStyle/>
          <a:p>
            <a:endParaRPr lang="tr-TR"/>
          </a:p>
        </p:txBody>
      </p:sp>
      <p:sp>
        <p:nvSpPr>
          <p:cNvPr id="11" name="Yuvarlatılmış Dikdörtgen 10">
            <a:extLst>
              <a:ext uri="{FF2B5EF4-FFF2-40B4-BE49-F238E27FC236}">
                <a16:creationId xmlns:a16="http://schemas.microsoft.com/office/drawing/2014/main" id="{270AD7A8-F158-4E71-93DA-A4EFA2ED63C2}"/>
              </a:ext>
            </a:extLst>
          </p:cNvPr>
          <p:cNvSpPr>
            <a:spLocks noGrp="1"/>
          </p:cNvSpPr>
          <p:nvPr/>
        </p:nvSpPr>
        <p:spPr>
          <a:xfrm>
            <a:off x="3562350" y="1676400"/>
            <a:ext cx="304800" cy="304800"/>
          </a:xfrm>
          <a:prstGeom prst="roundRect">
            <a:avLst>
              <a:gd name="adj" fmla="val 25000"/>
            </a:avLst>
          </a:prstGeom>
          <a:solidFill>
            <a:srgbClr val="176082"/>
          </a:solidFill>
          <a:ln w="0">
            <a:noFill/>
          </a:ln>
        </p:spPr>
        <p:txBody>
          <a:bodyPr/>
          <a:lstStyle/>
          <a:p>
            <a:endParaRPr lang="tr-TR"/>
          </a:p>
        </p:txBody>
      </p:sp>
      <p:sp>
        <p:nvSpPr>
          <p:cNvPr id="12" name="Dikdörtgen 11">
            <a:extLst>
              <a:ext uri="{FF2B5EF4-FFF2-40B4-BE49-F238E27FC236}">
                <a16:creationId xmlns:a16="http://schemas.microsoft.com/office/drawing/2014/main" id="{EE00EC69-8792-468C-89CA-95B422803A9B}"/>
              </a:ext>
            </a:extLst>
          </p:cNvPr>
          <p:cNvSpPr>
            <a:spLocks noGrp="1"/>
          </p:cNvSpPr>
          <p:nvPr/>
        </p:nvSpPr>
        <p:spPr>
          <a:xfrm>
            <a:off x="3562350" y="1704975"/>
            <a:ext cx="304800" cy="219075"/>
          </a:xfrm>
          <a:prstGeom prst="rect">
            <a:avLst/>
          </a:prstGeom>
          <a:noFill/>
          <a:ln w="0">
            <a:noFill/>
          </a:ln>
        </p:spPr>
        <p:txBody>
          <a:bodyPr anchor="t">
            <a:normAutofit fontScale="79762"/>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3" name="Dikdörtgen 12">
            <a:extLst>
              <a:ext uri="{FF2B5EF4-FFF2-40B4-BE49-F238E27FC236}">
                <a16:creationId xmlns:a16="http://schemas.microsoft.com/office/drawing/2014/main" id="{EB0AD433-2AD8-4F03-9ECF-CECDC1069C9E}"/>
              </a:ext>
            </a:extLst>
          </p:cNvPr>
          <p:cNvSpPr>
            <a:spLocks noGrp="1"/>
          </p:cNvSpPr>
          <p:nvPr/>
        </p:nvSpPr>
        <p:spPr>
          <a:xfrm>
            <a:off x="3971925" y="1695450"/>
            <a:ext cx="1952625" cy="266700"/>
          </a:xfrm>
          <a:prstGeom prst="rect">
            <a:avLst/>
          </a:prstGeom>
          <a:noFill/>
          <a:ln w="0">
            <a:noFill/>
          </a:ln>
        </p:spPr>
        <p:txBody>
          <a:bodyPr anchor="t">
            <a:normAutofit/>
          </a:bodyPr>
          <a:lstStyle/>
          <a:p>
            <a:pPr algn="ctr">
              <a:defRPr sz="1050" b="1" i="0">
                <a:solidFill>
                  <a:srgbClr val="33343F"/>
                </a:solidFill>
                <a:latin typeface="Arial"/>
                <a:ea typeface="Arial"/>
                <a:cs typeface="Arial"/>
              </a:defRPr>
            </a:pPr>
            <a:r>
              <a:rPr sz="1050" b="1" i="0">
                <a:solidFill>
                  <a:srgbClr val="33343F"/>
                </a:solidFill>
                <a:latin typeface="Arial"/>
                <a:ea typeface="Arial"/>
                <a:cs typeface="Arial"/>
              </a:rPr>
              <a:t>Select Try it out</a:t>
            </a:r>
          </a:p>
        </p:txBody>
      </p:sp>
      <p:sp>
        <p:nvSpPr>
          <p:cNvPr id="14" name="Yuvarlatılmış Dikdörtgen 13">
            <a:extLst>
              <a:ext uri="{FF2B5EF4-FFF2-40B4-BE49-F238E27FC236}">
                <a16:creationId xmlns:a16="http://schemas.microsoft.com/office/drawing/2014/main" id="{AB7EC9A0-4C8C-4217-AA23-54D63BA9CA2E}"/>
              </a:ext>
            </a:extLst>
          </p:cNvPr>
          <p:cNvSpPr>
            <a:spLocks noGrp="1"/>
          </p:cNvSpPr>
          <p:nvPr/>
        </p:nvSpPr>
        <p:spPr>
          <a:xfrm>
            <a:off x="6353175" y="1571625"/>
            <a:ext cx="2647950" cy="514350"/>
          </a:xfrm>
          <a:prstGeom prst="roundRect">
            <a:avLst>
              <a:gd name="adj" fmla="val 14815"/>
            </a:avLst>
          </a:prstGeom>
          <a:solidFill>
            <a:srgbClr val="FFFFFF"/>
          </a:solidFill>
          <a:ln w="9525">
            <a:solidFill>
              <a:srgbClr val="C8C9D3"/>
            </a:solidFill>
          </a:ln>
        </p:spPr>
        <p:txBody>
          <a:bodyPr/>
          <a:lstStyle/>
          <a:p>
            <a:endParaRPr lang="tr-TR"/>
          </a:p>
        </p:txBody>
      </p:sp>
      <p:sp>
        <p:nvSpPr>
          <p:cNvPr id="15" name="Yuvarlatılmış Dikdörtgen 14">
            <a:extLst>
              <a:ext uri="{FF2B5EF4-FFF2-40B4-BE49-F238E27FC236}">
                <a16:creationId xmlns:a16="http://schemas.microsoft.com/office/drawing/2014/main" id="{3F5EA538-7AFB-4573-B4FF-F5821C870B52}"/>
              </a:ext>
            </a:extLst>
          </p:cNvPr>
          <p:cNvSpPr>
            <a:spLocks noGrp="1"/>
          </p:cNvSpPr>
          <p:nvPr/>
        </p:nvSpPr>
        <p:spPr>
          <a:xfrm>
            <a:off x="6467475" y="1676400"/>
            <a:ext cx="304800" cy="304800"/>
          </a:xfrm>
          <a:prstGeom prst="roundRect">
            <a:avLst>
              <a:gd name="adj" fmla="val 25000"/>
            </a:avLst>
          </a:prstGeom>
          <a:solidFill>
            <a:srgbClr val="176082"/>
          </a:solidFill>
          <a:ln w="0">
            <a:noFill/>
          </a:ln>
        </p:spPr>
        <p:txBody>
          <a:bodyPr/>
          <a:lstStyle/>
          <a:p>
            <a:endParaRPr lang="tr-TR"/>
          </a:p>
        </p:txBody>
      </p:sp>
      <p:sp>
        <p:nvSpPr>
          <p:cNvPr id="16" name="Dikdörtgen 15">
            <a:extLst>
              <a:ext uri="{FF2B5EF4-FFF2-40B4-BE49-F238E27FC236}">
                <a16:creationId xmlns:a16="http://schemas.microsoft.com/office/drawing/2014/main" id="{ABBAE0E0-44F3-4CA4-948B-890ED64860B4}"/>
              </a:ext>
            </a:extLst>
          </p:cNvPr>
          <p:cNvSpPr>
            <a:spLocks noGrp="1"/>
          </p:cNvSpPr>
          <p:nvPr/>
        </p:nvSpPr>
        <p:spPr>
          <a:xfrm>
            <a:off x="6467475" y="1704975"/>
            <a:ext cx="304800" cy="219075"/>
          </a:xfrm>
          <a:prstGeom prst="rect">
            <a:avLst/>
          </a:prstGeom>
          <a:noFill/>
          <a:ln w="0">
            <a:noFill/>
          </a:ln>
        </p:spPr>
        <p:txBody>
          <a:bodyPr anchor="t">
            <a:normAutofit fontScale="79762"/>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17" name="Dikdörtgen 16">
            <a:extLst>
              <a:ext uri="{FF2B5EF4-FFF2-40B4-BE49-F238E27FC236}">
                <a16:creationId xmlns:a16="http://schemas.microsoft.com/office/drawing/2014/main" id="{5ABA95C9-3972-425E-8A58-EF4407BF51D3}"/>
              </a:ext>
            </a:extLst>
          </p:cNvPr>
          <p:cNvSpPr>
            <a:spLocks noGrp="1"/>
          </p:cNvSpPr>
          <p:nvPr/>
        </p:nvSpPr>
        <p:spPr>
          <a:xfrm>
            <a:off x="6877050" y="1695450"/>
            <a:ext cx="1952625" cy="266700"/>
          </a:xfrm>
          <a:prstGeom prst="rect">
            <a:avLst/>
          </a:prstGeom>
          <a:noFill/>
          <a:ln w="0">
            <a:noFill/>
          </a:ln>
        </p:spPr>
        <p:txBody>
          <a:bodyPr anchor="t">
            <a:normAutofit/>
          </a:bodyPr>
          <a:lstStyle/>
          <a:p>
            <a:pPr algn="ctr">
              <a:defRPr sz="1050" b="1" i="0">
                <a:solidFill>
                  <a:srgbClr val="33343F"/>
                </a:solidFill>
                <a:latin typeface="Arial"/>
                <a:ea typeface="Arial"/>
                <a:cs typeface="Arial"/>
              </a:defRPr>
            </a:pPr>
            <a:r>
              <a:rPr sz="1050" b="1" i="0">
                <a:solidFill>
                  <a:srgbClr val="33343F"/>
                </a:solidFill>
                <a:latin typeface="Arial"/>
                <a:ea typeface="Arial"/>
                <a:cs typeface="Arial"/>
              </a:rPr>
              <a:t>Paste the request JSON</a:t>
            </a:r>
          </a:p>
        </p:txBody>
      </p:sp>
      <p:sp>
        <p:nvSpPr>
          <p:cNvPr id="18" name="Yuvarlatılmış Dikdörtgen 17">
            <a:extLst>
              <a:ext uri="{FF2B5EF4-FFF2-40B4-BE49-F238E27FC236}">
                <a16:creationId xmlns:a16="http://schemas.microsoft.com/office/drawing/2014/main" id="{90AD38C3-D925-4E6C-A900-4E6FBE507CD0}"/>
              </a:ext>
            </a:extLst>
          </p:cNvPr>
          <p:cNvSpPr>
            <a:spLocks noGrp="1"/>
          </p:cNvSpPr>
          <p:nvPr/>
        </p:nvSpPr>
        <p:spPr>
          <a:xfrm>
            <a:off x="9258300" y="1571625"/>
            <a:ext cx="2647950" cy="514350"/>
          </a:xfrm>
          <a:prstGeom prst="roundRect">
            <a:avLst>
              <a:gd name="adj" fmla="val 14815"/>
            </a:avLst>
          </a:prstGeom>
          <a:solidFill>
            <a:srgbClr val="D58C00"/>
          </a:solidFill>
          <a:ln w="9525">
            <a:solidFill>
              <a:srgbClr val="C8C9D3"/>
            </a:solidFill>
          </a:ln>
        </p:spPr>
        <p:txBody>
          <a:bodyPr/>
          <a:lstStyle/>
          <a:p>
            <a:endParaRPr lang="tr-TR"/>
          </a:p>
        </p:txBody>
      </p:sp>
      <p:sp>
        <p:nvSpPr>
          <p:cNvPr id="19" name="Yuvarlatılmış Dikdörtgen 18">
            <a:extLst>
              <a:ext uri="{FF2B5EF4-FFF2-40B4-BE49-F238E27FC236}">
                <a16:creationId xmlns:a16="http://schemas.microsoft.com/office/drawing/2014/main" id="{04194E86-780D-4947-B4CA-7003131C9849}"/>
              </a:ext>
            </a:extLst>
          </p:cNvPr>
          <p:cNvSpPr>
            <a:spLocks noGrp="1"/>
          </p:cNvSpPr>
          <p:nvPr/>
        </p:nvSpPr>
        <p:spPr>
          <a:xfrm>
            <a:off x="9372600" y="1676400"/>
            <a:ext cx="304800" cy="304800"/>
          </a:xfrm>
          <a:prstGeom prst="roundRect">
            <a:avLst>
              <a:gd name="adj" fmla="val 25000"/>
            </a:avLst>
          </a:prstGeom>
          <a:solidFill>
            <a:srgbClr val="123B53"/>
          </a:solidFill>
          <a:ln w="0">
            <a:noFill/>
          </a:ln>
        </p:spPr>
        <p:txBody>
          <a:bodyPr/>
          <a:lstStyle/>
          <a:p>
            <a:endParaRPr lang="tr-TR"/>
          </a:p>
        </p:txBody>
      </p:sp>
      <p:sp>
        <p:nvSpPr>
          <p:cNvPr id="20" name="Dikdörtgen 19">
            <a:extLst>
              <a:ext uri="{FF2B5EF4-FFF2-40B4-BE49-F238E27FC236}">
                <a16:creationId xmlns:a16="http://schemas.microsoft.com/office/drawing/2014/main" id="{7F992E2D-4936-4C5D-80E1-9D5B01A04147}"/>
              </a:ext>
            </a:extLst>
          </p:cNvPr>
          <p:cNvSpPr>
            <a:spLocks noGrp="1"/>
          </p:cNvSpPr>
          <p:nvPr/>
        </p:nvSpPr>
        <p:spPr>
          <a:xfrm>
            <a:off x="9372600" y="1704975"/>
            <a:ext cx="304800" cy="219075"/>
          </a:xfrm>
          <a:prstGeom prst="rect">
            <a:avLst/>
          </a:prstGeom>
          <a:noFill/>
          <a:ln w="0">
            <a:noFill/>
          </a:ln>
        </p:spPr>
        <p:txBody>
          <a:bodyPr anchor="t">
            <a:normAutofit fontScale="79762"/>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1" name="Dikdörtgen 20">
            <a:extLst>
              <a:ext uri="{FF2B5EF4-FFF2-40B4-BE49-F238E27FC236}">
                <a16:creationId xmlns:a16="http://schemas.microsoft.com/office/drawing/2014/main" id="{47165241-19DD-4D23-8D39-D579C0EA92BF}"/>
              </a:ext>
            </a:extLst>
          </p:cNvPr>
          <p:cNvSpPr>
            <a:spLocks noGrp="1"/>
          </p:cNvSpPr>
          <p:nvPr/>
        </p:nvSpPr>
        <p:spPr>
          <a:xfrm>
            <a:off x="9782175" y="1695450"/>
            <a:ext cx="1952625" cy="266700"/>
          </a:xfrm>
          <a:prstGeom prst="rect">
            <a:avLst/>
          </a:prstGeom>
          <a:noFill/>
          <a:ln w="0">
            <a:noFill/>
          </a:ln>
        </p:spPr>
        <p:txBody>
          <a:bodyPr anchor="t">
            <a:normAutofit/>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Select Execute</a:t>
            </a:r>
          </a:p>
        </p:txBody>
      </p:sp>
      <p:sp>
        <p:nvSpPr>
          <p:cNvPr id="22" name="Yuvarlatılmış Dikdörtgen 21">
            <a:extLst>
              <a:ext uri="{FF2B5EF4-FFF2-40B4-BE49-F238E27FC236}">
                <a16:creationId xmlns:a16="http://schemas.microsoft.com/office/drawing/2014/main" id="{401B1982-D991-422B-9090-C502D87EA515}"/>
              </a:ext>
            </a:extLst>
          </p:cNvPr>
          <p:cNvSpPr>
            <a:spLocks noGrp="1"/>
          </p:cNvSpPr>
          <p:nvPr/>
        </p:nvSpPr>
        <p:spPr>
          <a:xfrm>
            <a:off x="695325" y="2352675"/>
            <a:ext cx="10810875" cy="3333750"/>
          </a:xfrm>
          <a:prstGeom prst="roundRect">
            <a:avLst>
              <a:gd name="adj" fmla="val 2286"/>
            </a:avLst>
          </a:prstGeom>
          <a:solidFill>
            <a:srgbClr val="FFFFFF"/>
          </a:solidFill>
          <a:ln w="9525">
            <a:solidFill>
              <a:srgbClr val="C8C9D3"/>
            </a:solidFill>
          </a:ln>
        </p:spPr>
        <p:txBody>
          <a:bodyPr/>
          <a:lstStyle/>
          <a:p>
            <a:endParaRPr lang="tr-TR"/>
          </a:p>
        </p:txBody>
      </p:sp>
      <p:sp>
        <p:nvSpPr>
          <p:cNvPr id="23" name="Yuvarlatılmış Dikdörtgen 22">
            <a:extLst>
              <a:ext uri="{FF2B5EF4-FFF2-40B4-BE49-F238E27FC236}">
                <a16:creationId xmlns:a16="http://schemas.microsoft.com/office/drawing/2014/main" id="{FFC34D4D-5907-43C6-8F57-A680F2B6DA46}"/>
              </a:ext>
            </a:extLst>
          </p:cNvPr>
          <p:cNvSpPr>
            <a:spLocks noGrp="1"/>
          </p:cNvSpPr>
          <p:nvPr/>
        </p:nvSpPr>
        <p:spPr>
          <a:xfrm>
            <a:off x="695325" y="2352675"/>
            <a:ext cx="10810875" cy="400050"/>
          </a:xfrm>
          <a:prstGeom prst="roundRect">
            <a:avLst>
              <a:gd name="adj" fmla="val 19048"/>
            </a:avLst>
          </a:prstGeom>
          <a:solidFill>
            <a:srgbClr val="123B53"/>
          </a:solidFill>
          <a:ln w="0">
            <a:noFill/>
          </a:ln>
        </p:spPr>
        <p:txBody>
          <a:bodyPr/>
          <a:lstStyle/>
          <a:p>
            <a:endParaRPr lang="tr-TR"/>
          </a:p>
        </p:txBody>
      </p:sp>
      <p:sp>
        <p:nvSpPr>
          <p:cNvPr id="24" name="Dikdörtgen 23">
            <a:extLst>
              <a:ext uri="{FF2B5EF4-FFF2-40B4-BE49-F238E27FC236}">
                <a16:creationId xmlns:a16="http://schemas.microsoft.com/office/drawing/2014/main" id="{0E4E9446-C3D9-4B03-84FB-9D53500638F3}"/>
              </a:ext>
            </a:extLst>
          </p:cNvPr>
          <p:cNvSpPr>
            <a:spLocks noGrp="1"/>
          </p:cNvSpPr>
          <p:nvPr/>
        </p:nvSpPr>
        <p:spPr>
          <a:xfrm>
            <a:off x="904875" y="2438400"/>
            <a:ext cx="952500" cy="190500"/>
          </a:xfrm>
          <a:prstGeom prst="rect">
            <a:avLst/>
          </a:prstGeom>
          <a:noFill/>
          <a:ln w="0">
            <a:noFill/>
          </a:ln>
        </p:spPr>
        <p:txBody>
          <a:bodyPr anchor="t">
            <a:normAutofit fontScale="61905"/>
          </a:bodyPr>
          <a:lstStyle/>
          <a:p>
            <a:pPr algn="l">
              <a:defRPr sz="1050" b="1" i="0">
                <a:solidFill>
                  <a:srgbClr val="D58C00"/>
                </a:solidFill>
                <a:latin typeface="Arial"/>
                <a:ea typeface="Arial"/>
                <a:cs typeface="Arial"/>
              </a:defRPr>
            </a:pPr>
            <a:r>
              <a:rPr sz="1050" b="1" i="0">
                <a:solidFill>
                  <a:srgbClr val="D58C00"/>
                </a:solidFill>
                <a:latin typeface="Arial"/>
                <a:ea typeface="Arial"/>
                <a:cs typeface="Arial"/>
              </a:rPr>
              <a:t>●  ●  ●</a:t>
            </a:r>
          </a:p>
        </p:txBody>
      </p:sp>
      <p:sp>
        <p:nvSpPr>
          <p:cNvPr id="25" name="Dikdörtgen 24">
            <a:extLst>
              <a:ext uri="{FF2B5EF4-FFF2-40B4-BE49-F238E27FC236}">
                <a16:creationId xmlns:a16="http://schemas.microsoft.com/office/drawing/2014/main" id="{8540240A-EFAD-4292-9BCB-C9C899DF6712}"/>
              </a:ext>
            </a:extLst>
          </p:cNvPr>
          <p:cNvSpPr>
            <a:spLocks noGrp="1"/>
          </p:cNvSpPr>
          <p:nvPr/>
        </p:nvSpPr>
        <p:spPr>
          <a:xfrm>
            <a:off x="3095625" y="2428875"/>
            <a:ext cx="6000750" cy="219075"/>
          </a:xfrm>
          <a:prstGeom prst="rect">
            <a:avLst/>
          </a:prstGeom>
          <a:noFill/>
          <a:ln w="0">
            <a:noFill/>
          </a:ln>
        </p:spPr>
        <p:txBody>
          <a:bodyPr anchor="t">
            <a:normAutofit fontScale="69792"/>
          </a:bodyPr>
          <a:lstStyle/>
          <a:p>
            <a:pPr algn="ctr">
              <a:defRPr sz="1200" b="1" i="0">
                <a:solidFill>
                  <a:srgbClr val="FFFFFF"/>
                </a:solidFill>
                <a:latin typeface="Arial"/>
                <a:ea typeface="Arial"/>
                <a:cs typeface="Arial"/>
              </a:defRPr>
            </a:pPr>
            <a:r>
              <a:rPr sz="1200" b="1" i="0">
                <a:solidFill>
                  <a:srgbClr val="FFFFFF"/>
                </a:solidFill>
                <a:latin typeface="Arial"/>
                <a:ea typeface="Arial"/>
                <a:cs typeface="Arial"/>
              </a:rPr>
              <a:t>MIWAE Corpus Analysis API — Swagger UI</a:t>
            </a:r>
          </a:p>
        </p:txBody>
      </p:sp>
      <p:sp>
        <p:nvSpPr>
          <p:cNvPr id="26" name="Yuvarlatılmış Dikdörtgen 25">
            <a:extLst>
              <a:ext uri="{FF2B5EF4-FFF2-40B4-BE49-F238E27FC236}">
                <a16:creationId xmlns:a16="http://schemas.microsoft.com/office/drawing/2014/main" id="{62F9F1BB-9F54-4B14-86F5-119D9D0177D7}"/>
              </a:ext>
            </a:extLst>
          </p:cNvPr>
          <p:cNvSpPr>
            <a:spLocks noGrp="1"/>
          </p:cNvSpPr>
          <p:nvPr/>
        </p:nvSpPr>
        <p:spPr>
          <a:xfrm>
            <a:off x="904875" y="2971800"/>
            <a:ext cx="10382250" cy="457200"/>
          </a:xfrm>
          <a:prstGeom prst="roundRect">
            <a:avLst>
              <a:gd name="adj" fmla="val 16667"/>
            </a:avLst>
          </a:prstGeom>
          <a:solidFill>
            <a:srgbClr val="DDEFE8"/>
          </a:solidFill>
          <a:ln w="0">
            <a:noFill/>
          </a:ln>
        </p:spPr>
        <p:txBody>
          <a:bodyPr/>
          <a:lstStyle/>
          <a:p>
            <a:endParaRPr lang="tr-TR"/>
          </a:p>
        </p:txBody>
      </p:sp>
      <p:sp>
        <p:nvSpPr>
          <p:cNvPr id="27" name="Dikdörtgen 26">
            <a:extLst>
              <a:ext uri="{FF2B5EF4-FFF2-40B4-BE49-F238E27FC236}">
                <a16:creationId xmlns:a16="http://schemas.microsoft.com/office/drawing/2014/main" id="{25CF6F41-84CF-4418-850C-079441D78A10}"/>
              </a:ext>
            </a:extLst>
          </p:cNvPr>
          <p:cNvSpPr>
            <a:spLocks noGrp="1"/>
          </p:cNvSpPr>
          <p:nvPr/>
        </p:nvSpPr>
        <p:spPr>
          <a:xfrm>
            <a:off x="1066800" y="3067050"/>
            <a:ext cx="714375" cy="228600"/>
          </a:xfrm>
          <a:prstGeom prst="rect">
            <a:avLst/>
          </a:prstGeom>
          <a:noFill/>
          <a:ln w="0">
            <a:noFill/>
          </a:ln>
        </p:spPr>
        <p:txBody>
          <a:bodyPr anchor="t">
            <a:normAutofit fontScale="85714"/>
          </a:bodyPr>
          <a:lstStyle/>
          <a:p>
            <a:pPr algn="l">
              <a:defRPr sz="1050" b="1" i="0">
                <a:solidFill>
                  <a:srgbClr val="19734A"/>
                </a:solidFill>
                <a:latin typeface="Arial"/>
                <a:ea typeface="Arial"/>
                <a:cs typeface="Arial"/>
              </a:defRPr>
            </a:pPr>
            <a:r>
              <a:rPr sz="1050" b="1" i="0">
                <a:solidFill>
                  <a:srgbClr val="19734A"/>
                </a:solidFill>
                <a:latin typeface="Arial"/>
                <a:ea typeface="Arial"/>
                <a:cs typeface="Arial"/>
              </a:rPr>
              <a:t>POST</a:t>
            </a:r>
          </a:p>
        </p:txBody>
      </p:sp>
      <p:sp>
        <p:nvSpPr>
          <p:cNvPr id="28" name="Dikdörtgen 27">
            <a:extLst>
              <a:ext uri="{FF2B5EF4-FFF2-40B4-BE49-F238E27FC236}">
                <a16:creationId xmlns:a16="http://schemas.microsoft.com/office/drawing/2014/main" id="{E9E31AFC-7258-45A3-828A-B06EEC2515BC}"/>
              </a:ext>
            </a:extLst>
          </p:cNvPr>
          <p:cNvSpPr>
            <a:spLocks noGrp="1"/>
          </p:cNvSpPr>
          <p:nvPr/>
        </p:nvSpPr>
        <p:spPr>
          <a:xfrm>
            <a:off x="1876425" y="3048000"/>
            <a:ext cx="2381250" cy="247650"/>
          </a:xfrm>
          <a:prstGeom prst="rect">
            <a:avLst/>
          </a:prstGeom>
          <a:noFill/>
          <a:ln w="0">
            <a:noFill/>
          </a:ln>
        </p:spPr>
        <p:txBody>
          <a:bodyPr anchor="t">
            <a:normAutofit fontScale="80392"/>
          </a:bodyPr>
          <a:lstStyle/>
          <a:p>
            <a:pPr algn="l">
              <a:defRPr sz="1275" b="1" i="0">
                <a:solidFill>
                  <a:srgbClr val="33343F"/>
                </a:solidFill>
                <a:latin typeface="Arial"/>
                <a:ea typeface="Arial"/>
                <a:cs typeface="Arial"/>
              </a:defRPr>
            </a:pPr>
            <a:r>
              <a:rPr sz="1275" b="1" i="0">
                <a:solidFill>
                  <a:srgbClr val="33343F"/>
                </a:solidFill>
                <a:latin typeface="Arial"/>
                <a:ea typeface="Arial"/>
                <a:cs typeface="Arial"/>
              </a:rPr>
              <a:t>/v1/analyze/text</a:t>
            </a:r>
          </a:p>
        </p:txBody>
      </p:sp>
      <p:sp>
        <p:nvSpPr>
          <p:cNvPr id="29" name="Yuvarlatılmış Dikdörtgen 28">
            <a:extLst>
              <a:ext uri="{FF2B5EF4-FFF2-40B4-BE49-F238E27FC236}">
                <a16:creationId xmlns:a16="http://schemas.microsoft.com/office/drawing/2014/main" id="{0EA5D5ED-9723-433C-9B36-68089D18D850}"/>
              </a:ext>
            </a:extLst>
          </p:cNvPr>
          <p:cNvSpPr>
            <a:spLocks noGrp="1"/>
          </p:cNvSpPr>
          <p:nvPr/>
        </p:nvSpPr>
        <p:spPr>
          <a:xfrm>
            <a:off x="9763125" y="3038475"/>
            <a:ext cx="1285875" cy="266700"/>
          </a:xfrm>
          <a:prstGeom prst="roundRect">
            <a:avLst>
              <a:gd name="adj" fmla="val 28571"/>
            </a:avLst>
          </a:prstGeom>
          <a:solidFill>
            <a:srgbClr val="176082"/>
          </a:solidFill>
          <a:ln w="0">
            <a:noFill/>
          </a:ln>
        </p:spPr>
        <p:txBody>
          <a:bodyPr/>
          <a:lstStyle/>
          <a:p>
            <a:endParaRPr lang="tr-TR"/>
          </a:p>
        </p:txBody>
      </p:sp>
      <p:sp>
        <p:nvSpPr>
          <p:cNvPr id="30" name="Dikdörtgen 29">
            <a:extLst>
              <a:ext uri="{FF2B5EF4-FFF2-40B4-BE49-F238E27FC236}">
                <a16:creationId xmlns:a16="http://schemas.microsoft.com/office/drawing/2014/main" id="{A1067DF0-FB6F-445A-8EF6-F188B0D02564}"/>
              </a:ext>
            </a:extLst>
          </p:cNvPr>
          <p:cNvSpPr>
            <a:spLocks noGrp="1"/>
          </p:cNvSpPr>
          <p:nvPr/>
        </p:nvSpPr>
        <p:spPr>
          <a:xfrm>
            <a:off x="9877425" y="3086100"/>
            <a:ext cx="1066800" cy="171450"/>
          </a:xfrm>
          <a:prstGeom prst="rect">
            <a:avLst/>
          </a:prstGeom>
          <a:noFill/>
          <a:ln w="0">
            <a:noFill/>
          </a:ln>
        </p:spPr>
        <p:txBody>
          <a:bodyPr anchor="t">
            <a:normAutofit fontScale="58333"/>
          </a:bodyPr>
          <a:lstStyle/>
          <a:p>
            <a:pPr algn="ctr">
              <a:defRPr sz="900" b="1" i="0">
                <a:solidFill>
                  <a:srgbClr val="FFFFFF"/>
                </a:solidFill>
                <a:latin typeface="Arial"/>
                <a:ea typeface="Arial"/>
                <a:cs typeface="Arial"/>
              </a:defRPr>
            </a:pPr>
            <a:r>
              <a:rPr sz="900" b="1" i="0">
                <a:solidFill>
                  <a:srgbClr val="FFFFFF"/>
                </a:solidFill>
                <a:latin typeface="Arial"/>
                <a:ea typeface="Arial"/>
                <a:cs typeface="Arial"/>
              </a:rPr>
              <a:t>TRY IT OUT</a:t>
            </a:r>
          </a:p>
        </p:txBody>
      </p:sp>
      <p:sp>
        <p:nvSpPr>
          <p:cNvPr id="31" name="Yuvarlatılmış Dikdörtgen 30">
            <a:extLst>
              <a:ext uri="{FF2B5EF4-FFF2-40B4-BE49-F238E27FC236}">
                <a16:creationId xmlns:a16="http://schemas.microsoft.com/office/drawing/2014/main" id="{B9F020EB-EE33-4486-AB55-3E91CFDB31F2}"/>
              </a:ext>
            </a:extLst>
          </p:cNvPr>
          <p:cNvSpPr>
            <a:spLocks noGrp="1"/>
          </p:cNvSpPr>
          <p:nvPr/>
        </p:nvSpPr>
        <p:spPr>
          <a:xfrm>
            <a:off x="914400" y="3600450"/>
            <a:ext cx="6858000" cy="1676400"/>
          </a:xfrm>
          <a:prstGeom prst="roundRect">
            <a:avLst>
              <a:gd name="adj" fmla="val 4545"/>
            </a:avLst>
          </a:prstGeom>
          <a:solidFill>
            <a:srgbClr val="142D38"/>
          </a:solidFill>
          <a:ln w="0">
            <a:noFill/>
          </a:ln>
        </p:spPr>
        <p:txBody>
          <a:bodyPr/>
          <a:lstStyle/>
          <a:p>
            <a:endParaRPr lang="tr-TR"/>
          </a:p>
        </p:txBody>
      </p:sp>
      <p:sp>
        <p:nvSpPr>
          <p:cNvPr id="32" name="Dikdörtgen 31">
            <a:extLst>
              <a:ext uri="{FF2B5EF4-FFF2-40B4-BE49-F238E27FC236}">
                <a16:creationId xmlns:a16="http://schemas.microsoft.com/office/drawing/2014/main" id="{669831D4-E495-4577-97BB-132C553C64C2}"/>
              </a:ext>
            </a:extLst>
          </p:cNvPr>
          <p:cNvSpPr>
            <a:spLocks noGrp="1"/>
          </p:cNvSpPr>
          <p:nvPr/>
        </p:nvSpPr>
        <p:spPr>
          <a:xfrm>
            <a:off x="1123950" y="3752850"/>
            <a:ext cx="6429375" cy="1381125"/>
          </a:xfrm>
          <a:prstGeom prst="rect">
            <a:avLst/>
          </a:prstGeom>
          <a:noFill/>
          <a:ln w="0">
            <a:noFill/>
          </a:ln>
        </p:spPr>
        <p:txBody>
          <a:bodyPr anchor="t">
            <a:normAutofit/>
          </a:bodyPr>
          <a:lstStyle/>
          <a:p>
            <a:pPr algn="l">
              <a:defRPr sz="1125" b="0" i="0">
                <a:solidFill>
                  <a:srgbClr val="FFFFFF"/>
                </a:solidFill>
                <a:latin typeface="Arial"/>
                <a:ea typeface="Arial"/>
                <a:cs typeface="Arial"/>
              </a:defRPr>
            </a:pPr>
            <a:r>
              <a:rPr sz="1125" b="0" i="0">
                <a:solidFill>
                  <a:srgbClr val="FFFFFF"/>
                </a:solidFill>
                <a:latin typeface="Arial"/>
                <a:ea typeface="Arial"/>
                <a:cs typeface="Arial"/>
              </a:rPr>
              <a:t>{</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  "id": "demo-circuit-text",</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  "title": "Demonstration passage",</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  "text": "In this section, we consider a linear circuit...",</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  "metadata": { "discipline": "Electrical Engineering" }</a:t>
            </a:r>
          </a:p>
          <a:p>
            <a:pPr algn="l">
              <a:defRPr sz="1125" b="0" i="0">
                <a:solidFill>
                  <a:srgbClr val="FFFFFF"/>
                </a:solidFill>
                <a:latin typeface="Arial"/>
                <a:ea typeface="Arial"/>
                <a:cs typeface="Arial"/>
              </a:defRPr>
            </a:pPr>
            <a:r>
              <a:rPr sz="1125" b="0" i="0">
                <a:solidFill>
                  <a:srgbClr val="FFFFFF"/>
                </a:solidFill>
                <a:latin typeface="Arial"/>
                <a:ea typeface="Arial"/>
                <a:cs typeface="Arial"/>
              </a:rPr>
              <a:t>}</a:t>
            </a:r>
          </a:p>
        </p:txBody>
      </p:sp>
      <p:sp>
        <p:nvSpPr>
          <p:cNvPr id="33" name="Yuvarlatılmış Dikdörtgen 32">
            <a:extLst>
              <a:ext uri="{FF2B5EF4-FFF2-40B4-BE49-F238E27FC236}">
                <a16:creationId xmlns:a16="http://schemas.microsoft.com/office/drawing/2014/main" id="{9CAA5BCE-5EF2-4660-B3F4-4F073D21B0EE}"/>
              </a:ext>
            </a:extLst>
          </p:cNvPr>
          <p:cNvSpPr>
            <a:spLocks noGrp="1"/>
          </p:cNvSpPr>
          <p:nvPr/>
        </p:nvSpPr>
        <p:spPr>
          <a:xfrm>
            <a:off x="8096250" y="3609975"/>
            <a:ext cx="2952750" cy="704850"/>
          </a:xfrm>
          <a:prstGeom prst="roundRect">
            <a:avLst>
              <a:gd name="adj" fmla="val 10811"/>
            </a:avLst>
          </a:prstGeom>
          <a:solidFill>
            <a:srgbClr val="E6F0F5"/>
          </a:solidFill>
          <a:ln w="0">
            <a:noFill/>
          </a:ln>
        </p:spPr>
        <p:txBody>
          <a:bodyPr/>
          <a:lstStyle/>
          <a:p>
            <a:endParaRPr lang="tr-TR"/>
          </a:p>
        </p:txBody>
      </p:sp>
      <p:sp>
        <p:nvSpPr>
          <p:cNvPr id="34" name="Dikdörtgen 33">
            <a:extLst>
              <a:ext uri="{FF2B5EF4-FFF2-40B4-BE49-F238E27FC236}">
                <a16:creationId xmlns:a16="http://schemas.microsoft.com/office/drawing/2014/main" id="{E4E449C5-EA07-43B8-931D-50DD0328B6FE}"/>
              </a:ext>
            </a:extLst>
          </p:cNvPr>
          <p:cNvSpPr>
            <a:spLocks noGrp="1"/>
          </p:cNvSpPr>
          <p:nvPr/>
        </p:nvSpPr>
        <p:spPr>
          <a:xfrm>
            <a:off x="8334375" y="3752850"/>
            <a:ext cx="2476500" cy="428625"/>
          </a:xfrm>
          <a:prstGeom prst="rect">
            <a:avLst/>
          </a:prstGeom>
          <a:noFill/>
          <a:ln w="0">
            <a:noFill/>
          </a:ln>
        </p:spPr>
        <p:txBody>
          <a:bodyPr anchor="t">
            <a:normAutofit fontScale="86765"/>
          </a:bodyPr>
          <a:lstStyle/>
          <a:p>
            <a:pPr algn="ctr">
              <a:defRPr sz="1275" b="1" i="0">
                <a:solidFill>
                  <a:srgbClr val="33343F"/>
                </a:solidFill>
                <a:latin typeface="Arial"/>
                <a:ea typeface="Arial"/>
                <a:cs typeface="Arial"/>
              </a:defRPr>
            </a:pPr>
            <a:r>
              <a:rPr sz="1275" b="1" i="0">
                <a:solidFill>
                  <a:srgbClr val="33343F"/>
                </a:solidFill>
                <a:latin typeface="Arial"/>
                <a:ea typeface="Arial"/>
                <a:cs typeface="Arial"/>
              </a:rPr>
              <a:t>include_hits = true</a:t>
            </a:r>
          </a:p>
          <a:p>
            <a:pPr algn="ctr">
              <a:defRPr sz="1275" b="1" i="0">
                <a:solidFill>
                  <a:srgbClr val="33343F"/>
                </a:solidFill>
                <a:latin typeface="Arial"/>
                <a:ea typeface="Arial"/>
                <a:cs typeface="Arial"/>
              </a:defRPr>
            </a:pPr>
            <a:r>
              <a:rPr sz="1275" b="1" i="0">
                <a:solidFill>
                  <a:srgbClr val="33343F"/>
                </a:solidFill>
                <a:latin typeface="Arial"/>
                <a:ea typeface="Arial"/>
                <a:cs typeface="Arial"/>
              </a:rPr>
              <a:t>max_hits = 5</a:t>
            </a:r>
          </a:p>
        </p:txBody>
      </p:sp>
      <p:sp>
        <p:nvSpPr>
          <p:cNvPr id="35" name="Yuvarlatılmış Dikdörtgen 34">
            <a:extLst>
              <a:ext uri="{FF2B5EF4-FFF2-40B4-BE49-F238E27FC236}">
                <a16:creationId xmlns:a16="http://schemas.microsoft.com/office/drawing/2014/main" id="{F1EBED71-0FB8-494D-BC05-2973F77F1AEB}"/>
              </a:ext>
            </a:extLst>
          </p:cNvPr>
          <p:cNvSpPr>
            <a:spLocks noGrp="1"/>
          </p:cNvSpPr>
          <p:nvPr/>
        </p:nvSpPr>
        <p:spPr>
          <a:xfrm>
            <a:off x="8667750" y="4600575"/>
            <a:ext cx="1809750" cy="466725"/>
          </a:xfrm>
          <a:prstGeom prst="roundRect">
            <a:avLst>
              <a:gd name="adj" fmla="val 16327"/>
            </a:avLst>
          </a:prstGeom>
          <a:solidFill>
            <a:srgbClr val="D58C00"/>
          </a:solidFill>
          <a:ln w="0">
            <a:noFill/>
          </a:ln>
        </p:spPr>
        <p:txBody>
          <a:bodyPr/>
          <a:lstStyle/>
          <a:p>
            <a:endParaRPr lang="tr-TR"/>
          </a:p>
        </p:txBody>
      </p:sp>
      <p:sp>
        <p:nvSpPr>
          <p:cNvPr id="36" name="Dikdörtgen 35">
            <a:extLst>
              <a:ext uri="{FF2B5EF4-FFF2-40B4-BE49-F238E27FC236}">
                <a16:creationId xmlns:a16="http://schemas.microsoft.com/office/drawing/2014/main" id="{82775882-70A6-4EA2-B63C-306A1B7F3A81}"/>
              </a:ext>
            </a:extLst>
          </p:cNvPr>
          <p:cNvSpPr>
            <a:spLocks noGrp="1"/>
          </p:cNvSpPr>
          <p:nvPr/>
        </p:nvSpPr>
        <p:spPr>
          <a:xfrm>
            <a:off x="8839200" y="4724400"/>
            <a:ext cx="1466850" cy="228600"/>
          </a:xfrm>
          <a:prstGeom prst="rect">
            <a:avLst/>
          </a:prstGeom>
          <a:noFill/>
          <a:ln w="0">
            <a:noFill/>
          </a:ln>
        </p:spPr>
        <p:txBody>
          <a:bodyPr anchor="t">
            <a:normAutofit fontScale="75000"/>
          </a:bodyPr>
          <a:lstStyle/>
          <a:p>
            <a:pPr algn="ctr">
              <a:defRPr sz="1200" b="1" i="0">
                <a:solidFill>
                  <a:srgbClr val="FFFFFF"/>
                </a:solidFill>
                <a:latin typeface="Arial"/>
                <a:ea typeface="Arial"/>
                <a:cs typeface="Arial"/>
              </a:defRPr>
            </a:pPr>
            <a:r>
              <a:rPr sz="1200" b="1" i="0">
                <a:solidFill>
                  <a:srgbClr val="FFFFFF"/>
                </a:solidFill>
                <a:latin typeface="Arial"/>
                <a:ea typeface="Arial"/>
                <a:cs typeface="Arial"/>
              </a:rPr>
              <a:t>EXECUTE</a:t>
            </a:r>
          </a:p>
        </p:txBody>
      </p:sp>
      <p:sp>
        <p:nvSpPr>
          <p:cNvPr id="37" name="Dikdörtgen 36">
            <a:extLst>
              <a:ext uri="{FF2B5EF4-FFF2-40B4-BE49-F238E27FC236}">
                <a16:creationId xmlns:a16="http://schemas.microsoft.com/office/drawing/2014/main" id="{33076172-E69D-4D30-9DC2-DD2FA4B154BB}"/>
              </a:ext>
            </a:extLst>
          </p:cNvPr>
          <p:cNvSpPr>
            <a:spLocks noGrp="1"/>
          </p:cNvSpPr>
          <p:nvPr/>
        </p:nvSpPr>
        <p:spPr>
          <a:xfrm>
            <a:off x="1428750" y="5905500"/>
            <a:ext cx="9334500" cy="276225"/>
          </a:xfrm>
          <a:prstGeom prst="rect">
            <a:avLst/>
          </a:prstGeom>
          <a:noFill/>
          <a:ln w="0">
            <a:noFill/>
          </a:ln>
        </p:spPr>
        <p:txBody>
          <a:bodyPr anchor="t">
            <a:normAutofit fontScale="95098"/>
          </a:bodyPr>
          <a:lstStyle/>
          <a:p>
            <a:pPr algn="ctr">
              <a:defRPr sz="1275" b="0" i="0">
                <a:solidFill>
                  <a:srgbClr val="626777"/>
                </a:solidFill>
                <a:latin typeface="Arial"/>
                <a:ea typeface="Arial"/>
                <a:cs typeface="Arial"/>
              </a:defRPr>
            </a:pPr>
            <a:r>
              <a:rPr sz="1275" b="0" i="0">
                <a:solidFill>
                  <a:srgbClr val="626777"/>
                </a:solidFill>
                <a:latin typeface="Arial"/>
                <a:ea typeface="Arial"/>
                <a:cs typeface="Arial"/>
              </a:rPr>
              <a:t>The request body holds the passage. Query controls determine whether example hits are returned and how many are shown.</a:t>
            </a:r>
          </a:p>
        </p:txBody>
      </p:sp>
      <p:sp>
        <p:nvSpPr>
          <p:cNvPr id="38" name="Düz Bağlayıcı 37">
            <a:extLst>
              <a:ext uri="{FF2B5EF4-FFF2-40B4-BE49-F238E27FC236}">
                <a16:creationId xmlns:a16="http://schemas.microsoft.com/office/drawing/2014/main" id="{D0F8D5E6-7B62-4FFE-A4FD-9D4953604704}"/>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9" name="Dikdörtgen 38">
            <a:extLst>
              <a:ext uri="{FF2B5EF4-FFF2-40B4-BE49-F238E27FC236}">
                <a16:creationId xmlns:a16="http://schemas.microsoft.com/office/drawing/2014/main" id="{9F7D15E3-1826-4132-B0E3-C6CABB5D391E}"/>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40" name="Dikdörtgen 39">
            <a:extLst>
              <a:ext uri="{FF2B5EF4-FFF2-40B4-BE49-F238E27FC236}">
                <a16:creationId xmlns:a16="http://schemas.microsoft.com/office/drawing/2014/main" id="{89EBAAFB-6E4D-4C5F-B042-71997C061509}"/>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Live interface: http://localhost:8000/docs</a:t>
            </a:r>
          </a:p>
        </p:txBody>
      </p:sp>
    </p:spTree>
    <p:extLst>
      <p:ext uri="{BB962C8B-B14F-4D97-AF65-F5344CB8AC3E}">
        <p14:creationId xmlns:p14="http://schemas.microsoft.com/office/powerpoint/2010/main" val="355414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7" name="Yuvarlatılmış Dikdörtgen 26">
            <a:extLst>
              <a:ext uri="{FF2B5EF4-FFF2-40B4-BE49-F238E27FC236}">
                <a16:creationId xmlns:a16="http://schemas.microsoft.com/office/drawing/2014/main" id="{0A9EF39A-B486-4BC5-8A35-AFCFE1252778}"/>
              </a:ext>
            </a:extLst>
          </p:cNvPr>
          <p:cNvSpPr>
            <a:spLocks noGrp="1"/>
          </p:cNvSpPr>
          <p:nvPr/>
        </p:nvSpPr>
        <p:spPr>
          <a:xfrm>
            <a:off x="685800" y="371475"/>
            <a:ext cx="66675" cy="171450"/>
          </a:xfrm>
          <a:prstGeom prst="roundRect">
            <a:avLst>
              <a:gd name="adj" fmla="val 50000"/>
            </a:avLst>
          </a:prstGeom>
          <a:solidFill>
            <a:srgbClr val="D58C00"/>
          </a:solidFill>
          <a:ln w="0">
            <a:noFill/>
          </a:ln>
        </p:spPr>
        <p:txBody>
          <a:bodyPr/>
          <a:lstStyle/>
          <a:p>
            <a:endParaRPr lang="tr-TR"/>
          </a:p>
        </p:txBody>
      </p:sp>
      <p:sp>
        <p:nvSpPr>
          <p:cNvPr id="2" name="Dikdörtgen 1">
            <a:extLst>
              <a:ext uri="{FF2B5EF4-FFF2-40B4-BE49-F238E27FC236}">
                <a16:creationId xmlns:a16="http://schemas.microsoft.com/office/drawing/2014/main" id="{D1399F18-0C1B-48F3-AE57-C62739715807}"/>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Dikdörtgen 2">
            <a:extLst>
              <a:ext uri="{FF2B5EF4-FFF2-40B4-BE49-F238E27FC236}">
                <a16:creationId xmlns:a16="http://schemas.microsoft.com/office/drawing/2014/main" id="{5E326630-DC32-4233-ADEF-649D847F0696}"/>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The response separates six inspectable evidence layers</a:t>
            </a:r>
          </a:p>
        </p:txBody>
      </p:sp>
      <p:sp>
        <p:nvSpPr>
          <p:cNvPr id="4" name="Düz Bağlayıcı 3">
            <a:extLst>
              <a:ext uri="{FF2B5EF4-FFF2-40B4-BE49-F238E27FC236}">
                <a16:creationId xmlns:a16="http://schemas.microsoft.com/office/drawing/2014/main" id="{F009E8C5-4A9C-4418-A37B-BD8E3C3DE9E6}"/>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EC1BFB92-5DD3-480D-92D8-4421D596793B}"/>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13</a:t>
            </a:r>
          </a:p>
        </p:txBody>
      </p:sp>
      <p:sp>
        <p:nvSpPr>
          <p:cNvPr id="6" name="Yuvarlatılmış Dikdörtgen 5">
            <a:extLst>
              <a:ext uri="{FF2B5EF4-FFF2-40B4-BE49-F238E27FC236}">
                <a16:creationId xmlns:a16="http://schemas.microsoft.com/office/drawing/2014/main" id="{A8B325F1-00E4-42CE-8780-40C12835BA2C}"/>
              </a:ext>
            </a:extLst>
          </p:cNvPr>
          <p:cNvSpPr>
            <a:spLocks noGrp="1"/>
          </p:cNvSpPr>
          <p:nvPr/>
        </p:nvSpPr>
        <p:spPr>
          <a:xfrm>
            <a:off x="9286875" y="381000"/>
            <a:ext cx="1905000" cy="266700"/>
          </a:xfrm>
          <a:prstGeom prst="roundRect">
            <a:avLst>
              <a:gd name="adj" fmla="val 28571"/>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ECB334E5-205F-40B1-99E9-EF60B165DDA3}"/>
              </a:ext>
            </a:extLst>
          </p:cNvPr>
          <p:cNvSpPr>
            <a:spLocks noGrp="1"/>
          </p:cNvSpPr>
          <p:nvPr/>
        </p:nvSpPr>
        <p:spPr>
          <a:xfrm>
            <a:off x="9363075" y="409575"/>
            <a:ext cx="175260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ACTUAL DEMO OUTPUT</a:t>
            </a:r>
          </a:p>
        </p:txBody>
      </p:sp>
      <p:sp>
        <p:nvSpPr>
          <p:cNvPr id="8" name="Yuvarlatılmış Dikdörtgen 7">
            <a:extLst>
              <a:ext uri="{FF2B5EF4-FFF2-40B4-BE49-F238E27FC236}">
                <a16:creationId xmlns:a16="http://schemas.microsoft.com/office/drawing/2014/main" id="{DEAA04FE-BB49-4252-9818-79A9E0E6614D}"/>
              </a:ext>
            </a:extLst>
          </p:cNvPr>
          <p:cNvSpPr>
            <a:spLocks noGrp="1"/>
          </p:cNvSpPr>
          <p:nvPr/>
        </p:nvSpPr>
        <p:spPr>
          <a:xfrm>
            <a:off x="638175" y="1657350"/>
            <a:ext cx="5715000" cy="4038600"/>
          </a:xfrm>
          <a:prstGeom prst="roundRect">
            <a:avLst>
              <a:gd name="adj" fmla="val 1887"/>
            </a:avLst>
          </a:prstGeom>
          <a:solidFill>
            <a:srgbClr val="142D38"/>
          </a:solidFill>
          <a:ln w="0">
            <a:noFill/>
          </a:ln>
        </p:spPr>
        <p:txBody>
          <a:bodyPr/>
          <a:lstStyle/>
          <a:p>
            <a:endParaRPr lang="tr-TR"/>
          </a:p>
        </p:txBody>
      </p:sp>
      <p:sp>
        <p:nvSpPr>
          <p:cNvPr id="9" name="Dikdörtgen 8">
            <a:extLst>
              <a:ext uri="{FF2B5EF4-FFF2-40B4-BE49-F238E27FC236}">
                <a16:creationId xmlns:a16="http://schemas.microsoft.com/office/drawing/2014/main" id="{04400D4C-AD71-438A-9F52-EEECC7EB9401}"/>
              </a:ext>
            </a:extLst>
          </p:cNvPr>
          <p:cNvSpPr>
            <a:spLocks noGrp="1"/>
          </p:cNvSpPr>
          <p:nvPr/>
        </p:nvSpPr>
        <p:spPr>
          <a:xfrm>
            <a:off x="914400" y="1885950"/>
            <a:ext cx="5095875" cy="3486150"/>
          </a:xfrm>
          <a:prstGeom prst="rect">
            <a:avLst/>
          </a:prstGeom>
          <a:noFill/>
          <a:ln w="0">
            <a:noFill/>
          </a:ln>
        </p:spPr>
        <p:txBody>
          <a:bodyPr anchor="t">
            <a:normAutofit/>
          </a:bodyPr>
          <a:lstStyle/>
          <a:p>
            <a:pPr algn="l">
              <a:defRPr sz="1275" b="0" i="0">
                <a:solidFill>
                  <a:srgbClr val="FFFFFF"/>
                </a:solidFill>
                <a:latin typeface="Arial"/>
                <a:ea typeface="Arial"/>
                <a:cs typeface="Arial"/>
              </a:defRPr>
            </a:pPr>
            <a:r>
              <a:rPr sz="1275" b="0" i="0">
                <a:solidFill>
                  <a:srgbClr val="FFFFFF"/>
                </a:solidFill>
                <a:latin typeface="Arial"/>
                <a:ea typeface="Arial"/>
                <a:cs typeface="Arial"/>
              </a:rPr>
              <a:t>{</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"document":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"statistics":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"word_count": 44,</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"sentence_count": 5,</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"type_token_ratio": 0.8182</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"functions":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"grammatical_forms":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"distribution":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"segments":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  "external_profiles": { ... }</a:t>
            </a:r>
          </a:p>
          <a:p>
            <a:pPr algn="l">
              <a:defRPr sz="1275" b="0" i="0">
                <a:solidFill>
                  <a:srgbClr val="FFFFFF"/>
                </a:solidFill>
                <a:latin typeface="Arial"/>
                <a:ea typeface="Arial"/>
                <a:cs typeface="Arial"/>
              </a:defRPr>
            </a:pPr>
            <a:r>
              <a:rPr sz="1275" b="0" i="0">
                <a:solidFill>
                  <a:srgbClr val="FFFFFF"/>
                </a:solidFill>
                <a:latin typeface="Arial"/>
                <a:ea typeface="Arial"/>
                <a:cs typeface="Arial"/>
              </a:rPr>
              <a:t>}</a:t>
            </a:r>
          </a:p>
        </p:txBody>
      </p:sp>
      <p:sp>
        <p:nvSpPr>
          <p:cNvPr id="10" name="Yuvarlatılmış Dikdörtgen 9">
            <a:extLst>
              <a:ext uri="{FF2B5EF4-FFF2-40B4-BE49-F238E27FC236}">
                <a16:creationId xmlns:a16="http://schemas.microsoft.com/office/drawing/2014/main" id="{D4B4CB1A-1EE9-4131-A720-2861CBD1E5D8}"/>
              </a:ext>
            </a:extLst>
          </p:cNvPr>
          <p:cNvSpPr>
            <a:spLocks noGrp="1"/>
          </p:cNvSpPr>
          <p:nvPr/>
        </p:nvSpPr>
        <p:spPr>
          <a:xfrm>
            <a:off x="6838950" y="1676400"/>
            <a:ext cx="4705350" cy="1028700"/>
          </a:xfrm>
          <a:prstGeom prst="roundRect">
            <a:avLst>
              <a:gd name="adj" fmla="val 7407"/>
            </a:avLst>
          </a:prstGeom>
          <a:solidFill>
            <a:srgbClr val="FFFFFF"/>
          </a:solid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0AD5C3CD-F528-43A9-A48A-8A49CE8434F8}"/>
              </a:ext>
            </a:extLst>
          </p:cNvPr>
          <p:cNvSpPr>
            <a:spLocks noGrp="1"/>
          </p:cNvSpPr>
          <p:nvPr/>
        </p:nvSpPr>
        <p:spPr>
          <a:xfrm>
            <a:off x="7086600" y="1809750"/>
            <a:ext cx="1809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FUNCTIONS</a:t>
            </a:r>
          </a:p>
        </p:txBody>
      </p:sp>
      <p:sp>
        <p:nvSpPr>
          <p:cNvPr id="12" name="Dikdörtgen 11">
            <a:extLst>
              <a:ext uri="{FF2B5EF4-FFF2-40B4-BE49-F238E27FC236}">
                <a16:creationId xmlns:a16="http://schemas.microsoft.com/office/drawing/2014/main" id="{B840F9D2-F222-4144-B14F-F730E38CFE15}"/>
              </a:ext>
            </a:extLst>
          </p:cNvPr>
          <p:cNvSpPr>
            <a:spLocks noGrp="1"/>
          </p:cNvSpPr>
          <p:nvPr/>
        </p:nvSpPr>
        <p:spPr>
          <a:xfrm>
            <a:off x="9305925" y="1790700"/>
            <a:ext cx="1905000" cy="295275"/>
          </a:xfrm>
          <a:prstGeom prst="rect">
            <a:avLst/>
          </a:prstGeom>
          <a:noFill/>
          <a:ln w="0">
            <a:noFill/>
          </a:ln>
        </p:spPr>
        <p:txBody>
          <a:bodyPr anchor="t">
            <a:normAutofit fontScale="71333"/>
          </a:bodyPr>
          <a:lstStyle/>
          <a:p>
            <a:pPr algn="r">
              <a:defRPr sz="1875" b="1" i="0">
                <a:solidFill>
                  <a:srgbClr val="176082"/>
                </a:solidFill>
                <a:latin typeface="Arial"/>
                <a:ea typeface="Arial"/>
                <a:cs typeface="Arial"/>
              </a:defRPr>
            </a:pPr>
            <a:r>
              <a:rPr sz="1875" b="1" i="0">
                <a:solidFill>
                  <a:srgbClr val="176082"/>
                </a:solidFill>
                <a:latin typeface="Arial"/>
                <a:ea typeface="Arial"/>
                <a:cs typeface="Arial"/>
              </a:rPr>
              <a:t>6 hits</a:t>
            </a:r>
          </a:p>
        </p:txBody>
      </p:sp>
      <p:sp>
        <p:nvSpPr>
          <p:cNvPr id="13" name="Dikdörtgen 12">
            <a:extLst>
              <a:ext uri="{FF2B5EF4-FFF2-40B4-BE49-F238E27FC236}">
                <a16:creationId xmlns:a16="http://schemas.microsoft.com/office/drawing/2014/main" id="{94653826-8ECB-453E-A367-E8DC19DA7C92}"/>
              </a:ext>
            </a:extLst>
          </p:cNvPr>
          <p:cNvSpPr>
            <a:spLocks noGrp="1"/>
          </p:cNvSpPr>
          <p:nvPr/>
        </p:nvSpPr>
        <p:spPr>
          <a:xfrm>
            <a:off x="7086600" y="2181225"/>
            <a:ext cx="4114800" cy="361950"/>
          </a:xfrm>
          <a:prstGeom prst="rect">
            <a:avLst/>
          </a:prstGeom>
          <a:noFill/>
          <a:ln w="0">
            <a:noFill/>
          </a:ln>
        </p:spPr>
        <p:txBody>
          <a:bodyPr anchor="t">
            <a:normAutofit fontScale="78889"/>
          </a:bodyPr>
          <a:lstStyle/>
          <a:p>
            <a:pPr algn="l">
              <a:defRPr sz="1125" b="1" i="0">
                <a:solidFill>
                  <a:srgbClr val="33343F"/>
                </a:solidFill>
                <a:latin typeface="Arial"/>
                <a:ea typeface="Arial"/>
                <a:cs typeface="Arial"/>
              </a:defRPr>
            </a:pPr>
            <a:r>
              <a:rPr sz="1125" b="1" i="0">
                <a:solidFill>
                  <a:srgbClr val="33343F"/>
                </a:solidFill>
                <a:latin typeface="Arial"/>
                <a:ea typeface="Arial"/>
                <a:cs typeface="Arial"/>
              </a:rPr>
              <a:t>meaning access · orientation · relations · engagement · multimodal support</a:t>
            </a:r>
          </a:p>
        </p:txBody>
      </p:sp>
      <p:sp>
        <p:nvSpPr>
          <p:cNvPr id="14" name="Yuvarlatılmış Dikdörtgen 13">
            <a:extLst>
              <a:ext uri="{FF2B5EF4-FFF2-40B4-BE49-F238E27FC236}">
                <a16:creationId xmlns:a16="http://schemas.microsoft.com/office/drawing/2014/main" id="{F2A8AB31-C53E-4C69-ABE7-2AAFA61C0D22}"/>
              </a:ext>
            </a:extLst>
          </p:cNvPr>
          <p:cNvSpPr>
            <a:spLocks noGrp="1"/>
          </p:cNvSpPr>
          <p:nvPr/>
        </p:nvSpPr>
        <p:spPr>
          <a:xfrm>
            <a:off x="6838950" y="2933700"/>
            <a:ext cx="4705350" cy="1028700"/>
          </a:xfrm>
          <a:prstGeom prst="roundRect">
            <a:avLst>
              <a:gd name="adj" fmla="val 7407"/>
            </a:avLst>
          </a:prstGeom>
          <a:solidFill>
            <a:srgbClr val="FFFFFF"/>
          </a:solidFill>
          <a:ln w="9525">
            <a:solidFill>
              <a:srgbClr val="C8C9D3"/>
            </a:solidFill>
          </a:ln>
        </p:spPr>
        <p:txBody>
          <a:bodyPr/>
          <a:lstStyle/>
          <a:p>
            <a:endParaRPr lang="tr-TR"/>
          </a:p>
        </p:txBody>
      </p:sp>
      <p:sp>
        <p:nvSpPr>
          <p:cNvPr id="15" name="Dikdörtgen 14">
            <a:extLst>
              <a:ext uri="{FF2B5EF4-FFF2-40B4-BE49-F238E27FC236}">
                <a16:creationId xmlns:a16="http://schemas.microsoft.com/office/drawing/2014/main" id="{828D71C9-9318-449C-B14A-C01B79BEECDB}"/>
              </a:ext>
            </a:extLst>
          </p:cNvPr>
          <p:cNvSpPr>
            <a:spLocks noGrp="1"/>
          </p:cNvSpPr>
          <p:nvPr/>
        </p:nvSpPr>
        <p:spPr>
          <a:xfrm>
            <a:off x="7086600" y="3067050"/>
            <a:ext cx="1809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FORMS</a:t>
            </a:r>
          </a:p>
        </p:txBody>
      </p:sp>
      <p:sp>
        <p:nvSpPr>
          <p:cNvPr id="16" name="Dikdörtgen 15">
            <a:extLst>
              <a:ext uri="{FF2B5EF4-FFF2-40B4-BE49-F238E27FC236}">
                <a16:creationId xmlns:a16="http://schemas.microsoft.com/office/drawing/2014/main" id="{49EB1090-C6B1-408D-850C-37D05A530BD8}"/>
              </a:ext>
            </a:extLst>
          </p:cNvPr>
          <p:cNvSpPr>
            <a:spLocks noGrp="1"/>
          </p:cNvSpPr>
          <p:nvPr/>
        </p:nvSpPr>
        <p:spPr>
          <a:xfrm>
            <a:off x="9305925" y="3048000"/>
            <a:ext cx="1905000" cy="295275"/>
          </a:xfrm>
          <a:prstGeom prst="rect">
            <a:avLst/>
          </a:prstGeom>
          <a:noFill/>
          <a:ln w="0">
            <a:noFill/>
          </a:ln>
        </p:spPr>
        <p:txBody>
          <a:bodyPr anchor="t">
            <a:normAutofit fontScale="71333"/>
          </a:bodyPr>
          <a:lstStyle/>
          <a:p>
            <a:pPr algn="r">
              <a:defRPr sz="1875" b="1" i="0">
                <a:solidFill>
                  <a:srgbClr val="D58C00"/>
                </a:solidFill>
                <a:latin typeface="Arial"/>
                <a:ea typeface="Arial"/>
                <a:cs typeface="Arial"/>
              </a:defRPr>
            </a:pPr>
            <a:r>
              <a:rPr sz="1875" b="1" i="0">
                <a:solidFill>
                  <a:srgbClr val="D58C00"/>
                </a:solidFill>
                <a:latin typeface="Arial"/>
                <a:ea typeface="Arial"/>
                <a:cs typeface="Arial"/>
              </a:rPr>
              <a:t>10 hits</a:t>
            </a:r>
          </a:p>
        </p:txBody>
      </p:sp>
      <p:sp>
        <p:nvSpPr>
          <p:cNvPr id="17" name="Dikdörtgen 16">
            <a:extLst>
              <a:ext uri="{FF2B5EF4-FFF2-40B4-BE49-F238E27FC236}">
                <a16:creationId xmlns:a16="http://schemas.microsoft.com/office/drawing/2014/main" id="{7F823311-C417-48B7-9E3E-9F5C4A6EB8CF}"/>
              </a:ext>
            </a:extLst>
          </p:cNvPr>
          <p:cNvSpPr>
            <a:spLocks noGrp="1"/>
          </p:cNvSpPr>
          <p:nvPr/>
        </p:nvSpPr>
        <p:spPr>
          <a:xfrm>
            <a:off x="7086600" y="3438525"/>
            <a:ext cx="4114800" cy="361950"/>
          </a:xfrm>
          <a:prstGeom prst="rect">
            <a:avLst/>
          </a:prstGeom>
          <a:noFill/>
          <a:ln w="0">
            <a:noFill/>
          </a:ln>
        </p:spPr>
        <p:txBody>
          <a:bodyPr anchor="t">
            <a:normAutofit fontScale="80897"/>
          </a:bodyPr>
          <a:lstStyle/>
          <a:p>
            <a:pPr algn="l">
              <a:defRPr sz="1125" b="1" i="0">
                <a:solidFill>
                  <a:srgbClr val="33343F"/>
                </a:solidFill>
                <a:latin typeface="Arial"/>
                <a:ea typeface="Arial"/>
                <a:cs typeface="Arial"/>
              </a:defRPr>
            </a:pPr>
            <a:r>
              <a:rPr sz="1125" b="1" i="0">
                <a:solidFill>
                  <a:srgbClr val="33343F"/>
                </a:solidFill>
                <a:latin typeface="Arial"/>
                <a:ea typeface="Arial"/>
                <a:cs typeface="Arial"/>
              </a:rPr>
              <a:t>modal · passive · conditional · interrogative · nominalisation · reference</a:t>
            </a:r>
          </a:p>
        </p:txBody>
      </p:sp>
      <p:sp>
        <p:nvSpPr>
          <p:cNvPr id="18" name="Yuvarlatılmış Dikdörtgen 17">
            <a:extLst>
              <a:ext uri="{FF2B5EF4-FFF2-40B4-BE49-F238E27FC236}">
                <a16:creationId xmlns:a16="http://schemas.microsoft.com/office/drawing/2014/main" id="{A2FBCB4D-9421-450A-8315-0E75392400CF}"/>
              </a:ext>
            </a:extLst>
          </p:cNvPr>
          <p:cNvSpPr>
            <a:spLocks noGrp="1"/>
          </p:cNvSpPr>
          <p:nvPr/>
        </p:nvSpPr>
        <p:spPr>
          <a:xfrm>
            <a:off x="6838950" y="4191000"/>
            <a:ext cx="4705350" cy="1028700"/>
          </a:xfrm>
          <a:prstGeom prst="roundRect">
            <a:avLst>
              <a:gd name="adj" fmla="val 7407"/>
            </a:avLst>
          </a:prstGeom>
          <a:solidFill>
            <a:srgbClr val="FFF4D8"/>
          </a:solid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2263085B-BCCB-4E45-A60A-3F066F1A692B}"/>
              </a:ext>
            </a:extLst>
          </p:cNvPr>
          <p:cNvSpPr>
            <a:spLocks noGrp="1"/>
          </p:cNvSpPr>
          <p:nvPr/>
        </p:nvSpPr>
        <p:spPr>
          <a:xfrm>
            <a:off x="7086600" y="4324350"/>
            <a:ext cx="180975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DISTRIBUTION</a:t>
            </a:r>
          </a:p>
        </p:txBody>
      </p:sp>
      <p:sp>
        <p:nvSpPr>
          <p:cNvPr id="20" name="Dikdörtgen 19">
            <a:extLst>
              <a:ext uri="{FF2B5EF4-FFF2-40B4-BE49-F238E27FC236}">
                <a16:creationId xmlns:a16="http://schemas.microsoft.com/office/drawing/2014/main" id="{DDFDAFCF-B2C3-4BAC-A5DE-2DD5C25EE565}"/>
              </a:ext>
            </a:extLst>
          </p:cNvPr>
          <p:cNvSpPr>
            <a:spLocks noGrp="1"/>
          </p:cNvSpPr>
          <p:nvPr/>
        </p:nvSpPr>
        <p:spPr>
          <a:xfrm>
            <a:off x="9305925" y="4305300"/>
            <a:ext cx="1905000" cy="295275"/>
          </a:xfrm>
          <a:prstGeom prst="rect">
            <a:avLst/>
          </a:prstGeom>
          <a:noFill/>
          <a:ln w="0">
            <a:noFill/>
          </a:ln>
        </p:spPr>
        <p:txBody>
          <a:bodyPr anchor="t">
            <a:normAutofit fontScale="71333"/>
          </a:bodyPr>
          <a:lstStyle/>
          <a:p>
            <a:pPr algn="r">
              <a:defRPr sz="1875" b="1" i="0">
                <a:solidFill>
                  <a:srgbClr val="FFD45A"/>
                </a:solidFill>
                <a:latin typeface="Arial"/>
                <a:ea typeface="Arial"/>
                <a:cs typeface="Arial"/>
              </a:defRPr>
            </a:pPr>
            <a:r>
              <a:rPr sz="1875" b="1" i="0">
                <a:solidFill>
                  <a:srgbClr val="FFD45A"/>
                </a:solidFill>
                <a:latin typeface="Arial"/>
                <a:ea typeface="Arial"/>
                <a:cs typeface="Arial"/>
              </a:rPr>
              <a:t>26 rows</a:t>
            </a:r>
          </a:p>
        </p:txBody>
      </p:sp>
      <p:sp>
        <p:nvSpPr>
          <p:cNvPr id="21" name="Dikdörtgen 20">
            <a:extLst>
              <a:ext uri="{FF2B5EF4-FFF2-40B4-BE49-F238E27FC236}">
                <a16:creationId xmlns:a16="http://schemas.microsoft.com/office/drawing/2014/main" id="{97AD1931-BEF6-44B6-ADB5-C1C2F4EFC827}"/>
              </a:ext>
            </a:extLst>
          </p:cNvPr>
          <p:cNvSpPr>
            <a:spLocks noGrp="1"/>
          </p:cNvSpPr>
          <p:nvPr/>
        </p:nvSpPr>
        <p:spPr>
          <a:xfrm>
            <a:off x="7086600" y="4695825"/>
            <a:ext cx="4114800" cy="361950"/>
          </a:xfrm>
          <a:prstGeom prst="rect">
            <a:avLst/>
          </a:prstGeom>
          <a:noFill/>
          <a:ln w="0">
            <a:noFill/>
          </a:ln>
        </p:spPr>
        <p:txBody>
          <a:bodyPr anchor="t">
            <a:normAutofit fontScale="88863"/>
          </a:bodyPr>
          <a:lstStyle/>
          <a:p>
            <a:pPr algn="l">
              <a:defRPr sz="1125" b="1" i="0">
                <a:solidFill>
                  <a:srgbClr val="33343F"/>
                </a:solidFill>
                <a:latin typeface="Arial"/>
                <a:ea typeface="Arial"/>
                <a:cs typeface="Arial"/>
              </a:defRPr>
            </a:pPr>
            <a:r>
              <a:rPr sz="1125" b="1" i="0">
                <a:solidFill>
                  <a:srgbClr val="33343F"/>
                </a:solidFill>
                <a:latin typeface="Arial"/>
                <a:ea typeface="Arial"/>
                <a:cs typeface="Arial"/>
              </a:rPr>
              <a:t>count · rate per 10k · coverage · evenness · eligible opportunities</a:t>
            </a:r>
          </a:p>
        </p:txBody>
      </p:sp>
      <p:sp>
        <p:nvSpPr>
          <p:cNvPr id="22" name="Yuvarlatılmış Dikdörtgen 21">
            <a:extLst>
              <a:ext uri="{FF2B5EF4-FFF2-40B4-BE49-F238E27FC236}">
                <a16:creationId xmlns:a16="http://schemas.microsoft.com/office/drawing/2014/main" id="{CC0E5F95-680F-462D-883A-19C48EBCA550}"/>
              </a:ext>
            </a:extLst>
          </p:cNvPr>
          <p:cNvSpPr>
            <a:spLocks noGrp="1"/>
          </p:cNvSpPr>
          <p:nvPr/>
        </p:nvSpPr>
        <p:spPr>
          <a:xfrm>
            <a:off x="6848475" y="5514975"/>
            <a:ext cx="4686300" cy="447675"/>
          </a:xfrm>
          <a:prstGeom prst="roundRect">
            <a:avLst>
              <a:gd name="adj" fmla="val 17021"/>
            </a:avLst>
          </a:prstGeom>
          <a:solidFill>
            <a:srgbClr val="E6F0F5"/>
          </a:solidFill>
          <a:ln w="0">
            <a:noFill/>
          </a:ln>
        </p:spPr>
        <p:txBody>
          <a:bodyPr/>
          <a:lstStyle/>
          <a:p>
            <a:endParaRPr lang="tr-TR"/>
          </a:p>
        </p:txBody>
      </p:sp>
      <p:sp>
        <p:nvSpPr>
          <p:cNvPr id="23" name="Dikdörtgen 22">
            <a:extLst>
              <a:ext uri="{FF2B5EF4-FFF2-40B4-BE49-F238E27FC236}">
                <a16:creationId xmlns:a16="http://schemas.microsoft.com/office/drawing/2014/main" id="{C1518D3D-6991-415A-86DC-5C346E6F7F1E}"/>
              </a:ext>
            </a:extLst>
          </p:cNvPr>
          <p:cNvSpPr>
            <a:spLocks noGrp="1"/>
          </p:cNvSpPr>
          <p:nvPr/>
        </p:nvSpPr>
        <p:spPr>
          <a:xfrm>
            <a:off x="7086600" y="5619750"/>
            <a:ext cx="4210050" cy="228600"/>
          </a:xfrm>
          <a:prstGeom prst="rect">
            <a:avLst/>
          </a:prstGeom>
          <a:noFill/>
          <a:ln w="0">
            <a:noFill/>
          </a:ln>
        </p:spPr>
        <p:txBody>
          <a:bodyPr anchor="t">
            <a:normAutofit fontScale="70588"/>
          </a:bodyPr>
          <a:lstStyle/>
          <a:p>
            <a:pPr algn="ctr">
              <a:defRPr sz="1275" b="1" i="0">
                <a:solidFill>
                  <a:srgbClr val="176082"/>
                </a:solidFill>
                <a:latin typeface="Arial"/>
                <a:ea typeface="Arial"/>
                <a:cs typeface="Arial"/>
              </a:defRPr>
            </a:pPr>
            <a:r>
              <a:rPr sz="1275" b="1" i="0">
                <a:solidFill>
                  <a:srgbClr val="176082"/>
                </a:solidFill>
                <a:latin typeface="Arial"/>
                <a:ea typeface="Arial"/>
                <a:cs typeface="Arial"/>
              </a:rPr>
              <a:t>Download → complete JSON research record</a:t>
            </a:r>
          </a:p>
        </p:txBody>
      </p:sp>
      <p:sp>
        <p:nvSpPr>
          <p:cNvPr id="24" name="Dikdörtgen 23">
            <a:extLst>
              <a:ext uri="{FF2B5EF4-FFF2-40B4-BE49-F238E27FC236}">
                <a16:creationId xmlns:a16="http://schemas.microsoft.com/office/drawing/2014/main" id="{E988A7FE-8B34-4BEE-8F76-4D17C612A83B}"/>
              </a:ext>
            </a:extLst>
          </p:cNvPr>
          <p:cNvSpPr>
            <a:spLocks noGrp="1"/>
          </p:cNvSpPr>
          <p:nvPr/>
        </p:nvSpPr>
        <p:spPr>
          <a:xfrm>
            <a:off x="1143000" y="6105525"/>
            <a:ext cx="9906000" cy="238125"/>
          </a:xfrm>
          <a:prstGeom prst="rect">
            <a:avLst/>
          </a:prstGeom>
          <a:noFill/>
          <a:ln w="0">
            <a:noFill/>
          </a:ln>
        </p:spPr>
        <p:txBody>
          <a:bodyPr anchor="t">
            <a:normAutofit fontScale="85556"/>
          </a:bodyPr>
          <a:lstStyle/>
          <a:p>
            <a:pPr algn="ctr">
              <a:defRPr sz="1125" b="1" i="0">
                <a:solidFill>
                  <a:srgbClr val="B94D35"/>
                </a:solidFill>
                <a:latin typeface="Arial"/>
                <a:ea typeface="Arial"/>
                <a:cs typeface="Arial"/>
              </a:defRPr>
            </a:pPr>
            <a:r>
              <a:rPr sz="1125" b="1" i="0">
                <a:solidFill>
                  <a:srgbClr val="B94D35"/>
                </a:solidFill>
                <a:latin typeface="Arial"/>
                <a:ea typeface="Arial"/>
                <a:cs typeface="Arial"/>
              </a:rPr>
              <a:t>A 44-word demonstration passage produces high per-10,000 rates; these values illustrate output structure, not book-level prevalence.</a:t>
            </a:r>
          </a:p>
        </p:txBody>
      </p:sp>
      <p:sp>
        <p:nvSpPr>
          <p:cNvPr id="25" name="Düz Bağlayıcı 24">
            <a:extLst>
              <a:ext uri="{FF2B5EF4-FFF2-40B4-BE49-F238E27FC236}">
                <a16:creationId xmlns:a16="http://schemas.microsoft.com/office/drawing/2014/main" id="{B6007EB9-A4C5-4B41-B33B-7FA768511245}"/>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6" name="Dikdörtgen 25">
            <a:extLst>
              <a:ext uri="{FF2B5EF4-FFF2-40B4-BE49-F238E27FC236}">
                <a16:creationId xmlns:a16="http://schemas.microsoft.com/office/drawing/2014/main" id="{9E85B1A7-81AE-4CC6-895E-22A4B0398A77}"/>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644434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1" name="Yuvarlatılmış Dikdörtgen 20">
            <a:extLst>
              <a:ext uri="{FF2B5EF4-FFF2-40B4-BE49-F238E27FC236}">
                <a16:creationId xmlns:a16="http://schemas.microsoft.com/office/drawing/2014/main" id="{35BEF91A-9F47-4430-8255-CD6158E44A6C}"/>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6E16919E-4FA1-40D1-83B3-F4A339F96F22}"/>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7CB2BCCB-6035-46BF-B6CF-381108767C4C}"/>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Reading challenge profile</a:t>
            </a:r>
          </a:p>
        </p:txBody>
      </p:sp>
      <p:sp>
        <p:nvSpPr>
          <p:cNvPr id="4" name="Düz Bağlayıcı 3">
            <a:extLst>
              <a:ext uri="{FF2B5EF4-FFF2-40B4-BE49-F238E27FC236}">
                <a16:creationId xmlns:a16="http://schemas.microsoft.com/office/drawing/2014/main" id="{750A6B0B-54DF-4A3F-89EE-05B2B8C9175B}"/>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946F538B-F726-45C7-B95F-8907496E1FF3}"/>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14</a:t>
            </a:r>
          </a:p>
        </p:txBody>
      </p:sp>
      <p:sp>
        <p:nvSpPr>
          <p:cNvPr id="6" name="Yuvarlatılmış Dikdörtgen 5">
            <a:extLst>
              <a:ext uri="{FF2B5EF4-FFF2-40B4-BE49-F238E27FC236}">
                <a16:creationId xmlns:a16="http://schemas.microsoft.com/office/drawing/2014/main" id="{A7878EFA-5B18-4A91-85DC-EB9870E0CCB1}"/>
              </a:ext>
            </a:extLst>
          </p:cNvPr>
          <p:cNvSpPr>
            <a:spLocks noGrp="1"/>
          </p:cNvSpPr>
          <p:nvPr/>
        </p:nvSpPr>
        <p:spPr>
          <a:xfrm>
            <a:off x="9906000" y="381000"/>
            <a:ext cx="1428750" cy="266700"/>
          </a:xfrm>
          <a:prstGeom prst="roundRect">
            <a:avLst>
              <a:gd name="adj" fmla="val 28571"/>
            </a:avLst>
          </a:prstGeom>
          <a:solidFill>
            <a:srgbClr val="D58C00"/>
          </a:solidFill>
          <a:ln w="0">
            <a:noFill/>
          </a:ln>
        </p:spPr>
        <p:txBody>
          <a:bodyPr/>
          <a:lstStyle/>
          <a:p>
            <a:endParaRPr lang="tr-TR"/>
          </a:p>
        </p:txBody>
      </p:sp>
      <p:sp>
        <p:nvSpPr>
          <p:cNvPr id="7" name="Dikdörtgen 6">
            <a:extLst>
              <a:ext uri="{FF2B5EF4-FFF2-40B4-BE49-F238E27FC236}">
                <a16:creationId xmlns:a16="http://schemas.microsoft.com/office/drawing/2014/main" id="{31E2B977-79E7-4C88-926D-8BD532E55E5C}"/>
              </a:ext>
            </a:extLst>
          </p:cNvPr>
          <p:cNvSpPr>
            <a:spLocks noGrp="1"/>
          </p:cNvSpPr>
          <p:nvPr/>
        </p:nvSpPr>
        <p:spPr>
          <a:xfrm>
            <a:off x="9982200" y="409575"/>
            <a:ext cx="127635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STUDY SAMPLE</a:t>
            </a:r>
          </a:p>
        </p:txBody>
      </p:sp>
      <p:graphicFrame>
        <p:nvGraphicFramePr>
          <p:cNvPr id="28" name="Chart"/>
          <p:cNvGraphicFramePr/>
          <p:nvPr/>
        </p:nvGraphicFramePr>
        <p:xfrm>
          <a:off x="666750" y="1666875"/>
          <a:ext cx="7953375"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9" name="Yuvarlatılmış Dikdörtgen 8">
            <a:extLst>
              <a:ext uri="{FF2B5EF4-FFF2-40B4-BE49-F238E27FC236}">
                <a16:creationId xmlns:a16="http://schemas.microsoft.com/office/drawing/2014/main" id="{801F2C84-5F5E-40BA-A22F-411EE3871F63}"/>
              </a:ext>
            </a:extLst>
          </p:cNvPr>
          <p:cNvSpPr>
            <a:spLocks noGrp="1"/>
          </p:cNvSpPr>
          <p:nvPr/>
        </p:nvSpPr>
        <p:spPr>
          <a:xfrm>
            <a:off x="9048750" y="1857375"/>
            <a:ext cx="2333625" cy="1143000"/>
          </a:xfrm>
          <a:prstGeom prst="roundRect">
            <a:avLst>
              <a:gd name="adj" fmla="val 6667"/>
            </a:avLst>
          </a:prstGeom>
          <a:solidFill>
            <a:srgbClr val="FFFFFF"/>
          </a:solidFill>
          <a:ln w="9525">
            <a:solidFill>
              <a:srgbClr val="C8C9D3"/>
            </a:solidFill>
          </a:ln>
        </p:spPr>
        <p:txBody>
          <a:bodyPr/>
          <a:lstStyle/>
          <a:p>
            <a:endParaRPr lang="tr-TR"/>
          </a:p>
        </p:txBody>
      </p:sp>
      <p:sp>
        <p:nvSpPr>
          <p:cNvPr id="10" name="Dikdörtgen 9">
            <a:extLst>
              <a:ext uri="{FF2B5EF4-FFF2-40B4-BE49-F238E27FC236}">
                <a16:creationId xmlns:a16="http://schemas.microsoft.com/office/drawing/2014/main" id="{CD410BAC-45E0-4085-A127-614399B35A22}"/>
              </a:ext>
            </a:extLst>
          </p:cNvPr>
          <p:cNvSpPr>
            <a:spLocks noGrp="1"/>
          </p:cNvSpPr>
          <p:nvPr/>
        </p:nvSpPr>
        <p:spPr>
          <a:xfrm>
            <a:off x="9286875" y="2009775"/>
            <a:ext cx="2000250" cy="533400"/>
          </a:xfrm>
          <a:prstGeom prst="rect">
            <a:avLst/>
          </a:prstGeom>
          <a:noFill/>
          <a:ln w="0">
            <a:noFill/>
          </a:ln>
        </p:spPr>
        <p:txBody>
          <a:bodyPr anchor="t">
            <a:normAutofit fontScale="92063"/>
          </a:bodyPr>
          <a:lstStyle/>
          <a:p>
            <a:pPr algn="l">
              <a:defRPr sz="3150" b="1" i="0">
                <a:solidFill>
                  <a:srgbClr val="176082"/>
                </a:solidFill>
                <a:latin typeface="Arial"/>
                <a:ea typeface="Arial"/>
                <a:cs typeface="Arial"/>
              </a:defRPr>
            </a:pPr>
            <a:r>
              <a:rPr sz="3150" b="1" i="0">
                <a:solidFill>
                  <a:srgbClr val="176082"/>
                </a:solidFill>
                <a:latin typeface="Arial"/>
                <a:ea typeface="Arial"/>
                <a:cs typeface="Arial"/>
              </a:rPr>
              <a:t>3.19</a:t>
            </a:r>
          </a:p>
        </p:txBody>
      </p:sp>
      <p:sp>
        <p:nvSpPr>
          <p:cNvPr id="11" name="Dikdörtgen 10">
            <a:extLst>
              <a:ext uri="{FF2B5EF4-FFF2-40B4-BE49-F238E27FC236}">
                <a16:creationId xmlns:a16="http://schemas.microsoft.com/office/drawing/2014/main" id="{ECB24C10-0F46-4DE7-A3DF-5E04D91E6DA3}"/>
              </a:ext>
            </a:extLst>
          </p:cNvPr>
          <p:cNvSpPr>
            <a:spLocks noGrp="1"/>
          </p:cNvSpPr>
          <p:nvPr/>
        </p:nvSpPr>
        <p:spPr>
          <a:xfrm>
            <a:off x="9286875" y="2562225"/>
            <a:ext cx="200025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overall challenge mean</a:t>
            </a:r>
          </a:p>
        </p:txBody>
      </p:sp>
      <p:sp>
        <p:nvSpPr>
          <p:cNvPr id="12" name="Yuvarlatılmış Dikdörtgen 11">
            <a:extLst>
              <a:ext uri="{FF2B5EF4-FFF2-40B4-BE49-F238E27FC236}">
                <a16:creationId xmlns:a16="http://schemas.microsoft.com/office/drawing/2014/main" id="{EE60370E-6017-4547-BE82-0217EF3E92B4}"/>
              </a:ext>
            </a:extLst>
          </p:cNvPr>
          <p:cNvSpPr>
            <a:spLocks noGrp="1"/>
          </p:cNvSpPr>
          <p:nvPr/>
        </p:nvSpPr>
        <p:spPr>
          <a:xfrm>
            <a:off x="9048750" y="3305175"/>
            <a:ext cx="2333625" cy="1143000"/>
          </a:xfrm>
          <a:prstGeom prst="roundRect">
            <a:avLst>
              <a:gd name="adj" fmla="val 6667"/>
            </a:avLst>
          </a:prstGeom>
          <a:solidFill>
            <a:srgbClr val="FFFFFF"/>
          </a:solidFill>
          <a:ln w="9525">
            <a:solidFill>
              <a:srgbClr val="C8C9D3"/>
            </a:solidFill>
          </a:ln>
        </p:spPr>
        <p:txBody>
          <a:bodyPr/>
          <a:lstStyle/>
          <a:p>
            <a:endParaRPr lang="tr-TR"/>
          </a:p>
        </p:txBody>
      </p:sp>
      <p:sp>
        <p:nvSpPr>
          <p:cNvPr id="13" name="Dikdörtgen 12">
            <a:extLst>
              <a:ext uri="{FF2B5EF4-FFF2-40B4-BE49-F238E27FC236}">
                <a16:creationId xmlns:a16="http://schemas.microsoft.com/office/drawing/2014/main" id="{6B6CB77B-CFDB-4F59-ADA5-A3B431ED2233}"/>
              </a:ext>
            </a:extLst>
          </p:cNvPr>
          <p:cNvSpPr>
            <a:spLocks noGrp="1"/>
          </p:cNvSpPr>
          <p:nvPr/>
        </p:nvSpPr>
        <p:spPr>
          <a:xfrm>
            <a:off x="9286875" y="3457575"/>
            <a:ext cx="2000250" cy="533400"/>
          </a:xfrm>
          <a:prstGeom prst="rect">
            <a:avLst/>
          </a:prstGeom>
          <a:noFill/>
          <a:ln w="0">
            <a:noFill/>
          </a:ln>
        </p:spPr>
        <p:txBody>
          <a:bodyPr anchor="t">
            <a:normAutofit fontScale="92063"/>
          </a:bodyPr>
          <a:lstStyle/>
          <a:p>
            <a:pPr algn="l">
              <a:defRPr sz="3150" b="1" i="0">
                <a:solidFill>
                  <a:srgbClr val="D58C00"/>
                </a:solidFill>
                <a:latin typeface="Arial"/>
                <a:ea typeface="Arial"/>
                <a:cs typeface="Arial"/>
              </a:defRPr>
            </a:pPr>
            <a:r>
              <a:rPr sz="3150" b="1" i="0">
                <a:solidFill>
                  <a:srgbClr val="D58C00"/>
                </a:solidFill>
                <a:latin typeface="Arial"/>
                <a:ea typeface="Arial"/>
                <a:cs typeface="Arial"/>
              </a:rPr>
              <a:t>−.55</a:t>
            </a:r>
          </a:p>
        </p:txBody>
      </p:sp>
      <p:sp>
        <p:nvSpPr>
          <p:cNvPr id="14" name="Dikdörtgen 13">
            <a:extLst>
              <a:ext uri="{FF2B5EF4-FFF2-40B4-BE49-F238E27FC236}">
                <a16:creationId xmlns:a16="http://schemas.microsoft.com/office/drawing/2014/main" id="{31E351F8-E158-4701-BA7B-19B43DFB5939}"/>
              </a:ext>
            </a:extLst>
          </p:cNvPr>
          <p:cNvSpPr>
            <a:spLocks noGrp="1"/>
          </p:cNvSpPr>
          <p:nvPr/>
        </p:nvSpPr>
        <p:spPr>
          <a:xfrm>
            <a:off x="9286875" y="4010025"/>
            <a:ext cx="200025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challenge × English</a:t>
            </a:r>
          </a:p>
        </p:txBody>
      </p:sp>
      <p:sp>
        <p:nvSpPr>
          <p:cNvPr id="15" name="Yuvarlatılmış Dikdörtgen 14">
            <a:extLst>
              <a:ext uri="{FF2B5EF4-FFF2-40B4-BE49-F238E27FC236}">
                <a16:creationId xmlns:a16="http://schemas.microsoft.com/office/drawing/2014/main" id="{EB150330-4586-456D-90AA-D5C5EE8CB311}"/>
              </a:ext>
            </a:extLst>
          </p:cNvPr>
          <p:cNvSpPr>
            <a:spLocks noGrp="1"/>
          </p:cNvSpPr>
          <p:nvPr/>
        </p:nvSpPr>
        <p:spPr>
          <a:xfrm>
            <a:off x="9048750" y="4752975"/>
            <a:ext cx="2333625" cy="1143000"/>
          </a:xfrm>
          <a:prstGeom prst="roundRect">
            <a:avLst>
              <a:gd name="adj" fmla="val 6667"/>
            </a:avLst>
          </a:prstGeom>
          <a:solidFill>
            <a:srgbClr val="FFFFFF"/>
          </a:solidFill>
          <a:ln w="9525">
            <a:solidFill>
              <a:srgbClr val="C8C9D3"/>
            </a:solidFill>
          </a:ln>
        </p:spPr>
        <p:txBody>
          <a:bodyPr/>
          <a:lstStyle/>
          <a:p>
            <a:endParaRPr lang="tr-TR"/>
          </a:p>
        </p:txBody>
      </p:sp>
      <p:sp>
        <p:nvSpPr>
          <p:cNvPr id="16" name="Dikdörtgen 15">
            <a:extLst>
              <a:ext uri="{FF2B5EF4-FFF2-40B4-BE49-F238E27FC236}">
                <a16:creationId xmlns:a16="http://schemas.microsoft.com/office/drawing/2014/main" id="{F92FC1D8-D92E-4AF4-9D9E-DD60E2F0A790}"/>
              </a:ext>
            </a:extLst>
          </p:cNvPr>
          <p:cNvSpPr>
            <a:spLocks noGrp="1"/>
          </p:cNvSpPr>
          <p:nvPr/>
        </p:nvSpPr>
        <p:spPr>
          <a:xfrm>
            <a:off x="9286875" y="4905375"/>
            <a:ext cx="2000250" cy="533400"/>
          </a:xfrm>
          <a:prstGeom prst="rect">
            <a:avLst/>
          </a:prstGeom>
          <a:noFill/>
          <a:ln w="0">
            <a:noFill/>
          </a:ln>
        </p:spPr>
        <p:txBody>
          <a:bodyPr anchor="t">
            <a:normAutofit fontScale="92063"/>
          </a:bodyPr>
          <a:lstStyle/>
          <a:p>
            <a:pPr algn="l">
              <a:defRPr sz="3150" b="1" i="0">
                <a:solidFill>
                  <a:srgbClr val="D58C00"/>
                </a:solidFill>
                <a:latin typeface="Arial"/>
                <a:ea typeface="Arial"/>
                <a:cs typeface="Arial"/>
              </a:defRPr>
            </a:pPr>
            <a:r>
              <a:rPr sz="3150" b="1" i="0">
                <a:solidFill>
                  <a:srgbClr val="D58C00"/>
                </a:solidFill>
                <a:latin typeface="Arial"/>
                <a:ea typeface="Arial"/>
                <a:cs typeface="Arial"/>
              </a:rPr>
              <a:t>−.48</a:t>
            </a:r>
          </a:p>
        </p:txBody>
      </p:sp>
      <p:sp>
        <p:nvSpPr>
          <p:cNvPr id="17" name="Dikdörtgen 16">
            <a:extLst>
              <a:ext uri="{FF2B5EF4-FFF2-40B4-BE49-F238E27FC236}">
                <a16:creationId xmlns:a16="http://schemas.microsoft.com/office/drawing/2014/main" id="{FAD4898D-5AD4-452C-8A3F-8E031647739E}"/>
              </a:ext>
            </a:extLst>
          </p:cNvPr>
          <p:cNvSpPr>
            <a:spLocks noGrp="1"/>
          </p:cNvSpPr>
          <p:nvPr/>
        </p:nvSpPr>
        <p:spPr>
          <a:xfrm>
            <a:off x="9286875" y="5457825"/>
            <a:ext cx="2000250" cy="552450"/>
          </a:xfrm>
          <a:prstGeom prst="rect">
            <a:avLst/>
          </a:prstGeom>
          <a:noFill/>
          <a:ln w="0">
            <a:noFill/>
          </a:ln>
        </p:spPr>
        <p:txBody>
          <a:bodyPr anchor="t">
            <a:normAutofit/>
          </a:bodyPr>
          <a:lstStyle/>
          <a:p>
            <a:pPr algn="l">
              <a:defRPr sz="1275" b="0" i="0">
                <a:solidFill>
                  <a:srgbClr val="626777"/>
                </a:solidFill>
                <a:latin typeface="Arial"/>
                <a:ea typeface="Arial"/>
                <a:cs typeface="Arial"/>
              </a:defRPr>
            </a:pPr>
            <a:r>
              <a:rPr sz="1275" b="0" i="0">
                <a:solidFill>
                  <a:srgbClr val="626777"/>
                </a:solidFill>
                <a:latin typeface="Arial"/>
                <a:ea typeface="Arial"/>
                <a:cs typeface="Arial"/>
              </a:rPr>
              <a:t>challenge × GPA</a:t>
            </a:r>
          </a:p>
        </p:txBody>
      </p:sp>
      <p:sp>
        <p:nvSpPr>
          <p:cNvPr id="18" name="Düz Bağlayıcı 17">
            <a:extLst>
              <a:ext uri="{FF2B5EF4-FFF2-40B4-BE49-F238E27FC236}">
                <a16:creationId xmlns:a16="http://schemas.microsoft.com/office/drawing/2014/main" id="{1E06CFB2-C18D-4DA6-9B37-FF7E299DE276}"/>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B03B35E7-F378-4F90-9E35-818C965521F4}"/>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Dikdörtgen 19">
            <a:extLst>
              <a:ext uri="{FF2B5EF4-FFF2-40B4-BE49-F238E27FC236}">
                <a16:creationId xmlns:a16="http://schemas.microsoft.com/office/drawing/2014/main" id="{52F7C4C2-5F72-46FB-AF0E-4E978E781D5D}"/>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Descriptive patterns; no causal inference</a:t>
            </a:r>
          </a:p>
        </p:txBody>
      </p:sp>
    </p:spTree>
    <p:extLst>
      <p:ext uri="{BB962C8B-B14F-4D97-AF65-F5344CB8AC3E}">
        <p14:creationId xmlns:p14="http://schemas.microsoft.com/office/powerpoint/2010/main" val="697956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1" name="Yuvarlatılmış Dikdörtgen 20">
            <a:extLst>
              <a:ext uri="{FF2B5EF4-FFF2-40B4-BE49-F238E27FC236}">
                <a16:creationId xmlns:a16="http://schemas.microsoft.com/office/drawing/2014/main" id="{6F9CD09A-FDF8-4837-8FC2-76F64B05D79A}"/>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803FCBDD-BBCC-4824-8135-91239DE0EE1B}"/>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73970EFC-78E8-427A-BABF-18477336D698}"/>
              </a:ext>
            </a:extLst>
          </p:cNvPr>
          <p:cNvSpPr>
            <a:spLocks noGrp="1"/>
          </p:cNvSpPr>
          <p:nvPr/>
        </p:nvSpPr>
        <p:spPr>
          <a:xfrm>
            <a:off x="685800" y="628650"/>
            <a:ext cx="10668000" cy="666750"/>
          </a:xfrm>
          <a:prstGeom prst="rect">
            <a:avLst/>
          </a:prstGeom>
          <a:noFill/>
          <a:ln w="0">
            <a:noFill/>
          </a:ln>
        </p:spPr>
        <p:txBody>
          <a:bodyPr anchor="t">
            <a:normAutofit fontScale="87257"/>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Engineering readers used equations and visuals as parallel routes to meaning</a:t>
            </a:r>
          </a:p>
        </p:txBody>
      </p:sp>
      <p:sp>
        <p:nvSpPr>
          <p:cNvPr id="4" name="Düz Bağlayıcı 3">
            <a:extLst>
              <a:ext uri="{FF2B5EF4-FFF2-40B4-BE49-F238E27FC236}">
                <a16:creationId xmlns:a16="http://schemas.microsoft.com/office/drawing/2014/main" id="{BA4E812C-DAB3-4067-8AAE-B401C847699D}"/>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30A340FA-54B8-4D9E-BAF2-3C17033352E7}"/>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15</a:t>
            </a:r>
          </a:p>
        </p:txBody>
      </p:sp>
      <p:sp>
        <p:nvSpPr>
          <p:cNvPr id="6" name="Yuvarlatılmış Dikdörtgen 5">
            <a:extLst>
              <a:ext uri="{FF2B5EF4-FFF2-40B4-BE49-F238E27FC236}">
                <a16:creationId xmlns:a16="http://schemas.microsoft.com/office/drawing/2014/main" id="{03B0034D-9A68-4D04-82BD-0A3E6FF80698}"/>
              </a:ext>
            </a:extLst>
          </p:cNvPr>
          <p:cNvSpPr>
            <a:spLocks noGrp="1"/>
          </p:cNvSpPr>
          <p:nvPr/>
        </p:nvSpPr>
        <p:spPr>
          <a:xfrm>
            <a:off x="9334500" y="381000"/>
            <a:ext cx="2190750" cy="266700"/>
          </a:xfrm>
          <a:prstGeom prst="roundRect">
            <a:avLst>
              <a:gd name="adj" fmla="val 28571"/>
            </a:avLst>
          </a:prstGeom>
          <a:solidFill>
            <a:srgbClr val="D58C00"/>
          </a:solidFill>
          <a:ln w="0">
            <a:noFill/>
          </a:ln>
        </p:spPr>
        <p:txBody>
          <a:bodyPr/>
          <a:lstStyle/>
          <a:p>
            <a:endParaRPr lang="tr-TR"/>
          </a:p>
        </p:txBody>
      </p:sp>
      <p:sp>
        <p:nvSpPr>
          <p:cNvPr id="7" name="Dikdörtgen 6">
            <a:extLst>
              <a:ext uri="{FF2B5EF4-FFF2-40B4-BE49-F238E27FC236}">
                <a16:creationId xmlns:a16="http://schemas.microsoft.com/office/drawing/2014/main" id="{F5E82FA2-C67D-4D02-AB46-FC9B71033544}"/>
              </a:ext>
            </a:extLst>
          </p:cNvPr>
          <p:cNvSpPr>
            <a:spLocks noGrp="1"/>
          </p:cNvSpPr>
          <p:nvPr/>
        </p:nvSpPr>
        <p:spPr>
          <a:xfrm>
            <a:off x="9410700" y="409575"/>
            <a:ext cx="203835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INTERVIEW EXCERPTS</a:t>
            </a:r>
          </a:p>
        </p:txBody>
      </p:sp>
      <p:sp>
        <p:nvSpPr>
          <p:cNvPr id="8" name="Yuvarlatılmış Dikdörtgen 7">
            <a:extLst>
              <a:ext uri="{FF2B5EF4-FFF2-40B4-BE49-F238E27FC236}">
                <a16:creationId xmlns:a16="http://schemas.microsoft.com/office/drawing/2014/main" id="{4B11BFC6-5BBD-4A41-B104-F974116E6CB1}"/>
              </a:ext>
            </a:extLst>
          </p:cNvPr>
          <p:cNvSpPr>
            <a:spLocks noGrp="1"/>
          </p:cNvSpPr>
          <p:nvPr/>
        </p:nvSpPr>
        <p:spPr>
          <a:xfrm>
            <a:off x="876300" y="1695450"/>
            <a:ext cx="10429875" cy="1066800"/>
          </a:xfrm>
          <a:prstGeom prst="roundRect">
            <a:avLst>
              <a:gd name="adj" fmla="val 7143"/>
            </a:avLst>
          </a:prstGeom>
          <a:solidFill>
            <a:srgbClr val="FFFFFF"/>
          </a:solid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F5958117-3086-4744-9DFC-8B718B8B7F70}"/>
              </a:ext>
            </a:extLst>
          </p:cNvPr>
          <p:cNvSpPr>
            <a:spLocks noGrp="1"/>
          </p:cNvSpPr>
          <p:nvPr/>
        </p:nvSpPr>
        <p:spPr>
          <a:xfrm>
            <a:off x="1238250" y="1857375"/>
            <a:ext cx="7810500" cy="714375"/>
          </a:xfrm>
          <a:prstGeom prst="rect">
            <a:avLst/>
          </a:prstGeom>
          <a:noFill/>
          <a:ln w="0">
            <a:noFill/>
          </a:ln>
        </p:spPr>
        <p:txBody>
          <a:bodyPr anchor="t">
            <a:normAutofit/>
          </a:bodyPr>
          <a:lstStyle/>
          <a:p>
            <a:pPr algn="l">
              <a:defRPr sz="1650" b="1" i="1">
                <a:solidFill>
                  <a:srgbClr val="33343F"/>
                </a:solidFill>
                <a:latin typeface="Arial"/>
                <a:ea typeface="Arial"/>
                <a:cs typeface="Arial"/>
              </a:defRPr>
            </a:pPr>
            <a:r>
              <a:rPr sz="1650" b="1" i="1">
                <a:solidFill>
                  <a:srgbClr val="33343F"/>
                </a:solidFill>
                <a:latin typeface="Arial"/>
                <a:ea typeface="Arial"/>
                <a:cs typeface="Arial"/>
              </a:rPr>
              <a:t>“Hmm, when the equation, circuit and graph agree, I can check myself. The English may be difficult, but the symbols give another way.”</a:t>
            </a:r>
          </a:p>
        </p:txBody>
      </p:sp>
      <p:sp>
        <p:nvSpPr>
          <p:cNvPr id="10" name="Dikdörtgen 9">
            <a:extLst>
              <a:ext uri="{FF2B5EF4-FFF2-40B4-BE49-F238E27FC236}">
                <a16:creationId xmlns:a16="http://schemas.microsoft.com/office/drawing/2014/main" id="{2B30C36C-98B4-4347-8E8A-404615E73C7C}"/>
              </a:ext>
            </a:extLst>
          </p:cNvPr>
          <p:cNvSpPr>
            <a:spLocks noGrp="1"/>
          </p:cNvSpPr>
          <p:nvPr/>
        </p:nvSpPr>
        <p:spPr>
          <a:xfrm>
            <a:off x="9239250" y="2095500"/>
            <a:ext cx="1762125" cy="257175"/>
          </a:xfrm>
          <a:prstGeom prst="rect">
            <a:avLst/>
          </a:prstGeom>
          <a:noFill/>
          <a:ln w="0">
            <a:noFill/>
          </a:ln>
        </p:spPr>
        <p:txBody>
          <a:bodyPr anchor="ctr">
            <a:normAutofit fontScale="91427"/>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MULTIMODAL VERIFICATION</a:t>
            </a:r>
          </a:p>
        </p:txBody>
      </p:sp>
      <p:sp>
        <p:nvSpPr>
          <p:cNvPr id="11" name="Yuvarlatılmış Dikdörtgen 10">
            <a:extLst>
              <a:ext uri="{FF2B5EF4-FFF2-40B4-BE49-F238E27FC236}">
                <a16:creationId xmlns:a16="http://schemas.microsoft.com/office/drawing/2014/main" id="{F10A8B09-381D-4E36-9F0E-63F74C98EB3A}"/>
              </a:ext>
            </a:extLst>
          </p:cNvPr>
          <p:cNvSpPr>
            <a:spLocks noGrp="1"/>
          </p:cNvSpPr>
          <p:nvPr/>
        </p:nvSpPr>
        <p:spPr>
          <a:xfrm>
            <a:off x="876300" y="3028950"/>
            <a:ext cx="10429875" cy="1066800"/>
          </a:xfrm>
          <a:prstGeom prst="roundRect">
            <a:avLst>
              <a:gd name="adj" fmla="val 7143"/>
            </a:avLst>
          </a:prstGeom>
          <a:solidFill>
            <a:srgbClr val="E6F0F5"/>
          </a:solidFill>
          <a:ln w="9525">
            <a:solidFill>
              <a:srgbClr val="C8C9D3"/>
            </a:solidFill>
          </a:ln>
        </p:spPr>
        <p:txBody>
          <a:bodyPr/>
          <a:lstStyle/>
          <a:p>
            <a:endParaRPr lang="tr-TR"/>
          </a:p>
        </p:txBody>
      </p:sp>
      <p:sp>
        <p:nvSpPr>
          <p:cNvPr id="12" name="Dikdörtgen 11">
            <a:extLst>
              <a:ext uri="{FF2B5EF4-FFF2-40B4-BE49-F238E27FC236}">
                <a16:creationId xmlns:a16="http://schemas.microsoft.com/office/drawing/2014/main" id="{B147C6A6-EFFE-4B5F-ACBE-B7A5076277BC}"/>
              </a:ext>
            </a:extLst>
          </p:cNvPr>
          <p:cNvSpPr>
            <a:spLocks noGrp="1"/>
          </p:cNvSpPr>
          <p:nvPr/>
        </p:nvSpPr>
        <p:spPr>
          <a:xfrm>
            <a:off x="1238250" y="3190875"/>
            <a:ext cx="7810500" cy="714375"/>
          </a:xfrm>
          <a:prstGeom prst="rect">
            <a:avLst/>
          </a:prstGeom>
          <a:noFill/>
          <a:ln w="0">
            <a:noFill/>
          </a:ln>
        </p:spPr>
        <p:txBody>
          <a:bodyPr anchor="t">
            <a:normAutofit/>
          </a:bodyPr>
          <a:lstStyle/>
          <a:p>
            <a:pPr algn="l">
              <a:defRPr sz="1650" b="0" i="1">
                <a:solidFill>
                  <a:srgbClr val="33343F"/>
                </a:solidFill>
                <a:latin typeface="Arial"/>
                <a:ea typeface="Arial"/>
                <a:cs typeface="Arial"/>
              </a:defRPr>
            </a:pPr>
            <a:r>
              <a:rPr sz="1650" b="0" i="1">
                <a:solidFill>
                  <a:srgbClr val="33343F"/>
                </a:solidFill>
                <a:latin typeface="Arial"/>
                <a:ea typeface="Arial"/>
                <a:cs typeface="Arial"/>
              </a:rPr>
              <a:t>“The law is stable, yes, but one missing label changes the whole calculation. I need the figure to tell me which quantity is which.”</a:t>
            </a:r>
          </a:p>
        </p:txBody>
      </p:sp>
      <p:sp>
        <p:nvSpPr>
          <p:cNvPr id="13" name="Dikdörtgen 12">
            <a:extLst>
              <a:ext uri="{FF2B5EF4-FFF2-40B4-BE49-F238E27FC236}">
                <a16:creationId xmlns:a16="http://schemas.microsoft.com/office/drawing/2014/main" id="{9D8E98CC-4D0B-407A-B9B4-B71917236697}"/>
              </a:ext>
            </a:extLst>
          </p:cNvPr>
          <p:cNvSpPr>
            <a:spLocks noGrp="1"/>
          </p:cNvSpPr>
          <p:nvPr/>
        </p:nvSpPr>
        <p:spPr>
          <a:xfrm>
            <a:off x="9239250" y="3429000"/>
            <a:ext cx="1762125" cy="257175"/>
          </a:xfrm>
          <a:prstGeom prst="rect">
            <a:avLst/>
          </a:prstGeom>
          <a:noFill/>
          <a:ln w="0">
            <a:noFill/>
          </a:ln>
        </p:spPr>
        <p:txBody>
          <a:bodyPr anchor="ctr">
            <a:normAutofit fontScale="84304"/>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PRECISION THROUGH LABELS</a:t>
            </a:r>
          </a:p>
        </p:txBody>
      </p:sp>
      <p:sp>
        <p:nvSpPr>
          <p:cNvPr id="14" name="Yuvarlatılmış Dikdörtgen 13">
            <a:extLst>
              <a:ext uri="{FF2B5EF4-FFF2-40B4-BE49-F238E27FC236}">
                <a16:creationId xmlns:a16="http://schemas.microsoft.com/office/drawing/2014/main" id="{F4103312-E627-4B76-95B1-0085F16C8669}"/>
              </a:ext>
            </a:extLst>
          </p:cNvPr>
          <p:cNvSpPr>
            <a:spLocks noGrp="1"/>
          </p:cNvSpPr>
          <p:nvPr/>
        </p:nvSpPr>
        <p:spPr>
          <a:xfrm>
            <a:off x="876300" y="4362450"/>
            <a:ext cx="10429875" cy="1066800"/>
          </a:xfrm>
          <a:prstGeom prst="roundRect">
            <a:avLst>
              <a:gd name="adj" fmla="val 7143"/>
            </a:avLst>
          </a:prstGeom>
          <a:solidFill>
            <a:srgbClr val="FFFFFF"/>
          </a:solidFill>
          <a:ln w="9525">
            <a:solidFill>
              <a:srgbClr val="C8C9D3"/>
            </a:solidFill>
          </a:ln>
        </p:spPr>
        <p:txBody>
          <a:bodyPr/>
          <a:lstStyle/>
          <a:p>
            <a:endParaRPr lang="tr-TR"/>
          </a:p>
        </p:txBody>
      </p:sp>
      <p:sp>
        <p:nvSpPr>
          <p:cNvPr id="15" name="Dikdörtgen 14">
            <a:extLst>
              <a:ext uri="{FF2B5EF4-FFF2-40B4-BE49-F238E27FC236}">
                <a16:creationId xmlns:a16="http://schemas.microsoft.com/office/drawing/2014/main" id="{94306E01-F83B-4432-8809-F9B0ECA6A301}"/>
              </a:ext>
            </a:extLst>
          </p:cNvPr>
          <p:cNvSpPr>
            <a:spLocks noGrp="1"/>
          </p:cNvSpPr>
          <p:nvPr/>
        </p:nvSpPr>
        <p:spPr>
          <a:xfrm>
            <a:off x="1238250" y="4524375"/>
            <a:ext cx="7810500" cy="714375"/>
          </a:xfrm>
          <a:prstGeom prst="rect">
            <a:avLst/>
          </a:prstGeom>
          <a:noFill/>
          <a:ln w="0">
            <a:noFill/>
          </a:ln>
        </p:spPr>
        <p:txBody>
          <a:bodyPr anchor="t">
            <a:normAutofit/>
          </a:bodyPr>
          <a:lstStyle/>
          <a:p>
            <a:pPr algn="l">
              <a:defRPr sz="1650" b="0" i="1">
                <a:solidFill>
                  <a:srgbClr val="33343F"/>
                </a:solidFill>
                <a:latin typeface="Arial"/>
                <a:ea typeface="Arial"/>
                <a:cs typeface="Arial"/>
              </a:defRPr>
            </a:pPr>
            <a:r>
              <a:rPr sz="1650" b="0" i="1">
                <a:solidFill>
                  <a:srgbClr val="33343F"/>
                </a:solidFill>
                <a:latin typeface="Arial"/>
                <a:ea typeface="Arial"/>
                <a:cs typeface="Arial"/>
              </a:rPr>
              <a:t>“I could follow each equation separately. I lost why we moved from this step to the next. One sentence between them would help.”</a:t>
            </a:r>
          </a:p>
        </p:txBody>
      </p:sp>
      <p:sp>
        <p:nvSpPr>
          <p:cNvPr id="16" name="Dikdörtgen 15">
            <a:extLst>
              <a:ext uri="{FF2B5EF4-FFF2-40B4-BE49-F238E27FC236}">
                <a16:creationId xmlns:a16="http://schemas.microsoft.com/office/drawing/2014/main" id="{AE777BE5-B978-4FEB-BC94-CF26339FAC57}"/>
              </a:ext>
            </a:extLst>
          </p:cNvPr>
          <p:cNvSpPr>
            <a:spLocks noGrp="1"/>
          </p:cNvSpPr>
          <p:nvPr/>
        </p:nvSpPr>
        <p:spPr>
          <a:xfrm>
            <a:off x="9239250" y="4762500"/>
            <a:ext cx="1762125"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CONCEPTUAL BRIDGE</a:t>
            </a:r>
          </a:p>
        </p:txBody>
      </p:sp>
      <p:sp>
        <p:nvSpPr>
          <p:cNvPr id="17" name="Dikdörtgen 16">
            <a:extLst>
              <a:ext uri="{FF2B5EF4-FFF2-40B4-BE49-F238E27FC236}">
                <a16:creationId xmlns:a16="http://schemas.microsoft.com/office/drawing/2014/main" id="{8A211CD5-21E4-4483-AEC2-8DE888404D2F}"/>
              </a:ext>
            </a:extLst>
          </p:cNvPr>
          <p:cNvSpPr>
            <a:spLocks noGrp="1"/>
          </p:cNvSpPr>
          <p:nvPr/>
        </p:nvSpPr>
        <p:spPr>
          <a:xfrm>
            <a:off x="1381125" y="5781675"/>
            <a:ext cx="9429750" cy="323850"/>
          </a:xfrm>
          <a:prstGeom prst="rect">
            <a:avLst/>
          </a:prstGeom>
          <a:noFill/>
          <a:ln w="0">
            <a:noFill/>
          </a:ln>
        </p:spPr>
        <p:txBody>
          <a:bodyPr anchor="t">
            <a:normAutofit fontScale="87518"/>
          </a:bodyPr>
          <a:lstStyle/>
          <a:p>
            <a:pPr algn="ctr">
              <a:defRPr sz="1425" b="1" i="0">
                <a:solidFill>
                  <a:srgbClr val="B94D35"/>
                </a:solidFill>
                <a:latin typeface="Arial"/>
                <a:ea typeface="Arial"/>
                <a:cs typeface="Arial"/>
              </a:defRPr>
            </a:pPr>
            <a:r>
              <a:rPr sz="1425" b="1" i="0">
                <a:solidFill>
                  <a:srgbClr val="B94D35"/>
                </a:solidFill>
                <a:latin typeface="Arial"/>
                <a:ea typeface="Arial"/>
                <a:cs typeface="Arial"/>
              </a:rPr>
              <a:t>Interpretation: equations, figures and labels can modify input by confirming relationships, not merely decorating the page.</a:t>
            </a:r>
          </a:p>
        </p:txBody>
      </p:sp>
      <p:sp>
        <p:nvSpPr>
          <p:cNvPr id="18" name="Düz Bağlayıcı 17">
            <a:extLst>
              <a:ext uri="{FF2B5EF4-FFF2-40B4-BE49-F238E27FC236}">
                <a16:creationId xmlns:a16="http://schemas.microsoft.com/office/drawing/2014/main" id="{E59DF931-09AF-4BEB-86D5-C8098AB11E75}"/>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2811B883-B128-4BA7-BB3A-DF7D3166429B}"/>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Dikdörtgen 19">
            <a:extLst>
              <a:ext uri="{FF2B5EF4-FFF2-40B4-BE49-F238E27FC236}">
                <a16:creationId xmlns:a16="http://schemas.microsoft.com/office/drawing/2014/main" id="{9E497D6E-6B02-4FC2-A8B8-CC88819DB0DC}"/>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Interview excerpts from the study</a:t>
            </a:r>
          </a:p>
        </p:txBody>
      </p:sp>
    </p:spTree>
    <p:extLst>
      <p:ext uri="{BB962C8B-B14F-4D97-AF65-F5344CB8AC3E}">
        <p14:creationId xmlns:p14="http://schemas.microsoft.com/office/powerpoint/2010/main" val="2000091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1" name="Yuvarlatılmış Dikdörtgen 20">
            <a:extLst>
              <a:ext uri="{FF2B5EF4-FFF2-40B4-BE49-F238E27FC236}">
                <a16:creationId xmlns:a16="http://schemas.microsoft.com/office/drawing/2014/main" id="{556A5547-ACF3-4FE3-A386-2FD90EBBE030}"/>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BFE92E88-2617-4858-8A6E-31A664ECB52E}"/>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C33B1DB8-D4BB-4085-BEB3-41025A646166}"/>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International Relations readers negotiated competing meanings</a:t>
            </a:r>
          </a:p>
        </p:txBody>
      </p:sp>
      <p:sp>
        <p:nvSpPr>
          <p:cNvPr id="4" name="Düz Bağlayıcı 3">
            <a:extLst>
              <a:ext uri="{FF2B5EF4-FFF2-40B4-BE49-F238E27FC236}">
                <a16:creationId xmlns:a16="http://schemas.microsoft.com/office/drawing/2014/main" id="{C7644FD6-7764-48D9-A9BE-1BE19DEC15ED}"/>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EFF946DD-BBAC-45BE-9AB3-42C827038E8A}"/>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16</a:t>
            </a:r>
          </a:p>
        </p:txBody>
      </p:sp>
      <p:sp>
        <p:nvSpPr>
          <p:cNvPr id="6" name="Yuvarlatılmış Dikdörtgen 5">
            <a:extLst>
              <a:ext uri="{FF2B5EF4-FFF2-40B4-BE49-F238E27FC236}">
                <a16:creationId xmlns:a16="http://schemas.microsoft.com/office/drawing/2014/main" id="{556A113C-F3E5-4B10-8CF6-D715A098560C}"/>
              </a:ext>
            </a:extLst>
          </p:cNvPr>
          <p:cNvSpPr>
            <a:spLocks noGrp="1"/>
          </p:cNvSpPr>
          <p:nvPr/>
        </p:nvSpPr>
        <p:spPr>
          <a:xfrm>
            <a:off x="9334500" y="381000"/>
            <a:ext cx="2190750" cy="266700"/>
          </a:xfrm>
          <a:prstGeom prst="roundRect">
            <a:avLst>
              <a:gd name="adj" fmla="val 28571"/>
            </a:avLst>
          </a:prstGeom>
          <a:solidFill>
            <a:srgbClr val="D58C00"/>
          </a:solidFill>
          <a:ln w="0">
            <a:noFill/>
          </a:ln>
        </p:spPr>
        <p:txBody>
          <a:bodyPr/>
          <a:lstStyle/>
          <a:p>
            <a:endParaRPr lang="tr-TR"/>
          </a:p>
        </p:txBody>
      </p:sp>
      <p:sp>
        <p:nvSpPr>
          <p:cNvPr id="7" name="Dikdörtgen 6">
            <a:extLst>
              <a:ext uri="{FF2B5EF4-FFF2-40B4-BE49-F238E27FC236}">
                <a16:creationId xmlns:a16="http://schemas.microsoft.com/office/drawing/2014/main" id="{EDF8AD4D-DF54-4C6B-BE0D-639DF45F54D9}"/>
              </a:ext>
            </a:extLst>
          </p:cNvPr>
          <p:cNvSpPr>
            <a:spLocks noGrp="1"/>
          </p:cNvSpPr>
          <p:nvPr/>
        </p:nvSpPr>
        <p:spPr>
          <a:xfrm>
            <a:off x="9410700" y="409575"/>
            <a:ext cx="203835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INTERVIEW EXCERPTS</a:t>
            </a:r>
          </a:p>
        </p:txBody>
      </p:sp>
      <p:sp>
        <p:nvSpPr>
          <p:cNvPr id="8" name="Yuvarlatılmış Dikdörtgen 7">
            <a:extLst>
              <a:ext uri="{FF2B5EF4-FFF2-40B4-BE49-F238E27FC236}">
                <a16:creationId xmlns:a16="http://schemas.microsoft.com/office/drawing/2014/main" id="{B9E02346-F498-494C-90B0-87B733E7144A}"/>
              </a:ext>
            </a:extLst>
          </p:cNvPr>
          <p:cNvSpPr>
            <a:spLocks noGrp="1"/>
          </p:cNvSpPr>
          <p:nvPr/>
        </p:nvSpPr>
        <p:spPr>
          <a:xfrm>
            <a:off x="876300" y="1695450"/>
            <a:ext cx="10429875" cy="1066800"/>
          </a:xfrm>
          <a:prstGeom prst="roundRect">
            <a:avLst>
              <a:gd name="adj" fmla="val 7143"/>
            </a:avLst>
          </a:prstGeom>
          <a:solidFill>
            <a:srgbClr val="FFFFFF"/>
          </a:solid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A9313C6F-F7DB-4B75-8EB7-A46B6F28119F}"/>
              </a:ext>
            </a:extLst>
          </p:cNvPr>
          <p:cNvSpPr>
            <a:spLocks noGrp="1"/>
          </p:cNvSpPr>
          <p:nvPr/>
        </p:nvSpPr>
        <p:spPr>
          <a:xfrm>
            <a:off x="1238250" y="1857375"/>
            <a:ext cx="7810500" cy="714375"/>
          </a:xfrm>
          <a:prstGeom prst="rect">
            <a:avLst/>
          </a:prstGeom>
          <a:noFill/>
          <a:ln w="0">
            <a:noFill/>
          </a:ln>
        </p:spPr>
        <p:txBody>
          <a:bodyPr anchor="t">
            <a:normAutofit/>
          </a:bodyPr>
          <a:lstStyle/>
          <a:p>
            <a:pPr algn="l">
              <a:defRPr sz="1650" b="1" i="1">
                <a:solidFill>
                  <a:srgbClr val="33343F"/>
                </a:solidFill>
                <a:latin typeface="Arial"/>
                <a:ea typeface="Arial"/>
                <a:cs typeface="Arial"/>
              </a:defRPr>
            </a:pPr>
            <a:r>
              <a:rPr sz="1650" b="1" i="1">
                <a:solidFill>
                  <a:srgbClr val="33343F"/>
                </a:solidFill>
                <a:latin typeface="Arial"/>
                <a:ea typeface="Arial"/>
                <a:cs typeface="Arial"/>
              </a:rPr>
              <a:t>“Power and security look like normal words, but each theory makes them different. I need the chapter to mark whose meaning I am reading.”</a:t>
            </a:r>
          </a:p>
        </p:txBody>
      </p:sp>
      <p:sp>
        <p:nvSpPr>
          <p:cNvPr id="10" name="Dikdörtgen 9">
            <a:extLst>
              <a:ext uri="{FF2B5EF4-FFF2-40B4-BE49-F238E27FC236}">
                <a16:creationId xmlns:a16="http://schemas.microsoft.com/office/drawing/2014/main" id="{01BDF2A5-AD49-4B3A-8148-664AFF81B37D}"/>
              </a:ext>
            </a:extLst>
          </p:cNvPr>
          <p:cNvSpPr>
            <a:spLocks noGrp="1"/>
          </p:cNvSpPr>
          <p:nvPr/>
        </p:nvSpPr>
        <p:spPr>
          <a:xfrm>
            <a:off x="9239250" y="2095500"/>
            <a:ext cx="1762125"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TERM OWNERSHIP</a:t>
            </a:r>
          </a:p>
        </p:txBody>
      </p:sp>
      <p:sp>
        <p:nvSpPr>
          <p:cNvPr id="11" name="Yuvarlatılmış Dikdörtgen 10">
            <a:extLst>
              <a:ext uri="{FF2B5EF4-FFF2-40B4-BE49-F238E27FC236}">
                <a16:creationId xmlns:a16="http://schemas.microsoft.com/office/drawing/2014/main" id="{C21CC847-7D9C-411B-9301-6B6DD5E4355E}"/>
              </a:ext>
            </a:extLst>
          </p:cNvPr>
          <p:cNvSpPr>
            <a:spLocks noGrp="1"/>
          </p:cNvSpPr>
          <p:nvPr/>
        </p:nvSpPr>
        <p:spPr>
          <a:xfrm>
            <a:off x="876300" y="3028950"/>
            <a:ext cx="10429875" cy="1066800"/>
          </a:xfrm>
          <a:prstGeom prst="roundRect">
            <a:avLst>
              <a:gd name="adj" fmla="val 7143"/>
            </a:avLst>
          </a:prstGeom>
          <a:solidFill>
            <a:srgbClr val="FFF4D8"/>
          </a:solidFill>
          <a:ln w="9525">
            <a:solidFill>
              <a:srgbClr val="C8C9D3"/>
            </a:solidFill>
          </a:ln>
        </p:spPr>
        <p:txBody>
          <a:bodyPr/>
          <a:lstStyle/>
          <a:p>
            <a:endParaRPr lang="tr-TR"/>
          </a:p>
        </p:txBody>
      </p:sp>
      <p:sp>
        <p:nvSpPr>
          <p:cNvPr id="12" name="Dikdörtgen 11">
            <a:extLst>
              <a:ext uri="{FF2B5EF4-FFF2-40B4-BE49-F238E27FC236}">
                <a16:creationId xmlns:a16="http://schemas.microsoft.com/office/drawing/2014/main" id="{388A56AC-1E0D-4208-8563-7A272F017A77}"/>
              </a:ext>
            </a:extLst>
          </p:cNvPr>
          <p:cNvSpPr>
            <a:spLocks noGrp="1"/>
          </p:cNvSpPr>
          <p:nvPr/>
        </p:nvSpPr>
        <p:spPr>
          <a:xfrm>
            <a:off x="1238250" y="3190875"/>
            <a:ext cx="7810500" cy="714375"/>
          </a:xfrm>
          <a:prstGeom prst="rect">
            <a:avLst/>
          </a:prstGeom>
          <a:noFill/>
          <a:ln w="0">
            <a:noFill/>
          </a:ln>
        </p:spPr>
        <p:txBody>
          <a:bodyPr anchor="t">
            <a:normAutofit/>
          </a:bodyPr>
          <a:lstStyle/>
          <a:p>
            <a:pPr algn="l">
              <a:defRPr sz="1650" b="0" i="1">
                <a:solidFill>
                  <a:srgbClr val="33343F"/>
                </a:solidFill>
                <a:latin typeface="Arial"/>
                <a:ea typeface="Arial"/>
                <a:cs typeface="Arial"/>
              </a:defRPr>
            </a:pPr>
            <a:r>
              <a:rPr sz="1650" b="0" i="1">
                <a:solidFill>
                  <a:srgbClr val="33343F"/>
                </a:solidFill>
                <a:latin typeface="Arial"/>
                <a:ea typeface="Arial"/>
                <a:cs typeface="Arial"/>
              </a:rPr>
              <a:t>“Uh, the example was clear, but I could not see whether it supported realism or criticised it. The relationship was not signalled.”</a:t>
            </a:r>
          </a:p>
        </p:txBody>
      </p:sp>
      <p:sp>
        <p:nvSpPr>
          <p:cNvPr id="13" name="Dikdörtgen 12">
            <a:extLst>
              <a:ext uri="{FF2B5EF4-FFF2-40B4-BE49-F238E27FC236}">
                <a16:creationId xmlns:a16="http://schemas.microsoft.com/office/drawing/2014/main" id="{6643DB01-3B77-49FD-B742-AFD3DFBC0CF8}"/>
              </a:ext>
            </a:extLst>
          </p:cNvPr>
          <p:cNvSpPr>
            <a:spLocks noGrp="1"/>
          </p:cNvSpPr>
          <p:nvPr/>
        </p:nvSpPr>
        <p:spPr>
          <a:xfrm>
            <a:off x="9239250" y="3429000"/>
            <a:ext cx="1762125"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RHETORICAL RELATION</a:t>
            </a:r>
          </a:p>
        </p:txBody>
      </p:sp>
      <p:sp>
        <p:nvSpPr>
          <p:cNvPr id="14" name="Yuvarlatılmış Dikdörtgen 13">
            <a:extLst>
              <a:ext uri="{FF2B5EF4-FFF2-40B4-BE49-F238E27FC236}">
                <a16:creationId xmlns:a16="http://schemas.microsoft.com/office/drawing/2014/main" id="{FB25CB60-1CC6-458C-B5CE-A21B290F2DD5}"/>
              </a:ext>
            </a:extLst>
          </p:cNvPr>
          <p:cNvSpPr>
            <a:spLocks noGrp="1"/>
          </p:cNvSpPr>
          <p:nvPr/>
        </p:nvSpPr>
        <p:spPr>
          <a:xfrm>
            <a:off x="876300" y="4362450"/>
            <a:ext cx="10429875" cy="1066800"/>
          </a:xfrm>
          <a:prstGeom prst="roundRect">
            <a:avLst>
              <a:gd name="adj" fmla="val 7143"/>
            </a:avLst>
          </a:prstGeom>
          <a:solidFill>
            <a:srgbClr val="FFFFFF"/>
          </a:solidFill>
          <a:ln w="9525">
            <a:solidFill>
              <a:srgbClr val="C8C9D3"/>
            </a:solidFill>
          </a:ln>
        </p:spPr>
        <p:txBody>
          <a:bodyPr/>
          <a:lstStyle/>
          <a:p>
            <a:endParaRPr lang="tr-TR"/>
          </a:p>
        </p:txBody>
      </p:sp>
      <p:sp>
        <p:nvSpPr>
          <p:cNvPr id="15" name="Dikdörtgen 14">
            <a:extLst>
              <a:ext uri="{FF2B5EF4-FFF2-40B4-BE49-F238E27FC236}">
                <a16:creationId xmlns:a16="http://schemas.microsoft.com/office/drawing/2014/main" id="{91034D31-0512-44F5-9314-58939E443F28}"/>
              </a:ext>
            </a:extLst>
          </p:cNvPr>
          <p:cNvSpPr>
            <a:spLocks noGrp="1"/>
          </p:cNvSpPr>
          <p:nvPr/>
        </p:nvSpPr>
        <p:spPr>
          <a:xfrm>
            <a:off x="1238250" y="4524375"/>
            <a:ext cx="7810500" cy="714375"/>
          </a:xfrm>
          <a:prstGeom prst="rect">
            <a:avLst/>
          </a:prstGeom>
          <a:noFill/>
          <a:ln w="0">
            <a:noFill/>
          </a:ln>
        </p:spPr>
        <p:txBody>
          <a:bodyPr anchor="t">
            <a:normAutofit/>
          </a:bodyPr>
          <a:lstStyle/>
          <a:p>
            <a:pPr algn="l">
              <a:defRPr sz="1650" b="0" i="1">
                <a:solidFill>
                  <a:srgbClr val="33343F"/>
                </a:solidFill>
                <a:latin typeface="Arial"/>
                <a:ea typeface="Arial"/>
                <a:cs typeface="Arial"/>
              </a:defRPr>
            </a:pPr>
            <a:r>
              <a:rPr sz="1650" b="0" i="1">
                <a:solidFill>
                  <a:srgbClr val="33343F"/>
                </a:solidFill>
                <a:latin typeface="Arial"/>
                <a:ea typeface="Arial"/>
                <a:cs typeface="Arial"/>
              </a:rPr>
              <a:t>“A comparison table helps me start, but it cannot replace the explanation because theories overlap and authors disagree.”</a:t>
            </a:r>
          </a:p>
        </p:txBody>
      </p:sp>
      <p:sp>
        <p:nvSpPr>
          <p:cNvPr id="16" name="Dikdörtgen 15">
            <a:extLst>
              <a:ext uri="{FF2B5EF4-FFF2-40B4-BE49-F238E27FC236}">
                <a16:creationId xmlns:a16="http://schemas.microsoft.com/office/drawing/2014/main" id="{3DC1332F-743F-4C73-A3C5-31672BF49A4B}"/>
              </a:ext>
            </a:extLst>
          </p:cNvPr>
          <p:cNvSpPr>
            <a:spLocks noGrp="1"/>
          </p:cNvSpPr>
          <p:nvPr/>
        </p:nvSpPr>
        <p:spPr>
          <a:xfrm>
            <a:off x="9239250" y="4762500"/>
            <a:ext cx="1762125" cy="257175"/>
          </a:xfrm>
          <a:prstGeom prst="rect">
            <a:avLst/>
          </a:prstGeom>
          <a:noFill/>
          <a:ln w="0">
            <a:noFill/>
          </a:ln>
        </p:spPr>
        <p:txBody>
          <a:bodyPr anchor="ctr">
            <a:normAutofit fontScale="87850"/>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QUALIFIED VISUAL SUPPORT</a:t>
            </a:r>
          </a:p>
        </p:txBody>
      </p:sp>
      <p:sp>
        <p:nvSpPr>
          <p:cNvPr id="17" name="Dikdörtgen 16">
            <a:extLst>
              <a:ext uri="{FF2B5EF4-FFF2-40B4-BE49-F238E27FC236}">
                <a16:creationId xmlns:a16="http://schemas.microsoft.com/office/drawing/2014/main" id="{B295CABA-BC28-4985-B8D4-1A78BD388706}"/>
              </a:ext>
            </a:extLst>
          </p:cNvPr>
          <p:cNvSpPr>
            <a:spLocks noGrp="1"/>
          </p:cNvSpPr>
          <p:nvPr/>
        </p:nvSpPr>
        <p:spPr>
          <a:xfrm>
            <a:off x="1285875" y="5781675"/>
            <a:ext cx="9620250" cy="323850"/>
          </a:xfrm>
          <a:prstGeom prst="rect">
            <a:avLst/>
          </a:prstGeom>
          <a:noFill/>
          <a:ln w="0">
            <a:noFill/>
          </a:ln>
        </p:spPr>
        <p:txBody>
          <a:bodyPr anchor="t">
            <a:normAutofit fontScale="82608"/>
          </a:bodyPr>
          <a:lstStyle/>
          <a:p>
            <a:pPr algn="ctr">
              <a:defRPr sz="1425" b="1" i="0">
                <a:solidFill>
                  <a:srgbClr val="B94D35"/>
                </a:solidFill>
                <a:latin typeface="Arial"/>
                <a:ea typeface="Arial"/>
                <a:cs typeface="Arial"/>
              </a:defRPr>
            </a:pPr>
            <a:r>
              <a:rPr sz="1425" b="1" i="0">
                <a:solidFill>
                  <a:srgbClr val="B94D35"/>
                </a:solidFill>
                <a:latin typeface="Arial"/>
                <a:ea typeface="Arial"/>
                <a:cs typeface="Arial"/>
              </a:rPr>
              <a:t>Interpretation: support must expose perspective, qualification and comparison without presenting contested concepts as fixed facts.</a:t>
            </a:r>
          </a:p>
        </p:txBody>
      </p:sp>
      <p:sp>
        <p:nvSpPr>
          <p:cNvPr id="18" name="Düz Bağlayıcı 17">
            <a:extLst>
              <a:ext uri="{FF2B5EF4-FFF2-40B4-BE49-F238E27FC236}">
                <a16:creationId xmlns:a16="http://schemas.microsoft.com/office/drawing/2014/main" id="{E397B4D1-BB4C-4DA9-ACE0-6C9A6E05A242}"/>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FF968E17-62E5-4773-A514-AAC27FE12197}"/>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Dikdörtgen 19">
            <a:extLst>
              <a:ext uri="{FF2B5EF4-FFF2-40B4-BE49-F238E27FC236}">
                <a16:creationId xmlns:a16="http://schemas.microsoft.com/office/drawing/2014/main" id="{BDA9DC4B-0C0E-4056-9D62-127AD10E0174}"/>
              </a:ext>
            </a:extLst>
          </p:cNvPr>
          <p:cNvSpPr>
            <a:spLocks noGrp="1"/>
          </p:cNvSpPr>
          <p:nvPr/>
        </p:nvSpPr>
        <p:spPr>
          <a:xfrm>
            <a:off x="2047875" y="6524625"/>
            <a:ext cx="8096250" cy="171450"/>
          </a:xfrm>
          <a:prstGeom prst="rect">
            <a:avLst/>
          </a:prstGeom>
          <a:noFill/>
          <a:ln w="0">
            <a:noFill/>
          </a:ln>
        </p:spPr>
        <p:txBody>
          <a:bodyPr anchor="t">
            <a:normAutofit fontScale="70000"/>
          </a:bodyPr>
          <a:lstStyle/>
          <a:p>
            <a:pPr algn="ctr">
              <a:defRPr sz="750" b="0" i="0">
                <a:solidFill>
                  <a:srgbClr val="626777"/>
                </a:solidFill>
                <a:latin typeface="Arial"/>
                <a:ea typeface="Arial"/>
                <a:cs typeface="Arial"/>
              </a:defRPr>
            </a:pPr>
            <a:r>
              <a:rPr sz="750" b="0" i="0">
                <a:solidFill>
                  <a:srgbClr val="626777"/>
                </a:solidFill>
                <a:latin typeface="Arial"/>
                <a:ea typeface="Arial"/>
                <a:cs typeface="Arial"/>
              </a:rPr>
              <a:t>Interview excerpts from the study</a:t>
            </a:r>
          </a:p>
        </p:txBody>
      </p:sp>
    </p:spTree>
    <p:extLst>
      <p:ext uri="{BB962C8B-B14F-4D97-AF65-F5344CB8AC3E}">
        <p14:creationId xmlns:p14="http://schemas.microsoft.com/office/powerpoint/2010/main" val="959283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0" name="Yuvarlatılmış Dikdörtgen 19">
            <a:extLst>
              <a:ext uri="{FF2B5EF4-FFF2-40B4-BE49-F238E27FC236}">
                <a16:creationId xmlns:a16="http://schemas.microsoft.com/office/drawing/2014/main" id="{2F582A82-3720-420A-8DF6-D57A60CBD9EF}"/>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EAABB55D-B6A6-4A04-AE6F-6E7359512FC3}"/>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AD32C42B-E81E-42CE-AD22-69F059D8346C}"/>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Disciplinary difference changes the form of useful support</a:t>
            </a:r>
          </a:p>
        </p:txBody>
      </p:sp>
      <p:sp>
        <p:nvSpPr>
          <p:cNvPr id="4" name="Düz Bağlayıcı 3">
            <a:extLst>
              <a:ext uri="{FF2B5EF4-FFF2-40B4-BE49-F238E27FC236}">
                <a16:creationId xmlns:a16="http://schemas.microsoft.com/office/drawing/2014/main" id="{0C79A298-571F-4E72-A3EC-97F388C22E1E}"/>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24AD262C-1003-4AC0-9391-F89B6109D149}"/>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17</a:t>
            </a:r>
          </a:p>
        </p:txBody>
      </p:sp>
      <p:sp>
        <p:nvSpPr>
          <p:cNvPr id="6" name="Yuvarlatılmış Dikdörtgen 5">
            <a:extLst>
              <a:ext uri="{FF2B5EF4-FFF2-40B4-BE49-F238E27FC236}">
                <a16:creationId xmlns:a16="http://schemas.microsoft.com/office/drawing/2014/main" id="{AB456296-F503-4B4F-9024-4DF7ECD72582}"/>
              </a:ext>
            </a:extLst>
          </p:cNvPr>
          <p:cNvSpPr>
            <a:spLocks noGrp="1"/>
          </p:cNvSpPr>
          <p:nvPr/>
        </p:nvSpPr>
        <p:spPr>
          <a:xfrm>
            <a:off x="809625" y="1790700"/>
            <a:ext cx="4905375" cy="3333750"/>
          </a:xfrm>
          <a:prstGeom prst="roundRect">
            <a:avLst>
              <a:gd name="adj" fmla="val 2286"/>
            </a:avLst>
          </a:prstGeom>
          <a:solidFill>
            <a:srgbClr val="123B53"/>
          </a:solidFill>
          <a:ln w="0">
            <a:noFill/>
          </a:ln>
        </p:spPr>
        <p:txBody>
          <a:bodyPr/>
          <a:lstStyle/>
          <a:p>
            <a:endParaRPr lang="tr-TR"/>
          </a:p>
        </p:txBody>
      </p:sp>
      <p:sp>
        <p:nvSpPr>
          <p:cNvPr id="7" name="Dikdörtgen 6">
            <a:extLst>
              <a:ext uri="{FF2B5EF4-FFF2-40B4-BE49-F238E27FC236}">
                <a16:creationId xmlns:a16="http://schemas.microsoft.com/office/drawing/2014/main" id="{BCE8D390-4609-40A2-A838-795C4FE0A849}"/>
              </a:ext>
            </a:extLst>
          </p:cNvPr>
          <p:cNvSpPr>
            <a:spLocks noGrp="1"/>
          </p:cNvSpPr>
          <p:nvPr/>
        </p:nvSpPr>
        <p:spPr>
          <a:xfrm>
            <a:off x="1143000" y="2095500"/>
            <a:ext cx="314325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ELECTRICAL ENGINEERING</a:t>
            </a:r>
          </a:p>
        </p:txBody>
      </p:sp>
      <p:sp>
        <p:nvSpPr>
          <p:cNvPr id="8" name="Dikdörtgen 7">
            <a:extLst>
              <a:ext uri="{FF2B5EF4-FFF2-40B4-BE49-F238E27FC236}">
                <a16:creationId xmlns:a16="http://schemas.microsoft.com/office/drawing/2014/main" id="{8A1ABF41-12D4-4F35-A5BC-0D0D7F42C208}"/>
              </a:ext>
            </a:extLst>
          </p:cNvPr>
          <p:cNvSpPr>
            <a:spLocks noGrp="1"/>
          </p:cNvSpPr>
          <p:nvPr/>
        </p:nvSpPr>
        <p:spPr>
          <a:xfrm>
            <a:off x="1143000" y="2571750"/>
            <a:ext cx="4000500" cy="685800"/>
          </a:xfrm>
          <a:prstGeom prst="rect">
            <a:avLst/>
          </a:prstGeom>
          <a:noFill/>
          <a:ln w="0">
            <a:noFill/>
          </a:ln>
        </p:spPr>
        <p:txBody>
          <a:bodyPr anchor="t">
            <a:normAutofit fontScale="79281"/>
          </a:bodyPr>
          <a:lstStyle/>
          <a:p>
            <a:pPr algn="l">
              <a:defRPr sz="1800" b="1" i="0">
                <a:solidFill>
                  <a:srgbClr val="FFFFFF"/>
                </a:solidFill>
                <a:latin typeface="Arial"/>
                <a:ea typeface="Arial"/>
                <a:cs typeface="Arial"/>
              </a:defRPr>
            </a:pPr>
            <a:r>
              <a:rPr sz="1800" b="1" i="0">
                <a:solidFill>
                  <a:srgbClr val="FFFFFF"/>
                </a:solidFill>
                <a:latin typeface="Arial"/>
                <a:ea typeface="Arial"/>
                <a:cs typeface="Arial"/>
              </a:rPr>
              <a:t>Meaning often travels across prose, formulae, diagrams and worked procedures.</a:t>
            </a:r>
          </a:p>
        </p:txBody>
      </p:sp>
      <p:sp>
        <p:nvSpPr>
          <p:cNvPr id="9" name="Dikdörtgen 8">
            <a:extLst>
              <a:ext uri="{FF2B5EF4-FFF2-40B4-BE49-F238E27FC236}">
                <a16:creationId xmlns:a16="http://schemas.microsoft.com/office/drawing/2014/main" id="{8630FABB-2DA0-491C-8A33-A4A986F722FD}"/>
              </a:ext>
            </a:extLst>
          </p:cNvPr>
          <p:cNvSpPr>
            <a:spLocks noGrp="1"/>
          </p:cNvSpPr>
          <p:nvPr/>
        </p:nvSpPr>
        <p:spPr>
          <a:xfrm>
            <a:off x="1143000" y="3476625"/>
            <a:ext cx="4000500" cy="809625"/>
          </a:xfrm>
          <a:prstGeom prst="rect">
            <a:avLst/>
          </a:prstGeom>
          <a:noFill/>
          <a:ln w="0">
            <a:noFill/>
          </a:ln>
        </p:spPr>
        <p:txBody>
          <a:bodyPr anchor="t">
            <a:normAutofit/>
          </a:bodyPr>
          <a:lstStyle/>
          <a:p>
            <a:pPr algn="l">
              <a:defRPr sz="1500" b="0" i="0">
                <a:solidFill>
                  <a:srgbClr val="FFFFFF"/>
                </a:solidFill>
                <a:latin typeface="Arial"/>
                <a:ea typeface="Arial"/>
                <a:cs typeface="Arial"/>
              </a:defRPr>
            </a:pPr>
            <a:r>
              <a:rPr sz="1500" b="0" i="0">
                <a:solidFill>
                  <a:srgbClr val="FFFFFF"/>
                </a:solidFill>
                <a:latin typeface="Arial"/>
                <a:ea typeface="Arial"/>
                <a:cs typeface="Arial"/>
              </a:rPr>
              <a:t>Stable symbol systems and testable relations can give readers an additional route to check meaning.</a:t>
            </a:r>
          </a:p>
        </p:txBody>
      </p:sp>
      <p:sp>
        <p:nvSpPr>
          <p:cNvPr id="10" name="Dikdörtgen 9">
            <a:extLst>
              <a:ext uri="{FF2B5EF4-FFF2-40B4-BE49-F238E27FC236}">
                <a16:creationId xmlns:a16="http://schemas.microsoft.com/office/drawing/2014/main" id="{401126D3-7BAD-4B93-86D8-98479B410FF0}"/>
              </a:ext>
            </a:extLst>
          </p:cNvPr>
          <p:cNvSpPr>
            <a:spLocks noGrp="1"/>
          </p:cNvSpPr>
          <p:nvPr/>
        </p:nvSpPr>
        <p:spPr>
          <a:xfrm>
            <a:off x="1143000" y="4476750"/>
            <a:ext cx="4000500" cy="447675"/>
          </a:xfrm>
          <a:prstGeom prst="rect">
            <a:avLst/>
          </a:prstGeom>
          <a:noFill/>
          <a:ln w="0">
            <a:noFill/>
          </a:ln>
        </p:spPr>
        <p:txBody>
          <a:bodyPr anchor="t">
            <a:normAutofit fontScale="86574"/>
          </a:bodyPr>
          <a:lstStyle/>
          <a:p>
            <a:pPr algn="l">
              <a:defRPr sz="1350" b="1" i="0">
                <a:solidFill>
                  <a:srgbClr val="78A9C0"/>
                </a:solidFill>
                <a:latin typeface="Arial"/>
                <a:ea typeface="Arial"/>
                <a:cs typeface="Arial"/>
              </a:defRPr>
            </a:pPr>
            <a:r>
              <a:rPr sz="1350" b="1" i="0">
                <a:solidFill>
                  <a:srgbClr val="78A9C0"/>
                </a:solidFill>
                <a:latin typeface="Arial"/>
                <a:ea typeface="Arial"/>
                <a:cs typeface="Arial"/>
              </a:rPr>
              <a:t>Risk: a missing label, assumption or bridge can obstruct the entire procedure.</a:t>
            </a:r>
          </a:p>
        </p:txBody>
      </p:sp>
      <p:sp>
        <p:nvSpPr>
          <p:cNvPr id="11" name="Yuvarlatılmış Dikdörtgen 10">
            <a:extLst>
              <a:ext uri="{FF2B5EF4-FFF2-40B4-BE49-F238E27FC236}">
                <a16:creationId xmlns:a16="http://schemas.microsoft.com/office/drawing/2014/main" id="{BEE6BBC3-FC12-4C87-94AC-7E83636677CC}"/>
              </a:ext>
            </a:extLst>
          </p:cNvPr>
          <p:cNvSpPr>
            <a:spLocks noGrp="1"/>
          </p:cNvSpPr>
          <p:nvPr/>
        </p:nvSpPr>
        <p:spPr>
          <a:xfrm>
            <a:off x="6477000" y="1790700"/>
            <a:ext cx="4905375" cy="3333750"/>
          </a:xfrm>
          <a:prstGeom prst="roundRect">
            <a:avLst>
              <a:gd name="adj" fmla="val 2286"/>
            </a:avLst>
          </a:prstGeom>
          <a:solidFill>
            <a:srgbClr val="FFFFFF"/>
          </a:solidFill>
          <a:ln w="9525">
            <a:solidFill>
              <a:srgbClr val="C8C9D3"/>
            </a:solidFill>
          </a:ln>
        </p:spPr>
        <p:txBody>
          <a:bodyPr/>
          <a:lstStyle/>
          <a:p>
            <a:endParaRPr lang="tr-TR"/>
          </a:p>
        </p:txBody>
      </p:sp>
      <p:sp>
        <p:nvSpPr>
          <p:cNvPr id="12" name="Dikdörtgen 11">
            <a:extLst>
              <a:ext uri="{FF2B5EF4-FFF2-40B4-BE49-F238E27FC236}">
                <a16:creationId xmlns:a16="http://schemas.microsoft.com/office/drawing/2014/main" id="{1140627A-75B4-4C80-8BDE-439A64648952}"/>
              </a:ext>
            </a:extLst>
          </p:cNvPr>
          <p:cNvSpPr>
            <a:spLocks noGrp="1"/>
          </p:cNvSpPr>
          <p:nvPr/>
        </p:nvSpPr>
        <p:spPr>
          <a:xfrm>
            <a:off x="6810375" y="2095500"/>
            <a:ext cx="3333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INTERNATIONAL RELATIONS</a:t>
            </a:r>
          </a:p>
        </p:txBody>
      </p:sp>
      <p:sp>
        <p:nvSpPr>
          <p:cNvPr id="13" name="Dikdörtgen 12">
            <a:extLst>
              <a:ext uri="{FF2B5EF4-FFF2-40B4-BE49-F238E27FC236}">
                <a16:creationId xmlns:a16="http://schemas.microsoft.com/office/drawing/2014/main" id="{F5E20B3C-9935-4CDA-80DE-DD2FBD5AEB05}"/>
              </a:ext>
            </a:extLst>
          </p:cNvPr>
          <p:cNvSpPr>
            <a:spLocks noGrp="1"/>
          </p:cNvSpPr>
          <p:nvPr/>
        </p:nvSpPr>
        <p:spPr>
          <a:xfrm>
            <a:off x="6810375" y="2571750"/>
            <a:ext cx="4000500" cy="685800"/>
          </a:xfrm>
          <a:prstGeom prst="rect">
            <a:avLst/>
          </a:prstGeom>
          <a:noFill/>
          <a:ln w="0">
            <a:noFill/>
          </a:ln>
        </p:spPr>
        <p:txBody>
          <a:bodyPr anchor="t">
            <a:normAutofit fontScale="72222"/>
          </a:bodyPr>
          <a:lstStyle/>
          <a:p>
            <a:pPr algn="l">
              <a:defRPr sz="1800" b="1" i="0">
                <a:solidFill>
                  <a:srgbClr val="33343F"/>
                </a:solidFill>
                <a:latin typeface="Arial"/>
                <a:ea typeface="Arial"/>
                <a:cs typeface="Arial"/>
              </a:defRPr>
            </a:pPr>
            <a:r>
              <a:rPr sz="1800" b="1" i="0">
                <a:solidFill>
                  <a:srgbClr val="33343F"/>
                </a:solidFill>
                <a:latin typeface="Arial"/>
                <a:ea typeface="Arial"/>
                <a:cs typeface="Arial"/>
              </a:rPr>
              <a:t>Meaning often depends on theoretical perspective, historical context and qualified argument.</a:t>
            </a:r>
          </a:p>
        </p:txBody>
      </p:sp>
      <p:sp>
        <p:nvSpPr>
          <p:cNvPr id="14" name="Dikdörtgen 13">
            <a:extLst>
              <a:ext uri="{FF2B5EF4-FFF2-40B4-BE49-F238E27FC236}">
                <a16:creationId xmlns:a16="http://schemas.microsoft.com/office/drawing/2014/main" id="{E679C85E-9BDC-46B6-83D6-5D998A3AB529}"/>
              </a:ext>
            </a:extLst>
          </p:cNvPr>
          <p:cNvSpPr>
            <a:spLocks noGrp="1"/>
          </p:cNvSpPr>
          <p:nvPr/>
        </p:nvSpPr>
        <p:spPr>
          <a:xfrm>
            <a:off x="6810375" y="3476625"/>
            <a:ext cx="4000500" cy="809625"/>
          </a:xfrm>
          <a:prstGeom prst="rect">
            <a:avLst/>
          </a:prstGeom>
          <a:noFill/>
          <a:ln w="0">
            <a:noFill/>
          </a:ln>
        </p:spPr>
        <p:txBody>
          <a:bodyPr anchor="t">
            <a:normAutofit/>
          </a:bodyPr>
          <a:lstStyle/>
          <a:p>
            <a:pPr algn="l">
              <a:defRPr sz="1500" b="0" i="0">
                <a:solidFill>
                  <a:srgbClr val="626777"/>
                </a:solidFill>
                <a:latin typeface="Arial"/>
                <a:ea typeface="Arial"/>
                <a:cs typeface="Arial"/>
              </a:defRPr>
            </a:pPr>
            <a:r>
              <a:rPr sz="1500" b="0" i="0">
                <a:solidFill>
                  <a:srgbClr val="626777"/>
                </a:solidFill>
                <a:latin typeface="Arial"/>
                <a:ea typeface="Arial"/>
                <a:cs typeface="Arial"/>
              </a:rPr>
              <a:t>Everyday words may become contested disciplinary concepts whose meaning changes across theories.</a:t>
            </a:r>
          </a:p>
        </p:txBody>
      </p:sp>
      <p:sp>
        <p:nvSpPr>
          <p:cNvPr id="15" name="Dikdörtgen 14">
            <a:extLst>
              <a:ext uri="{FF2B5EF4-FFF2-40B4-BE49-F238E27FC236}">
                <a16:creationId xmlns:a16="http://schemas.microsoft.com/office/drawing/2014/main" id="{B199CB22-4124-49A1-8527-7AF10D713DCD}"/>
              </a:ext>
            </a:extLst>
          </p:cNvPr>
          <p:cNvSpPr>
            <a:spLocks noGrp="1"/>
          </p:cNvSpPr>
          <p:nvPr/>
        </p:nvSpPr>
        <p:spPr>
          <a:xfrm>
            <a:off x="6810375" y="4476750"/>
            <a:ext cx="4000500" cy="447675"/>
          </a:xfrm>
          <a:prstGeom prst="rect">
            <a:avLst/>
          </a:prstGeom>
          <a:noFill/>
          <a:ln w="0">
            <a:noFill/>
          </a:ln>
        </p:spPr>
        <p:txBody>
          <a:bodyPr anchor="t">
            <a:normAutofit fontScale="86574"/>
          </a:bodyPr>
          <a:lstStyle/>
          <a:p>
            <a:pPr algn="l">
              <a:defRPr sz="1350" b="1" i="0">
                <a:solidFill>
                  <a:srgbClr val="D58C00"/>
                </a:solidFill>
                <a:latin typeface="Arial"/>
                <a:ea typeface="Arial"/>
                <a:cs typeface="Arial"/>
              </a:defRPr>
            </a:pPr>
            <a:r>
              <a:rPr sz="1350" b="1" i="0">
                <a:solidFill>
                  <a:srgbClr val="D58C00"/>
                </a:solidFill>
                <a:latin typeface="Arial"/>
                <a:ea typeface="Arial"/>
                <a:cs typeface="Arial"/>
              </a:rPr>
              <a:t>Risk: a table can clarify comparison but may erase overlap, disagreement or uncertainty.</a:t>
            </a:r>
          </a:p>
        </p:txBody>
      </p:sp>
      <p:sp>
        <p:nvSpPr>
          <p:cNvPr id="16" name="Dikdörtgen 15">
            <a:extLst>
              <a:ext uri="{FF2B5EF4-FFF2-40B4-BE49-F238E27FC236}">
                <a16:creationId xmlns:a16="http://schemas.microsoft.com/office/drawing/2014/main" id="{A46F4467-7AD6-4A53-B937-C427C0A62A1D}"/>
              </a:ext>
            </a:extLst>
          </p:cNvPr>
          <p:cNvSpPr>
            <a:spLocks noGrp="1"/>
          </p:cNvSpPr>
          <p:nvPr/>
        </p:nvSpPr>
        <p:spPr>
          <a:xfrm>
            <a:off x="1524000" y="5581650"/>
            <a:ext cx="9144000" cy="428625"/>
          </a:xfrm>
          <a:prstGeom prst="rect">
            <a:avLst/>
          </a:prstGeom>
          <a:noFill/>
          <a:ln w="0">
            <a:noFill/>
          </a:ln>
        </p:spPr>
        <p:txBody>
          <a:bodyPr anchor="t">
            <a:normAutofit fontScale="81237"/>
          </a:bodyPr>
          <a:lstStyle/>
          <a:p>
            <a:pPr algn="ctr">
              <a:defRPr sz="1725" b="1" i="0">
                <a:solidFill>
                  <a:srgbClr val="B94D35"/>
                </a:solidFill>
                <a:latin typeface="Arial"/>
                <a:ea typeface="Arial"/>
                <a:cs typeface="Arial"/>
              </a:defRPr>
            </a:pPr>
            <a:r>
              <a:rPr sz="1725" b="1" i="0">
                <a:solidFill>
                  <a:srgbClr val="B94D35"/>
                </a:solidFill>
                <a:latin typeface="Arial"/>
                <a:ea typeface="Arial"/>
                <a:cs typeface="Arial"/>
              </a:rPr>
              <a:t>The framework therefore evaluates disciplinary fit rather than assuming one universal modification recipe.</a:t>
            </a:r>
          </a:p>
        </p:txBody>
      </p:sp>
      <p:sp>
        <p:nvSpPr>
          <p:cNvPr id="17" name="Dikdörtgen 16">
            <a:extLst>
              <a:ext uri="{FF2B5EF4-FFF2-40B4-BE49-F238E27FC236}">
                <a16:creationId xmlns:a16="http://schemas.microsoft.com/office/drawing/2014/main" id="{0D471B23-4F8A-4042-A787-1A52F6AE93A8}"/>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Mauranen et al., 2016, p. 50; disciplinary application is a MIWAE inference</a:t>
            </a:r>
          </a:p>
        </p:txBody>
      </p:sp>
      <p:sp>
        <p:nvSpPr>
          <p:cNvPr id="18" name="Düz Bağlayıcı 17">
            <a:extLst>
              <a:ext uri="{FF2B5EF4-FFF2-40B4-BE49-F238E27FC236}">
                <a16:creationId xmlns:a16="http://schemas.microsoft.com/office/drawing/2014/main" id="{E5983503-ED8D-46F2-87D6-ECD55F4CE91F}"/>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80A24EFC-1749-4A79-94D1-EDA6EE5B8DE5}"/>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078662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0" name="Yuvarlatılmış Dikdörtgen 9">
            <a:extLst>
              <a:ext uri="{FF2B5EF4-FFF2-40B4-BE49-F238E27FC236}">
                <a16:creationId xmlns:a16="http://schemas.microsoft.com/office/drawing/2014/main" id="{BCD91B22-67EF-4418-BDE6-8FD0B0722C68}"/>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6DBC53A8-B3FD-4800-9F24-B653C91405E0}"/>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C6C9B633-D629-4CC0-A55A-D1F507BCB172}"/>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Located textbook examples across the seven functions</a:t>
            </a:r>
          </a:p>
        </p:txBody>
      </p:sp>
      <p:sp>
        <p:nvSpPr>
          <p:cNvPr id="4" name="Düz Bağlayıcı 3">
            <a:extLst>
              <a:ext uri="{FF2B5EF4-FFF2-40B4-BE49-F238E27FC236}">
                <a16:creationId xmlns:a16="http://schemas.microsoft.com/office/drawing/2014/main" id="{F2EDF9D7-8B53-44A2-8CF9-A07F250D8462}"/>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17D23C2E-DFB3-44E6-AB2D-0F90B1576FF7}"/>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18</a:t>
            </a:r>
          </a:p>
        </p:txBody>
      </p:sp>
      <p:graphicFrame>
        <p:nvGraphicFramePr>
          <p:cNvPr id="15" name="Tablo 14"/>
          <p:cNvGraphicFramePr/>
          <p:nvPr/>
        </p:nvGraphicFramePr>
        <p:xfrm>
          <a:off x="590550" y="1581150"/>
          <a:ext cx="11049000" cy="4457700"/>
        </p:xfrm>
        <a:graphic>
          <a:graphicData uri="http://schemas.openxmlformats.org/drawingml/2006/table">
            <a:tbl>
              <a:tblPr/>
              <a:tblGrid>
                <a:gridCol w="209550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3286125">
                  <a:extLst>
                    <a:ext uri="{9D8B030D-6E8A-4147-A177-3AD203B41FA5}">
                      <a16:colId xmlns:a16="http://schemas.microsoft.com/office/drawing/2014/main" val="20002"/>
                    </a:ext>
                  </a:extLst>
                </a:gridCol>
                <a:gridCol w="3333750">
                  <a:extLst>
                    <a:ext uri="{9D8B030D-6E8A-4147-A177-3AD203B41FA5}">
                      <a16:colId xmlns:a16="http://schemas.microsoft.com/office/drawing/2014/main" val="20003"/>
                    </a:ext>
                  </a:extLst>
                </a:gridCol>
              </a:tblGrid>
              <a:tr h="428625">
                <a:tc>
                  <a:txBody>
                    <a:bodyPr/>
                    <a:lstStyle/>
                    <a:p>
                      <a:r>
                        <a:rPr sz="1125" b="1">
                          <a:solidFill>
                            <a:srgbClr val="FFFFFF"/>
                          </a:solidFill>
                          <a:latin typeface="Arial"/>
                          <a:ea typeface="Arial"/>
                          <a:cs typeface="Arial"/>
                        </a:rPr>
                        <a:t>Function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Book and location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Observable form</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Potential support</a:t>
                      </a:r>
                    </a:p>
                  </a:txBody>
                  <a:tcPr marL="95250" marR="95250" marT="76200" marB="66675" anchor="ctr">
                    <a:solidFill>
                      <a:srgbClr val="123B53"/>
                    </a:solidFill>
                  </a:tcPr>
                </a:tc>
                <a:extLst>
                  <a:ext uri="{0D108BD9-81ED-4DB2-BD59-A6C34878D82A}">
                    <a16:rowId xmlns:a16="http://schemas.microsoft.com/office/drawing/2014/main" val="10000"/>
                  </a:ext>
                </a:extLst>
              </a:tr>
              <a:tr h="571500">
                <a:tc>
                  <a:txBody>
                    <a:bodyPr/>
                    <a:lstStyle/>
                    <a:p>
                      <a:r>
                        <a:rPr sz="938" b="1">
                          <a:solidFill>
                            <a:srgbClr val="176082"/>
                          </a:solidFill>
                          <a:latin typeface="Arial"/>
                          <a:ea typeface="Arial"/>
                          <a:cs typeface="Arial"/>
                        </a:rPr>
                        <a:t>1  Meaning access</a:t>
                      </a:r>
                    </a:p>
                  </a:txBody>
                  <a:tcPr marL="95250" marR="95250" marT="66675" marB="66675" anchor="ctr">
                    <a:solidFill>
                      <a:srgbClr val="E6F0F5"/>
                    </a:solidFill>
                  </a:tcPr>
                </a:tc>
                <a:tc>
                  <a:txBody>
                    <a:bodyPr/>
                    <a:lstStyle/>
                    <a:p>
                      <a:r>
                        <a:rPr sz="938">
                          <a:solidFill>
                            <a:srgbClr val="33343F"/>
                          </a:solidFill>
                          <a:latin typeface="Arial"/>
                          <a:ea typeface="Arial"/>
                          <a:cs typeface="Arial"/>
                        </a:rPr>
                        <a:t>Goldstein, p. 66</a:t>
                      </a:r>
                    </a:p>
                  </a:txBody>
                  <a:tcPr marL="95250" marR="95250" marT="66675" marB="66675" anchor="ctr">
                    <a:solidFill>
                      <a:srgbClr val="FFFFFF"/>
                    </a:solidFill>
                  </a:tcPr>
                </a:tc>
                <a:tc>
                  <a:txBody>
                    <a:bodyPr/>
                    <a:lstStyle/>
                    <a:p>
                      <a:r>
                        <a:rPr sz="938">
                          <a:solidFill>
                            <a:srgbClr val="33343F"/>
                          </a:solidFill>
                          <a:latin typeface="Arial"/>
                          <a:ea typeface="Arial"/>
                          <a:cs typeface="Arial"/>
                        </a:rPr>
                        <a:t>Direct disciplinary definition of power</a:t>
                      </a:r>
                    </a:p>
                  </a:txBody>
                  <a:tcPr marL="95250" marR="95250" marT="66675" marB="66675" anchor="ctr">
                    <a:solidFill>
                      <a:srgbClr val="FFFFFF"/>
                    </a:solidFill>
                  </a:tcPr>
                </a:tc>
                <a:tc>
                  <a:txBody>
                    <a:bodyPr/>
                    <a:lstStyle/>
                    <a:p>
                      <a:r>
                        <a:rPr sz="938">
                          <a:solidFill>
                            <a:srgbClr val="33343F"/>
                          </a:solidFill>
                          <a:latin typeface="Arial"/>
                          <a:ea typeface="Arial"/>
                          <a:cs typeface="Arial"/>
                        </a:rPr>
                        <a:t>Scopes a familiar word</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r>
                        <a:rPr sz="938" b="1">
                          <a:solidFill>
                            <a:srgbClr val="176082"/>
                          </a:solidFill>
                          <a:latin typeface="Arial"/>
                          <a:ea typeface="Arial"/>
                          <a:cs typeface="Arial"/>
                        </a:rPr>
                        <a:t>2  Orientation</a:t>
                      </a:r>
                    </a:p>
                  </a:txBody>
                  <a:tcPr marL="95250" marR="95250" marT="66675" marB="66675" anchor="ctr">
                    <a:solidFill>
                      <a:srgbClr val="E6F0F5"/>
                    </a:solidFill>
                  </a:tcPr>
                </a:tc>
                <a:tc>
                  <a:txBody>
                    <a:bodyPr/>
                    <a:lstStyle/>
                    <a:p>
                      <a:r>
                        <a:rPr sz="938">
                          <a:solidFill>
                            <a:srgbClr val="33343F"/>
                          </a:solidFill>
                          <a:latin typeface="Arial"/>
                          <a:ea typeface="Arial"/>
                          <a:cs typeface="Arial"/>
                        </a:rPr>
                        <a:t>Baylis, p. 433</a:t>
                      </a:r>
                    </a:p>
                  </a:txBody>
                  <a:tcPr marL="95250" marR="95250" marT="66675" marB="66675" anchor="ctr">
                    <a:solidFill>
                      <a:srgbClr val="FFFFFF"/>
                    </a:solidFill>
                  </a:tcPr>
                </a:tc>
                <a:tc>
                  <a:txBody>
                    <a:bodyPr/>
                    <a:lstStyle/>
                    <a:p>
                      <a:r>
                        <a:rPr sz="938">
                          <a:solidFill>
                            <a:srgbClr val="33343F"/>
                          </a:solidFill>
                          <a:latin typeface="Arial"/>
                          <a:ea typeface="Arial"/>
                          <a:cs typeface="Arial"/>
                        </a:rPr>
                        <a:t>Reader’s Guide previews chapter purpose</a:t>
                      </a:r>
                    </a:p>
                  </a:txBody>
                  <a:tcPr marL="95250" marR="95250" marT="66675" marB="66675" anchor="ctr">
                    <a:solidFill>
                      <a:srgbClr val="FFFFFF"/>
                    </a:solidFill>
                  </a:tcPr>
                </a:tc>
                <a:tc>
                  <a:txBody>
                    <a:bodyPr/>
                    <a:lstStyle/>
                    <a:p>
                      <a:r>
                        <a:rPr sz="938">
                          <a:solidFill>
                            <a:srgbClr val="33343F"/>
                          </a:solidFill>
                          <a:latin typeface="Arial"/>
                          <a:ea typeface="Arial"/>
                          <a:cs typeface="Arial"/>
                        </a:rPr>
                        <a:t>Shows the route before detail</a:t>
                      </a:r>
                    </a:p>
                  </a:txBody>
                  <a:tcPr marL="95250" marR="95250" marT="66675" marB="66675" anchor="ctr">
                    <a:solidFill>
                      <a:srgbClr val="FFFFFF"/>
                    </a:solidFill>
                  </a:tcPr>
                </a:tc>
                <a:extLst>
                  <a:ext uri="{0D108BD9-81ED-4DB2-BD59-A6C34878D82A}">
                    <a16:rowId xmlns:a16="http://schemas.microsoft.com/office/drawing/2014/main" val="10002"/>
                  </a:ext>
                </a:extLst>
              </a:tr>
              <a:tr h="571500">
                <a:tc>
                  <a:txBody>
                    <a:bodyPr/>
                    <a:lstStyle/>
                    <a:p>
                      <a:r>
                        <a:rPr sz="938" b="1">
                          <a:solidFill>
                            <a:srgbClr val="176082"/>
                          </a:solidFill>
                          <a:latin typeface="Arial"/>
                          <a:ea typeface="Arial"/>
                          <a:cs typeface="Arial"/>
                        </a:rPr>
                        <a:t>3  Rhetorical relations</a:t>
                      </a:r>
                    </a:p>
                  </a:txBody>
                  <a:tcPr marL="95250" marR="95250" marT="66675" marB="66675" anchor="ctr">
                    <a:solidFill>
                      <a:srgbClr val="E6F0F5"/>
                    </a:solidFill>
                  </a:tcPr>
                </a:tc>
                <a:tc>
                  <a:txBody>
                    <a:bodyPr/>
                    <a:lstStyle/>
                    <a:p>
                      <a:r>
                        <a:rPr sz="938">
                          <a:solidFill>
                            <a:srgbClr val="33343F"/>
                          </a:solidFill>
                          <a:latin typeface="Arial"/>
                          <a:ea typeface="Arial"/>
                          <a:cs typeface="Arial"/>
                        </a:rPr>
                        <a:t>Sedra, p. 39</a:t>
                      </a:r>
                    </a:p>
                  </a:txBody>
                  <a:tcPr marL="95250" marR="95250" marT="66675" marB="66675" anchor="ctr">
                    <a:solidFill>
                      <a:srgbClr val="FFFFFF"/>
                    </a:solidFill>
                  </a:tcPr>
                </a:tc>
                <a:tc>
                  <a:txBody>
                    <a:bodyPr/>
                    <a:lstStyle/>
                    <a:p>
                      <a:r>
                        <a:rPr sz="938">
                          <a:solidFill>
                            <a:srgbClr val="33343F"/>
                          </a:solidFill>
                          <a:latin typeface="Arial"/>
                          <a:ea typeface="Arial"/>
                          <a:cs typeface="Arial"/>
                        </a:rPr>
                        <a:t>‘On the other hand’ marks a contrast</a:t>
                      </a:r>
                    </a:p>
                  </a:txBody>
                  <a:tcPr marL="95250" marR="95250" marT="66675" marB="66675" anchor="ctr">
                    <a:solidFill>
                      <a:srgbClr val="FFFFFF"/>
                    </a:solidFill>
                  </a:tcPr>
                </a:tc>
                <a:tc>
                  <a:txBody>
                    <a:bodyPr/>
                    <a:lstStyle/>
                    <a:p>
                      <a:r>
                        <a:rPr sz="938">
                          <a:solidFill>
                            <a:srgbClr val="33343F"/>
                          </a:solidFill>
                          <a:latin typeface="Arial"/>
                          <a:ea typeface="Arial"/>
                          <a:cs typeface="Arial"/>
                        </a:rPr>
                        <a:t>Makes a scope difference visible</a:t>
                      </a:r>
                    </a:p>
                  </a:txBody>
                  <a:tcPr marL="95250" marR="95250" marT="66675" marB="66675" anchor="ctr">
                    <a:solidFill>
                      <a:srgbClr val="FFFFFF"/>
                    </a:solidFill>
                  </a:tcPr>
                </a:tc>
                <a:extLst>
                  <a:ext uri="{0D108BD9-81ED-4DB2-BD59-A6C34878D82A}">
                    <a16:rowId xmlns:a16="http://schemas.microsoft.com/office/drawing/2014/main" val="10003"/>
                  </a:ext>
                </a:extLst>
              </a:tr>
              <a:tr h="571500">
                <a:tc>
                  <a:txBody>
                    <a:bodyPr/>
                    <a:lstStyle/>
                    <a:p>
                      <a:r>
                        <a:rPr sz="938" b="1">
                          <a:solidFill>
                            <a:srgbClr val="176082"/>
                          </a:solidFill>
                          <a:latin typeface="Arial"/>
                          <a:ea typeface="Arial"/>
                          <a:cs typeface="Arial"/>
                        </a:rPr>
                        <a:t>4  Background knowledge</a:t>
                      </a:r>
                    </a:p>
                  </a:txBody>
                  <a:tcPr marL="95250" marR="95250" marT="66675" marB="66675" anchor="ctr">
                    <a:solidFill>
                      <a:srgbClr val="E6F0F5"/>
                    </a:solidFill>
                  </a:tcPr>
                </a:tc>
                <a:tc>
                  <a:txBody>
                    <a:bodyPr/>
                    <a:lstStyle/>
                    <a:p>
                      <a:r>
                        <a:rPr sz="938">
                          <a:solidFill>
                            <a:srgbClr val="33343F"/>
                          </a:solidFill>
                          <a:latin typeface="Arial"/>
                          <a:ea typeface="Arial"/>
                          <a:cs typeface="Arial"/>
                        </a:rPr>
                        <a:t>Blanton, p. 278</a:t>
                      </a:r>
                    </a:p>
                  </a:txBody>
                  <a:tcPr marL="95250" marR="95250" marT="66675" marB="66675" anchor="ctr">
                    <a:solidFill>
                      <a:srgbClr val="FFFFFF"/>
                    </a:solidFill>
                  </a:tcPr>
                </a:tc>
                <a:tc>
                  <a:txBody>
                    <a:bodyPr/>
                    <a:lstStyle/>
                    <a:p>
                      <a:r>
                        <a:rPr sz="938">
                          <a:solidFill>
                            <a:srgbClr val="33343F"/>
                          </a:solidFill>
                          <a:latin typeface="Arial"/>
                          <a:ea typeface="Arial"/>
                          <a:cs typeface="Arial"/>
                        </a:rPr>
                        <a:t>Formal and familiar labels for drones</a:t>
                      </a:r>
                    </a:p>
                  </a:txBody>
                  <a:tcPr marL="95250" marR="95250" marT="66675" marB="66675" anchor="ctr">
                    <a:solidFill>
                      <a:srgbClr val="FFFFFF"/>
                    </a:solidFill>
                  </a:tcPr>
                </a:tc>
                <a:tc>
                  <a:txBody>
                    <a:bodyPr/>
                    <a:lstStyle/>
                    <a:p>
                      <a:r>
                        <a:rPr sz="938">
                          <a:solidFill>
                            <a:srgbClr val="33343F"/>
                          </a:solidFill>
                          <a:latin typeface="Arial"/>
                          <a:ea typeface="Arial"/>
                          <a:cs typeface="Arial"/>
                        </a:rPr>
                        <a:t>Connects new and shared knowledge</a:t>
                      </a:r>
                    </a:p>
                  </a:txBody>
                  <a:tcPr marL="95250" marR="95250" marT="66675" marB="66675" anchor="ctr">
                    <a:solidFill>
                      <a:srgbClr val="FFFFFF"/>
                    </a:solidFill>
                  </a:tcPr>
                </a:tc>
                <a:extLst>
                  <a:ext uri="{0D108BD9-81ED-4DB2-BD59-A6C34878D82A}">
                    <a16:rowId xmlns:a16="http://schemas.microsoft.com/office/drawing/2014/main" val="10004"/>
                  </a:ext>
                </a:extLst>
              </a:tr>
              <a:tr h="571500">
                <a:tc>
                  <a:txBody>
                    <a:bodyPr/>
                    <a:lstStyle/>
                    <a:p>
                      <a:r>
                        <a:rPr sz="938" b="1">
                          <a:solidFill>
                            <a:srgbClr val="176082"/>
                          </a:solidFill>
                          <a:latin typeface="Arial"/>
                          <a:ea typeface="Arial"/>
                          <a:cs typeface="Arial"/>
                        </a:rPr>
                        <a:t>5  Conceptual continuity</a:t>
                      </a:r>
                    </a:p>
                  </a:txBody>
                  <a:tcPr marL="95250" marR="95250" marT="66675" marB="66675" anchor="ctr">
                    <a:solidFill>
                      <a:srgbClr val="E6F0F5"/>
                    </a:solidFill>
                  </a:tcPr>
                </a:tc>
                <a:tc>
                  <a:txBody>
                    <a:bodyPr/>
                    <a:lstStyle/>
                    <a:p>
                      <a:r>
                        <a:rPr sz="938">
                          <a:solidFill>
                            <a:srgbClr val="33343F"/>
                          </a:solidFill>
                          <a:latin typeface="Arial"/>
                          <a:ea typeface="Arial"/>
                          <a:cs typeface="Arial"/>
                        </a:rPr>
                        <a:t>Hambley, p. 571</a:t>
                      </a:r>
                    </a:p>
                  </a:txBody>
                  <a:tcPr marL="95250" marR="95250" marT="66675" marB="66675" anchor="ctr">
                    <a:solidFill>
                      <a:srgbClr val="FFFFFF"/>
                    </a:solidFill>
                  </a:tcPr>
                </a:tc>
                <a:tc>
                  <a:txBody>
                    <a:bodyPr/>
                    <a:lstStyle/>
                    <a:p>
                      <a:r>
                        <a:rPr sz="938">
                          <a:solidFill>
                            <a:srgbClr val="33343F"/>
                          </a:solidFill>
                          <a:latin typeface="Arial"/>
                          <a:ea typeface="Arial"/>
                          <a:cs typeface="Arial"/>
                        </a:rPr>
                        <a:t>‘Recall from Section 2.6’</a:t>
                      </a:r>
                    </a:p>
                  </a:txBody>
                  <a:tcPr marL="95250" marR="95250" marT="66675" marB="66675" anchor="ctr">
                    <a:solidFill>
                      <a:srgbClr val="FFFFFF"/>
                    </a:solidFill>
                  </a:tcPr>
                </a:tc>
                <a:tc>
                  <a:txBody>
                    <a:bodyPr/>
                    <a:lstStyle/>
                    <a:p>
                      <a:r>
                        <a:rPr sz="938">
                          <a:solidFill>
                            <a:srgbClr val="33343F"/>
                          </a:solidFill>
                          <a:latin typeface="Arial"/>
                          <a:ea typeface="Arial"/>
                          <a:cs typeface="Arial"/>
                        </a:rPr>
                        <a:t>Reactivates a required method</a:t>
                      </a:r>
                    </a:p>
                  </a:txBody>
                  <a:tcPr marL="95250" marR="95250" marT="66675" marB="66675" anchor="ctr">
                    <a:solidFill>
                      <a:srgbClr val="FFFFFF"/>
                    </a:solidFill>
                  </a:tcPr>
                </a:tc>
                <a:extLst>
                  <a:ext uri="{0D108BD9-81ED-4DB2-BD59-A6C34878D82A}">
                    <a16:rowId xmlns:a16="http://schemas.microsoft.com/office/drawing/2014/main" val="10005"/>
                  </a:ext>
                </a:extLst>
              </a:tr>
              <a:tr h="571500">
                <a:tc>
                  <a:txBody>
                    <a:bodyPr/>
                    <a:lstStyle/>
                    <a:p>
                      <a:r>
                        <a:rPr sz="938" b="1">
                          <a:solidFill>
                            <a:srgbClr val="176082"/>
                          </a:solidFill>
                          <a:latin typeface="Arial"/>
                          <a:ea typeface="Arial"/>
                          <a:cs typeface="Arial"/>
                        </a:rPr>
                        <a:t>6  Reader engagement</a:t>
                      </a:r>
                    </a:p>
                  </a:txBody>
                  <a:tcPr marL="95250" marR="95250" marT="66675" marB="66675" anchor="ctr">
                    <a:solidFill>
                      <a:srgbClr val="E6F0F5"/>
                    </a:solidFill>
                  </a:tcPr>
                </a:tc>
                <a:tc>
                  <a:txBody>
                    <a:bodyPr/>
                    <a:lstStyle/>
                    <a:p>
                      <a:r>
                        <a:rPr sz="938">
                          <a:solidFill>
                            <a:srgbClr val="33343F"/>
                          </a:solidFill>
                          <a:latin typeface="Arial"/>
                          <a:ea typeface="Arial"/>
                          <a:cs typeface="Arial"/>
                        </a:rPr>
                        <a:t>Sedra, p. 90</a:t>
                      </a:r>
                    </a:p>
                  </a:txBody>
                  <a:tcPr marL="95250" marR="95250" marT="66675" marB="66675" anchor="ctr">
                    <a:solidFill>
                      <a:srgbClr val="FFFFFF"/>
                    </a:solidFill>
                  </a:tcPr>
                </a:tc>
                <a:tc>
                  <a:txBody>
                    <a:bodyPr/>
                    <a:lstStyle/>
                    <a:p>
                      <a:r>
                        <a:rPr sz="938">
                          <a:solidFill>
                            <a:srgbClr val="33343F"/>
                          </a:solidFill>
                          <a:latin typeface="Arial"/>
                          <a:ea typeface="Arial"/>
                          <a:cs typeface="Arial"/>
                        </a:rPr>
                        <a:t>Embedded exercise on op-amp terminals</a:t>
                      </a:r>
                    </a:p>
                  </a:txBody>
                  <a:tcPr marL="95250" marR="95250" marT="66675" marB="66675" anchor="ctr">
                    <a:solidFill>
                      <a:srgbClr val="FFFFFF"/>
                    </a:solidFill>
                  </a:tcPr>
                </a:tc>
                <a:tc>
                  <a:txBody>
                    <a:bodyPr/>
                    <a:lstStyle/>
                    <a:p>
                      <a:r>
                        <a:rPr sz="938">
                          <a:solidFill>
                            <a:srgbClr val="33343F"/>
                          </a:solidFill>
                          <a:latin typeface="Arial"/>
                          <a:ea typeface="Arial"/>
                          <a:cs typeface="Arial"/>
                        </a:rPr>
                        <a:t>Supports immediate self-checking</a:t>
                      </a:r>
                    </a:p>
                  </a:txBody>
                  <a:tcPr marL="95250" marR="95250" marT="66675" marB="66675" anchor="ctr">
                    <a:solidFill>
                      <a:srgbClr val="FFFFFF"/>
                    </a:solidFill>
                  </a:tcPr>
                </a:tc>
                <a:extLst>
                  <a:ext uri="{0D108BD9-81ED-4DB2-BD59-A6C34878D82A}">
                    <a16:rowId xmlns:a16="http://schemas.microsoft.com/office/drawing/2014/main" val="10006"/>
                  </a:ext>
                </a:extLst>
              </a:tr>
              <a:tr h="571500">
                <a:tc>
                  <a:txBody>
                    <a:bodyPr/>
                    <a:lstStyle/>
                    <a:p>
                      <a:r>
                        <a:rPr sz="938" b="1">
                          <a:solidFill>
                            <a:srgbClr val="176082"/>
                          </a:solidFill>
                          <a:latin typeface="Arial"/>
                          <a:ea typeface="Arial"/>
                          <a:cs typeface="Arial"/>
                        </a:rPr>
                        <a:t>7  Multimodal scaffolding</a:t>
                      </a:r>
                    </a:p>
                  </a:txBody>
                  <a:tcPr marL="95250" marR="95250" marT="66675" marB="66675" anchor="ctr">
                    <a:solidFill>
                      <a:srgbClr val="E6F0F5"/>
                    </a:solidFill>
                  </a:tcPr>
                </a:tc>
                <a:tc>
                  <a:txBody>
                    <a:bodyPr/>
                    <a:lstStyle/>
                    <a:p>
                      <a:r>
                        <a:rPr sz="938">
                          <a:solidFill>
                            <a:srgbClr val="33343F"/>
                          </a:solidFill>
                          <a:latin typeface="Arial"/>
                          <a:ea typeface="Arial"/>
                          <a:cs typeface="Arial"/>
                        </a:rPr>
                        <a:t>Sadiku, sampled chapters</a:t>
                      </a:r>
                    </a:p>
                  </a:txBody>
                  <a:tcPr marL="95250" marR="95250" marT="66675" marB="66675" anchor="ctr">
                    <a:solidFill>
                      <a:srgbClr val="FFFFFF"/>
                    </a:solidFill>
                  </a:tcPr>
                </a:tc>
                <a:tc>
                  <a:txBody>
                    <a:bodyPr/>
                    <a:lstStyle/>
                    <a:p>
                      <a:r>
                        <a:rPr sz="938">
                          <a:solidFill>
                            <a:srgbClr val="33343F"/>
                          </a:solidFill>
                          <a:latin typeface="Arial"/>
                          <a:ea typeface="Arial"/>
                          <a:cs typeface="Arial"/>
                        </a:rPr>
                        <a:t>Figure references with labelled circuit diagrams</a:t>
                      </a:r>
                    </a:p>
                  </a:txBody>
                  <a:tcPr marL="95250" marR="95250" marT="66675" marB="66675" anchor="ctr">
                    <a:solidFill>
                      <a:srgbClr val="FFFFFF"/>
                    </a:solidFill>
                  </a:tcPr>
                </a:tc>
                <a:tc>
                  <a:txBody>
                    <a:bodyPr/>
                    <a:lstStyle/>
                    <a:p>
                      <a:r>
                        <a:rPr sz="938">
                          <a:solidFill>
                            <a:srgbClr val="33343F"/>
                          </a:solidFill>
                          <a:latin typeface="Arial"/>
                          <a:ea typeface="Arial"/>
                          <a:cs typeface="Arial"/>
                        </a:rPr>
                        <a:t>Coordinates prose, symbols and visuals</a:t>
                      </a:r>
                    </a:p>
                  </a:txBody>
                  <a:tcPr marL="95250" marR="95250" marT="66675" marB="66675" anchor="ctr">
                    <a:solidFill>
                      <a:srgbClr val="FFFFFF"/>
                    </a:solidFill>
                  </a:tcPr>
                </a:tc>
                <a:extLst>
                  <a:ext uri="{0D108BD9-81ED-4DB2-BD59-A6C34878D82A}">
                    <a16:rowId xmlns:a16="http://schemas.microsoft.com/office/drawing/2014/main" val="10007"/>
                  </a:ext>
                </a:extLst>
              </a:tr>
            </a:tbl>
          </a:graphicData>
        </a:graphic>
      </p:graphicFrame>
      <p:sp>
        <p:nvSpPr>
          <p:cNvPr id="7" name="Dikdörtgen 6">
            <a:extLst>
              <a:ext uri="{FF2B5EF4-FFF2-40B4-BE49-F238E27FC236}">
                <a16:creationId xmlns:a16="http://schemas.microsoft.com/office/drawing/2014/main" id="{1B7C0EDA-F721-4762-851B-3864466E2DEC}"/>
              </a:ext>
            </a:extLst>
          </p:cNvPr>
          <p:cNvSpPr>
            <a:spLocks noGrp="1"/>
          </p:cNvSpPr>
          <p:nvPr/>
        </p:nvSpPr>
        <p:spPr>
          <a:xfrm>
            <a:off x="1428750" y="6115050"/>
            <a:ext cx="9334500" cy="219075"/>
          </a:xfrm>
          <a:prstGeom prst="rect">
            <a:avLst/>
          </a:prstGeom>
          <a:noFill/>
          <a:ln w="0">
            <a:noFill/>
          </a:ln>
        </p:spPr>
        <p:txBody>
          <a:bodyPr anchor="t">
            <a:normAutofit fontScale="74444"/>
          </a:bodyPr>
          <a:lstStyle/>
          <a:p>
            <a:pPr algn="ctr">
              <a:defRPr sz="1125" b="1" i="0">
                <a:solidFill>
                  <a:srgbClr val="B94D35"/>
                </a:solidFill>
                <a:latin typeface="Arial"/>
                <a:ea typeface="Arial"/>
                <a:cs typeface="Arial"/>
              </a:defRPr>
            </a:pPr>
            <a:r>
              <a:rPr sz="1125" b="1" i="0">
                <a:solidFill>
                  <a:srgbClr val="B94D35"/>
                </a:solidFill>
                <a:latin typeface="Arial"/>
                <a:ea typeface="Arial"/>
                <a:cs typeface="Arial"/>
              </a:rPr>
              <a:t>Function is coded from local rhetorical purpose; form alone does not establish ELFA friendliness or distribution.</a:t>
            </a:r>
          </a:p>
        </p:txBody>
      </p:sp>
      <p:sp>
        <p:nvSpPr>
          <p:cNvPr id="8" name="Düz Bağlayıcı 7">
            <a:extLst>
              <a:ext uri="{FF2B5EF4-FFF2-40B4-BE49-F238E27FC236}">
                <a16:creationId xmlns:a16="http://schemas.microsoft.com/office/drawing/2014/main" id="{36E8DF6C-F16F-4D12-8721-C8F8E5E99400}"/>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467DFF95-40A1-4F36-BB9F-1713BC9E2436}"/>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21737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8" name="Yuvarlatılmış Dikdörtgen 17">
            <a:extLst>
              <a:ext uri="{FF2B5EF4-FFF2-40B4-BE49-F238E27FC236}">
                <a16:creationId xmlns:a16="http://schemas.microsoft.com/office/drawing/2014/main" id="{F07D2251-D2FD-4A16-B75D-1A395B8D4C63}"/>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4D4077ED-20DD-4AF2-BF56-29DD496A6B1E}"/>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8BC6487B-5FA5-41F8-A72A-2B39E8418EDC}"/>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Visual scaffolding varied sharply by discipline</a:t>
            </a:r>
          </a:p>
        </p:txBody>
      </p:sp>
      <p:sp>
        <p:nvSpPr>
          <p:cNvPr id="4" name="Düz Bağlayıcı 3">
            <a:extLst>
              <a:ext uri="{FF2B5EF4-FFF2-40B4-BE49-F238E27FC236}">
                <a16:creationId xmlns:a16="http://schemas.microsoft.com/office/drawing/2014/main" id="{D25442B8-40C6-409D-9F2E-D98422C16D13}"/>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6A7988F3-3A50-4810-8DCC-29DDA283F6F5}"/>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19</a:t>
            </a:r>
          </a:p>
        </p:txBody>
      </p:sp>
      <p:sp>
        <p:nvSpPr>
          <p:cNvPr id="6" name="Yuvarlatılmış Dikdörtgen 5">
            <a:extLst>
              <a:ext uri="{FF2B5EF4-FFF2-40B4-BE49-F238E27FC236}">
                <a16:creationId xmlns:a16="http://schemas.microsoft.com/office/drawing/2014/main" id="{AE430235-782F-4C94-9AE2-C4396159BE96}"/>
              </a:ext>
            </a:extLst>
          </p:cNvPr>
          <p:cNvSpPr>
            <a:spLocks noGrp="1"/>
          </p:cNvSpPr>
          <p:nvPr/>
        </p:nvSpPr>
        <p:spPr>
          <a:xfrm>
            <a:off x="742950" y="1581150"/>
            <a:ext cx="1952625" cy="266700"/>
          </a:xfrm>
          <a:prstGeom prst="roundRect">
            <a:avLst>
              <a:gd name="adj" fmla="val 28571"/>
            </a:avLst>
          </a:prstGeom>
          <a:solidFill>
            <a:srgbClr val="D58C00"/>
          </a:solidFill>
          <a:ln w="0">
            <a:noFill/>
          </a:ln>
        </p:spPr>
        <p:txBody>
          <a:bodyPr/>
          <a:lstStyle/>
          <a:p>
            <a:endParaRPr lang="tr-TR"/>
          </a:p>
        </p:txBody>
      </p:sp>
      <p:sp>
        <p:nvSpPr>
          <p:cNvPr id="7" name="Dikdörtgen 6">
            <a:extLst>
              <a:ext uri="{FF2B5EF4-FFF2-40B4-BE49-F238E27FC236}">
                <a16:creationId xmlns:a16="http://schemas.microsoft.com/office/drawing/2014/main" id="{A4FA6685-4C74-4ED5-AB79-CC898F0DD334}"/>
              </a:ext>
            </a:extLst>
          </p:cNvPr>
          <p:cNvSpPr>
            <a:spLocks noGrp="1"/>
          </p:cNvSpPr>
          <p:nvPr/>
        </p:nvSpPr>
        <p:spPr>
          <a:xfrm>
            <a:off x="819150" y="1609725"/>
            <a:ext cx="1800225"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INTERVIEWS</a:t>
            </a:r>
          </a:p>
        </p:txBody>
      </p:sp>
      <p:sp>
        <p:nvSpPr>
          <p:cNvPr id="8" name="Yuvarlatılmış Dikdörtgen 7">
            <a:extLst>
              <a:ext uri="{FF2B5EF4-FFF2-40B4-BE49-F238E27FC236}">
                <a16:creationId xmlns:a16="http://schemas.microsoft.com/office/drawing/2014/main" id="{15DDA556-4C07-4230-B392-3A2FF1B1B0EB}"/>
              </a:ext>
            </a:extLst>
          </p:cNvPr>
          <p:cNvSpPr>
            <a:spLocks noGrp="1"/>
          </p:cNvSpPr>
          <p:nvPr/>
        </p:nvSpPr>
        <p:spPr>
          <a:xfrm>
            <a:off x="6343650" y="1581150"/>
            <a:ext cx="1714500" cy="266700"/>
          </a:xfrm>
          <a:prstGeom prst="roundRect">
            <a:avLst>
              <a:gd name="adj" fmla="val 28571"/>
            </a:avLst>
          </a:prstGeom>
          <a:solidFill>
            <a:srgbClr val="176082"/>
          </a:solidFill>
          <a:ln w="0">
            <a:noFill/>
          </a:ln>
        </p:spPr>
        <p:txBody>
          <a:bodyPr/>
          <a:lstStyle/>
          <a:p>
            <a:endParaRPr lang="tr-TR"/>
          </a:p>
        </p:txBody>
      </p:sp>
      <p:sp>
        <p:nvSpPr>
          <p:cNvPr id="9" name="Dikdörtgen 8">
            <a:extLst>
              <a:ext uri="{FF2B5EF4-FFF2-40B4-BE49-F238E27FC236}">
                <a16:creationId xmlns:a16="http://schemas.microsoft.com/office/drawing/2014/main" id="{9F8C29B5-60F4-49F4-90A2-15A013F478E4}"/>
              </a:ext>
            </a:extLst>
          </p:cNvPr>
          <p:cNvSpPr>
            <a:spLocks noGrp="1"/>
          </p:cNvSpPr>
          <p:nvPr/>
        </p:nvSpPr>
        <p:spPr>
          <a:xfrm>
            <a:off x="6419850" y="1609725"/>
            <a:ext cx="1562100"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NINE FULL TEXTS</a:t>
            </a:r>
          </a:p>
        </p:txBody>
      </p:sp>
      <p:sp>
        <p:nvSpPr>
          <p:cNvPr id="10" name="Yuvarlatılmış Dikdörtgen 9">
            <a:extLst>
              <a:ext uri="{FF2B5EF4-FFF2-40B4-BE49-F238E27FC236}">
                <a16:creationId xmlns:a16="http://schemas.microsoft.com/office/drawing/2014/main" id="{17911847-8269-4F63-9172-5F442AE11C3E}"/>
              </a:ext>
            </a:extLst>
          </p:cNvPr>
          <p:cNvSpPr>
            <a:spLocks noGrp="1"/>
          </p:cNvSpPr>
          <p:nvPr/>
        </p:nvSpPr>
        <p:spPr>
          <a:xfrm>
            <a:off x="742950" y="2028825"/>
            <a:ext cx="4762500" cy="3143250"/>
          </a:xfrm>
          <a:prstGeom prst="roundRect">
            <a:avLst>
              <a:gd name="adj" fmla="val 2424"/>
            </a:avLst>
          </a:prstGeom>
          <a:solidFill>
            <a:srgbClr val="FFFFFF"/>
          </a:solid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EBEA9ACE-7F95-493C-A2C4-6259412D0F4A}"/>
              </a:ext>
            </a:extLst>
          </p:cNvPr>
          <p:cNvSpPr>
            <a:spLocks noGrp="1"/>
          </p:cNvSpPr>
          <p:nvPr/>
        </p:nvSpPr>
        <p:spPr>
          <a:xfrm>
            <a:off x="1143000" y="2428875"/>
            <a:ext cx="1809750" cy="666750"/>
          </a:xfrm>
          <a:prstGeom prst="rect">
            <a:avLst/>
          </a:prstGeom>
          <a:noFill/>
          <a:ln w="0">
            <a:noFill/>
          </a:ln>
        </p:spPr>
        <p:txBody>
          <a:bodyPr anchor="t">
            <a:normAutofit/>
          </a:bodyPr>
          <a:lstStyle/>
          <a:p>
            <a:pPr algn="l">
              <a:defRPr sz="3750" b="1" i="0">
                <a:solidFill>
                  <a:srgbClr val="176082"/>
                </a:solidFill>
                <a:latin typeface="Arial"/>
                <a:ea typeface="Arial"/>
                <a:cs typeface="Arial"/>
              </a:defRPr>
            </a:pPr>
            <a:r>
              <a:rPr sz="3750" b="1" i="0">
                <a:solidFill>
                  <a:srgbClr val="176082"/>
                </a:solidFill>
                <a:latin typeface="Arial"/>
                <a:ea typeface="Arial"/>
                <a:cs typeface="Arial"/>
              </a:rPr>
              <a:t>8 / 10</a:t>
            </a:r>
          </a:p>
        </p:txBody>
      </p:sp>
      <p:sp>
        <p:nvSpPr>
          <p:cNvPr id="12" name="Dikdörtgen 11">
            <a:extLst>
              <a:ext uri="{FF2B5EF4-FFF2-40B4-BE49-F238E27FC236}">
                <a16:creationId xmlns:a16="http://schemas.microsoft.com/office/drawing/2014/main" id="{40F59EFA-EDEC-480B-97B2-659F0A9B4A24}"/>
              </a:ext>
            </a:extLst>
          </p:cNvPr>
          <p:cNvSpPr>
            <a:spLocks noGrp="1"/>
          </p:cNvSpPr>
          <p:nvPr/>
        </p:nvSpPr>
        <p:spPr>
          <a:xfrm>
            <a:off x="1143000" y="3257550"/>
            <a:ext cx="3714750" cy="904875"/>
          </a:xfrm>
          <a:prstGeom prst="rect">
            <a:avLst/>
          </a:prstGeom>
          <a:noFill/>
          <a:ln w="0">
            <a:noFill/>
          </a:ln>
        </p:spPr>
        <p:txBody>
          <a:bodyPr anchor="t">
            <a:normAutofit/>
          </a:bodyPr>
          <a:lstStyle/>
          <a:p>
            <a:pPr algn="l">
              <a:defRPr sz="1725" b="1" i="0">
                <a:solidFill>
                  <a:srgbClr val="33343F"/>
                </a:solidFill>
                <a:latin typeface="Arial"/>
                <a:ea typeface="Arial"/>
                <a:cs typeface="Arial"/>
              </a:defRPr>
            </a:pPr>
            <a:r>
              <a:rPr sz="1725" b="1" i="0">
                <a:solidFill>
                  <a:srgbClr val="33343F"/>
                </a:solidFill>
                <a:latin typeface="Arial"/>
                <a:ea typeface="Arial"/>
                <a:cs typeface="Arial"/>
              </a:rPr>
              <a:t>EE interviewees named a graph, table, diagram or worked visual as helpful</a:t>
            </a:r>
          </a:p>
        </p:txBody>
      </p:sp>
      <p:sp>
        <p:nvSpPr>
          <p:cNvPr id="13" name="Dikdörtgen 12">
            <a:extLst>
              <a:ext uri="{FF2B5EF4-FFF2-40B4-BE49-F238E27FC236}">
                <a16:creationId xmlns:a16="http://schemas.microsoft.com/office/drawing/2014/main" id="{C6F0F0CC-A40E-4836-B27C-AA526E08B5F1}"/>
              </a:ext>
            </a:extLst>
          </p:cNvPr>
          <p:cNvSpPr>
            <a:spLocks noGrp="1"/>
          </p:cNvSpPr>
          <p:nvPr/>
        </p:nvSpPr>
        <p:spPr>
          <a:xfrm>
            <a:off x="1143000" y="4457700"/>
            <a:ext cx="3714750" cy="428625"/>
          </a:xfrm>
          <a:prstGeom prst="rect">
            <a:avLst/>
          </a:prstGeom>
          <a:noFill/>
          <a:ln w="0">
            <a:noFill/>
          </a:ln>
        </p:spPr>
        <p:txBody>
          <a:bodyPr anchor="t">
            <a:normAutofit/>
          </a:bodyPr>
          <a:lstStyle/>
          <a:p>
            <a:pPr algn="l">
              <a:defRPr sz="1350" b="0" i="0">
                <a:solidFill>
                  <a:srgbClr val="626777"/>
                </a:solidFill>
                <a:latin typeface="Arial"/>
                <a:ea typeface="Arial"/>
                <a:cs typeface="Arial"/>
              </a:defRPr>
            </a:pPr>
            <a:r>
              <a:rPr sz="1350" b="0" i="0">
                <a:solidFill>
                  <a:srgbClr val="626777"/>
                </a:solidFill>
                <a:latin typeface="Arial"/>
                <a:ea typeface="Arial"/>
                <a:cs typeface="Arial"/>
              </a:rPr>
              <a:t>0 / 10 IR interviewees did so spontaneously</a:t>
            </a:r>
          </a:p>
        </p:txBody>
      </p:sp>
      <p:graphicFrame>
        <p:nvGraphicFramePr>
          <p:cNvPr id="31" name="Chart"/>
          <p:cNvGraphicFramePr/>
          <p:nvPr/>
        </p:nvGraphicFramePr>
        <p:xfrm>
          <a:off x="6000750" y="1971675"/>
          <a:ext cx="552450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15" name="Dikdörtgen 14">
            <a:extLst>
              <a:ext uri="{FF2B5EF4-FFF2-40B4-BE49-F238E27FC236}">
                <a16:creationId xmlns:a16="http://schemas.microsoft.com/office/drawing/2014/main" id="{D0418476-5F2C-473E-92F6-16C245C3C365}"/>
              </a:ext>
            </a:extLst>
          </p:cNvPr>
          <p:cNvSpPr>
            <a:spLocks noGrp="1"/>
          </p:cNvSpPr>
          <p:nvPr/>
        </p:nvSpPr>
        <p:spPr>
          <a:xfrm>
            <a:off x="1381125" y="5762625"/>
            <a:ext cx="9429750" cy="304800"/>
          </a:xfrm>
          <a:prstGeom prst="rect">
            <a:avLst/>
          </a:prstGeom>
          <a:noFill/>
          <a:ln w="0">
            <a:noFill/>
          </a:ln>
        </p:spPr>
        <p:txBody>
          <a:bodyPr anchor="t">
            <a:normAutofit fontScale="98246"/>
          </a:bodyPr>
          <a:lstStyle/>
          <a:p>
            <a:pPr algn="ctr">
              <a:defRPr sz="1425" b="1" i="0">
                <a:solidFill>
                  <a:srgbClr val="B94D35"/>
                </a:solidFill>
                <a:latin typeface="Arial"/>
                <a:ea typeface="Arial"/>
                <a:cs typeface="Arial"/>
              </a:defRPr>
            </a:pPr>
            <a:r>
              <a:rPr sz="1425" b="1" i="0">
                <a:solidFill>
                  <a:srgbClr val="B94D35"/>
                </a:solidFill>
                <a:latin typeface="Arial"/>
                <a:ea typeface="Arial"/>
                <a:cs typeface="Arial"/>
              </a:rPr>
              <a:t>The difference motivates a criterion. Figure references remain a proxy rather than a count of images.</a:t>
            </a:r>
          </a:p>
        </p:txBody>
      </p:sp>
      <p:sp>
        <p:nvSpPr>
          <p:cNvPr id="16" name="Düz Bağlayıcı 15">
            <a:extLst>
              <a:ext uri="{FF2B5EF4-FFF2-40B4-BE49-F238E27FC236}">
                <a16:creationId xmlns:a16="http://schemas.microsoft.com/office/drawing/2014/main" id="{EBBA2BC4-983B-44F3-9625-A7CA62096C75}"/>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7" name="Dikdörtgen 16">
            <a:extLst>
              <a:ext uri="{FF2B5EF4-FFF2-40B4-BE49-F238E27FC236}">
                <a16:creationId xmlns:a16="http://schemas.microsoft.com/office/drawing/2014/main" id="{74B48A21-1D01-4794-8F4C-3AD386637E0A}"/>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754985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4" name="Yuvarlatılmış Dikdörtgen 13">
            <a:extLst>
              <a:ext uri="{FF2B5EF4-FFF2-40B4-BE49-F238E27FC236}">
                <a16:creationId xmlns:a16="http://schemas.microsoft.com/office/drawing/2014/main" id="{11374E1E-89C8-465A-87F0-2339BA03F57D}"/>
              </a:ext>
            </a:extLst>
          </p:cNvPr>
          <p:cNvSpPr>
            <a:spLocks noGrp="1"/>
          </p:cNvSpPr>
          <p:nvPr/>
        </p:nvSpPr>
        <p:spPr>
          <a:xfrm>
            <a:off x="685800" y="371475"/>
            <a:ext cx="66675" cy="171450"/>
          </a:xfrm>
          <a:prstGeom prst="roundRect">
            <a:avLst>
              <a:gd name="adj" fmla="val 50000"/>
            </a:avLst>
          </a:prstGeom>
          <a:solidFill>
            <a:srgbClr val="B94D35"/>
          </a:solidFill>
          <a:ln w="0">
            <a:noFill/>
          </a:ln>
        </p:spPr>
        <p:txBody>
          <a:bodyPr/>
          <a:lstStyle/>
          <a:p>
            <a:endParaRPr lang="tr-TR"/>
          </a:p>
        </p:txBody>
      </p:sp>
      <p:sp>
        <p:nvSpPr>
          <p:cNvPr id="2" name="Dikdörtgen 1">
            <a:extLst>
              <a:ext uri="{FF2B5EF4-FFF2-40B4-BE49-F238E27FC236}">
                <a16:creationId xmlns:a16="http://schemas.microsoft.com/office/drawing/2014/main" id="{5744D7CB-5622-400E-9CBE-A96ED606C582}"/>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Dikdörtgen 2">
            <a:extLst>
              <a:ext uri="{FF2B5EF4-FFF2-40B4-BE49-F238E27FC236}">
                <a16:creationId xmlns:a16="http://schemas.microsoft.com/office/drawing/2014/main" id="{4133DB59-FA62-47E9-BE27-40E4F35EA420}"/>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IR prose carried more conventional readability burden</a:t>
            </a:r>
          </a:p>
        </p:txBody>
      </p:sp>
      <p:sp>
        <p:nvSpPr>
          <p:cNvPr id="4" name="Düz Bağlayıcı 3">
            <a:extLst>
              <a:ext uri="{FF2B5EF4-FFF2-40B4-BE49-F238E27FC236}">
                <a16:creationId xmlns:a16="http://schemas.microsoft.com/office/drawing/2014/main" id="{9EC5CE3E-F730-4C27-BE1D-BB3C5C6CABF3}"/>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C0AA066F-E656-4850-9F44-4380479783ED}"/>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20</a:t>
            </a:r>
          </a:p>
        </p:txBody>
      </p:sp>
      <p:sp>
        <p:nvSpPr>
          <p:cNvPr id="6" name="Yuvarlatılmış Dikdörtgen 5">
            <a:extLst>
              <a:ext uri="{FF2B5EF4-FFF2-40B4-BE49-F238E27FC236}">
                <a16:creationId xmlns:a16="http://schemas.microsoft.com/office/drawing/2014/main" id="{40760148-C434-4B5C-9A91-D9F20B49B841}"/>
              </a:ext>
            </a:extLst>
          </p:cNvPr>
          <p:cNvSpPr>
            <a:spLocks noGrp="1"/>
          </p:cNvSpPr>
          <p:nvPr/>
        </p:nvSpPr>
        <p:spPr>
          <a:xfrm>
            <a:off x="9353550" y="381000"/>
            <a:ext cx="1952625" cy="266700"/>
          </a:xfrm>
          <a:prstGeom prst="roundRect">
            <a:avLst>
              <a:gd name="adj" fmla="val 28571"/>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714B27E6-CBCD-4271-B435-8DBAA45BB1AD}"/>
              </a:ext>
            </a:extLst>
          </p:cNvPr>
          <p:cNvSpPr>
            <a:spLocks noGrp="1"/>
          </p:cNvSpPr>
          <p:nvPr/>
        </p:nvSpPr>
        <p:spPr>
          <a:xfrm>
            <a:off x="9429750" y="409575"/>
            <a:ext cx="1800225" cy="190500"/>
          </a:xfrm>
          <a:prstGeom prst="rect">
            <a:avLst/>
          </a:prstGeom>
          <a:noFill/>
          <a:ln w="0">
            <a:noFill/>
          </a:ln>
        </p:spPr>
        <p:txBody>
          <a:bodyPr anchor="ctr">
            <a:normAutofit fontScale="78788"/>
          </a:bodyPr>
          <a:lstStyle/>
          <a:p>
            <a:pPr algn="ctr">
              <a:defRPr sz="825" b="1" i="0">
                <a:solidFill>
                  <a:srgbClr val="FFFFFF"/>
                </a:solidFill>
                <a:latin typeface="Arial"/>
                <a:ea typeface="Arial"/>
                <a:cs typeface="Arial"/>
              </a:defRPr>
            </a:pPr>
            <a:r>
              <a:rPr sz="825" b="1" i="0">
                <a:solidFill>
                  <a:srgbClr val="FFFFFF"/>
                </a:solidFill>
                <a:latin typeface="Arial"/>
                <a:ea typeface="Arial"/>
                <a:cs typeface="Arial"/>
              </a:rPr>
              <a:t>50 MATCHED PASSAGES</a:t>
            </a:r>
          </a:p>
        </p:txBody>
      </p:sp>
      <p:sp>
        <p:nvSpPr>
          <p:cNvPr id="8" name="Dikdörtgen 7">
            <a:extLst>
              <a:ext uri="{FF2B5EF4-FFF2-40B4-BE49-F238E27FC236}">
                <a16:creationId xmlns:a16="http://schemas.microsoft.com/office/drawing/2014/main" id="{D82E7F48-5F7E-4B9E-B6D0-F2B78CD3173F}"/>
              </a:ext>
            </a:extLst>
          </p:cNvPr>
          <p:cNvSpPr>
            <a:spLocks noGrp="1"/>
          </p:cNvSpPr>
          <p:nvPr/>
        </p:nvSpPr>
        <p:spPr>
          <a:xfrm>
            <a:off x="876300" y="1552575"/>
            <a:ext cx="10382250" cy="266700"/>
          </a:xfrm>
          <a:prstGeom prst="rect">
            <a:avLst/>
          </a:prstGeom>
          <a:noFill/>
          <a:ln w="0">
            <a:noFill/>
          </a:ln>
        </p:spPr>
        <p:txBody>
          <a:bodyPr anchor="t">
            <a:normAutofit fontScale="90196"/>
          </a:bodyPr>
          <a:lstStyle/>
          <a:p>
            <a:pPr algn="ctr">
              <a:defRPr sz="1275" b="1" i="0">
                <a:solidFill>
                  <a:srgbClr val="626777"/>
                </a:solidFill>
                <a:latin typeface="Arial"/>
                <a:ea typeface="Arial"/>
                <a:cs typeface="Arial"/>
              </a:defRPr>
            </a:pPr>
            <a:r>
              <a:rPr sz="1275" b="1" i="0">
                <a:solidFill>
                  <a:srgbClr val="626777"/>
                </a:solidFill>
                <a:latin typeface="Arial"/>
                <a:ea typeface="Arial"/>
                <a:cs typeface="Arial"/>
              </a:rPr>
              <a:t>Five books per field, five passages per book, 170–205 words, five page strata</a:t>
            </a:r>
          </a:p>
        </p:txBody>
      </p:sp>
      <p:graphicFrame>
        <p:nvGraphicFramePr>
          <p:cNvPr id="22" name="Tablo 21"/>
          <p:cNvGraphicFramePr/>
          <p:nvPr/>
        </p:nvGraphicFramePr>
        <p:xfrm>
          <a:off x="666750" y="1952625"/>
          <a:ext cx="10858500" cy="3714750"/>
        </p:xfrm>
        <a:graphic>
          <a:graphicData uri="http://schemas.openxmlformats.org/drawingml/2006/table">
            <a:tbl>
              <a:tblPr/>
              <a:tblGrid>
                <a:gridCol w="3143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286250">
                  <a:extLst>
                    <a:ext uri="{9D8B030D-6E8A-4147-A177-3AD203B41FA5}">
                      <a16:colId xmlns:a16="http://schemas.microsoft.com/office/drawing/2014/main" val="20003"/>
                    </a:ext>
                  </a:extLst>
                </a:gridCol>
              </a:tblGrid>
              <a:tr h="447675">
                <a:tc>
                  <a:txBody>
                    <a:bodyPr/>
                    <a:lstStyle/>
                    <a:p>
                      <a:r>
                        <a:rPr sz="1125" b="1">
                          <a:solidFill>
                            <a:srgbClr val="FFFFFF"/>
                          </a:solidFill>
                          <a:latin typeface="Arial"/>
                          <a:ea typeface="Arial"/>
                          <a:cs typeface="Arial"/>
                        </a:rPr>
                        <a:t>Metric</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Engineering mean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IR mean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Observed signal</a:t>
                      </a:r>
                    </a:p>
                  </a:txBody>
                  <a:tcPr marL="95250" marR="95250" marT="76200" marB="66675" anchor="ctr">
                    <a:solidFill>
                      <a:srgbClr val="123B53"/>
                    </a:solidFill>
                  </a:tcPr>
                </a:tc>
                <a:extLst>
                  <a:ext uri="{0D108BD9-81ED-4DB2-BD59-A6C34878D82A}">
                    <a16:rowId xmlns:a16="http://schemas.microsoft.com/office/drawing/2014/main" val="10000"/>
                  </a:ext>
                </a:extLst>
              </a:tr>
              <a:tr h="466725">
                <a:tc>
                  <a:txBody>
                    <a:bodyPr/>
                    <a:lstStyle/>
                    <a:p>
                      <a:r>
                        <a:rPr sz="1013" b="1">
                          <a:solidFill>
                            <a:srgbClr val="176082"/>
                          </a:solidFill>
                          <a:latin typeface="Arial"/>
                          <a:ea typeface="Arial"/>
                          <a:cs typeface="Arial"/>
                        </a:rPr>
                        <a:t>Flesch–Kincaid grade</a:t>
                      </a:r>
                    </a:p>
                  </a:txBody>
                  <a:tcPr marL="95250" marR="95250" marT="66675" marB="66675" anchor="ctr">
                    <a:solidFill>
                      <a:srgbClr val="E6F0F5"/>
                    </a:solidFill>
                  </a:tcPr>
                </a:tc>
                <a:tc>
                  <a:txBody>
                    <a:bodyPr/>
                    <a:lstStyle/>
                    <a:p>
                      <a:r>
                        <a:rPr sz="1013">
                          <a:solidFill>
                            <a:srgbClr val="33343F"/>
                          </a:solidFill>
                          <a:latin typeface="Arial"/>
                          <a:ea typeface="Arial"/>
                          <a:cs typeface="Arial"/>
                        </a:rPr>
                        <a:t>13.05</a:t>
                      </a:r>
                    </a:p>
                  </a:txBody>
                  <a:tcPr marL="95250" marR="95250" marT="66675" marB="66675" anchor="ctr">
                    <a:solidFill>
                      <a:srgbClr val="FFFFFF"/>
                    </a:solidFill>
                  </a:tcPr>
                </a:tc>
                <a:tc>
                  <a:txBody>
                    <a:bodyPr/>
                    <a:lstStyle/>
                    <a:p>
                      <a:r>
                        <a:rPr sz="1013">
                          <a:solidFill>
                            <a:srgbClr val="33343F"/>
                          </a:solidFill>
                          <a:latin typeface="Arial"/>
                          <a:ea typeface="Arial"/>
                          <a:cs typeface="Arial"/>
                        </a:rPr>
                        <a:t>14.98</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higher</a:t>
                      </a:r>
                    </a:p>
                  </a:txBody>
                  <a:tcPr marL="95250" marR="95250" marT="66675" marB="66675" anchor="ctr">
                    <a:solidFill>
                      <a:srgbClr val="FFFFFF"/>
                    </a:solidFill>
                  </a:tcPr>
                </a:tc>
                <a:extLst>
                  <a:ext uri="{0D108BD9-81ED-4DB2-BD59-A6C34878D82A}">
                    <a16:rowId xmlns:a16="http://schemas.microsoft.com/office/drawing/2014/main" val="10001"/>
                  </a:ext>
                </a:extLst>
              </a:tr>
              <a:tr h="466725">
                <a:tc>
                  <a:txBody>
                    <a:bodyPr/>
                    <a:lstStyle/>
                    <a:p>
                      <a:r>
                        <a:rPr sz="1013" b="1">
                          <a:solidFill>
                            <a:srgbClr val="176082"/>
                          </a:solidFill>
                          <a:latin typeface="Arial"/>
                          <a:ea typeface="Arial"/>
                          <a:cs typeface="Arial"/>
                        </a:rPr>
                        <a:t>Flesch reading ease</a:t>
                      </a:r>
                    </a:p>
                  </a:txBody>
                  <a:tcPr marL="95250" marR="95250" marT="66675" marB="66675" anchor="ctr">
                    <a:solidFill>
                      <a:srgbClr val="E6F0F5"/>
                    </a:solidFill>
                  </a:tcPr>
                </a:tc>
                <a:tc>
                  <a:txBody>
                    <a:bodyPr/>
                    <a:lstStyle/>
                    <a:p>
                      <a:r>
                        <a:rPr sz="1013">
                          <a:solidFill>
                            <a:srgbClr val="33343F"/>
                          </a:solidFill>
                          <a:latin typeface="Arial"/>
                          <a:ea typeface="Arial"/>
                          <a:cs typeface="Arial"/>
                        </a:rPr>
                        <a:t>40.86</a:t>
                      </a:r>
                    </a:p>
                  </a:txBody>
                  <a:tcPr marL="95250" marR="95250" marT="66675" marB="66675" anchor="ctr">
                    <a:solidFill>
                      <a:srgbClr val="FFFFFF"/>
                    </a:solidFill>
                  </a:tcPr>
                </a:tc>
                <a:tc>
                  <a:txBody>
                    <a:bodyPr/>
                    <a:lstStyle/>
                    <a:p>
                      <a:r>
                        <a:rPr sz="1013">
                          <a:solidFill>
                            <a:srgbClr val="33343F"/>
                          </a:solidFill>
                          <a:latin typeface="Arial"/>
                          <a:ea typeface="Arial"/>
                          <a:cs typeface="Arial"/>
                        </a:rPr>
                        <a:t>30.49</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lower, indicating harder prose</a:t>
                      </a:r>
                    </a:p>
                  </a:txBody>
                  <a:tcPr marL="95250" marR="95250" marT="66675" marB="66675" anchor="ctr">
                    <a:solidFill>
                      <a:srgbClr val="FFFFFF"/>
                    </a:solidFill>
                  </a:tcPr>
                </a:tc>
                <a:extLst>
                  <a:ext uri="{0D108BD9-81ED-4DB2-BD59-A6C34878D82A}">
                    <a16:rowId xmlns:a16="http://schemas.microsoft.com/office/drawing/2014/main" val="10002"/>
                  </a:ext>
                </a:extLst>
              </a:tr>
              <a:tr h="466725">
                <a:tc>
                  <a:txBody>
                    <a:bodyPr/>
                    <a:lstStyle/>
                    <a:p>
                      <a:r>
                        <a:rPr sz="1013" b="1">
                          <a:solidFill>
                            <a:srgbClr val="176082"/>
                          </a:solidFill>
                          <a:latin typeface="Arial"/>
                          <a:ea typeface="Arial"/>
                          <a:cs typeface="Arial"/>
                        </a:rPr>
                        <a:t>Gunning Fog</a:t>
                      </a:r>
                    </a:p>
                  </a:txBody>
                  <a:tcPr marL="95250" marR="95250" marT="66675" marB="66675" anchor="ctr">
                    <a:solidFill>
                      <a:srgbClr val="E6F0F5"/>
                    </a:solidFill>
                  </a:tcPr>
                </a:tc>
                <a:tc>
                  <a:txBody>
                    <a:bodyPr/>
                    <a:lstStyle/>
                    <a:p>
                      <a:r>
                        <a:rPr sz="1013">
                          <a:solidFill>
                            <a:srgbClr val="33343F"/>
                          </a:solidFill>
                          <a:latin typeface="Arial"/>
                          <a:ea typeface="Arial"/>
                          <a:cs typeface="Arial"/>
                        </a:rPr>
                        <a:t>16.47</a:t>
                      </a:r>
                    </a:p>
                  </a:txBody>
                  <a:tcPr marL="95250" marR="95250" marT="66675" marB="66675" anchor="ctr">
                    <a:solidFill>
                      <a:srgbClr val="FFFFFF"/>
                    </a:solidFill>
                  </a:tcPr>
                </a:tc>
                <a:tc>
                  <a:txBody>
                    <a:bodyPr/>
                    <a:lstStyle/>
                    <a:p>
                      <a:r>
                        <a:rPr sz="1013">
                          <a:solidFill>
                            <a:srgbClr val="33343F"/>
                          </a:solidFill>
                          <a:latin typeface="Arial"/>
                          <a:ea typeface="Arial"/>
                          <a:cs typeface="Arial"/>
                        </a:rPr>
                        <a:t>18.46</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higher</a:t>
                      </a:r>
                    </a:p>
                  </a:txBody>
                  <a:tcPr marL="95250" marR="95250" marT="66675" marB="66675" anchor="ctr">
                    <a:solidFill>
                      <a:srgbClr val="FFFFFF"/>
                    </a:solidFill>
                  </a:tcPr>
                </a:tc>
                <a:extLst>
                  <a:ext uri="{0D108BD9-81ED-4DB2-BD59-A6C34878D82A}">
                    <a16:rowId xmlns:a16="http://schemas.microsoft.com/office/drawing/2014/main" val="10003"/>
                  </a:ext>
                </a:extLst>
              </a:tr>
              <a:tr h="466725">
                <a:tc>
                  <a:txBody>
                    <a:bodyPr/>
                    <a:lstStyle/>
                    <a:p>
                      <a:r>
                        <a:rPr sz="1013" b="1">
                          <a:solidFill>
                            <a:srgbClr val="176082"/>
                          </a:solidFill>
                          <a:latin typeface="Arial"/>
                          <a:ea typeface="Arial"/>
                          <a:cs typeface="Arial"/>
                        </a:rPr>
                        <a:t>Average sentence length</a:t>
                      </a:r>
                    </a:p>
                  </a:txBody>
                  <a:tcPr marL="95250" marR="95250" marT="66675" marB="66675" anchor="ctr">
                    <a:solidFill>
                      <a:srgbClr val="E6F0F5"/>
                    </a:solidFill>
                  </a:tcPr>
                </a:tc>
                <a:tc>
                  <a:txBody>
                    <a:bodyPr/>
                    <a:lstStyle/>
                    <a:p>
                      <a:r>
                        <a:rPr sz="1013">
                          <a:solidFill>
                            <a:srgbClr val="33343F"/>
                          </a:solidFill>
                          <a:latin typeface="Arial"/>
                          <a:ea typeface="Arial"/>
                          <a:cs typeface="Arial"/>
                        </a:rPr>
                        <a:t>22.14</a:t>
                      </a:r>
                    </a:p>
                  </a:txBody>
                  <a:tcPr marL="95250" marR="95250" marT="66675" marB="66675" anchor="ctr">
                    <a:solidFill>
                      <a:srgbClr val="FFFFFF"/>
                    </a:solidFill>
                  </a:tcPr>
                </a:tc>
                <a:tc>
                  <a:txBody>
                    <a:bodyPr/>
                    <a:lstStyle/>
                    <a:p>
                      <a:r>
                        <a:rPr sz="1013">
                          <a:solidFill>
                            <a:srgbClr val="33343F"/>
                          </a:solidFill>
                          <a:latin typeface="Arial"/>
                          <a:ea typeface="Arial"/>
                          <a:cs typeface="Arial"/>
                        </a:rPr>
                        <a:t>24.08</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longer</a:t>
                      </a:r>
                    </a:p>
                  </a:txBody>
                  <a:tcPr marL="95250" marR="95250" marT="66675" marB="66675" anchor="ctr">
                    <a:solidFill>
                      <a:srgbClr val="FFFFFF"/>
                    </a:solidFill>
                  </a:tcPr>
                </a:tc>
                <a:extLst>
                  <a:ext uri="{0D108BD9-81ED-4DB2-BD59-A6C34878D82A}">
                    <a16:rowId xmlns:a16="http://schemas.microsoft.com/office/drawing/2014/main" val="10004"/>
                  </a:ext>
                </a:extLst>
              </a:tr>
              <a:tr h="466725">
                <a:tc>
                  <a:txBody>
                    <a:bodyPr/>
                    <a:lstStyle/>
                    <a:p>
                      <a:r>
                        <a:rPr sz="1013" b="1">
                          <a:solidFill>
                            <a:srgbClr val="176082"/>
                          </a:solidFill>
                          <a:latin typeface="Arial"/>
                          <a:ea typeface="Arial"/>
                          <a:cs typeface="Arial"/>
                        </a:rPr>
                        <a:t>Academic word tokens</a:t>
                      </a:r>
                    </a:p>
                  </a:txBody>
                  <a:tcPr marL="95250" marR="95250" marT="66675" marB="66675" anchor="ctr">
                    <a:solidFill>
                      <a:srgbClr val="E6F0F5"/>
                    </a:solidFill>
                  </a:tcPr>
                </a:tc>
                <a:tc>
                  <a:txBody>
                    <a:bodyPr/>
                    <a:lstStyle/>
                    <a:p>
                      <a:r>
                        <a:rPr sz="1013">
                          <a:solidFill>
                            <a:srgbClr val="33343F"/>
                          </a:solidFill>
                          <a:latin typeface="Arial"/>
                          <a:ea typeface="Arial"/>
                          <a:cs typeface="Arial"/>
                        </a:rPr>
                        <a:t>15.60%</a:t>
                      </a:r>
                    </a:p>
                  </a:txBody>
                  <a:tcPr marL="95250" marR="95250" marT="66675" marB="66675" anchor="ctr">
                    <a:solidFill>
                      <a:srgbClr val="FFFFFF"/>
                    </a:solidFill>
                  </a:tcPr>
                </a:tc>
                <a:tc>
                  <a:txBody>
                    <a:bodyPr/>
                    <a:lstStyle/>
                    <a:p>
                      <a:r>
                        <a:rPr sz="1013">
                          <a:solidFill>
                            <a:srgbClr val="33343F"/>
                          </a:solidFill>
                          <a:latin typeface="Arial"/>
                          <a:ea typeface="Arial"/>
                          <a:cs typeface="Arial"/>
                        </a:rPr>
                        <a:t>14.28%</a:t>
                      </a:r>
                    </a:p>
                  </a:txBody>
                  <a:tcPr marL="95250" marR="95250" marT="66675" marB="66675" anchor="ctr">
                    <a:solidFill>
                      <a:srgbClr val="FFFFFF"/>
                    </a:solidFill>
                  </a:tcPr>
                </a:tc>
                <a:tc>
                  <a:txBody>
                    <a:bodyPr/>
                    <a:lstStyle/>
                    <a:p>
                      <a:r>
                        <a:rPr sz="1013">
                          <a:solidFill>
                            <a:srgbClr val="33343F"/>
                          </a:solidFill>
                          <a:latin typeface="Arial"/>
                          <a:ea typeface="Arial"/>
                          <a:cs typeface="Arial"/>
                        </a:rPr>
                        <a:t>EE slightly higher</a:t>
                      </a:r>
                    </a:p>
                  </a:txBody>
                  <a:tcPr marL="95250" marR="95250" marT="66675" marB="66675" anchor="ctr">
                    <a:solidFill>
                      <a:srgbClr val="FFFFFF"/>
                    </a:solidFill>
                  </a:tcPr>
                </a:tc>
                <a:extLst>
                  <a:ext uri="{0D108BD9-81ED-4DB2-BD59-A6C34878D82A}">
                    <a16:rowId xmlns:a16="http://schemas.microsoft.com/office/drawing/2014/main" val="10005"/>
                  </a:ext>
                </a:extLst>
              </a:tr>
              <a:tr h="466725">
                <a:tc>
                  <a:txBody>
                    <a:bodyPr/>
                    <a:lstStyle/>
                    <a:p>
                      <a:r>
                        <a:rPr sz="1013" b="1">
                          <a:solidFill>
                            <a:srgbClr val="176082"/>
                          </a:solidFill>
                          <a:latin typeface="Arial"/>
                          <a:ea typeface="Arial"/>
                          <a:cs typeface="Arial"/>
                        </a:rPr>
                        <a:t>Lexical diversity, VOCD</a:t>
                      </a:r>
                    </a:p>
                  </a:txBody>
                  <a:tcPr marL="95250" marR="95250" marT="66675" marB="66675" anchor="ctr">
                    <a:solidFill>
                      <a:srgbClr val="E6F0F5"/>
                    </a:solidFill>
                  </a:tcPr>
                </a:tc>
                <a:tc>
                  <a:txBody>
                    <a:bodyPr/>
                    <a:lstStyle/>
                    <a:p>
                      <a:r>
                        <a:rPr sz="1013">
                          <a:solidFill>
                            <a:srgbClr val="33343F"/>
                          </a:solidFill>
                          <a:latin typeface="Arial"/>
                          <a:ea typeface="Arial"/>
                          <a:cs typeface="Arial"/>
                        </a:rPr>
                        <a:t>61.52</a:t>
                      </a:r>
                    </a:p>
                  </a:txBody>
                  <a:tcPr marL="95250" marR="95250" marT="66675" marB="66675" anchor="ctr">
                    <a:solidFill>
                      <a:srgbClr val="FFFFFF"/>
                    </a:solidFill>
                  </a:tcPr>
                </a:tc>
                <a:tc>
                  <a:txBody>
                    <a:bodyPr/>
                    <a:lstStyle/>
                    <a:p>
                      <a:r>
                        <a:rPr sz="1013">
                          <a:solidFill>
                            <a:srgbClr val="33343F"/>
                          </a:solidFill>
                          <a:latin typeface="Arial"/>
                          <a:ea typeface="Arial"/>
                          <a:cs typeface="Arial"/>
                        </a:rPr>
                        <a:t>99.95</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substantially higher</a:t>
                      </a:r>
                    </a:p>
                  </a:txBody>
                  <a:tcPr marL="95250" marR="95250" marT="66675" marB="66675" anchor="ctr">
                    <a:solidFill>
                      <a:srgbClr val="FFFFFF"/>
                    </a:solidFill>
                  </a:tcPr>
                </a:tc>
                <a:extLst>
                  <a:ext uri="{0D108BD9-81ED-4DB2-BD59-A6C34878D82A}">
                    <a16:rowId xmlns:a16="http://schemas.microsoft.com/office/drawing/2014/main" val="10006"/>
                  </a:ext>
                </a:extLst>
              </a:tr>
              <a:tr h="466725">
                <a:tc>
                  <a:txBody>
                    <a:bodyPr/>
                    <a:lstStyle/>
                    <a:p>
                      <a:r>
                        <a:rPr sz="1013" b="1">
                          <a:solidFill>
                            <a:srgbClr val="176082"/>
                          </a:solidFill>
                          <a:latin typeface="Arial"/>
                          <a:ea typeface="Arial"/>
                          <a:cs typeface="Arial"/>
                        </a:rPr>
                        <a:t>Metadiscourse tokens</a:t>
                      </a:r>
                    </a:p>
                  </a:txBody>
                  <a:tcPr marL="95250" marR="95250" marT="66675" marB="66675" anchor="ctr">
                    <a:solidFill>
                      <a:srgbClr val="E6F0F5"/>
                    </a:solidFill>
                  </a:tcPr>
                </a:tc>
                <a:tc>
                  <a:txBody>
                    <a:bodyPr/>
                    <a:lstStyle/>
                    <a:p>
                      <a:r>
                        <a:rPr sz="1013">
                          <a:solidFill>
                            <a:srgbClr val="33343F"/>
                          </a:solidFill>
                          <a:latin typeface="Arial"/>
                          <a:ea typeface="Arial"/>
                          <a:cs typeface="Arial"/>
                        </a:rPr>
                        <a:t>8.70%</a:t>
                      </a:r>
                    </a:p>
                  </a:txBody>
                  <a:tcPr marL="95250" marR="95250" marT="66675" marB="66675" anchor="ctr">
                    <a:solidFill>
                      <a:srgbClr val="FFFFFF"/>
                    </a:solidFill>
                  </a:tcPr>
                </a:tc>
                <a:tc>
                  <a:txBody>
                    <a:bodyPr/>
                    <a:lstStyle/>
                    <a:p>
                      <a:r>
                        <a:rPr sz="1013">
                          <a:solidFill>
                            <a:srgbClr val="33343F"/>
                          </a:solidFill>
                          <a:latin typeface="Arial"/>
                          <a:ea typeface="Arial"/>
                          <a:cs typeface="Arial"/>
                        </a:rPr>
                        <a:t>8.15%</a:t>
                      </a:r>
                    </a:p>
                  </a:txBody>
                  <a:tcPr marL="95250" marR="95250" marT="66675" marB="66675" anchor="ctr">
                    <a:solidFill>
                      <a:srgbClr val="FFFFFF"/>
                    </a:solidFill>
                  </a:tcPr>
                </a:tc>
                <a:tc>
                  <a:txBody>
                    <a:bodyPr/>
                    <a:lstStyle/>
                    <a:p>
                      <a:r>
                        <a:rPr sz="1013">
                          <a:solidFill>
                            <a:srgbClr val="33343F"/>
                          </a:solidFill>
                          <a:latin typeface="Arial"/>
                          <a:ea typeface="Arial"/>
                          <a:cs typeface="Arial"/>
                        </a:rPr>
                        <a:t>Similar discipline means</a:t>
                      </a:r>
                    </a:p>
                  </a:txBody>
                  <a:tcPr marL="95250" marR="95250" marT="66675" marB="66675" anchor="ctr">
                    <a:solidFill>
                      <a:srgbClr val="FFFFFF"/>
                    </a:solidFill>
                  </a:tcPr>
                </a:tc>
                <a:extLst>
                  <a:ext uri="{0D108BD9-81ED-4DB2-BD59-A6C34878D82A}">
                    <a16:rowId xmlns:a16="http://schemas.microsoft.com/office/drawing/2014/main" val="10007"/>
                  </a:ext>
                </a:extLst>
              </a:tr>
            </a:tbl>
          </a:graphicData>
        </a:graphic>
      </p:graphicFrame>
      <p:sp>
        <p:nvSpPr>
          <p:cNvPr id="10" name="Dikdörtgen 9">
            <a:extLst>
              <a:ext uri="{FF2B5EF4-FFF2-40B4-BE49-F238E27FC236}">
                <a16:creationId xmlns:a16="http://schemas.microsoft.com/office/drawing/2014/main" id="{D6EA1D9B-243D-41B5-9436-B5376C55CAE4}"/>
              </a:ext>
            </a:extLst>
          </p:cNvPr>
          <p:cNvSpPr>
            <a:spLocks noGrp="1"/>
          </p:cNvSpPr>
          <p:nvPr/>
        </p:nvSpPr>
        <p:spPr>
          <a:xfrm>
            <a:off x="1428750" y="5857875"/>
            <a:ext cx="9334500" cy="266700"/>
          </a:xfrm>
          <a:prstGeom prst="rect">
            <a:avLst/>
          </a:prstGeom>
          <a:noFill/>
          <a:ln w="0">
            <a:noFill/>
          </a:ln>
        </p:spPr>
        <p:txBody>
          <a:bodyPr anchor="t">
            <a:normAutofit fontScale="90196"/>
          </a:bodyPr>
          <a:lstStyle/>
          <a:p>
            <a:pPr algn="ctr">
              <a:defRPr sz="1275" b="1" i="0">
                <a:solidFill>
                  <a:srgbClr val="B94D35"/>
                </a:solidFill>
                <a:latin typeface="Arial"/>
                <a:ea typeface="Arial"/>
                <a:cs typeface="Arial"/>
              </a:defRPr>
            </a:pPr>
            <a:r>
              <a:rPr sz="1275" b="1" i="0">
                <a:solidFill>
                  <a:srgbClr val="B94D35"/>
                </a:solidFill>
                <a:latin typeface="Arial"/>
                <a:ea typeface="Arial"/>
                <a:cs typeface="Arial"/>
              </a:rPr>
              <a:t>These tools describe linguistic form. They do not measure conceptual accessibility, visual support or ELFA friendliness.</a:t>
            </a:r>
          </a:p>
        </p:txBody>
      </p:sp>
      <p:sp>
        <p:nvSpPr>
          <p:cNvPr id="11" name="Dikdörtgen 10">
            <a:extLst>
              <a:ext uri="{FF2B5EF4-FFF2-40B4-BE49-F238E27FC236}">
                <a16:creationId xmlns:a16="http://schemas.microsoft.com/office/drawing/2014/main" id="{AF3682DB-7761-4807-B565-58C03A2ECC03}"/>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Text Inspector v2.0, reading mode, 19 Sep 2026; discipline means across 25 passages each</a:t>
            </a:r>
          </a:p>
        </p:txBody>
      </p:sp>
      <p:sp>
        <p:nvSpPr>
          <p:cNvPr id="12" name="Düz Bağlayıcı 11">
            <a:extLst>
              <a:ext uri="{FF2B5EF4-FFF2-40B4-BE49-F238E27FC236}">
                <a16:creationId xmlns:a16="http://schemas.microsoft.com/office/drawing/2014/main" id="{74A01BF0-3795-4F5B-BEE9-6C79204D2408}"/>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3" name="Dikdörtgen 12">
            <a:extLst>
              <a:ext uri="{FF2B5EF4-FFF2-40B4-BE49-F238E27FC236}">
                <a16:creationId xmlns:a16="http://schemas.microsoft.com/office/drawing/2014/main" id="{F8F71B21-BDF4-47E4-BFF4-DA6048E3670F}"/>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999884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1" name="Yuvarlatılmış Dikdörtgen 20">
            <a:extLst>
              <a:ext uri="{FF2B5EF4-FFF2-40B4-BE49-F238E27FC236}">
                <a16:creationId xmlns:a16="http://schemas.microsoft.com/office/drawing/2014/main" id="{0B4149D9-3356-48A8-8A85-1BB27B63E59D}"/>
              </a:ext>
            </a:extLst>
          </p:cNvPr>
          <p:cNvSpPr>
            <a:spLocks noGrp="1"/>
          </p:cNvSpPr>
          <p:nvPr/>
        </p:nvSpPr>
        <p:spPr>
          <a:xfrm>
            <a:off x="685800" y="371475"/>
            <a:ext cx="66675" cy="171450"/>
          </a:xfrm>
          <a:prstGeom prst="roundRect">
            <a:avLst>
              <a:gd name="adj" fmla="val 50000"/>
            </a:avLst>
          </a:prstGeom>
          <a:solidFill>
            <a:srgbClr val="F0B113"/>
          </a:solidFill>
          <a:ln w="0">
            <a:noFill/>
          </a:ln>
        </p:spPr>
        <p:txBody>
          <a:bodyPr/>
          <a:lstStyle/>
          <a:p>
            <a:endParaRPr lang="tr-TR"/>
          </a:p>
        </p:txBody>
      </p:sp>
      <p:sp>
        <p:nvSpPr>
          <p:cNvPr id="2" name="Dikdörtgen 1">
            <a:extLst>
              <a:ext uri="{FF2B5EF4-FFF2-40B4-BE49-F238E27FC236}">
                <a16:creationId xmlns:a16="http://schemas.microsoft.com/office/drawing/2014/main" id="{BC9F3B0A-CF56-4A0F-8059-FAC6841857FF}"/>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F0B113"/>
                </a:solidFill>
                <a:latin typeface="Arial"/>
                <a:ea typeface="Arial"/>
                <a:cs typeface="Arial"/>
              </a:defRPr>
            </a:pPr>
            <a:r>
              <a:rPr sz="975" b="1" i="0">
                <a:solidFill>
                  <a:srgbClr val="F0B113"/>
                </a:solidFill>
                <a:latin typeface="Arial"/>
                <a:ea typeface="Arial"/>
                <a:cs typeface="Arial"/>
              </a:rPr>
              <a:t>DISCUSSION</a:t>
            </a:r>
          </a:p>
        </p:txBody>
      </p:sp>
      <p:sp>
        <p:nvSpPr>
          <p:cNvPr id="3" name="Dikdörtgen 2">
            <a:extLst>
              <a:ext uri="{FF2B5EF4-FFF2-40B4-BE49-F238E27FC236}">
                <a16:creationId xmlns:a16="http://schemas.microsoft.com/office/drawing/2014/main" id="{276E77BC-93E5-4785-999A-283EAC458D0B}"/>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Language burden and support operate through different routes</a:t>
            </a:r>
          </a:p>
        </p:txBody>
      </p:sp>
      <p:sp>
        <p:nvSpPr>
          <p:cNvPr id="4" name="Düz Bağlayıcı 3">
            <a:extLst>
              <a:ext uri="{FF2B5EF4-FFF2-40B4-BE49-F238E27FC236}">
                <a16:creationId xmlns:a16="http://schemas.microsoft.com/office/drawing/2014/main" id="{23D38564-4170-416D-B310-E049103068E4}"/>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FF496818-4A7A-4C93-B435-02A1A3983AF5}"/>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21</a:t>
            </a:r>
          </a:p>
        </p:txBody>
      </p:sp>
      <p:sp>
        <p:nvSpPr>
          <p:cNvPr id="6" name="Yuvarlatılmış Dikdörtgen 5">
            <a:extLst>
              <a:ext uri="{FF2B5EF4-FFF2-40B4-BE49-F238E27FC236}">
                <a16:creationId xmlns:a16="http://schemas.microsoft.com/office/drawing/2014/main" id="{421A2E7A-D760-4A38-86CE-39634FC35627}"/>
              </a:ext>
            </a:extLst>
          </p:cNvPr>
          <p:cNvSpPr>
            <a:spLocks noGrp="1"/>
          </p:cNvSpPr>
          <p:nvPr/>
        </p:nvSpPr>
        <p:spPr>
          <a:xfrm>
            <a:off x="762000" y="1752600"/>
            <a:ext cx="5095875" cy="3571875"/>
          </a:xfrm>
          <a:prstGeom prst="roundRect">
            <a:avLst>
              <a:gd name="adj" fmla="val 2133"/>
            </a:avLst>
          </a:prstGeom>
          <a:solidFill>
            <a:srgbClr val="123B53"/>
          </a:solidFill>
          <a:ln w="0">
            <a:noFill/>
          </a:ln>
        </p:spPr>
        <p:txBody>
          <a:bodyPr/>
          <a:lstStyle/>
          <a:p>
            <a:endParaRPr lang="tr-TR"/>
          </a:p>
        </p:txBody>
      </p:sp>
      <p:sp>
        <p:nvSpPr>
          <p:cNvPr id="7" name="Dikdörtgen 6">
            <a:extLst>
              <a:ext uri="{FF2B5EF4-FFF2-40B4-BE49-F238E27FC236}">
                <a16:creationId xmlns:a16="http://schemas.microsoft.com/office/drawing/2014/main" id="{A260EA42-1FF4-4F3D-B101-35E231C52273}"/>
              </a:ext>
            </a:extLst>
          </p:cNvPr>
          <p:cNvSpPr>
            <a:spLocks noGrp="1"/>
          </p:cNvSpPr>
          <p:nvPr/>
        </p:nvSpPr>
        <p:spPr>
          <a:xfrm>
            <a:off x="1095375" y="2057400"/>
            <a:ext cx="28575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CONVERGENCE</a:t>
            </a:r>
          </a:p>
        </p:txBody>
      </p:sp>
      <p:sp>
        <p:nvSpPr>
          <p:cNvPr id="8" name="Dikdörtgen 7">
            <a:extLst>
              <a:ext uri="{FF2B5EF4-FFF2-40B4-BE49-F238E27FC236}">
                <a16:creationId xmlns:a16="http://schemas.microsoft.com/office/drawing/2014/main" id="{20070DC5-4235-425B-9344-EF84A0D04208}"/>
              </a:ext>
            </a:extLst>
          </p:cNvPr>
          <p:cNvSpPr>
            <a:spLocks noGrp="1"/>
          </p:cNvSpPr>
          <p:nvPr/>
        </p:nvSpPr>
        <p:spPr>
          <a:xfrm>
            <a:off x="1095375" y="2533650"/>
            <a:ext cx="4000500" cy="266700"/>
          </a:xfrm>
          <a:prstGeom prst="rect">
            <a:avLst/>
          </a:prstGeom>
          <a:noFill/>
          <a:ln w="0">
            <a:noFill/>
          </a:ln>
        </p:spPr>
        <p:txBody>
          <a:bodyPr anchor="t">
            <a:normAutofit fontScale="73016"/>
          </a:bodyPr>
          <a:lstStyle/>
          <a:p>
            <a:pPr algn="l">
              <a:defRPr sz="1575" b="1" i="0">
                <a:solidFill>
                  <a:srgbClr val="FFFFFF"/>
                </a:solidFill>
                <a:latin typeface="Arial"/>
                <a:ea typeface="Arial"/>
                <a:cs typeface="Arial"/>
              </a:defRPr>
            </a:pPr>
            <a:r>
              <a:rPr sz="1575" b="1" i="0">
                <a:solidFill>
                  <a:srgbClr val="FFFFFF"/>
                </a:solidFill>
                <a:latin typeface="Arial"/>
                <a:ea typeface="Arial"/>
                <a:cs typeface="Arial"/>
              </a:rPr>
              <a:t>Engineering</a:t>
            </a:r>
          </a:p>
        </p:txBody>
      </p:sp>
      <p:sp>
        <p:nvSpPr>
          <p:cNvPr id="9" name="Dikdörtgen 8">
            <a:extLst>
              <a:ext uri="{FF2B5EF4-FFF2-40B4-BE49-F238E27FC236}">
                <a16:creationId xmlns:a16="http://schemas.microsoft.com/office/drawing/2014/main" id="{D9830E0B-F3EF-43D8-9A68-8D6C299FDF91}"/>
              </a:ext>
            </a:extLst>
          </p:cNvPr>
          <p:cNvSpPr>
            <a:spLocks noGrp="1"/>
          </p:cNvSpPr>
          <p:nvPr/>
        </p:nvSpPr>
        <p:spPr>
          <a:xfrm>
            <a:off x="1095375" y="2905125"/>
            <a:ext cx="4238625" cy="895350"/>
          </a:xfrm>
          <a:prstGeom prst="rect">
            <a:avLst/>
          </a:prstGeom>
          <a:noFill/>
          <a:ln w="0">
            <a:noFill/>
          </a:ln>
        </p:spPr>
        <p:txBody>
          <a:bodyPr anchor="t">
            <a:normAutofit/>
          </a:bodyPr>
          <a:lstStyle/>
          <a:p>
            <a:pPr algn="l">
              <a:defRPr sz="1425" b="0" i="0">
                <a:solidFill>
                  <a:srgbClr val="FFFFFF"/>
                </a:solidFill>
                <a:latin typeface="Arial"/>
                <a:ea typeface="Arial"/>
                <a:cs typeface="Arial"/>
              </a:defRPr>
            </a:pPr>
            <a:r>
              <a:rPr sz="1425" b="0" i="0">
                <a:solidFill>
                  <a:srgbClr val="FFFFFF"/>
                </a:solidFill>
                <a:latin typeface="Arial"/>
                <a:ea typeface="Arial"/>
                <a:cs typeface="Arial"/>
              </a:rPr>
              <a:t>Students valued figures, labels and bridges between procedural steps. The full-text corpus also contained far more figure references.</a:t>
            </a:r>
          </a:p>
        </p:txBody>
      </p:sp>
      <p:sp>
        <p:nvSpPr>
          <p:cNvPr id="10" name="Dikdörtgen 9">
            <a:extLst>
              <a:ext uri="{FF2B5EF4-FFF2-40B4-BE49-F238E27FC236}">
                <a16:creationId xmlns:a16="http://schemas.microsoft.com/office/drawing/2014/main" id="{A1ED2081-D36A-4DCF-9A39-8DC98E006CF4}"/>
              </a:ext>
            </a:extLst>
          </p:cNvPr>
          <p:cNvSpPr>
            <a:spLocks noGrp="1"/>
          </p:cNvSpPr>
          <p:nvPr/>
        </p:nvSpPr>
        <p:spPr>
          <a:xfrm>
            <a:off x="1095375" y="4000500"/>
            <a:ext cx="4000500" cy="266700"/>
          </a:xfrm>
          <a:prstGeom prst="rect">
            <a:avLst/>
          </a:prstGeom>
          <a:noFill/>
          <a:ln w="0">
            <a:noFill/>
          </a:ln>
        </p:spPr>
        <p:txBody>
          <a:bodyPr anchor="t">
            <a:normAutofit fontScale="73016"/>
          </a:bodyPr>
          <a:lstStyle/>
          <a:p>
            <a:pPr algn="l">
              <a:defRPr sz="1575" b="1" i="0">
                <a:solidFill>
                  <a:srgbClr val="FFFFFF"/>
                </a:solidFill>
                <a:latin typeface="Arial"/>
                <a:ea typeface="Arial"/>
                <a:cs typeface="Arial"/>
              </a:defRPr>
            </a:pPr>
            <a:r>
              <a:rPr sz="1575" b="1" i="0">
                <a:solidFill>
                  <a:srgbClr val="FFFFFF"/>
                </a:solidFill>
                <a:latin typeface="Arial"/>
                <a:ea typeface="Arial"/>
                <a:cs typeface="Arial"/>
              </a:rPr>
              <a:t>International Relations</a:t>
            </a:r>
          </a:p>
        </p:txBody>
      </p:sp>
      <p:sp>
        <p:nvSpPr>
          <p:cNvPr id="11" name="Dikdörtgen 10">
            <a:extLst>
              <a:ext uri="{FF2B5EF4-FFF2-40B4-BE49-F238E27FC236}">
                <a16:creationId xmlns:a16="http://schemas.microsoft.com/office/drawing/2014/main" id="{177C673C-7DDA-4FD0-A1BB-FCA2A91A5E62}"/>
              </a:ext>
            </a:extLst>
          </p:cNvPr>
          <p:cNvSpPr>
            <a:spLocks noGrp="1"/>
          </p:cNvSpPr>
          <p:nvPr/>
        </p:nvSpPr>
        <p:spPr>
          <a:xfrm>
            <a:off x="1095375" y="4371975"/>
            <a:ext cx="4238625" cy="800100"/>
          </a:xfrm>
          <a:prstGeom prst="rect">
            <a:avLst/>
          </a:prstGeom>
          <a:noFill/>
          <a:ln w="0">
            <a:noFill/>
          </a:ln>
        </p:spPr>
        <p:txBody>
          <a:bodyPr anchor="t">
            <a:normAutofit fontScale="95455"/>
          </a:bodyPr>
          <a:lstStyle/>
          <a:p>
            <a:pPr algn="l">
              <a:defRPr sz="1425" b="0" i="0">
                <a:solidFill>
                  <a:srgbClr val="FFFFFF"/>
                </a:solidFill>
                <a:latin typeface="Arial"/>
                <a:ea typeface="Arial"/>
                <a:cs typeface="Arial"/>
              </a:defRPr>
            </a:pPr>
            <a:r>
              <a:rPr sz="1425" b="0" i="0">
                <a:solidFill>
                  <a:srgbClr val="FFFFFF"/>
                </a:solidFill>
                <a:latin typeface="Arial"/>
                <a:ea typeface="Arial"/>
                <a:cs typeface="Arial"/>
              </a:rPr>
              <a:t>Students valued perspective marking, qualification and comparison. The matched prose sample showed longer sentences and much higher lexical diversity.</a:t>
            </a:r>
          </a:p>
        </p:txBody>
      </p:sp>
      <p:sp>
        <p:nvSpPr>
          <p:cNvPr id="12" name="Yuvarlatılmış Dikdörtgen 11">
            <a:extLst>
              <a:ext uri="{FF2B5EF4-FFF2-40B4-BE49-F238E27FC236}">
                <a16:creationId xmlns:a16="http://schemas.microsoft.com/office/drawing/2014/main" id="{DCCAFC9E-A39F-4E75-8002-36E3FF954E23}"/>
              </a:ext>
            </a:extLst>
          </p:cNvPr>
          <p:cNvSpPr>
            <a:spLocks noGrp="1"/>
          </p:cNvSpPr>
          <p:nvPr/>
        </p:nvSpPr>
        <p:spPr>
          <a:xfrm>
            <a:off x="6524625" y="1752600"/>
            <a:ext cx="4905375" cy="3571875"/>
          </a:xfrm>
          <a:prstGeom prst="roundRect">
            <a:avLst>
              <a:gd name="adj" fmla="val 2133"/>
            </a:avLst>
          </a:prstGeom>
          <a:solidFill>
            <a:srgbClr val="FFFFFF"/>
          </a:solidFill>
          <a:ln w="9525">
            <a:solidFill>
              <a:srgbClr val="C8C9D3"/>
            </a:solidFill>
          </a:ln>
        </p:spPr>
        <p:txBody>
          <a:bodyPr/>
          <a:lstStyle/>
          <a:p>
            <a:endParaRPr lang="tr-TR"/>
          </a:p>
        </p:txBody>
      </p:sp>
      <p:sp>
        <p:nvSpPr>
          <p:cNvPr id="13" name="Dikdörtgen 12">
            <a:extLst>
              <a:ext uri="{FF2B5EF4-FFF2-40B4-BE49-F238E27FC236}">
                <a16:creationId xmlns:a16="http://schemas.microsoft.com/office/drawing/2014/main" id="{7AC8EAAA-DB6E-4341-8776-C5B17BCDFAE6}"/>
              </a:ext>
            </a:extLst>
          </p:cNvPr>
          <p:cNvSpPr>
            <a:spLocks noGrp="1"/>
          </p:cNvSpPr>
          <p:nvPr/>
        </p:nvSpPr>
        <p:spPr>
          <a:xfrm>
            <a:off x="6858000" y="2057400"/>
            <a:ext cx="371475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BOUNDARIES OF THE CLAIM</a:t>
            </a:r>
          </a:p>
        </p:txBody>
      </p:sp>
      <p:sp>
        <p:nvSpPr>
          <p:cNvPr id="14" name="Dikdörtgen 13">
            <a:extLst>
              <a:ext uri="{FF2B5EF4-FFF2-40B4-BE49-F238E27FC236}">
                <a16:creationId xmlns:a16="http://schemas.microsoft.com/office/drawing/2014/main" id="{02E38493-9CEB-4D3E-BB98-BF863CCAD8E3}"/>
              </a:ext>
            </a:extLst>
          </p:cNvPr>
          <p:cNvSpPr>
            <a:spLocks noGrp="1"/>
          </p:cNvSpPr>
          <p:nvPr/>
        </p:nvSpPr>
        <p:spPr>
          <a:xfrm>
            <a:off x="6858000" y="2628900"/>
            <a:ext cx="4095750" cy="457200"/>
          </a:xfrm>
          <a:prstGeom prst="rect">
            <a:avLst/>
          </a:prstGeom>
          <a:noFill/>
          <a:ln w="0">
            <a:noFill/>
          </a:ln>
        </p:spPr>
        <p:txBody>
          <a:bodyPr anchor="t">
            <a:normAutofit fontScale="80000"/>
          </a:bodyPr>
          <a:lstStyle/>
          <a:p>
            <a:pPr algn="l">
              <a:defRPr sz="1500" b="1" i="0">
                <a:solidFill>
                  <a:srgbClr val="33343F"/>
                </a:solidFill>
                <a:latin typeface="Arial"/>
                <a:ea typeface="Arial"/>
                <a:cs typeface="Arial"/>
              </a:defRPr>
            </a:pPr>
            <a:r>
              <a:rPr sz="1500" b="1" i="0">
                <a:solidFill>
                  <a:srgbClr val="33343F"/>
                </a:solidFill>
                <a:latin typeface="Arial"/>
                <a:ea typeface="Arial"/>
                <a:cs typeface="Arial"/>
              </a:rPr>
              <a:t>Readability scores cannot establish ELFA friendliness.</a:t>
            </a:r>
          </a:p>
        </p:txBody>
      </p:sp>
      <p:sp>
        <p:nvSpPr>
          <p:cNvPr id="15" name="Dikdörtgen 14">
            <a:extLst>
              <a:ext uri="{FF2B5EF4-FFF2-40B4-BE49-F238E27FC236}">
                <a16:creationId xmlns:a16="http://schemas.microsoft.com/office/drawing/2014/main" id="{F6CB1139-FA96-4AE9-956A-0B6684776982}"/>
              </a:ext>
            </a:extLst>
          </p:cNvPr>
          <p:cNvSpPr>
            <a:spLocks noGrp="1"/>
          </p:cNvSpPr>
          <p:nvPr/>
        </p:nvSpPr>
        <p:spPr>
          <a:xfrm>
            <a:off x="6858000" y="3314700"/>
            <a:ext cx="4095750" cy="457200"/>
          </a:xfrm>
          <a:prstGeom prst="rect">
            <a:avLst/>
          </a:prstGeom>
          <a:noFill/>
          <a:ln w="0">
            <a:noFill/>
          </a:ln>
        </p:spPr>
        <p:txBody>
          <a:bodyPr anchor="t">
            <a:normAutofit fontScale="80000"/>
          </a:bodyPr>
          <a:lstStyle/>
          <a:p>
            <a:pPr algn="l">
              <a:defRPr sz="1500" b="1" i="0">
                <a:solidFill>
                  <a:srgbClr val="33343F"/>
                </a:solidFill>
                <a:latin typeface="Arial"/>
                <a:ea typeface="Arial"/>
                <a:cs typeface="Arial"/>
              </a:defRPr>
            </a:pPr>
            <a:r>
              <a:rPr sz="1500" b="1" i="0">
                <a:solidFill>
                  <a:srgbClr val="33343F"/>
                </a:solidFill>
                <a:latin typeface="Arial"/>
                <a:ea typeface="Arial"/>
                <a:cs typeface="Arial"/>
              </a:rPr>
              <a:t>Figure references are a proxy rather than an image count.</a:t>
            </a:r>
          </a:p>
        </p:txBody>
      </p:sp>
      <p:sp>
        <p:nvSpPr>
          <p:cNvPr id="16" name="Dikdörtgen 15">
            <a:extLst>
              <a:ext uri="{FF2B5EF4-FFF2-40B4-BE49-F238E27FC236}">
                <a16:creationId xmlns:a16="http://schemas.microsoft.com/office/drawing/2014/main" id="{B37BEDAE-F6E9-4655-98BC-F17531421EC9}"/>
              </a:ext>
            </a:extLst>
          </p:cNvPr>
          <p:cNvSpPr>
            <a:spLocks noGrp="1"/>
          </p:cNvSpPr>
          <p:nvPr/>
        </p:nvSpPr>
        <p:spPr>
          <a:xfrm>
            <a:off x="6858000" y="4000500"/>
            <a:ext cx="4095750" cy="600075"/>
          </a:xfrm>
          <a:prstGeom prst="rect">
            <a:avLst/>
          </a:prstGeom>
          <a:noFill/>
          <a:ln w="0">
            <a:noFill/>
          </a:ln>
        </p:spPr>
        <p:txBody>
          <a:bodyPr anchor="t">
            <a:normAutofit/>
          </a:bodyPr>
          <a:lstStyle/>
          <a:p>
            <a:pPr algn="l">
              <a:defRPr sz="1500" b="1" i="0">
                <a:solidFill>
                  <a:srgbClr val="33343F"/>
                </a:solidFill>
                <a:latin typeface="Arial"/>
                <a:ea typeface="Arial"/>
                <a:cs typeface="Arial"/>
              </a:defRPr>
            </a:pPr>
            <a:r>
              <a:rPr sz="1500" b="1" i="0">
                <a:solidFill>
                  <a:srgbClr val="33343F"/>
                </a:solidFill>
                <a:latin typeface="Arial"/>
                <a:ea typeface="Arial"/>
                <a:cs typeface="Arial"/>
              </a:rPr>
              <a:t>Interview patterns illustrate the framework but cannot validate it.</a:t>
            </a:r>
          </a:p>
        </p:txBody>
      </p:sp>
      <p:sp>
        <p:nvSpPr>
          <p:cNvPr id="17" name="Dikdörtgen 16">
            <a:extLst>
              <a:ext uri="{FF2B5EF4-FFF2-40B4-BE49-F238E27FC236}">
                <a16:creationId xmlns:a16="http://schemas.microsoft.com/office/drawing/2014/main" id="{CE9FC0D0-B63C-4A60-BBB6-EBC1698BFBA0}"/>
              </a:ext>
            </a:extLst>
          </p:cNvPr>
          <p:cNvSpPr>
            <a:spLocks noGrp="1"/>
          </p:cNvSpPr>
          <p:nvPr/>
        </p:nvSpPr>
        <p:spPr>
          <a:xfrm>
            <a:off x="6858000" y="4810125"/>
            <a:ext cx="4095750" cy="428625"/>
          </a:xfrm>
          <a:prstGeom prst="rect">
            <a:avLst/>
          </a:prstGeom>
          <a:noFill/>
          <a:ln w="0">
            <a:noFill/>
          </a:ln>
        </p:spPr>
        <p:txBody>
          <a:bodyPr anchor="t">
            <a:normAutofit fontScale="86765"/>
          </a:bodyPr>
          <a:lstStyle/>
          <a:p>
            <a:pPr algn="l">
              <a:defRPr sz="1275" b="1" i="0">
                <a:solidFill>
                  <a:srgbClr val="B94D35"/>
                </a:solidFill>
                <a:latin typeface="Arial"/>
                <a:ea typeface="Arial"/>
                <a:cs typeface="Arial"/>
              </a:defRPr>
            </a:pPr>
            <a:r>
              <a:rPr sz="1275" b="1" i="0">
                <a:solidFill>
                  <a:srgbClr val="B94D35"/>
                </a:solidFill>
                <a:latin typeface="Arial"/>
                <a:ea typeface="Arial"/>
                <a:cs typeface="Arial"/>
              </a:rPr>
              <a:t>The coursebook decision must combine reader evidence with function, form, placement and disciplinary fit.</a:t>
            </a:r>
          </a:p>
        </p:txBody>
      </p:sp>
      <p:sp>
        <p:nvSpPr>
          <p:cNvPr id="18" name="Dikdörtgen 17">
            <a:extLst>
              <a:ext uri="{FF2B5EF4-FFF2-40B4-BE49-F238E27FC236}">
                <a16:creationId xmlns:a16="http://schemas.microsoft.com/office/drawing/2014/main" id="{B86E21D4-84B9-49EF-B8CE-84F5B20E7648}"/>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Interpretation combines interview evidence with descriptive ten-book pilot analyses</a:t>
            </a:r>
          </a:p>
        </p:txBody>
      </p:sp>
      <p:sp>
        <p:nvSpPr>
          <p:cNvPr id="19" name="Düz Bağlayıcı 18">
            <a:extLst>
              <a:ext uri="{FF2B5EF4-FFF2-40B4-BE49-F238E27FC236}">
                <a16:creationId xmlns:a16="http://schemas.microsoft.com/office/drawing/2014/main" id="{E0C656CD-8F65-4D30-A7D5-A8919C3768DF}"/>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0" name="Dikdörtgen 19">
            <a:extLst>
              <a:ext uri="{FF2B5EF4-FFF2-40B4-BE49-F238E27FC236}">
                <a16:creationId xmlns:a16="http://schemas.microsoft.com/office/drawing/2014/main" id="{BD8CAF36-8C37-42FD-892E-5EAF19FD5C19}"/>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829845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3" name="Yuvarlatılmış Dikdörtgen 32">
            <a:extLst>
              <a:ext uri="{FF2B5EF4-FFF2-40B4-BE49-F238E27FC236}">
                <a16:creationId xmlns:a16="http://schemas.microsoft.com/office/drawing/2014/main" id="{3DF0D422-AB1E-4440-AC38-5D2D2E364AAB}"/>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1B18B444-A331-4CA4-B848-8861751A3E6A}"/>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7E35E520-100C-4887-B32C-F43F0B370F2C}"/>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Function, form and distribution answer different questions</a:t>
            </a:r>
          </a:p>
        </p:txBody>
      </p:sp>
      <p:sp>
        <p:nvSpPr>
          <p:cNvPr id="4" name="Düz Bağlayıcı 3">
            <a:extLst>
              <a:ext uri="{FF2B5EF4-FFF2-40B4-BE49-F238E27FC236}">
                <a16:creationId xmlns:a16="http://schemas.microsoft.com/office/drawing/2014/main" id="{42DA3007-60B2-44AF-97B3-6B0F24D7C466}"/>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53D122B5-B29E-4DC1-8C94-E528CD9989AF}"/>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22</a:t>
            </a:r>
          </a:p>
        </p:txBody>
      </p:sp>
      <p:sp>
        <p:nvSpPr>
          <p:cNvPr id="6" name="Yuvarlatılmış Dikdörtgen 5">
            <a:extLst>
              <a:ext uri="{FF2B5EF4-FFF2-40B4-BE49-F238E27FC236}">
                <a16:creationId xmlns:a16="http://schemas.microsoft.com/office/drawing/2014/main" id="{54F054A0-28BC-42D2-B68D-C1162516B347}"/>
              </a:ext>
            </a:extLst>
          </p:cNvPr>
          <p:cNvSpPr>
            <a:spLocks noGrp="1"/>
          </p:cNvSpPr>
          <p:nvPr/>
        </p:nvSpPr>
        <p:spPr>
          <a:xfrm>
            <a:off x="685800" y="1752600"/>
            <a:ext cx="2552700" cy="2238375"/>
          </a:xfrm>
          <a:prstGeom prst="roundRect">
            <a:avLst>
              <a:gd name="adj" fmla="val 3404"/>
            </a:avLst>
          </a:prstGeom>
          <a:solidFill>
            <a:srgbClr val="FFFFFF"/>
          </a:solidFill>
          <a:ln w="9525">
            <a:solidFill>
              <a:srgbClr val="C8C9D3"/>
            </a:solidFill>
          </a:ln>
        </p:spPr>
        <p:txBody>
          <a:bodyPr/>
          <a:lstStyle/>
          <a:p>
            <a:endParaRPr lang="tr-TR"/>
          </a:p>
        </p:txBody>
      </p:sp>
      <p:sp>
        <p:nvSpPr>
          <p:cNvPr id="7" name="Yuvarlatılmış Dikdörtgen 6">
            <a:extLst>
              <a:ext uri="{FF2B5EF4-FFF2-40B4-BE49-F238E27FC236}">
                <a16:creationId xmlns:a16="http://schemas.microsoft.com/office/drawing/2014/main" id="{F8F6350C-0096-46E3-A447-80835E7A5D0F}"/>
              </a:ext>
            </a:extLst>
          </p:cNvPr>
          <p:cNvSpPr>
            <a:spLocks noGrp="1"/>
          </p:cNvSpPr>
          <p:nvPr/>
        </p:nvSpPr>
        <p:spPr>
          <a:xfrm>
            <a:off x="685800" y="1752600"/>
            <a:ext cx="2552700" cy="133350"/>
          </a:xfrm>
          <a:prstGeom prst="roundRect">
            <a:avLst>
              <a:gd name="adj" fmla="val 50000"/>
            </a:avLst>
          </a:prstGeom>
          <a:solidFill>
            <a:srgbClr val="176082"/>
          </a:solidFill>
          <a:ln w="0">
            <a:noFill/>
          </a:ln>
        </p:spPr>
        <p:txBody>
          <a:bodyPr/>
          <a:lstStyle/>
          <a:p>
            <a:endParaRPr lang="tr-TR"/>
          </a:p>
        </p:txBody>
      </p:sp>
      <p:sp>
        <p:nvSpPr>
          <p:cNvPr id="8" name="Dikdörtgen 7">
            <a:extLst>
              <a:ext uri="{FF2B5EF4-FFF2-40B4-BE49-F238E27FC236}">
                <a16:creationId xmlns:a16="http://schemas.microsoft.com/office/drawing/2014/main" id="{B57A30A0-5266-468A-B818-911CD08A3E48}"/>
              </a:ext>
            </a:extLst>
          </p:cNvPr>
          <p:cNvSpPr>
            <a:spLocks noGrp="1"/>
          </p:cNvSpPr>
          <p:nvPr/>
        </p:nvSpPr>
        <p:spPr>
          <a:xfrm>
            <a:off x="914400" y="2152650"/>
            <a:ext cx="20955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FUNCTION</a:t>
            </a:r>
          </a:p>
        </p:txBody>
      </p:sp>
      <p:sp>
        <p:nvSpPr>
          <p:cNvPr id="9" name="Dikdörtgen 8">
            <a:extLst>
              <a:ext uri="{FF2B5EF4-FFF2-40B4-BE49-F238E27FC236}">
                <a16:creationId xmlns:a16="http://schemas.microsoft.com/office/drawing/2014/main" id="{5EB0EC24-290B-4981-8098-3945BF5E0D4A}"/>
              </a:ext>
            </a:extLst>
          </p:cNvPr>
          <p:cNvSpPr>
            <a:spLocks noGrp="1"/>
          </p:cNvSpPr>
          <p:nvPr/>
        </p:nvSpPr>
        <p:spPr>
          <a:xfrm>
            <a:off x="914400" y="2724150"/>
            <a:ext cx="2095500" cy="1000125"/>
          </a:xfrm>
          <a:prstGeom prst="rect">
            <a:avLst/>
          </a:prstGeom>
          <a:noFill/>
          <a:ln w="0">
            <a:noFill/>
          </a:ln>
        </p:spPr>
        <p:txBody>
          <a:bodyPr anchor="ctr">
            <a:normAutofit/>
          </a:bodyPr>
          <a:lstStyle/>
          <a:p>
            <a:pPr algn="ctr">
              <a:defRPr sz="1575" b="1" i="0">
                <a:solidFill>
                  <a:srgbClr val="33343F"/>
                </a:solidFill>
                <a:latin typeface="Arial"/>
                <a:ea typeface="Arial"/>
                <a:cs typeface="Arial"/>
              </a:defRPr>
            </a:pPr>
            <a:r>
              <a:rPr sz="1575" b="1" i="0">
                <a:solidFill>
                  <a:srgbClr val="33343F"/>
                </a:solidFill>
                <a:latin typeface="Arial"/>
                <a:ea typeface="Arial"/>
                <a:cs typeface="Arial"/>
              </a:rPr>
              <a:t>What reader need is addressed?</a:t>
            </a:r>
          </a:p>
        </p:txBody>
      </p:sp>
      <p:sp>
        <p:nvSpPr>
          <p:cNvPr id="10" name="Yuvarlatılmış Dikdörtgen 9">
            <a:extLst>
              <a:ext uri="{FF2B5EF4-FFF2-40B4-BE49-F238E27FC236}">
                <a16:creationId xmlns:a16="http://schemas.microsoft.com/office/drawing/2014/main" id="{A6CE2E87-A8E8-4B61-85D3-2BB0367266F3}"/>
              </a:ext>
            </a:extLst>
          </p:cNvPr>
          <p:cNvSpPr>
            <a:spLocks noGrp="1"/>
          </p:cNvSpPr>
          <p:nvPr/>
        </p:nvSpPr>
        <p:spPr>
          <a:xfrm>
            <a:off x="3543300" y="1752600"/>
            <a:ext cx="2552700" cy="2238375"/>
          </a:xfrm>
          <a:prstGeom prst="roundRect">
            <a:avLst>
              <a:gd name="adj" fmla="val 3404"/>
            </a:avLst>
          </a:prstGeom>
          <a:solidFill>
            <a:srgbClr val="FFFFFF"/>
          </a:solidFill>
          <a:ln w="9525">
            <a:solidFill>
              <a:srgbClr val="C8C9D3"/>
            </a:solidFill>
          </a:ln>
        </p:spPr>
        <p:txBody>
          <a:bodyPr/>
          <a:lstStyle/>
          <a:p>
            <a:endParaRPr lang="tr-TR"/>
          </a:p>
        </p:txBody>
      </p:sp>
      <p:sp>
        <p:nvSpPr>
          <p:cNvPr id="11" name="Yuvarlatılmış Dikdörtgen 10">
            <a:extLst>
              <a:ext uri="{FF2B5EF4-FFF2-40B4-BE49-F238E27FC236}">
                <a16:creationId xmlns:a16="http://schemas.microsoft.com/office/drawing/2014/main" id="{A6F93C97-0F23-4293-A68C-596CD21968D9}"/>
              </a:ext>
            </a:extLst>
          </p:cNvPr>
          <p:cNvSpPr>
            <a:spLocks noGrp="1"/>
          </p:cNvSpPr>
          <p:nvPr/>
        </p:nvSpPr>
        <p:spPr>
          <a:xfrm>
            <a:off x="3543300" y="1752600"/>
            <a:ext cx="2552700" cy="133350"/>
          </a:xfrm>
          <a:prstGeom prst="roundRect">
            <a:avLst>
              <a:gd name="adj" fmla="val 50000"/>
            </a:avLst>
          </a:prstGeom>
          <a:solidFill>
            <a:srgbClr val="D58C00"/>
          </a:solidFill>
          <a:ln w="0">
            <a:noFill/>
          </a:ln>
        </p:spPr>
        <p:txBody>
          <a:bodyPr/>
          <a:lstStyle/>
          <a:p>
            <a:endParaRPr lang="tr-TR"/>
          </a:p>
        </p:txBody>
      </p:sp>
      <p:sp>
        <p:nvSpPr>
          <p:cNvPr id="12" name="Dikdörtgen 11">
            <a:extLst>
              <a:ext uri="{FF2B5EF4-FFF2-40B4-BE49-F238E27FC236}">
                <a16:creationId xmlns:a16="http://schemas.microsoft.com/office/drawing/2014/main" id="{3CEA09AA-39DA-41AB-80D1-F6785BCAC59C}"/>
              </a:ext>
            </a:extLst>
          </p:cNvPr>
          <p:cNvSpPr>
            <a:spLocks noGrp="1"/>
          </p:cNvSpPr>
          <p:nvPr/>
        </p:nvSpPr>
        <p:spPr>
          <a:xfrm>
            <a:off x="3771900" y="2152650"/>
            <a:ext cx="209550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FORM</a:t>
            </a:r>
          </a:p>
        </p:txBody>
      </p:sp>
      <p:sp>
        <p:nvSpPr>
          <p:cNvPr id="13" name="Dikdörtgen 12">
            <a:extLst>
              <a:ext uri="{FF2B5EF4-FFF2-40B4-BE49-F238E27FC236}">
                <a16:creationId xmlns:a16="http://schemas.microsoft.com/office/drawing/2014/main" id="{B90B3FF8-FC1E-4474-BAED-AF99BE6BFE02}"/>
              </a:ext>
            </a:extLst>
          </p:cNvPr>
          <p:cNvSpPr>
            <a:spLocks noGrp="1"/>
          </p:cNvSpPr>
          <p:nvPr/>
        </p:nvSpPr>
        <p:spPr>
          <a:xfrm>
            <a:off x="3771900" y="2724150"/>
            <a:ext cx="2095500" cy="1000125"/>
          </a:xfrm>
          <a:prstGeom prst="rect">
            <a:avLst/>
          </a:prstGeom>
          <a:noFill/>
          <a:ln w="0">
            <a:noFill/>
          </a:ln>
        </p:spPr>
        <p:txBody>
          <a:bodyPr anchor="ctr">
            <a:normAutofit fontScale="94643"/>
          </a:bodyPr>
          <a:lstStyle/>
          <a:p>
            <a:pPr algn="ctr">
              <a:defRPr sz="1575" b="1" i="0">
                <a:solidFill>
                  <a:srgbClr val="33343F"/>
                </a:solidFill>
                <a:latin typeface="Arial"/>
                <a:ea typeface="Arial"/>
                <a:cs typeface="Arial"/>
              </a:defRPr>
            </a:pPr>
            <a:r>
              <a:rPr sz="1575" b="1" i="0">
                <a:solidFill>
                  <a:srgbClr val="33343F"/>
                </a:solidFill>
                <a:latin typeface="Arial"/>
                <a:ea typeface="Arial"/>
                <a:cs typeface="Arial"/>
              </a:rPr>
              <a:t>Which observable textual, visual or numeric device supplies it?</a:t>
            </a:r>
          </a:p>
        </p:txBody>
      </p:sp>
      <p:sp>
        <p:nvSpPr>
          <p:cNvPr id="14" name="Yuvarlatılmış Dikdörtgen 13">
            <a:extLst>
              <a:ext uri="{FF2B5EF4-FFF2-40B4-BE49-F238E27FC236}">
                <a16:creationId xmlns:a16="http://schemas.microsoft.com/office/drawing/2014/main" id="{13243DD0-A5F0-4C84-84DD-C0F39846EFDC}"/>
              </a:ext>
            </a:extLst>
          </p:cNvPr>
          <p:cNvSpPr>
            <a:spLocks noGrp="1"/>
          </p:cNvSpPr>
          <p:nvPr/>
        </p:nvSpPr>
        <p:spPr>
          <a:xfrm>
            <a:off x="6400800" y="1752600"/>
            <a:ext cx="2552700" cy="2238375"/>
          </a:xfrm>
          <a:prstGeom prst="roundRect">
            <a:avLst>
              <a:gd name="adj" fmla="val 3404"/>
            </a:avLst>
          </a:prstGeom>
          <a:solidFill>
            <a:srgbClr val="FFFFFF"/>
          </a:solidFill>
          <a:ln w="9525">
            <a:solidFill>
              <a:srgbClr val="C8C9D3"/>
            </a:solidFill>
          </a:ln>
        </p:spPr>
        <p:txBody>
          <a:bodyPr/>
          <a:lstStyle/>
          <a:p>
            <a:endParaRPr lang="tr-TR"/>
          </a:p>
        </p:txBody>
      </p:sp>
      <p:sp>
        <p:nvSpPr>
          <p:cNvPr id="15" name="Yuvarlatılmış Dikdörtgen 14">
            <a:extLst>
              <a:ext uri="{FF2B5EF4-FFF2-40B4-BE49-F238E27FC236}">
                <a16:creationId xmlns:a16="http://schemas.microsoft.com/office/drawing/2014/main" id="{E460EC7B-A90A-4348-97C5-04D8C789A524}"/>
              </a:ext>
            </a:extLst>
          </p:cNvPr>
          <p:cNvSpPr>
            <a:spLocks noGrp="1"/>
          </p:cNvSpPr>
          <p:nvPr/>
        </p:nvSpPr>
        <p:spPr>
          <a:xfrm>
            <a:off x="6400800" y="1752600"/>
            <a:ext cx="2552700" cy="133350"/>
          </a:xfrm>
          <a:prstGeom prst="roundRect">
            <a:avLst>
              <a:gd name="adj" fmla="val 50000"/>
            </a:avLst>
          </a:prstGeom>
          <a:solidFill>
            <a:srgbClr val="FFD45A"/>
          </a:solidFill>
          <a:ln w="0">
            <a:noFill/>
          </a:ln>
        </p:spPr>
        <p:txBody>
          <a:bodyPr/>
          <a:lstStyle/>
          <a:p>
            <a:endParaRPr lang="tr-TR"/>
          </a:p>
        </p:txBody>
      </p:sp>
      <p:sp>
        <p:nvSpPr>
          <p:cNvPr id="16" name="Dikdörtgen 15">
            <a:extLst>
              <a:ext uri="{FF2B5EF4-FFF2-40B4-BE49-F238E27FC236}">
                <a16:creationId xmlns:a16="http://schemas.microsoft.com/office/drawing/2014/main" id="{AD714EFB-46A2-4A85-A549-5C1DF9270554}"/>
              </a:ext>
            </a:extLst>
          </p:cNvPr>
          <p:cNvSpPr>
            <a:spLocks noGrp="1"/>
          </p:cNvSpPr>
          <p:nvPr/>
        </p:nvSpPr>
        <p:spPr>
          <a:xfrm>
            <a:off x="6629400" y="2152650"/>
            <a:ext cx="20955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DISTRIBUTION</a:t>
            </a:r>
          </a:p>
        </p:txBody>
      </p:sp>
      <p:sp>
        <p:nvSpPr>
          <p:cNvPr id="17" name="Dikdörtgen 16">
            <a:extLst>
              <a:ext uri="{FF2B5EF4-FFF2-40B4-BE49-F238E27FC236}">
                <a16:creationId xmlns:a16="http://schemas.microsoft.com/office/drawing/2014/main" id="{D8035249-AEB5-455B-926B-1BED0690658E}"/>
              </a:ext>
            </a:extLst>
          </p:cNvPr>
          <p:cNvSpPr>
            <a:spLocks noGrp="1"/>
          </p:cNvSpPr>
          <p:nvPr/>
        </p:nvSpPr>
        <p:spPr>
          <a:xfrm>
            <a:off x="6629400" y="2724150"/>
            <a:ext cx="2095500" cy="1000125"/>
          </a:xfrm>
          <a:prstGeom prst="rect">
            <a:avLst/>
          </a:prstGeom>
          <a:noFill/>
          <a:ln w="0">
            <a:noFill/>
          </a:ln>
        </p:spPr>
        <p:txBody>
          <a:bodyPr anchor="ctr">
            <a:normAutofit fontScale="94643"/>
          </a:bodyPr>
          <a:lstStyle/>
          <a:p>
            <a:pPr algn="ctr">
              <a:defRPr sz="1575" b="1" i="0">
                <a:solidFill>
                  <a:srgbClr val="33343F"/>
                </a:solidFill>
                <a:latin typeface="Arial"/>
                <a:ea typeface="Arial"/>
                <a:cs typeface="Arial"/>
              </a:defRPr>
            </a:pPr>
            <a:r>
              <a:rPr sz="1575" b="1" i="0">
                <a:solidFill>
                  <a:srgbClr val="33343F"/>
                </a:solidFill>
                <a:latin typeface="Arial"/>
                <a:ea typeface="Arial"/>
                <a:cs typeface="Arial"/>
              </a:rPr>
              <a:t>How reliably is that device available across eligible points of need?</a:t>
            </a:r>
          </a:p>
        </p:txBody>
      </p:sp>
      <p:sp>
        <p:nvSpPr>
          <p:cNvPr id="18" name="Yuvarlatılmış Dikdörtgen 17">
            <a:extLst>
              <a:ext uri="{FF2B5EF4-FFF2-40B4-BE49-F238E27FC236}">
                <a16:creationId xmlns:a16="http://schemas.microsoft.com/office/drawing/2014/main" id="{B10E99AE-3CD5-42E1-BAE3-C43BFBDD918C}"/>
              </a:ext>
            </a:extLst>
          </p:cNvPr>
          <p:cNvSpPr>
            <a:spLocks noGrp="1"/>
          </p:cNvSpPr>
          <p:nvPr/>
        </p:nvSpPr>
        <p:spPr>
          <a:xfrm>
            <a:off x="9258300" y="1752600"/>
            <a:ext cx="2552700" cy="2238375"/>
          </a:xfrm>
          <a:prstGeom prst="roundRect">
            <a:avLst>
              <a:gd name="adj" fmla="val 3404"/>
            </a:avLst>
          </a:prstGeom>
          <a:solidFill>
            <a:srgbClr val="FFFFFF"/>
          </a:solidFill>
          <a:ln w="9525">
            <a:solidFill>
              <a:srgbClr val="C8C9D3"/>
            </a:solidFill>
          </a:ln>
        </p:spPr>
        <p:txBody>
          <a:bodyPr/>
          <a:lstStyle/>
          <a:p>
            <a:endParaRPr lang="tr-TR"/>
          </a:p>
        </p:txBody>
      </p:sp>
      <p:sp>
        <p:nvSpPr>
          <p:cNvPr id="19" name="Yuvarlatılmış Dikdörtgen 18">
            <a:extLst>
              <a:ext uri="{FF2B5EF4-FFF2-40B4-BE49-F238E27FC236}">
                <a16:creationId xmlns:a16="http://schemas.microsoft.com/office/drawing/2014/main" id="{3EC7FFC2-31AA-49A7-BA39-9034B9F145EB}"/>
              </a:ext>
            </a:extLst>
          </p:cNvPr>
          <p:cNvSpPr>
            <a:spLocks noGrp="1"/>
          </p:cNvSpPr>
          <p:nvPr/>
        </p:nvSpPr>
        <p:spPr>
          <a:xfrm>
            <a:off x="9258300" y="1752600"/>
            <a:ext cx="2552700" cy="133350"/>
          </a:xfrm>
          <a:prstGeom prst="roundRect">
            <a:avLst>
              <a:gd name="adj" fmla="val 50000"/>
            </a:avLst>
          </a:prstGeom>
          <a:solidFill>
            <a:srgbClr val="123B53"/>
          </a:solidFill>
          <a:ln w="0">
            <a:noFill/>
          </a:ln>
        </p:spPr>
        <p:txBody>
          <a:bodyPr/>
          <a:lstStyle/>
          <a:p>
            <a:endParaRPr lang="tr-TR"/>
          </a:p>
        </p:txBody>
      </p:sp>
      <p:sp>
        <p:nvSpPr>
          <p:cNvPr id="20" name="Dikdörtgen 19">
            <a:extLst>
              <a:ext uri="{FF2B5EF4-FFF2-40B4-BE49-F238E27FC236}">
                <a16:creationId xmlns:a16="http://schemas.microsoft.com/office/drawing/2014/main" id="{E716AFF2-AAEA-4331-A8C8-EE0C58109820}"/>
              </a:ext>
            </a:extLst>
          </p:cNvPr>
          <p:cNvSpPr>
            <a:spLocks noGrp="1"/>
          </p:cNvSpPr>
          <p:nvPr/>
        </p:nvSpPr>
        <p:spPr>
          <a:xfrm>
            <a:off x="9486900" y="2152650"/>
            <a:ext cx="2095500" cy="257175"/>
          </a:xfrm>
          <a:prstGeom prst="rect">
            <a:avLst/>
          </a:prstGeom>
          <a:noFill/>
          <a:ln w="0">
            <a:noFill/>
          </a:ln>
        </p:spPr>
        <p:txBody>
          <a:bodyPr anchor="ctr">
            <a:normAutofit/>
          </a:bodyPr>
          <a:lstStyle/>
          <a:p>
            <a:pPr algn="l">
              <a:defRPr sz="975" b="1" i="0">
                <a:solidFill>
                  <a:srgbClr val="123B53"/>
                </a:solidFill>
                <a:latin typeface="Arial"/>
                <a:ea typeface="Arial"/>
                <a:cs typeface="Arial"/>
              </a:defRPr>
            </a:pPr>
            <a:r>
              <a:rPr sz="975" b="1" i="0">
                <a:solidFill>
                  <a:srgbClr val="123B53"/>
                </a:solidFill>
                <a:latin typeface="Arial"/>
                <a:ea typeface="Arial"/>
                <a:cs typeface="Arial"/>
              </a:rPr>
              <a:t>READER EVIDENCE</a:t>
            </a:r>
          </a:p>
        </p:txBody>
      </p:sp>
      <p:sp>
        <p:nvSpPr>
          <p:cNvPr id="21" name="Dikdörtgen 20">
            <a:extLst>
              <a:ext uri="{FF2B5EF4-FFF2-40B4-BE49-F238E27FC236}">
                <a16:creationId xmlns:a16="http://schemas.microsoft.com/office/drawing/2014/main" id="{C540ABFF-AE7E-49CF-BD66-083C1A6AEAE0}"/>
              </a:ext>
            </a:extLst>
          </p:cNvPr>
          <p:cNvSpPr>
            <a:spLocks noGrp="1"/>
          </p:cNvSpPr>
          <p:nvPr/>
        </p:nvSpPr>
        <p:spPr>
          <a:xfrm>
            <a:off x="9486900" y="2724150"/>
            <a:ext cx="2095500" cy="1000125"/>
          </a:xfrm>
          <a:prstGeom prst="rect">
            <a:avLst/>
          </a:prstGeom>
          <a:noFill/>
          <a:ln w="0">
            <a:noFill/>
          </a:ln>
        </p:spPr>
        <p:txBody>
          <a:bodyPr anchor="ctr">
            <a:normAutofit/>
          </a:bodyPr>
          <a:lstStyle/>
          <a:p>
            <a:pPr algn="ctr">
              <a:defRPr sz="1575" b="1" i="0">
                <a:solidFill>
                  <a:srgbClr val="33343F"/>
                </a:solidFill>
                <a:latin typeface="Arial"/>
                <a:ea typeface="Arial"/>
                <a:cs typeface="Arial"/>
              </a:defRPr>
            </a:pPr>
            <a:r>
              <a:rPr sz="1575" b="1" i="0">
                <a:solidFill>
                  <a:srgbClr val="33343F"/>
                </a:solidFill>
                <a:latin typeface="Arial"/>
                <a:ea typeface="Arial"/>
                <a:cs typeface="Arial"/>
              </a:rPr>
              <a:t>Do students notice, use or still need the support?</a:t>
            </a:r>
          </a:p>
        </p:txBody>
      </p:sp>
      <p:sp>
        <p:nvSpPr>
          <p:cNvPr id="22" name="Yuvarlatılmış Dikdörtgen 21">
            <a:extLst>
              <a:ext uri="{FF2B5EF4-FFF2-40B4-BE49-F238E27FC236}">
                <a16:creationId xmlns:a16="http://schemas.microsoft.com/office/drawing/2014/main" id="{AAA9DCE5-83D6-429E-AD47-7BFC72693285}"/>
              </a:ext>
            </a:extLst>
          </p:cNvPr>
          <p:cNvSpPr>
            <a:spLocks noGrp="1"/>
          </p:cNvSpPr>
          <p:nvPr/>
        </p:nvSpPr>
        <p:spPr>
          <a:xfrm>
            <a:off x="857250" y="4362450"/>
            <a:ext cx="10477500" cy="1447800"/>
          </a:xfrm>
          <a:prstGeom prst="roundRect">
            <a:avLst>
              <a:gd name="adj" fmla="val 5263"/>
            </a:avLst>
          </a:prstGeom>
          <a:solidFill>
            <a:srgbClr val="E6F0F5"/>
          </a:solidFill>
          <a:ln w="0">
            <a:noFill/>
          </a:ln>
        </p:spPr>
        <p:txBody>
          <a:bodyPr/>
          <a:lstStyle/>
          <a:p>
            <a:endParaRPr lang="tr-TR"/>
          </a:p>
        </p:txBody>
      </p:sp>
      <p:sp>
        <p:nvSpPr>
          <p:cNvPr id="23" name="Dikdörtgen 22">
            <a:extLst>
              <a:ext uri="{FF2B5EF4-FFF2-40B4-BE49-F238E27FC236}">
                <a16:creationId xmlns:a16="http://schemas.microsoft.com/office/drawing/2014/main" id="{572F2759-7235-4A89-B330-AB319279C8FA}"/>
              </a:ext>
            </a:extLst>
          </p:cNvPr>
          <p:cNvSpPr>
            <a:spLocks noGrp="1"/>
          </p:cNvSpPr>
          <p:nvPr/>
        </p:nvSpPr>
        <p:spPr>
          <a:xfrm>
            <a:off x="1143000" y="4572000"/>
            <a:ext cx="2571750" cy="228600"/>
          </a:xfrm>
          <a:prstGeom prst="rect">
            <a:avLst/>
          </a:prstGeom>
          <a:noFill/>
          <a:ln w="0">
            <a:noFill/>
          </a:ln>
        </p:spPr>
        <p:txBody>
          <a:bodyPr anchor="t">
            <a:normAutofit fontScale="80000"/>
          </a:bodyPr>
          <a:lstStyle/>
          <a:p>
            <a:pPr algn="l">
              <a:defRPr sz="1125" b="1" i="0">
                <a:solidFill>
                  <a:srgbClr val="176082"/>
                </a:solidFill>
                <a:latin typeface="Arial"/>
                <a:ea typeface="Arial"/>
                <a:cs typeface="Arial"/>
              </a:defRPr>
            </a:pPr>
            <a:r>
              <a:rPr sz="1125" b="1" i="0">
                <a:solidFill>
                  <a:srgbClr val="176082"/>
                </a:solidFill>
                <a:latin typeface="Arial"/>
                <a:ea typeface="Arial"/>
                <a:cs typeface="Arial"/>
              </a:rPr>
              <a:t>TEXTUAL DISTRIBUTION</a:t>
            </a:r>
          </a:p>
        </p:txBody>
      </p:sp>
      <p:sp>
        <p:nvSpPr>
          <p:cNvPr id="24" name="Dikdörtgen 23">
            <a:extLst>
              <a:ext uri="{FF2B5EF4-FFF2-40B4-BE49-F238E27FC236}">
                <a16:creationId xmlns:a16="http://schemas.microsoft.com/office/drawing/2014/main" id="{B9574C3B-3A14-4B81-8C99-6C725577FEC6}"/>
              </a:ext>
            </a:extLst>
          </p:cNvPr>
          <p:cNvSpPr>
            <a:spLocks noGrp="1"/>
          </p:cNvSpPr>
          <p:nvPr/>
        </p:nvSpPr>
        <p:spPr>
          <a:xfrm>
            <a:off x="1143000" y="4914900"/>
            <a:ext cx="4524375" cy="238125"/>
          </a:xfrm>
          <a:prstGeom prst="rect">
            <a:avLst/>
          </a:prstGeom>
          <a:noFill/>
          <a:ln w="0">
            <a:noFill/>
          </a:ln>
        </p:spPr>
        <p:txBody>
          <a:bodyPr anchor="t">
            <a:normAutofit fontScale="75490"/>
          </a:bodyPr>
          <a:lstStyle/>
          <a:p>
            <a:pPr algn="l">
              <a:defRPr sz="1275" b="1" i="0">
                <a:solidFill>
                  <a:srgbClr val="33343F"/>
                </a:solidFill>
                <a:latin typeface="Arial"/>
                <a:ea typeface="Arial"/>
                <a:cs typeface="Arial"/>
              </a:defRPr>
            </a:pPr>
            <a:r>
              <a:rPr sz="1275" b="1" i="0">
                <a:solidFill>
                  <a:srgbClr val="33343F"/>
                </a:solidFill>
                <a:latin typeface="Arial"/>
                <a:ea typeface="Arial"/>
                <a:cs typeface="Arial"/>
              </a:rPr>
              <a:t>Coverage: support at 4 of 6 eligible first introductions</a:t>
            </a:r>
          </a:p>
        </p:txBody>
      </p:sp>
      <p:sp>
        <p:nvSpPr>
          <p:cNvPr id="25" name="Dikdörtgen 24">
            <a:extLst>
              <a:ext uri="{FF2B5EF4-FFF2-40B4-BE49-F238E27FC236}">
                <a16:creationId xmlns:a16="http://schemas.microsoft.com/office/drawing/2014/main" id="{882E884C-B960-4A1A-BA9C-4DB4EC66401C}"/>
              </a:ext>
            </a:extLst>
          </p:cNvPr>
          <p:cNvSpPr>
            <a:spLocks noGrp="1"/>
          </p:cNvSpPr>
          <p:nvPr/>
        </p:nvSpPr>
        <p:spPr>
          <a:xfrm>
            <a:off x="1143000" y="5248275"/>
            <a:ext cx="4524375" cy="238125"/>
          </a:xfrm>
          <a:prstGeom prst="rect">
            <a:avLst/>
          </a:prstGeom>
          <a:noFill/>
          <a:ln w="0">
            <a:noFill/>
          </a:ln>
        </p:spPr>
        <p:txBody>
          <a:bodyPr anchor="t">
            <a:normAutofit fontScale="75490"/>
          </a:bodyPr>
          <a:lstStyle/>
          <a:p>
            <a:pPr algn="l">
              <a:defRPr sz="1275" b="0" i="0">
                <a:solidFill>
                  <a:srgbClr val="33343F"/>
                </a:solidFill>
                <a:latin typeface="Arial"/>
                <a:ea typeface="Arial"/>
                <a:cs typeface="Arial"/>
              </a:defRPr>
            </a:pPr>
            <a:r>
              <a:rPr sz="1275" b="0" i="0">
                <a:solidFill>
                  <a:srgbClr val="33343F"/>
                </a:solidFill>
                <a:latin typeface="Arial"/>
                <a:ea typeface="Arial"/>
                <a:cs typeface="Arial"/>
              </a:rPr>
              <a:t>Timing: 3 at first mention, 1 delayed</a:t>
            </a:r>
          </a:p>
        </p:txBody>
      </p:sp>
      <p:sp>
        <p:nvSpPr>
          <p:cNvPr id="26" name="Dikdörtgen 25">
            <a:extLst>
              <a:ext uri="{FF2B5EF4-FFF2-40B4-BE49-F238E27FC236}">
                <a16:creationId xmlns:a16="http://schemas.microsoft.com/office/drawing/2014/main" id="{133CC9C8-6F08-4C36-B86B-99C5356BB8B3}"/>
              </a:ext>
            </a:extLst>
          </p:cNvPr>
          <p:cNvSpPr>
            <a:spLocks noGrp="1"/>
          </p:cNvSpPr>
          <p:nvPr/>
        </p:nvSpPr>
        <p:spPr>
          <a:xfrm>
            <a:off x="1143000" y="5524500"/>
            <a:ext cx="4524375" cy="238125"/>
          </a:xfrm>
          <a:prstGeom prst="rect">
            <a:avLst/>
          </a:prstGeom>
          <a:noFill/>
          <a:ln w="0">
            <a:noFill/>
          </a:ln>
        </p:spPr>
        <p:txBody>
          <a:bodyPr anchor="t">
            <a:normAutofit fontScale="75490"/>
          </a:bodyPr>
          <a:lstStyle/>
          <a:p>
            <a:pPr algn="l">
              <a:defRPr sz="1275" b="0" i="0">
                <a:solidFill>
                  <a:srgbClr val="33343F"/>
                </a:solidFill>
                <a:latin typeface="Arial"/>
                <a:ea typeface="Arial"/>
                <a:cs typeface="Arial"/>
              </a:defRPr>
            </a:pPr>
            <a:r>
              <a:rPr sz="1275" b="0" i="0">
                <a:solidFill>
                  <a:srgbClr val="33343F"/>
                </a:solidFill>
                <a:latin typeface="Arial"/>
                <a:ea typeface="Arial"/>
                <a:cs typeface="Arial"/>
              </a:rPr>
              <a:t>Spread: support appears in 4 of 5 sampled chapters</a:t>
            </a:r>
          </a:p>
        </p:txBody>
      </p:sp>
      <p:sp>
        <p:nvSpPr>
          <p:cNvPr id="27" name="Dikdörtgen 26">
            <a:extLst>
              <a:ext uri="{FF2B5EF4-FFF2-40B4-BE49-F238E27FC236}">
                <a16:creationId xmlns:a16="http://schemas.microsoft.com/office/drawing/2014/main" id="{249DFA40-605D-4978-82C1-E7A9026AC058}"/>
              </a:ext>
            </a:extLst>
          </p:cNvPr>
          <p:cNvSpPr>
            <a:spLocks noGrp="1"/>
          </p:cNvSpPr>
          <p:nvPr/>
        </p:nvSpPr>
        <p:spPr>
          <a:xfrm>
            <a:off x="6477000" y="4572000"/>
            <a:ext cx="2952750" cy="228600"/>
          </a:xfrm>
          <a:prstGeom prst="rect">
            <a:avLst/>
          </a:prstGeom>
          <a:noFill/>
          <a:ln w="0">
            <a:noFill/>
          </a:ln>
        </p:spPr>
        <p:txBody>
          <a:bodyPr anchor="t">
            <a:normAutofit fontScale="80000"/>
          </a:bodyPr>
          <a:lstStyle/>
          <a:p>
            <a:pPr algn="l">
              <a:defRPr sz="1125" b="1" i="0">
                <a:solidFill>
                  <a:srgbClr val="D58C00"/>
                </a:solidFill>
                <a:latin typeface="Arial"/>
                <a:ea typeface="Arial"/>
                <a:cs typeface="Arial"/>
              </a:defRPr>
            </a:pPr>
            <a:r>
              <a:rPr sz="1125" b="1" i="0">
                <a:solidFill>
                  <a:srgbClr val="D58C00"/>
                </a:solidFill>
                <a:latin typeface="Arial"/>
                <a:ea typeface="Arial"/>
                <a:cs typeface="Arial"/>
              </a:rPr>
              <a:t>PERCEIVED DISTRIBUTION</a:t>
            </a:r>
          </a:p>
        </p:txBody>
      </p:sp>
      <p:sp>
        <p:nvSpPr>
          <p:cNvPr id="28" name="Dikdörtgen 27">
            <a:extLst>
              <a:ext uri="{FF2B5EF4-FFF2-40B4-BE49-F238E27FC236}">
                <a16:creationId xmlns:a16="http://schemas.microsoft.com/office/drawing/2014/main" id="{60636CF9-E1CC-4877-942F-F1AFA9E968BA}"/>
              </a:ext>
            </a:extLst>
          </p:cNvPr>
          <p:cNvSpPr>
            <a:spLocks noGrp="1"/>
          </p:cNvSpPr>
          <p:nvPr/>
        </p:nvSpPr>
        <p:spPr>
          <a:xfrm>
            <a:off x="6477000" y="4962525"/>
            <a:ext cx="4048125" cy="457200"/>
          </a:xfrm>
          <a:prstGeom prst="rect">
            <a:avLst/>
          </a:prstGeom>
          <a:noFill/>
          <a:ln w="0">
            <a:noFill/>
          </a:ln>
        </p:spPr>
        <p:txBody>
          <a:bodyPr anchor="t">
            <a:normAutofit fontScale="98286"/>
          </a:bodyPr>
          <a:lstStyle/>
          <a:p>
            <a:pPr algn="l">
              <a:defRPr sz="1350" b="1" i="0">
                <a:solidFill>
                  <a:srgbClr val="33343F"/>
                </a:solidFill>
                <a:latin typeface="Arial"/>
                <a:ea typeface="Arial"/>
                <a:cs typeface="Arial"/>
              </a:defRPr>
            </a:pPr>
            <a:r>
              <a:rPr sz="1350" b="1" i="0">
                <a:solidFill>
                  <a:srgbClr val="33343F"/>
                </a:solidFill>
                <a:latin typeface="Arial"/>
                <a:ea typeface="Arial"/>
                <a:cs typeface="Arial"/>
              </a:rPr>
              <a:t>9 of 20 participants mention the need or support</a:t>
            </a:r>
          </a:p>
        </p:txBody>
      </p:sp>
      <p:sp>
        <p:nvSpPr>
          <p:cNvPr id="29" name="Dikdörtgen 28">
            <a:extLst>
              <a:ext uri="{FF2B5EF4-FFF2-40B4-BE49-F238E27FC236}">
                <a16:creationId xmlns:a16="http://schemas.microsoft.com/office/drawing/2014/main" id="{061709A3-552B-44E0-8E4E-FBA09D44B7E0}"/>
              </a:ext>
            </a:extLst>
          </p:cNvPr>
          <p:cNvSpPr>
            <a:spLocks noGrp="1"/>
          </p:cNvSpPr>
          <p:nvPr/>
        </p:nvSpPr>
        <p:spPr>
          <a:xfrm>
            <a:off x="6477000" y="5467350"/>
            <a:ext cx="4048125" cy="228600"/>
          </a:xfrm>
          <a:prstGeom prst="rect">
            <a:avLst/>
          </a:prstGeom>
          <a:noFill/>
          <a:ln w="0">
            <a:noFill/>
          </a:ln>
        </p:spPr>
        <p:txBody>
          <a:bodyPr anchor="t">
            <a:normAutofit fontScale="75000"/>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Keep this separate from the textbook count.</a:t>
            </a:r>
          </a:p>
        </p:txBody>
      </p:sp>
      <p:sp>
        <p:nvSpPr>
          <p:cNvPr id="30" name="Dikdörtgen 29">
            <a:extLst>
              <a:ext uri="{FF2B5EF4-FFF2-40B4-BE49-F238E27FC236}">
                <a16:creationId xmlns:a16="http://schemas.microsoft.com/office/drawing/2014/main" id="{7B173913-DE54-47E2-9BF0-9018FDEAB433}"/>
              </a:ext>
            </a:extLst>
          </p:cNvPr>
          <p:cNvSpPr>
            <a:spLocks noGrp="1"/>
          </p:cNvSpPr>
          <p:nvPr/>
        </p:nvSpPr>
        <p:spPr>
          <a:xfrm>
            <a:off x="809625" y="6162675"/>
            <a:ext cx="10572750" cy="200025"/>
          </a:xfrm>
          <a:prstGeom prst="rect">
            <a:avLst/>
          </a:prstGeom>
          <a:noFill/>
          <a:ln w="0">
            <a:noFill/>
          </a:ln>
        </p:spPr>
        <p:txBody>
          <a:bodyPr anchor="t">
            <a:normAutofit fontScale="95000"/>
          </a:bodyPr>
          <a:lstStyle/>
          <a:p>
            <a:pPr algn="ctr">
              <a:defRPr sz="750" b="0" i="1">
                <a:solidFill>
                  <a:srgbClr val="626777"/>
                </a:solidFill>
                <a:latin typeface="Arial"/>
                <a:ea typeface="Arial"/>
                <a:cs typeface="Arial"/>
              </a:defRPr>
            </a:pPr>
            <a:r>
              <a:rPr sz="750" b="0" i="1">
                <a:solidFill>
                  <a:srgbClr val="626777"/>
                </a:solidFill>
                <a:latin typeface="Arial"/>
                <a:ea typeface="Arial"/>
                <a:cs typeface="Arial"/>
              </a:rPr>
              <a:t>Terminology adapted from Mauranen et al., 2016, p. 46; MIWAE operationalises distribution through coverage, timing and spread</a:t>
            </a:r>
          </a:p>
        </p:txBody>
      </p:sp>
      <p:sp>
        <p:nvSpPr>
          <p:cNvPr id="31" name="Düz Bağlayıcı 30">
            <a:extLst>
              <a:ext uri="{FF2B5EF4-FFF2-40B4-BE49-F238E27FC236}">
                <a16:creationId xmlns:a16="http://schemas.microsoft.com/office/drawing/2014/main" id="{D7F95735-39FD-40C6-A034-34020E1EAF67}"/>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2" name="Dikdörtgen 31">
            <a:extLst>
              <a:ext uri="{FF2B5EF4-FFF2-40B4-BE49-F238E27FC236}">
                <a16:creationId xmlns:a16="http://schemas.microsoft.com/office/drawing/2014/main" id="{EC3510B9-D4E5-432E-94C0-19F4E2E323CB}"/>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21250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0" name="Yuvarlatılmış Dikdörtgen 9">
            <a:extLst>
              <a:ext uri="{FF2B5EF4-FFF2-40B4-BE49-F238E27FC236}">
                <a16:creationId xmlns:a16="http://schemas.microsoft.com/office/drawing/2014/main" id="{9DDF8D3C-5CFB-4C45-B527-6A6AD8011E84}"/>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DD5E4AE5-A392-4DA0-B9C1-8D933EBB972B}"/>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31AD5D2D-C605-4592-A009-8D819DA11D63}"/>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Forms and distributions use explicit coding indicators</a:t>
            </a:r>
          </a:p>
        </p:txBody>
      </p:sp>
      <p:sp>
        <p:nvSpPr>
          <p:cNvPr id="4" name="Düz Bağlayıcı 3">
            <a:extLst>
              <a:ext uri="{FF2B5EF4-FFF2-40B4-BE49-F238E27FC236}">
                <a16:creationId xmlns:a16="http://schemas.microsoft.com/office/drawing/2014/main" id="{D255670C-B2BF-4D82-948B-3A633592E82A}"/>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822BA890-D734-4C22-B803-DA373C2C174B}"/>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23</a:t>
            </a:r>
          </a:p>
        </p:txBody>
      </p:sp>
      <p:graphicFrame>
        <p:nvGraphicFramePr>
          <p:cNvPr id="15" name="Tablo 14"/>
          <p:cNvGraphicFramePr/>
          <p:nvPr/>
        </p:nvGraphicFramePr>
        <p:xfrm>
          <a:off x="552450" y="1581150"/>
          <a:ext cx="11096625" cy="4429125"/>
        </p:xfrm>
        <a:graphic>
          <a:graphicData uri="http://schemas.openxmlformats.org/drawingml/2006/table">
            <a:tbl>
              <a:tblPr/>
              <a:tblGrid>
                <a:gridCol w="30956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28625">
                <a:tc>
                  <a:txBody>
                    <a:bodyPr/>
                    <a:lstStyle/>
                    <a:p>
                      <a:r>
                        <a:rPr sz="1125" b="1">
                          <a:solidFill>
                            <a:srgbClr val="FFFFFF"/>
                          </a:solidFill>
                          <a:latin typeface="Arial"/>
                          <a:ea typeface="Arial"/>
                          <a:cs typeface="Arial"/>
                        </a:rPr>
                        <a:t>Function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Observable forms to code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Distribution indicators</a:t>
                      </a:r>
                    </a:p>
                  </a:txBody>
                  <a:tcPr marL="95250" marR="95250" marT="76200" marB="66675" anchor="ctr">
                    <a:solidFill>
                      <a:srgbClr val="123B53"/>
                    </a:solidFill>
                  </a:tcPr>
                </a:tc>
                <a:extLst>
                  <a:ext uri="{0D108BD9-81ED-4DB2-BD59-A6C34878D82A}">
                    <a16:rowId xmlns:a16="http://schemas.microsoft.com/office/drawing/2014/main" val="10000"/>
                  </a:ext>
                </a:extLst>
              </a:tr>
              <a:tr h="571500">
                <a:tc>
                  <a:txBody>
                    <a:bodyPr/>
                    <a:lstStyle/>
                    <a:p>
                      <a:r>
                        <a:rPr sz="907" b="1">
                          <a:solidFill>
                            <a:srgbClr val="176082"/>
                          </a:solidFill>
                          <a:latin typeface="Arial"/>
                          <a:ea typeface="Arial"/>
                          <a:cs typeface="Arial"/>
                        </a:rPr>
                        <a:t>1  Access to disciplinary meanings</a:t>
                      </a:r>
                    </a:p>
                  </a:txBody>
                  <a:tcPr marL="95250" marR="95250" marT="66675" marB="66675" anchor="ctr">
                    <a:solidFill>
                      <a:srgbClr val="E6F0F5"/>
                    </a:solidFill>
                  </a:tcPr>
                </a:tc>
                <a:tc>
                  <a:txBody>
                    <a:bodyPr/>
                    <a:lstStyle/>
                    <a:p>
                      <a:r>
                        <a:rPr sz="907">
                          <a:solidFill>
                            <a:srgbClr val="33343F"/>
                          </a:solidFill>
                          <a:latin typeface="Arial"/>
                          <a:ea typeface="Arial"/>
                          <a:cs typeface="Arial"/>
                        </a:rPr>
                        <a:t>Definition, gloss, adjacent paraphrase, worked example</a:t>
                      </a:r>
                    </a:p>
                  </a:txBody>
                  <a:tcPr marL="95250" marR="95250" marT="66675" marB="66675" anchor="ctr">
                    <a:solidFill>
                      <a:srgbClr val="FFFFFF"/>
                    </a:solidFill>
                  </a:tcPr>
                </a:tc>
                <a:tc>
                  <a:txBody>
                    <a:bodyPr/>
                    <a:lstStyle/>
                    <a:p>
                      <a:r>
                        <a:rPr sz="907">
                          <a:solidFill>
                            <a:srgbClr val="33343F"/>
                          </a:solidFill>
                          <a:latin typeface="Arial"/>
                          <a:ea typeface="Arial"/>
                          <a:cs typeface="Arial"/>
                        </a:rPr>
                        <a:t>First-use coverage, proximity to the term, recurrence when meaning shifts</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r>
                        <a:rPr sz="907" b="1">
                          <a:solidFill>
                            <a:srgbClr val="176082"/>
                          </a:solidFill>
                          <a:latin typeface="Arial"/>
                          <a:ea typeface="Arial"/>
                          <a:cs typeface="Arial"/>
                        </a:rPr>
                        <a:t>2  Orientation and navigation</a:t>
                      </a:r>
                    </a:p>
                  </a:txBody>
                  <a:tcPr marL="95250" marR="95250" marT="66675" marB="66675" anchor="ctr">
                    <a:solidFill>
                      <a:srgbClr val="E6F0F5"/>
                    </a:solidFill>
                  </a:tcPr>
                </a:tc>
                <a:tc>
                  <a:txBody>
                    <a:bodyPr/>
                    <a:lstStyle/>
                    <a:p>
                      <a:r>
                        <a:rPr sz="907">
                          <a:solidFill>
                            <a:srgbClr val="33343F"/>
                          </a:solidFill>
                          <a:latin typeface="Arial"/>
                          <a:ea typeface="Arial"/>
                          <a:cs typeface="Arial"/>
                        </a:rPr>
                        <a:t>Preview, roadmap, heading, recap, cross-reference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openings and transitions, chapter spread, consistency</a:t>
                      </a:r>
                    </a:p>
                  </a:txBody>
                  <a:tcPr marL="95250" marR="95250" marT="66675" marB="66675" anchor="ctr">
                    <a:solidFill>
                      <a:srgbClr val="FFFFFF"/>
                    </a:solidFill>
                  </a:tcPr>
                </a:tc>
                <a:extLst>
                  <a:ext uri="{0D108BD9-81ED-4DB2-BD59-A6C34878D82A}">
                    <a16:rowId xmlns:a16="http://schemas.microsoft.com/office/drawing/2014/main" val="10002"/>
                  </a:ext>
                </a:extLst>
              </a:tr>
              <a:tr h="571500">
                <a:tc>
                  <a:txBody>
                    <a:bodyPr/>
                    <a:lstStyle/>
                    <a:p>
                      <a:r>
                        <a:rPr sz="907" b="1">
                          <a:solidFill>
                            <a:srgbClr val="176082"/>
                          </a:solidFill>
                          <a:latin typeface="Arial"/>
                          <a:ea typeface="Arial"/>
                          <a:cs typeface="Arial"/>
                        </a:rPr>
                        <a:t>3  Rhetorical relations and importance</a:t>
                      </a:r>
                    </a:p>
                  </a:txBody>
                  <a:tcPr marL="95250" marR="95250" marT="66675" marB="66675" anchor="ctr">
                    <a:solidFill>
                      <a:srgbClr val="E6F0F5"/>
                    </a:solidFill>
                  </a:tcPr>
                </a:tc>
                <a:tc>
                  <a:txBody>
                    <a:bodyPr/>
                    <a:lstStyle/>
                    <a:p>
                      <a:r>
                        <a:rPr sz="907">
                          <a:solidFill>
                            <a:srgbClr val="33343F"/>
                          </a:solidFill>
                          <a:latin typeface="Arial"/>
                          <a:ea typeface="Arial"/>
                          <a:cs typeface="Arial"/>
                        </a:rPr>
                        <a:t>Contrast, cause or qualification marker, importance cue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of eligible relations, placement before or after the claim, dispersion across modes</a:t>
                      </a:r>
                    </a:p>
                  </a:txBody>
                  <a:tcPr marL="95250" marR="95250" marT="66675" marB="66675" anchor="ctr">
                    <a:solidFill>
                      <a:srgbClr val="FFFFFF"/>
                    </a:solidFill>
                  </a:tcPr>
                </a:tc>
                <a:extLst>
                  <a:ext uri="{0D108BD9-81ED-4DB2-BD59-A6C34878D82A}">
                    <a16:rowId xmlns:a16="http://schemas.microsoft.com/office/drawing/2014/main" val="10003"/>
                  </a:ext>
                </a:extLst>
              </a:tr>
              <a:tr h="571500">
                <a:tc>
                  <a:txBody>
                    <a:bodyPr/>
                    <a:lstStyle/>
                    <a:p>
                      <a:r>
                        <a:rPr sz="907" b="1">
                          <a:solidFill>
                            <a:srgbClr val="176082"/>
                          </a:solidFill>
                          <a:latin typeface="Arial"/>
                          <a:ea typeface="Arial"/>
                          <a:cs typeface="Arial"/>
                        </a:rPr>
                        <a:t>4  Background knowledge</a:t>
                      </a:r>
                    </a:p>
                  </a:txBody>
                  <a:tcPr marL="95250" marR="95250" marT="66675" marB="66675" anchor="ctr">
                    <a:solidFill>
                      <a:srgbClr val="E6F0F5"/>
                    </a:solidFill>
                  </a:tcPr>
                </a:tc>
                <a:tc>
                  <a:txBody>
                    <a:bodyPr/>
                    <a:lstStyle/>
                    <a:p>
                      <a:r>
                        <a:rPr sz="907">
                          <a:solidFill>
                            <a:srgbClr val="33343F"/>
                          </a:solidFill>
                          <a:latin typeface="Arial"/>
                          <a:ea typeface="Arial"/>
                          <a:cs typeface="Arial"/>
                        </a:rPr>
                        <a:t>Context note, analogy, familiar label, local-reference gloss</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assumed-knowledge points, timing, purposeful repetition</a:t>
                      </a:r>
                    </a:p>
                  </a:txBody>
                  <a:tcPr marL="95250" marR="95250" marT="66675" marB="66675" anchor="ctr">
                    <a:solidFill>
                      <a:srgbClr val="FFFFFF"/>
                    </a:solidFill>
                  </a:tcPr>
                </a:tc>
                <a:extLst>
                  <a:ext uri="{0D108BD9-81ED-4DB2-BD59-A6C34878D82A}">
                    <a16:rowId xmlns:a16="http://schemas.microsoft.com/office/drawing/2014/main" val="10004"/>
                  </a:ext>
                </a:extLst>
              </a:tr>
              <a:tr h="571500">
                <a:tc>
                  <a:txBody>
                    <a:bodyPr/>
                    <a:lstStyle/>
                    <a:p>
                      <a:r>
                        <a:rPr sz="907" b="1">
                          <a:solidFill>
                            <a:srgbClr val="176082"/>
                          </a:solidFill>
                          <a:latin typeface="Arial"/>
                          <a:ea typeface="Arial"/>
                          <a:cs typeface="Arial"/>
                        </a:rPr>
                        <a:t>5  Conceptual continuity</a:t>
                      </a:r>
                    </a:p>
                  </a:txBody>
                  <a:tcPr marL="95250" marR="95250" marT="66675" marB="66675" anchor="ctr">
                    <a:solidFill>
                      <a:srgbClr val="E6F0F5"/>
                    </a:solidFill>
                  </a:tcPr>
                </a:tc>
                <a:tc>
                  <a:txBody>
                    <a:bodyPr/>
                    <a:lstStyle/>
                    <a:p>
                      <a:r>
                        <a:rPr sz="907">
                          <a:solidFill>
                            <a:srgbClr val="33343F"/>
                          </a:solidFill>
                          <a:latin typeface="Arial"/>
                          <a:ea typeface="Arial"/>
                          <a:cs typeface="Arial"/>
                        </a:rPr>
                        <a:t>Recall cue, bridge, restatement, backward or forward reference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conceptual dependencies, distance from prior content, recurrence</a:t>
                      </a:r>
                    </a:p>
                  </a:txBody>
                  <a:tcPr marL="95250" marR="95250" marT="66675" marB="66675" anchor="ctr">
                    <a:solidFill>
                      <a:srgbClr val="FFFFFF"/>
                    </a:solidFill>
                  </a:tcPr>
                </a:tc>
                <a:extLst>
                  <a:ext uri="{0D108BD9-81ED-4DB2-BD59-A6C34878D82A}">
                    <a16:rowId xmlns:a16="http://schemas.microsoft.com/office/drawing/2014/main" val="10005"/>
                  </a:ext>
                </a:extLst>
              </a:tr>
              <a:tr h="571500">
                <a:tc>
                  <a:txBody>
                    <a:bodyPr/>
                    <a:lstStyle/>
                    <a:p>
                      <a:r>
                        <a:rPr sz="907" b="1">
                          <a:solidFill>
                            <a:srgbClr val="176082"/>
                          </a:solidFill>
                          <a:latin typeface="Arial"/>
                          <a:ea typeface="Arial"/>
                          <a:cs typeface="Arial"/>
                        </a:rPr>
                        <a:t>6  Reader engagement and self-monitoring</a:t>
                      </a:r>
                    </a:p>
                  </a:txBody>
                  <a:tcPr marL="95250" marR="95250" marT="66675" marB="66675" anchor="ctr">
                    <a:solidFill>
                      <a:srgbClr val="E6F0F5"/>
                    </a:solidFill>
                  </a:tcPr>
                </a:tc>
                <a:tc>
                  <a:txBody>
                    <a:bodyPr/>
                    <a:lstStyle/>
                    <a:p>
                      <a:r>
                        <a:rPr sz="907">
                          <a:solidFill>
                            <a:srgbClr val="33343F"/>
                          </a:solidFill>
                          <a:latin typeface="Arial"/>
                          <a:ea typeface="Arial"/>
                          <a:cs typeface="Arial"/>
                        </a:rPr>
                        <a:t>Question, self-check, pause prompt, worked reasoning</a:t>
                      </a:r>
                    </a:p>
                  </a:txBody>
                  <a:tcPr marL="95250" marR="95250" marT="66675" marB="66675" anchor="ctr">
                    <a:solidFill>
                      <a:srgbClr val="FFFFFF"/>
                    </a:solidFill>
                  </a:tcPr>
                </a:tc>
                <a:tc>
                  <a:txBody>
                    <a:bodyPr/>
                    <a:lstStyle/>
                    <a:p>
                      <a:r>
                        <a:rPr sz="907">
                          <a:solidFill>
                            <a:srgbClr val="33343F"/>
                          </a:solidFill>
                          <a:latin typeface="Arial"/>
                          <a:ea typeface="Arial"/>
                          <a:cs typeface="Arial"/>
                        </a:rPr>
                        <a:t>Density per section, placement after the learning point, feedback availability</a:t>
                      </a:r>
                    </a:p>
                  </a:txBody>
                  <a:tcPr marL="95250" marR="95250" marT="66675" marB="66675" anchor="ctr">
                    <a:solidFill>
                      <a:srgbClr val="FFFFFF"/>
                    </a:solidFill>
                  </a:tcPr>
                </a:tc>
                <a:extLst>
                  <a:ext uri="{0D108BD9-81ED-4DB2-BD59-A6C34878D82A}">
                    <a16:rowId xmlns:a16="http://schemas.microsoft.com/office/drawing/2014/main" val="10006"/>
                  </a:ext>
                </a:extLst>
              </a:tr>
              <a:tr h="571500">
                <a:tc>
                  <a:txBody>
                    <a:bodyPr/>
                    <a:lstStyle/>
                    <a:p>
                      <a:r>
                        <a:rPr sz="907" b="1">
                          <a:solidFill>
                            <a:srgbClr val="176082"/>
                          </a:solidFill>
                          <a:latin typeface="Arial"/>
                          <a:ea typeface="Arial"/>
                          <a:cs typeface="Arial"/>
                        </a:rPr>
                        <a:t>7  Multimodal and numeric scaffolding</a:t>
                      </a:r>
                    </a:p>
                  </a:txBody>
                  <a:tcPr marL="95250" marR="95250" marT="66675" marB="66675" anchor="ctr">
                    <a:solidFill>
                      <a:srgbClr val="E6F0F5"/>
                    </a:solidFill>
                  </a:tcPr>
                </a:tc>
                <a:tc>
                  <a:txBody>
                    <a:bodyPr/>
                    <a:lstStyle/>
                    <a:p>
                      <a:r>
                        <a:rPr sz="907">
                          <a:solidFill>
                            <a:srgbClr val="33343F"/>
                          </a:solidFill>
                          <a:latin typeface="Arial"/>
                          <a:ea typeface="Arial"/>
                          <a:cs typeface="Arial"/>
                        </a:rPr>
                        <a:t>Label, caption, figure reference, worked graph, aligned notation</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of visual opportunities, co-location with prose, cross-chapter consistency</a:t>
                      </a:r>
                    </a:p>
                  </a:txBody>
                  <a:tcPr marL="95250" marR="95250" marT="66675" marB="66675" anchor="ctr">
                    <a:solidFill>
                      <a:srgbClr val="FFFFFF"/>
                    </a:solidFill>
                  </a:tcPr>
                </a:tc>
                <a:extLst>
                  <a:ext uri="{0D108BD9-81ED-4DB2-BD59-A6C34878D82A}">
                    <a16:rowId xmlns:a16="http://schemas.microsoft.com/office/drawing/2014/main" val="10007"/>
                  </a:ext>
                </a:extLst>
              </a:tr>
            </a:tbl>
          </a:graphicData>
        </a:graphic>
      </p:graphicFrame>
      <p:sp>
        <p:nvSpPr>
          <p:cNvPr id="7" name="Dikdörtgen 6">
            <a:extLst>
              <a:ext uri="{FF2B5EF4-FFF2-40B4-BE49-F238E27FC236}">
                <a16:creationId xmlns:a16="http://schemas.microsoft.com/office/drawing/2014/main" id="{3574DCF5-A8D3-46E8-86C2-19BE3975C2F5}"/>
              </a:ext>
            </a:extLst>
          </p:cNvPr>
          <p:cNvSpPr>
            <a:spLocks noGrp="1"/>
          </p:cNvSpPr>
          <p:nvPr/>
        </p:nvSpPr>
        <p:spPr>
          <a:xfrm>
            <a:off x="1428750" y="6076950"/>
            <a:ext cx="9334500" cy="228600"/>
          </a:xfrm>
          <a:prstGeom prst="rect">
            <a:avLst/>
          </a:prstGeom>
          <a:noFill/>
          <a:ln w="0">
            <a:noFill/>
          </a:ln>
        </p:spPr>
        <p:txBody>
          <a:bodyPr anchor="t">
            <a:normAutofit fontScale="80000"/>
          </a:bodyPr>
          <a:lstStyle/>
          <a:p>
            <a:pPr algn="ctr">
              <a:defRPr sz="1125" b="1" i="0">
                <a:solidFill>
                  <a:srgbClr val="B94D35"/>
                </a:solidFill>
                <a:latin typeface="Arial"/>
                <a:ea typeface="Arial"/>
                <a:cs typeface="Arial"/>
              </a:defRPr>
            </a:pPr>
            <a:r>
              <a:rPr sz="1125" b="1" i="0">
                <a:solidFill>
                  <a:srgbClr val="B94D35"/>
                </a:solidFill>
                <a:latin typeface="Arial"/>
                <a:ea typeface="Arial"/>
                <a:cs typeface="Arial"/>
              </a:rPr>
              <a:t>Distribution needs a denominator: supported opportunities ÷ eligible opportunities in the matched sample.</a:t>
            </a:r>
          </a:p>
        </p:txBody>
      </p:sp>
      <p:sp>
        <p:nvSpPr>
          <p:cNvPr id="8" name="Düz Bağlayıcı 7">
            <a:extLst>
              <a:ext uri="{FF2B5EF4-FFF2-40B4-BE49-F238E27FC236}">
                <a16:creationId xmlns:a16="http://schemas.microsoft.com/office/drawing/2014/main" id="{A6AB5C60-6F8D-400F-86A0-52E1285C58FB}"/>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ADF547A1-4CAF-4EB0-A9FF-9D66353557CB}"/>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407251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3" name="Yuvarlatılmış Dikdörtgen 32">
            <a:extLst>
              <a:ext uri="{FF2B5EF4-FFF2-40B4-BE49-F238E27FC236}">
                <a16:creationId xmlns:a16="http://schemas.microsoft.com/office/drawing/2014/main" id="{FA392208-6CBC-464F-BD79-052A00DA4D83}"/>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39D37DE8-6718-49C4-B6FF-617B15B9A603}"/>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62898C6A-AC61-4F4B-919D-B2257B0133CC}"/>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MIWAE coursebook-fit review in six steps</a:t>
            </a:r>
          </a:p>
        </p:txBody>
      </p:sp>
      <p:sp>
        <p:nvSpPr>
          <p:cNvPr id="4" name="Düz Bağlayıcı 3">
            <a:extLst>
              <a:ext uri="{FF2B5EF4-FFF2-40B4-BE49-F238E27FC236}">
                <a16:creationId xmlns:a16="http://schemas.microsoft.com/office/drawing/2014/main" id="{0264F75B-1B12-4E0A-AF68-C30A57816348}"/>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55B41373-3FD3-4A6C-9195-3C564264C7A8}"/>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24</a:t>
            </a:r>
          </a:p>
        </p:txBody>
      </p:sp>
      <p:sp>
        <p:nvSpPr>
          <p:cNvPr id="6" name="Yuvarlatılmış Dikdörtgen 5">
            <a:extLst>
              <a:ext uri="{FF2B5EF4-FFF2-40B4-BE49-F238E27FC236}">
                <a16:creationId xmlns:a16="http://schemas.microsoft.com/office/drawing/2014/main" id="{9018F13D-1692-4AEC-8F54-2AF93E5A1F8B}"/>
              </a:ext>
            </a:extLst>
          </p:cNvPr>
          <p:cNvSpPr>
            <a:spLocks noGrp="1"/>
          </p:cNvSpPr>
          <p:nvPr/>
        </p:nvSpPr>
        <p:spPr>
          <a:xfrm>
            <a:off x="619125" y="1714500"/>
            <a:ext cx="3476625" cy="1619250"/>
          </a:xfrm>
          <a:prstGeom prst="roundRect">
            <a:avLst>
              <a:gd name="adj" fmla="val 4706"/>
            </a:avLst>
          </a:prstGeom>
          <a:solidFill>
            <a:srgbClr val="FFFFFF"/>
          </a:solidFill>
          <a:ln w="9525">
            <a:solidFill>
              <a:srgbClr val="C8C9D3"/>
            </a:solidFill>
          </a:ln>
        </p:spPr>
        <p:txBody>
          <a:bodyPr/>
          <a:lstStyle/>
          <a:p>
            <a:endParaRPr lang="tr-TR"/>
          </a:p>
        </p:txBody>
      </p:sp>
      <p:sp>
        <p:nvSpPr>
          <p:cNvPr id="7" name="Dikdörtgen 6">
            <a:extLst>
              <a:ext uri="{FF2B5EF4-FFF2-40B4-BE49-F238E27FC236}">
                <a16:creationId xmlns:a16="http://schemas.microsoft.com/office/drawing/2014/main" id="{1B6ABF45-D8A0-450D-8C20-73C3B02EA3D4}"/>
              </a:ext>
            </a:extLst>
          </p:cNvPr>
          <p:cNvSpPr>
            <a:spLocks noGrp="1"/>
          </p:cNvSpPr>
          <p:nvPr/>
        </p:nvSpPr>
        <p:spPr>
          <a:xfrm>
            <a:off x="809625" y="1885950"/>
            <a:ext cx="428625" cy="400050"/>
          </a:xfrm>
          <a:prstGeom prst="rect">
            <a:avLst/>
          </a:prstGeom>
          <a:noFill/>
          <a:ln w="0">
            <a:noFill/>
          </a:ln>
        </p:spPr>
        <p:txBody>
          <a:bodyPr anchor="t">
            <a:normAutofit fontScale="96428"/>
          </a:bodyPr>
          <a:lstStyle/>
          <a:p>
            <a:pPr algn="l">
              <a:defRPr sz="2100" b="1" i="0">
                <a:solidFill>
                  <a:srgbClr val="176082"/>
                </a:solidFill>
                <a:latin typeface="Arial"/>
                <a:ea typeface="Arial"/>
                <a:cs typeface="Arial"/>
              </a:defRPr>
            </a:pPr>
            <a:r>
              <a:rPr sz="2100" b="1" i="0">
                <a:solidFill>
                  <a:srgbClr val="176082"/>
                </a:solidFill>
                <a:latin typeface="Arial"/>
                <a:ea typeface="Arial"/>
                <a:cs typeface="Arial"/>
              </a:rPr>
              <a:t>1</a:t>
            </a:r>
          </a:p>
        </p:txBody>
      </p:sp>
      <p:sp>
        <p:nvSpPr>
          <p:cNvPr id="8" name="Dikdörtgen 7">
            <a:extLst>
              <a:ext uri="{FF2B5EF4-FFF2-40B4-BE49-F238E27FC236}">
                <a16:creationId xmlns:a16="http://schemas.microsoft.com/office/drawing/2014/main" id="{BD392B2A-035F-4273-9C8B-216CB12F0F19}"/>
              </a:ext>
            </a:extLst>
          </p:cNvPr>
          <p:cNvSpPr>
            <a:spLocks noGrp="1"/>
          </p:cNvSpPr>
          <p:nvPr/>
        </p:nvSpPr>
        <p:spPr>
          <a:xfrm>
            <a:off x="857250" y="2438400"/>
            <a:ext cx="3000375" cy="495300"/>
          </a:xfrm>
          <a:prstGeom prst="rect">
            <a:avLst/>
          </a:prstGeom>
          <a:noFill/>
          <a:ln w="0">
            <a:noFill/>
          </a:ln>
        </p:spPr>
        <p:txBody>
          <a:bodyPr anchor="t">
            <a:normAutofit fontScale="97759"/>
          </a:bodyPr>
          <a:lstStyle/>
          <a:p>
            <a:pPr algn="l">
              <a:defRPr sz="1575" b="1" i="0">
                <a:solidFill>
                  <a:srgbClr val="33343F"/>
                </a:solidFill>
                <a:latin typeface="Arial"/>
                <a:ea typeface="Arial"/>
                <a:cs typeface="Arial"/>
              </a:defRPr>
            </a:pPr>
            <a:r>
              <a:rPr sz="1575" b="1" i="0">
                <a:solidFill>
                  <a:srgbClr val="33343F"/>
                </a:solidFill>
                <a:latin typeface="Arial"/>
                <a:ea typeface="Arial"/>
                <a:cs typeface="Arial"/>
              </a:rPr>
              <a:t>Profile the course and readers</a:t>
            </a:r>
          </a:p>
        </p:txBody>
      </p:sp>
      <p:sp>
        <p:nvSpPr>
          <p:cNvPr id="9" name="Dikdörtgen 8">
            <a:extLst>
              <a:ext uri="{FF2B5EF4-FFF2-40B4-BE49-F238E27FC236}">
                <a16:creationId xmlns:a16="http://schemas.microsoft.com/office/drawing/2014/main" id="{9534BAC2-0565-4758-861E-FC2898FF89DE}"/>
              </a:ext>
            </a:extLst>
          </p:cNvPr>
          <p:cNvSpPr>
            <a:spLocks noGrp="1"/>
          </p:cNvSpPr>
          <p:nvPr/>
        </p:nvSpPr>
        <p:spPr>
          <a:xfrm>
            <a:off x="857250" y="3009900"/>
            <a:ext cx="3000375" cy="152400"/>
          </a:xfrm>
          <a:prstGeom prst="rect">
            <a:avLst/>
          </a:prstGeom>
          <a:noFill/>
          <a:ln w="0">
            <a:noFill/>
          </a:ln>
        </p:spPr>
        <p:txBody>
          <a:bodyPr anchor="t">
            <a:normAutofit fontScale="33333"/>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English level, year, prior knowledge and reading tasks</a:t>
            </a:r>
          </a:p>
        </p:txBody>
      </p:sp>
      <p:sp>
        <p:nvSpPr>
          <p:cNvPr id="10" name="Yuvarlatılmış Dikdörtgen 9">
            <a:extLst>
              <a:ext uri="{FF2B5EF4-FFF2-40B4-BE49-F238E27FC236}">
                <a16:creationId xmlns:a16="http://schemas.microsoft.com/office/drawing/2014/main" id="{F6BD8E72-57A8-4B7C-B2BE-63C9D7DC94EA}"/>
              </a:ext>
            </a:extLst>
          </p:cNvPr>
          <p:cNvSpPr>
            <a:spLocks noGrp="1"/>
          </p:cNvSpPr>
          <p:nvPr/>
        </p:nvSpPr>
        <p:spPr>
          <a:xfrm>
            <a:off x="4476750" y="1714500"/>
            <a:ext cx="3476625" cy="1619250"/>
          </a:xfrm>
          <a:prstGeom prst="roundRect">
            <a:avLst>
              <a:gd name="adj" fmla="val 4706"/>
            </a:avLst>
          </a:prstGeom>
          <a:solidFill>
            <a:srgbClr val="FFFFFF"/>
          </a:solid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F3B60CCC-EC91-433D-AEB7-1D04721FA936}"/>
              </a:ext>
            </a:extLst>
          </p:cNvPr>
          <p:cNvSpPr>
            <a:spLocks noGrp="1"/>
          </p:cNvSpPr>
          <p:nvPr/>
        </p:nvSpPr>
        <p:spPr>
          <a:xfrm>
            <a:off x="4667250" y="1885950"/>
            <a:ext cx="428625" cy="400050"/>
          </a:xfrm>
          <a:prstGeom prst="rect">
            <a:avLst/>
          </a:prstGeom>
          <a:noFill/>
          <a:ln w="0">
            <a:noFill/>
          </a:ln>
        </p:spPr>
        <p:txBody>
          <a:bodyPr anchor="t">
            <a:normAutofit fontScale="96428"/>
          </a:bodyPr>
          <a:lstStyle/>
          <a:p>
            <a:pPr algn="l">
              <a:defRPr sz="2100" b="1" i="0">
                <a:solidFill>
                  <a:srgbClr val="176082"/>
                </a:solidFill>
                <a:latin typeface="Arial"/>
                <a:ea typeface="Arial"/>
                <a:cs typeface="Arial"/>
              </a:defRPr>
            </a:pPr>
            <a:r>
              <a:rPr sz="2100" b="1" i="0">
                <a:solidFill>
                  <a:srgbClr val="176082"/>
                </a:solidFill>
                <a:latin typeface="Arial"/>
                <a:ea typeface="Arial"/>
                <a:cs typeface="Arial"/>
              </a:rPr>
              <a:t>2</a:t>
            </a:r>
          </a:p>
        </p:txBody>
      </p:sp>
      <p:sp>
        <p:nvSpPr>
          <p:cNvPr id="12" name="Dikdörtgen 11">
            <a:extLst>
              <a:ext uri="{FF2B5EF4-FFF2-40B4-BE49-F238E27FC236}">
                <a16:creationId xmlns:a16="http://schemas.microsoft.com/office/drawing/2014/main" id="{4EE41701-05A2-47C6-B311-FF12A9077B05}"/>
              </a:ext>
            </a:extLst>
          </p:cNvPr>
          <p:cNvSpPr>
            <a:spLocks noGrp="1"/>
          </p:cNvSpPr>
          <p:nvPr/>
        </p:nvSpPr>
        <p:spPr>
          <a:xfrm>
            <a:off x="4714875" y="2438400"/>
            <a:ext cx="3000375" cy="495300"/>
          </a:xfrm>
          <a:prstGeom prst="rect">
            <a:avLst/>
          </a:prstGeom>
          <a:noFill/>
          <a:ln w="0">
            <a:noFill/>
          </a:ln>
        </p:spPr>
        <p:txBody>
          <a:bodyPr anchor="t">
            <a:normAutofit fontScale="84127"/>
          </a:bodyPr>
          <a:lstStyle/>
          <a:p>
            <a:pPr algn="l">
              <a:defRPr sz="1575" b="1" i="0">
                <a:solidFill>
                  <a:srgbClr val="33343F"/>
                </a:solidFill>
                <a:latin typeface="Arial"/>
                <a:ea typeface="Arial"/>
                <a:cs typeface="Arial"/>
              </a:defRPr>
            </a:pPr>
            <a:r>
              <a:rPr sz="1575" b="1" i="0">
                <a:solidFill>
                  <a:srgbClr val="33343F"/>
                </a:solidFill>
                <a:latin typeface="Arial"/>
                <a:ea typeface="Arial"/>
                <a:cs typeface="Arial"/>
              </a:rPr>
              <a:t>Set priorities before inspecting books</a:t>
            </a:r>
          </a:p>
        </p:txBody>
      </p:sp>
      <p:sp>
        <p:nvSpPr>
          <p:cNvPr id="13" name="Dikdörtgen 12">
            <a:extLst>
              <a:ext uri="{FF2B5EF4-FFF2-40B4-BE49-F238E27FC236}">
                <a16:creationId xmlns:a16="http://schemas.microsoft.com/office/drawing/2014/main" id="{05155A33-18B5-4C14-81E2-E43034F16513}"/>
              </a:ext>
            </a:extLst>
          </p:cNvPr>
          <p:cNvSpPr>
            <a:spLocks noGrp="1"/>
          </p:cNvSpPr>
          <p:nvPr/>
        </p:nvSpPr>
        <p:spPr>
          <a:xfrm>
            <a:off x="4714875" y="3009900"/>
            <a:ext cx="3000375" cy="152400"/>
          </a:xfrm>
          <a:prstGeom prst="rect">
            <a:avLst/>
          </a:prstGeom>
          <a:noFill/>
          <a:ln w="0">
            <a:noFill/>
          </a:ln>
        </p:spPr>
        <p:txBody>
          <a:bodyPr anchor="t">
            <a:normAutofit fontScale="33333"/>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Mark each dimension essential, supporting or not applicable</a:t>
            </a:r>
          </a:p>
        </p:txBody>
      </p:sp>
      <p:sp>
        <p:nvSpPr>
          <p:cNvPr id="14" name="Yuvarlatılmış Dikdörtgen 13">
            <a:extLst>
              <a:ext uri="{FF2B5EF4-FFF2-40B4-BE49-F238E27FC236}">
                <a16:creationId xmlns:a16="http://schemas.microsoft.com/office/drawing/2014/main" id="{9C74EAC6-F262-4AD3-AA41-4A78D419509D}"/>
              </a:ext>
            </a:extLst>
          </p:cNvPr>
          <p:cNvSpPr>
            <a:spLocks noGrp="1"/>
          </p:cNvSpPr>
          <p:nvPr/>
        </p:nvSpPr>
        <p:spPr>
          <a:xfrm>
            <a:off x="8334375" y="1714500"/>
            <a:ext cx="3476625" cy="1619250"/>
          </a:xfrm>
          <a:prstGeom prst="roundRect">
            <a:avLst>
              <a:gd name="adj" fmla="val 4706"/>
            </a:avLst>
          </a:prstGeom>
          <a:solidFill>
            <a:srgbClr val="FFFFFF"/>
          </a:solidFill>
          <a:ln w="9525">
            <a:solidFill>
              <a:srgbClr val="C8C9D3"/>
            </a:solidFill>
          </a:ln>
        </p:spPr>
        <p:txBody>
          <a:bodyPr/>
          <a:lstStyle/>
          <a:p>
            <a:endParaRPr lang="tr-TR"/>
          </a:p>
        </p:txBody>
      </p:sp>
      <p:sp>
        <p:nvSpPr>
          <p:cNvPr id="15" name="Dikdörtgen 14">
            <a:extLst>
              <a:ext uri="{FF2B5EF4-FFF2-40B4-BE49-F238E27FC236}">
                <a16:creationId xmlns:a16="http://schemas.microsoft.com/office/drawing/2014/main" id="{E2251005-2939-492B-98BF-AF22215FF5F2}"/>
              </a:ext>
            </a:extLst>
          </p:cNvPr>
          <p:cNvSpPr>
            <a:spLocks noGrp="1"/>
          </p:cNvSpPr>
          <p:nvPr/>
        </p:nvSpPr>
        <p:spPr>
          <a:xfrm>
            <a:off x="8524875" y="1885950"/>
            <a:ext cx="428625" cy="400050"/>
          </a:xfrm>
          <a:prstGeom prst="rect">
            <a:avLst/>
          </a:prstGeom>
          <a:noFill/>
          <a:ln w="0">
            <a:noFill/>
          </a:ln>
        </p:spPr>
        <p:txBody>
          <a:bodyPr anchor="t">
            <a:normAutofit fontScale="96428"/>
          </a:bodyPr>
          <a:lstStyle/>
          <a:p>
            <a:pPr algn="l">
              <a:defRPr sz="2100" b="1" i="0">
                <a:solidFill>
                  <a:srgbClr val="176082"/>
                </a:solidFill>
                <a:latin typeface="Arial"/>
                <a:ea typeface="Arial"/>
                <a:cs typeface="Arial"/>
              </a:defRPr>
            </a:pPr>
            <a:r>
              <a:rPr sz="2100" b="1" i="0">
                <a:solidFill>
                  <a:srgbClr val="176082"/>
                </a:solidFill>
                <a:latin typeface="Arial"/>
                <a:ea typeface="Arial"/>
                <a:cs typeface="Arial"/>
              </a:rPr>
              <a:t>3</a:t>
            </a:r>
          </a:p>
        </p:txBody>
      </p:sp>
      <p:sp>
        <p:nvSpPr>
          <p:cNvPr id="16" name="Dikdörtgen 15">
            <a:extLst>
              <a:ext uri="{FF2B5EF4-FFF2-40B4-BE49-F238E27FC236}">
                <a16:creationId xmlns:a16="http://schemas.microsoft.com/office/drawing/2014/main" id="{F3593129-57AC-4D0C-80BF-AAD28C873366}"/>
              </a:ext>
            </a:extLst>
          </p:cNvPr>
          <p:cNvSpPr>
            <a:spLocks noGrp="1"/>
          </p:cNvSpPr>
          <p:nvPr/>
        </p:nvSpPr>
        <p:spPr>
          <a:xfrm>
            <a:off x="8572500" y="2438400"/>
            <a:ext cx="3000375" cy="495300"/>
          </a:xfrm>
          <a:prstGeom prst="rect">
            <a:avLst/>
          </a:prstGeom>
          <a:noFill/>
          <a:ln w="0">
            <a:noFill/>
          </a:ln>
        </p:spPr>
        <p:txBody>
          <a:bodyPr anchor="t">
            <a:normAutofit fontScale="84127"/>
          </a:bodyPr>
          <a:lstStyle/>
          <a:p>
            <a:pPr algn="l">
              <a:defRPr sz="1575" b="1" i="0">
                <a:solidFill>
                  <a:srgbClr val="33343F"/>
                </a:solidFill>
                <a:latin typeface="Arial"/>
                <a:ea typeface="Arial"/>
                <a:cs typeface="Arial"/>
              </a:defRPr>
            </a:pPr>
            <a:r>
              <a:rPr sz="1575" b="1" i="0">
                <a:solidFill>
                  <a:srgbClr val="33343F"/>
                </a:solidFill>
                <a:latin typeface="Arial"/>
                <a:ea typeface="Arial"/>
                <a:cs typeface="Arial"/>
              </a:rPr>
              <a:t>Sample the same locations in every candidate</a:t>
            </a:r>
          </a:p>
        </p:txBody>
      </p:sp>
      <p:sp>
        <p:nvSpPr>
          <p:cNvPr id="17" name="Dikdörtgen 16">
            <a:extLst>
              <a:ext uri="{FF2B5EF4-FFF2-40B4-BE49-F238E27FC236}">
                <a16:creationId xmlns:a16="http://schemas.microsoft.com/office/drawing/2014/main" id="{8556A9DE-DC85-4991-B447-1C7B3D61C9AE}"/>
              </a:ext>
            </a:extLst>
          </p:cNvPr>
          <p:cNvSpPr>
            <a:spLocks noGrp="1"/>
          </p:cNvSpPr>
          <p:nvPr/>
        </p:nvSpPr>
        <p:spPr>
          <a:xfrm>
            <a:off x="8572500" y="3009900"/>
            <a:ext cx="3000375" cy="152400"/>
          </a:xfrm>
          <a:prstGeom prst="rect">
            <a:avLst/>
          </a:prstGeom>
          <a:noFill/>
          <a:ln w="0">
            <a:noFill/>
          </a:ln>
        </p:spPr>
        <p:txBody>
          <a:bodyPr anchor="t">
            <a:normAutofit fontScale="33333"/>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Openings, term introductions, transitions, complex examples and chapter closes</a:t>
            </a:r>
          </a:p>
        </p:txBody>
      </p:sp>
      <p:sp>
        <p:nvSpPr>
          <p:cNvPr id="18" name="Yuvarlatılmış Dikdörtgen 17">
            <a:extLst>
              <a:ext uri="{FF2B5EF4-FFF2-40B4-BE49-F238E27FC236}">
                <a16:creationId xmlns:a16="http://schemas.microsoft.com/office/drawing/2014/main" id="{5C5E4C9F-C29B-4CFA-84C1-9991485758F8}"/>
              </a:ext>
            </a:extLst>
          </p:cNvPr>
          <p:cNvSpPr>
            <a:spLocks noGrp="1"/>
          </p:cNvSpPr>
          <p:nvPr/>
        </p:nvSpPr>
        <p:spPr>
          <a:xfrm>
            <a:off x="619125" y="3667125"/>
            <a:ext cx="3476625" cy="1619250"/>
          </a:xfrm>
          <a:prstGeom prst="roundRect">
            <a:avLst>
              <a:gd name="adj" fmla="val 4706"/>
            </a:avLst>
          </a:prstGeom>
          <a:solidFill>
            <a:srgbClr val="FFFFFF"/>
          </a:solidFill>
          <a:ln w="9525">
            <a:solidFill>
              <a:srgbClr val="C8C9D3"/>
            </a:solidFill>
          </a:ln>
        </p:spPr>
        <p:txBody>
          <a:bodyPr/>
          <a:lstStyle/>
          <a:p>
            <a:endParaRPr lang="tr-TR"/>
          </a:p>
        </p:txBody>
      </p:sp>
      <p:sp>
        <p:nvSpPr>
          <p:cNvPr id="19" name="Dikdörtgen 18">
            <a:extLst>
              <a:ext uri="{FF2B5EF4-FFF2-40B4-BE49-F238E27FC236}">
                <a16:creationId xmlns:a16="http://schemas.microsoft.com/office/drawing/2014/main" id="{60ED27EC-F8E7-4F91-88DA-65C462A984B9}"/>
              </a:ext>
            </a:extLst>
          </p:cNvPr>
          <p:cNvSpPr>
            <a:spLocks noGrp="1"/>
          </p:cNvSpPr>
          <p:nvPr/>
        </p:nvSpPr>
        <p:spPr>
          <a:xfrm>
            <a:off x="809625" y="3838575"/>
            <a:ext cx="428625" cy="400050"/>
          </a:xfrm>
          <a:prstGeom prst="rect">
            <a:avLst/>
          </a:prstGeom>
          <a:noFill/>
          <a:ln w="0">
            <a:noFill/>
          </a:ln>
        </p:spPr>
        <p:txBody>
          <a:bodyPr anchor="t">
            <a:normAutofit fontScale="96428"/>
          </a:bodyPr>
          <a:lstStyle/>
          <a:p>
            <a:pPr algn="l">
              <a:defRPr sz="2100" b="1" i="0">
                <a:solidFill>
                  <a:srgbClr val="176082"/>
                </a:solidFill>
                <a:latin typeface="Arial"/>
                <a:ea typeface="Arial"/>
                <a:cs typeface="Arial"/>
              </a:defRPr>
            </a:pPr>
            <a:r>
              <a:rPr sz="2100" b="1" i="0">
                <a:solidFill>
                  <a:srgbClr val="176082"/>
                </a:solidFill>
                <a:latin typeface="Arial"/>
                <a:ea typeface="Arial"/>
                <a:cs typeface="Arial"/>
              </a:rPr>
              <a:t>4</a:t>
            </a:r>
          </a:p>
        </p:txBody>
      </p:sp>
      <p:sp>
        <p:nvSpPr>
          <p:cNvPr id="20" name="Dikdörtgen 19">
            <a:extLst>
              <a:ext uri="{FF2B5EF4-FFF2-40B4-BE49-F238E27FC236}">
                <a16:creationId xmlns:a16="http://schemas.microsoft.com/office/drawing/2014/main" id="{0EAD7239-0376-4CA6-A9D1-B04ADC7E039F}"/>
              </a:ext>
            </a:extLst>
          </p:cNvPr>
          <p:cNvSpPr>
            <a:spLocks noGrp="1"/>
          </p:cNvSpPr>
          <p:nvPr/>
        </p:nvSpPr>
        <p:spPr>
          <a:xfrm>
            <a:off x="857250" y="4391025"/>
            <a:ext cx="3000375" cy="495300"/>
          </a:xfrm>
          <a:prstGeom prst="rect">
            <a:avLst/>
          </a:prstGeom>
          <a:noFill/>
          <a:ln w="0">
            <a:noFill/>
          </a:ln>
        </p:spPr>
        <p:txBody>
          <a:bodyPr anchor="t">
            <a:normAutofit fontScale="84127"/>
          </a:bodyPr>
          <a:lstStyle/>
          <a:p>
            <a:pPr algn="l">
              <a:defRPr sz="1575" b="1" i="0">
                <a:solidFill>
                  <a:srgbClr val="33343F"/>
                </a:solidFill>
                <a:latin typeface="Arial"/>
                <a:ea typeface="Arial"/>
                <a:cs typeface="Arial"/>
              </a:defRPr>
            </a:pPr>
            <a:r>
              <a:rPr sz="1575" b="1" i="0">
                <a:solidFill>
                  <a:srgbClr val="33343F"/>
                </a:solidFill>
                <a:latin typeface="Arial"/>
                <a:ea typeface="Arial"/>
                <a:cs typeface="Arial"/>
              </a:rPr>
              <a:t>Code function, form and distribution</a:t>
            </a:r>
          </a:p>
        </p:txBody>
      </p:sp>
      <p:sp>
        <p:nvSpPr>
          <p:cNvPr id="21" name="Dikdörtgen 20">
            <a:extLst>
              <a:ext uri="{FF2B5EF4-FFF2-40B4-BE49-F238E27FC236}">
                <a16:creationId xmlns:a16="http://schemas.microsoft.com/office/drawing/2014/main" id="{7BCE1DC1-0299-4547-8F4C-98C679531B74}"/>
              </a:ext>
            </a:extLst>
          </p:cNvPr>
          <p:cNvSpPr>
            <a:spLocks noGrp="1"/>
          </p:cNvSpPr>
          <p:nvPr/>
        </p:nvSpPr>
        <p:spPr>
          <a:xfrm>
            <a:off x="857250" y="4962525"/>
            <a:ext cx="3000375" cy="152400"/>
          </a:xfrm>
          <a:prstGeom prst="rect">
            <a:avLst/>
          </a:prstGeom>
          <a:noFill/>
          <a:ln w="0">
            <a:noFill/>
          </a:ln>
        </p:spPr>
        <p:txBody>
          <a:bodyPr anchor="t">
            <a:normAutofit fontScale="33333"/>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Record the device, eligible opportunity, timing and chapter spread</a:t>
            </a:r>
          </a:p>
        </p:txBody>
      </p:sp>
      <p:sp>
        <p:nvSpPr>
          <p:cNvPr id="22" name="Yuvarlatılmış Dikdörtgen 21">
            <a:extLst>
              <a:ext uri="{FF2B5EF4-FFF2-40B4-BE49-F238E27FC236}">
                <a16:creationId xmlns:a16="http://schemas.microsoft.com/office/drawing/2014/main" id="{CC8F7553-3A41-4CDC-B8BA-3657C577851E}"/>
              </a:ext>
            </a:extLst>
          </p:cNvPr>
          <p:cNvSpPr>
            <a:spLocks noGrp="1"/>
          </p:cNvSpPr>
          <p:nvPr/>
        </p:nvSpPr>
        <p:spPr>
          <a:xfrm>
            <a:off x="4476750" y="3667125"/>
            <a:ext cx="3476625" cy="1619250"/>
          </a:xfrm>
          <a:prstGeom prst="roundRect">
            <a:avLst>
              <a:gd name="adj" fmla="val 4706"/>
            </a:avLst>
          </a:prstGeom>
          <a:solidFill>
            <a:srgbClr val="FFFFFF"/>
          </a:solidFill>
          <a:ln w="9525">
            <a:solidFill>
              <a:srgbClr val="C8C9D3"/>
            </a:solidFill>
          </a:ln>
        </p:spPr>
        <p:txBody>
          <a:bodyPr/>
          <a:lstStyle/>
          <a:p>
            <a:endParaRPr lang="tr-TR"/>
          </a:p>
        </p:txBody>
      </p:sp>
      <p:sp>
        <p:nvSpPr>
          <p:cNvPr id="23" name="Dikdörtgen 22">
            <a:extLst>
              <a:ext uri="{FF2B5EF4-FFF2-40B4-BE49-F238E27FC236}">
                <a16:creationId xmlns:a16="http://schemas.microsoft.com/office/drawing/2014/main" id="{64641BF3-56F0-4137-A70F-F63D2F283172}"/>
              </a:ext>
            </a:extLst>
          </p:cNvPr>
          <p:cNvSpPr>
            <a:spLocks noGrp="1"/>
          </p:cNvSpPr>
          <p:nvPr/>
        </p:nvSpPr>
        <p:spPr>
          <a:xfrm>
            <a:off x="4667250" y="3838575"/>
            <a:ext cx="428625" cy="400050"/>
          </a:xfrm>
          <a:prstGeom prst="rect">
            <a:avLst/>
          </a:prstGeom>
          <a:noFill/>
          <a:ln w="0">
            <a:noFill/>
          </a:ln>
        </p:spPr>
        <p:txBody>
          <a:bodyPr anchor="t">
            <a:normAutofit fontScale="96428"/>
          </a:bodyPr>
          <a:lstStyle/>
          <a:p>
            <a:pPr algn="l">
              <a:defRPr sz="2100" b="1" i="0">
                <a:solidFill>
                  <a:srgbClr val="176082"/>
                </a:solidFill>
                <a:latin typeface="Arial"/>
                <a:ea typeface="Arial"/>
                <a:cs typeface="Arial"/>
              </a:defRPr>
            </a:pPr>
            <a:r>
              <a:rPr sz="2100" b="1" i="0">
                <a:solidFill>
                  <a:srgbClr val="176082"/>
                </a:solidFill>
                <a:latin typeface="Arial"/>
                <a:ea typeface="Arial"/>
                <a:cs typeface="Arial"/>
              </a:rPr>
              <a:t>5</a:t>
            </a:r>
          </a:p>
        </p:txBody>
      </p:sp>
      <p:sp>
        <p:nvSpPr>
          <p:cNvPr id="24" name="Dikdörtgen 23">
            <a:extLst>
              <a:ext uri="{FF2B5EF4-FFF2-40B4-BE49-F238E27FC236}">
                <a16:creationId xmlns:a16="http://schemas.microsoft.com/office/drawing/2014/main" id="{C7601FD4-23EF-4740-9B50-02C1CE046055}"/>
              </a:ext>
            </a:extLst>
          </p:cNvPr>
          <p:cNvSpPr>
            <a:spLocks noGrp="1"/>
          </p:cNvSpPr>
          <p:nvPr/>
        </p:nvSpPr>
        <p:spPr>
          <a:xfrm>
            <a:off x="4714875" y="4391025"/>
            <a:ext cx="3000375" cy="495300"/>
          </a:xfrm>
          <a:prstGeom prst="rect">
            <a:avLst/>
          </a:prstGeom>
          <a:noFill/>
          <a:ln w="0">
            <a:noFill/>
          </a:ln>
        </p:spPr>
        <p:txBody>
          <a:bodyPr anchor="t">
            <a:normAutofit fontScale="86374"/>
          </a:bodyPr>
          <a:lstStyle/>
          <a:p>
            <a:pPr algn="l">
              <a:defRPr sz="1575" b="1" i="0">
                <a:solidFill>
                  <a:srgbClr val="33343F"/>
                </a:solidFill>
                <a:latin typeface="Arial"/>
                <a:ea typeface="Arial"/>
                <a:cs typeface="Arial"/>
              </a:defRPr>
            </a:pPr>
            <a:r>
              <a:rPr sz="1575" b="1" i="0">
                <a:solidFill>
                  <a:srgbClr val="33343F"/>
                </a:solidFill>
                <a:latin typeface="Arial"/>
                <a:ea typeface="Arial"/>
                <a:cs typeface="Arial"/>
              </a:rPr>
              <a:t>Rate support and tag the evidence</a:t>
            </a:r>
          </a:p>
        </p:txBody>
      </p:sp>
      <p:sp>
        <p:nvSpPr>
          <p:cNvPr id="25" name="Dikdörtgen 24">
            <a:extLst>
              <a:ext uri="{FF2B5EF4-FFF2-40B4-BE49-F238E27FC236}">
                <a16:creationId xmlns:a16="http://schemas.microsoft.com/office/drawing/2014/main" id="{2B8736B9-DAE1-4B01-8E59-3EF34A2845FC}"/>
              </a:ext>
            </a:extLst>
          </p:cNvPr>
          <p:cNvSpPr>
            <a:spLocks noGrp="1"/>
          </p:cNvSpPr>
          <p:nvPr/>
        </p:nvSpPr>
        <p:spPr>
          <a:xfrm>
            <a:off x="4714875" y="4962525"/>
            <a:ext cx="3000375" cy="152400"/>
          </a:xfrm>
          <a:prstGeom prst="rect">
            <a:avLst/>
          </a:prstGeom>
          <a:noFill/>
          <a:ln w="0">
            <a:noFill/>
          </a:ln>
        </p:spPr>
        <p:txBody>
          <a:bodyPr anchor="t">
            <a:normAutofit fontScale="33333"/>
          </a:bodyPr>
          <a:lstStyle/>
          <a:p>
            <a:pPr algn="l">
              <a:defRPr sz="1200" b="0" i="0">
                <a:solidFill>
                  <a:srgbClr val="626777"/>
                </a:solidFill>
                <a:latin typeface="Arial"/>
                <a:ea typeface="Arial"/>
                <a:cs typeface="Arial"/>
              </a:defRPr>
            </a:pPr>
            <a:r>
              <a:rPr sz="1200" b="0" i="0">
                <a:solidFill>
                  <a:srgbClr val="626777"/>
                </a:solidFill>
                <a:latin typeface="Arial"/>
                <a:ea typeface="Arial"/>
                <a:cs typeface="Arial"/>
              </a:rPr>
              <a:t>Use 0–3 plus T, TP or TPC evidence status</a:t>
            </a:r>
          </a:p>
        </p:txBody>
      </p:sp>
      <p:sp>
        <p:nvSpPr>
          <p:cNvPr id="26" name="Yuvarlatılmış Dikdörtgen 25">
            <a:extLst>
              <a:ext uri="{FF2B5EF4-FFF2-40B4-BE49-F238E27FC236}">
                <a16:creationId xmlns:a16="http://schemas.microsoft.com/office/drawing/2014/main" id="{561BF502-2BD6-4D88-994E-6E40547CA4ED}"/>
              </a:ext>
            </a:extLst>
          </p:cNvPr>
          <p:cNvSpPr>
            <a:spLocks noGrp="1"/>
          </p:cNvSpPr>
          <p:nvPr/>
        </p:nvSpPr>
        <p:spPr>
          <a:xfrm>
            <a:off x="8334375" y="3667125"/>
            <a:ext cx="3476625" cy="1619250"/>
          </a:xfrm>
          <a:prstGeom prst="roundRect">
            <a:avLst>
              <a:gd name="adj" fmla="val 4706"/>
            </a:avLst>
          </a:prstGeom>
          <a:solidFill>
            <a:srgbClr val="123B53"/>
          </a:solidFill>
          <a:ln w="9525">
            <a:solidFill>
              <a:srgbClr val="C8C9D3"/>
            </a:solidFill>
          </a:ln>
        </p:spPr>
        <p:txBody>
          <a:bodyPr/>
          <a:lstStyle/>
          <a:p>
            <a:endParaRPr lang="tr-TR"/>
          </a:p>
        </p:txBody>
      </p:sp>
      <p:sp>
        <p:nvSpPr>
          <p:cNvPr id="27" name="Dikdörtgen 26">
            <a:extLst>
              <a:ext uri="{FF2B5EF4-FFF2-40B4-BE49-F238E27FC236}">
                <a16:creationId xmlns:a16="http://schemas.microsoft.com/office/drawing/2014/main" id="{681424C5-2D76-4EDF-8B5A-33319C17872A}"/>
              </a:ext>
            </a:extLst>
          </p:cNvPr>
          <p:cNvSpPr>
            <a:spLocks noGrp="1"/>
          </p:cNvSpPr>
          <p:nvPr/>
        </p:nvSpPr>
        <p:spPr>
          <a:xfrm>
            <a:off x="8524875" y="3838575"/>
            <a:ext cx="428625" cy="400050"/>
          </a:xfrm>
          <a:prstGeom prst="rect">
            <a:avLst/>
          </a:prstGeom>
          <a:noFill/>
          <a:ln w="0">
            <a:noFill/>
          </a:ln>
        </p:spPr>
        <p:txBody>
          <a:bodyPr anchor="t">
            <a:normAutofit fontScale="96428"/>
          </a:bodyPr>
          <a:lstStyle/>
          <a:p>
            <a:pPr algn="l">
              <a:defRPr sz="2100" b="1" i="0">
                <a:solidFill>
                  <a:srgbClr val="FFD45A"/>
                </a:solidFill>
                <a:latin typeface="Arial"/>
                <a:ea typeface="Arial"/>
                <a:cs typeface="Arial"/>
              </a:defRPr>
            </a:pPr>
            <a:r>
              <a:rPr sz="2100" b="1" i="0">
                <a:solidFill>
                  <a:srgbClr val="FFD45A"/>
                </a:solidFill>
                <a:latin typeface="Arial"/>
                <a:ea typeface="Arial"/>
                <a:cs typeface="Arial"/>
              </a:rPr>
              <a:t>6</a:t>
            </a:r>
          </a:p>
        </p:txBody>
      </p:sp>
      <p:sp>
        <p:nvSpPr>
          <p:cNvPr id="28" name="Dikdörtgen 27">
            <a:extLst>
              <a:ext uri="{FF2B5EF4-FFF2-40B4-BE49-F238E27FC236}">
                <a16:creationId xmlns:a16="http://schemas.microsoft.com/office/drawing/2014/main" id="{389A8489-0974-438C-8833-888158EC2426}"/>
              </a:ext>
            </a:extLst>
          </p:cNvPr>
          <p:cNvSpPr>
            <a:spLocks noGrp="1"/>
          </p:cNvSpPr>
          <p:nvPr/>
        </p:nvSpPr>
        <p:spPr>
          <a:xfrm>
            <a:off x="8572500" y="4391025"/>
            <a:ext cx="3000375" cy="495300"/>
          </a:xfrm>
          <a:prstGeom prst="rect">
            <a:avLst/>
          </a:prstGeom>
          <a:noFill/>
          <a:ln w="0">
            <a:noFill/>
          </a:ln>
        </p:spPr>
        <p:txBody>
          <a:bodyPr anchor="t">
            <a:normAutofit fontScale="85074"/>
          </a:bodyPr>
          <a:lstStyle/>
          <a:p>
            <a:pPr algn="l">
              <a:defRPr sz="1575" b="1" i="0">
                <a:solidFill>
                  <a:srgbClr val="FFFFFF"/>
                </a:solidFill>
                <a:latin typeface="Arial"/>
                <a:ea typeface="Arial"/>
                <a:cs typeface="Arial"/>
              </a:defRPr>
            </a:pPr>
            <a:r>
              <a:rPr sz="1575" b="1" i="0">
                <a:solidFill>
                  <a:srgbClr val="FFFFFF"/>
                </a:solidFill>
                <a:latin typeface="Arial"/>
                <a:ea typeface="Arial"/>
                <a:cs typeface="Arial"/>
              </a:rPr>
              <a:t>Choose, supplement or reconsider</a:t>
            </a:r>
          </a:p>
        </p:txBody>
      </p:sp>
      <p:sp>
        <p:nvSpPr>
          <p:cNvPr id="29" name="Dikdörtgen 28">
            <a:extLst>
              <a:ext uri="{FF2B5EF4-FFF2-40B4-BE49-F238E27FC236}">
                <a16:creationId xmlns:a16="http://schemas.microsoft.com/office/drawing/2014/main" id="{1E95FF6D-8166-4884-B56A-369DE74D4301}"/>
              </a:ext>
            </a:extLst>
          </p:cNvPr>
          <p:cNvSpPr>
            <a:spLocks noGrp="1"/>
          </p:cNvSpPr>
          <p:nvPr/>
        </p:nvSpPr>
        <p:spPr>
          <a:xfrm>
            <a:off x="8572500" y="4962525"/>
            <a:ext cx="3000375" cy="152400"/>
          </a:xfrm>
          <a:prstGeom prst="rect">
            <a:avLst/>
          </a:prstGeom>
          <a:noFill/>
          <a:ln w="0">
            <a:noFill/>
          </a:ln>
        </p:spPr>
        <p:txBody>
          <a:bodyPr anchor="t">
            <a:normAutofit fontScale="33333"/>
          </a:bodyPr>
          <a:lstStyle/>
          <a:p>
            <a:pPr algn="l">
              <a:defRPr sz="1200" b="0" i="0">
                <a:solidFill>
                  <a:srgbClr val="FFFFFF"/>
                </a:solidFill>
                <a:latin typeface="Arial"/>
                <a:ea typeface="Arial"/>
                <a:cs typeface="Arial"/>
              </a:defRPr>
            </a:pPr>
            <a:r>
              <a:rPr sz="1200" b="0" i="0">
                <a:solidFill>
                  <a:srgbClr val="FFFFFF"/>
                </a:solidFill>
                <a:latin typeface="Arial"/>
                <a:ea typeface="Arial"/>
                <a:cs typeface="Arial"/>
              </a:rPr>
              <a:t>Apply the decision rule and document required teaching support</a:t>
            </a:r>
          </a:p>
        </p:txBody>
      </p:sp>
      <p:sp>
        <p:nvSpPr>
          <p:cNvPr id="30" name="Dikdörtgen 29">
            <a:extLst>
              <a:ext uri="{FF2B5EF4-FFF2-40B4-BE49-F238E27FC236}">
                <a16:creationId xmlns:a16="http://schemas.microsoft.com/office/drawing/2014/main" id="{03080739-3348-4AAE-AD09-5BBDFD85B9A2}"/>
              </a:ext>
            </a:extLst>
          </p:cNvPr>
          <p:cNvSpPr>
            <a:spLocks noGrp="1"/>
          </p:cNvSpPr>
          <p:nvPr/>
        </p:nvSpPr>
        <p:spPr>
          <a:xfrm>
            <a:off x="2000250" y="5848350"/>
            <a:ext cx="8191500" cy="266700"/>
          </a:xfrm>
          <a:prstGeom prst="rect">
            <a:avLst/>
          </a:prstGeom>
          <a:noFill/>
          <a:ln w="0">
            <a:noFill/>
          </a:ln>
        </p:spPr>
        <p:txBody>
          <a:bodyPr anchor="t">
            <a:normAutofit fontScale="85185"/>
          </a:bodyPr>
          <a:lstStyle/>
          <a:p>
            <a:pPr algn="ctr">
              <a:defRPr sz="1350" b="1" i="0">
                <a:solidFill>
                  <a:srgbClr val="B94D35"/>
                </a:solidFill>
                <a:latin typeface="Arial"/>
                <a:ea typeface="Arial"/>
                <a:cs typeface="Arial"/>
              </a:defRPr>
            </a:pPr>
            <a:r>
              <a:rPr sz="1350" b="1" i="0">
                <a:solidFill>
                  <a:srgbClr val="B94D35"/>
                </a:solidFill>
                <a:latin typeface="Arial"/>
                <a:ea typeface="Arial"/>
                <a:cs typeface="Arial"/>
              </a:rPr>
              <a:t>Use identical samples and priorities for every candidate book to prevent post hoc scoring.</a:t>
            </a:r>
          </a:p>
        </p:txBody>
      </p:sp>
      <p:sp>
        <p:nvSpPr>
          <p:cNvPr id="31" name="Düz Bağlayıcı 30">
            <a:extLst>
              <a:ext uri="{FF2B5EF4-FFF2-40B4-BE49-F238E27FC236}">
                <a16:creationId xmlns:a16="http://schemas.microsoft.com/office/drawing/2014/main" id="{455A95CE-D168-478F-924B-F951B44C9007}"/>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2" name="Dikdörtgen 31">
            <a:extLst>
              <a:ext uri="{FF2B5EF4-FFF2-40B4-BE49-F238E27FC236}">
                <a16:creationId xmlns:a16="http://schemas.microsoft.com/office/drawing/2014/main" id="{8EA44161-FBCB-425E-BFD5-8BF6B53792B4}"/>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614730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0" name="Yuvarlatılmış Dikdörtgen 9">
            <a:extLst>
              <a:ext uri="{FF2B5EF4-FFF2-40B4-BE49-F238E27FC236}">
                <a16:creationId xmlns:a16="http://schemas.microsoft.com/office/drawing/2014/main" id="{92095E1F-E199-4527-B024-D81F58236F46}"/>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F2472DD4-97A2-4B3C-9135-44CFF78B8E16}"/>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131C4327-E42D-43F6-AAE6-8B84791AD838}"/>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Coursebook-fit rubric, dimensions 1–4</a:t>
            </a:r>
          </a:p>
        </p:txBody>
      </p:sp>
      <p:sp>
        <p:nvSpPr>
          <p:cNvPr id="4" name="Düz Bağlayıcı 3">
            <a:extLst>
              <a:ext uri="{FF2B5EF4-FFF2-40B4-BE49-F238E27FC236}">
                <a16:creationId xmlns:a16="http://schemas.microsoft.com/office/drawing/2014/main" id="{7EED2241-F136-4478-9037-F6C392493EEF}"/>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AB7A7E15-97AB-4F58-B72F-B8474A45BF8C}"/>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25</a:t>
            </a:r>
          </a:p>
        </p:txBody>
      </p:sp>
      <p:graphicFrame>
        <p:nvGraphicFramePr>
          <p:cNvPr id="15" name="Tablo 14"/>
          <p:cNvGraphicFramePr/>
          <p:nvPr/>
        </p:nvGraphicFramePr>
        <p:xfrm>
          <a:off x="514350" y="1619250"/>
          <a:ext cx="11144250" cy="4381500"/>
        </p:xfrm>
        <a:graphic>
          <a:graphicData uri="http://schemas.openxmlformats.org/drawingml/2006/table">
            <a:tbl>
              <a:tblPr/>
              <a:tblGrid>
                <a:gridCol w="30956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tblGrid>
              <a:tr h="523875">
                <a:tc>
                  <a:txBody>
                    <a:bodyPr/>
                    <a:lstStyle/>
                    <a:p>
                      <a:r>
                        <a:rPr sz="1125" b="1">
                          <a:solidFill>
                            <a:srgbClr val="FFFFFF"/>
                          </a:solidFill>
                          <a:latin typeface="Arial"/>
                          <a:ea typeface="Arial"/>
                          <a:cs typeface="Arial"/>
                        </a:rPr>
                        <a:t>Dimension and review question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0  Unsupported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1  Limited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2  Adequate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3  Systematic</a:t>
                      </a:r>
                    </a:p>
                  </a:txBody>
                  <a:tcPr marL="95250" marR="95250" marT="76200" marB="66675" anchor="ctr">
                    <a:solidFill>
                      <a:srgbClr val="123B53"/>
                    </a:solidFill>
                  </a:tcPr>
                </a:tc>
                <a:extLst>
                  <a:ext uri="{0D108BD9-81ED-4DB2-BD59-A6C34878D82A}">
                    <a16:rowId xmlns:a16="http://schemas.microsoft.com/office/drawing/2014/main" val="10000"/>
                  </a:ext>
                </a:extLst>
              </a:tr>
              <a:tr h="962025">
                <a:tc>
                  <a:txBody>
                    <a:bodyPr/>
                    <a:lstStyle/>
                    <a:p>
                      <a:r>
                        <a:rPr sz="915" b="1">
                          <a:solidFill>
                            <a:srgbClr val="176082"/>
                          </a:solidFill>
                          <a:latin typeface="Arial"/>
                          <a:ea typeface="Arial"/>
                          <a:cs typeface="Arial"/>
                        </a:rPr>
                        <a:t>1  Meaning access</a:t>
                      </a:r>
                    </a:p>
                    <a:p>
                      <a:r>
                        <a:rPr sz="915" b="1">
                          <a:solidFill>
                            <a:srgbClr val="176082"/>
                          </a:solidFill>
                          <a:latin typeface="Arial"/>
                          <a:ea typeface="Arial"/>
                          <a:cs typeface="Arial"/>
                        </a:rPr>
                        <a:t>Are key terms unpacked where first needed?</a:t>
                      </a:r>
                    </a:p>
                  </a:txBody>
                  <a:tcPr marL="95250" marR="95250" marT="66675" marB="66675" anchor="ctr">
                    <a:solidFill>
                      <a:srgbClr val="E6F0F5"/>
                    </a:solidFill>
                  </a:tcPr>
                </a:tc>
                <a:tc>
                  <a:txBody>
                    <a:bodyPr/>
                    <a:lstStyle/>
                    <a:p>
                      <a:r>
                        <a:rPr sz="915">
                          <a:solidFill>
                            <a:srgbClr val="33343F"/>
                          </a:solidFill>
                          <a:latin typeface="Arial"/>
                          <a:ea typeface="Arial"/>
                          <a:cs typeface="Arial"/>
                        </a:rPr>
                        <a:t>No explanation or misleading explanation</a:t>
                      </a:r>
                    </a:p>
                  </a:txBody>
                  <a:tcPr marL="95250" marR="95250" marT="66675" marB="66675" anchor="ctr">
                    <a:solidFill>
                      <a:srgbClr val="FFFFFF"/>
                    </a:solidFill>
                  </a:tcPr>
                </a:tc>
                <a:tc>
                  <a:txBody>
                    <a:bodyPr/>
                    <a:lstStyle/>
                    <a:p>
                      <a:r>
                        <a:rPr sz="915">
                          <a:solidFill>
                            <a:srgbClr val="33343F"/>
                          </a:solidFill>
                          <a:latin typeface="Arial"/>
                          <a:ea typeface="Arial"/>
                          <a:cs typeface="Arial"/>
                        </a:rPr>
                        <a:t>Gloss appears late, rarely or without context</a:t>
                      </a:r>
                    </a:p>
                  </a:txBody>
                  <a:tcPr marL="95250" marR="95250" marT="66675" marB="66675" anchor="ctr">
                    <a:solidFill>
                      <a:srgbClr val="FFFFFF"/>
                    </a:solidFill>
                  </a:tcPr>
                </a:tc>
                <a:tc>
                  <a:txBody>
                    <a:bodyPr/>
                    <a:lstStyle/>
                    <a:p>
                      <a:r>
                        <a:rPr sz="915">
                          <a:solidFill>
                            <a:srgbClr val="33343F"/>
                          </a:solidFill>
                          <a:latin typeface="Arial"/>
                          <a:ea typeface="Arial"/>
                          <a:cs typeface="Arial"/>
                        </a:rPr>
                        <a:t>Accurate local explanation at main points of need</a:t>
                      </a:r>
                    </a:p>
                  </a:txBody>
                  <a:tcPr marL="95250" marR="95250" marT="66675" marB="66675" anchor="ctr">
                    <a:solidFill>
                      <a:srgbClr val="FFFFFF"/>
                    </a:solidFill>
                  </a:tcPr>
                </a:tc>
                <a:tc>
                  <a:txBody>
                    <a:bodyPr/>
                    <a:lstStyle/>
                    <a:p>
                      <a:r>
                        <a:rPr sz="915">
                          <a:solidFill>
                            <a:srgbClr val="33343F"/>
                          </a:solidFill>
                          <a:latin typeface="Arial"/>
                          <a:ea typeface="Arial"/>
                          <a:cs typeface="Arial"/>
                        </a:rPr>
                        <a:t>Terms, examples and references remain consistently aligned</a:t>
                      </a:r>
                    </a:p>
                  </a:txBody>
                  <a:tcPr marL="95250" marR="95250" marT="66675" marB="66675" anchor="ctr">
                    <a:solidFill>
                      <a:srgbClr val="FFFFFF"/>
                    </a:solidFill>
                  </a:tcPr>
                </a:tc>
                <a:extLst>
                  <a:ext uri="{0D108BD9-81ED-4DB2-BD59-A6C34878D82A}">
                    <a16:rowId xmlns:a16="http://schemas.microsoft.com/office/drawing/2014/main" val="10001"/>
                  </a:ext>
                </a:extLst>
              </a:tr>
              <a:tr h="962025">
                <a:tc>
                  <a:txBody>
                    <a:bodyPr/>
                    <a:lstStyle/>
                    <a:p>
                      <a:r>
                        <a:rPr sz="915" b="1">
                          <a:solidFill>
                            <a:srgbClr val="176082"/>
                          </a:solidFill>
                          <a:latin typeface="Arial"/>
                          <a:ea typeface="Arial"/>
                          <a:cs typeface="Arial"/>
                        </a:rPr>
                        <a:t>2  Orientation</a:t>
                      </a:r>
                    </a:p>
                    <a:p>
                      <a:r>
                        <a:rPr sz="915" b="1">
                          <a:solidFill>
                            <a:srgbClr val="176082"/>
                          </a:solidFill>
                          <a:latin typeface="Arial"/>
                          <a:ea typeface="Arial"/>
                          <a:cs typeface="Arial"/>
                        </a:rPr>
                        <a:t>Can readers see where the explanation is going?</a:t>
                      </a:r>
                    </a:p>
                  </a:txBody>
                  <a:tcPr marL="95250" marR="95250" marT="66675" marB="66675" anchor="ctr">
                    <a:solidFill>
                      <a:srgbClr val="E6F0F5"/>
                    </a:solidFill>
                  </a:tcPr>
                </a:tc>
                <a:tc>
                  <a:txBody>
                    <a:bodyPr/>
                    <a:lstStyle/>
                    <a:p>
                      <a:r>
                        <a:rPr sz="915">
                          <a:solidFill>
                            <a:srgbClr val="33343F"/>
                          </a:solidFill>
                          <a:latin typeface="Arial"/>
                          <a:ea typeface="Arial"/>
                          <a:cs typeface="Arial"/>
                        </a:rPr>
                        <a:t>Structure and purpose remain opaque</a:t>
                      </a:r>
                    </a:p>
                  </a:txBody>
                  <a:tcPr marL="95250" marR="95250" marT="66675" marB="66675" anchor="ctr">
                    <a:solidFill>
                      <a:srgbClr val="FFFFFF"/>
                    </a:solidFill>
                  </a:tcPr>
                </a:tc>
                <a:tc>
                  <a:txBody>
                    <a:bodyPr/>
                    <a:lstStyle/>
                    <a:p>
                      <a:r>
                        <a:rPr sz="915">
                          <a:solidFill>
                            <a:srgbClr val="33343F"/>
                          </a:solidFill>
                          <a:latin typeface="Arial"/>
                          <a:ea typeface="Arial"/>
                          <a:cs typeface="Arial"/>
                        </a:rPr>
                        <a:t>Headings exist but transitions are weak</a:t>
                      </a:r>
                    </a:p>
                  </a:txBody>
                  <a:tcPr marL="95250" marR="95250" marT="66675" marB="66675" anchor="ctr">
                    <a:solidFill>
                      <a:srgbClr val="FFFFFF"/>
                    </a:solidFill>
                  </a:tcPr>
                </a:tc>
                <a:tc>
                  <a:txBody>
                    <a:bodyPr/>
                    <a:lstStyle/>
                    <a:p>
                      <a:r>
                        <a:rPr sz="915">
                          <a:solidFill>
                            <a:srgbClr val="33343F"/>
                          </a:solidFill>
                          <a:latin typeface="Arial"/>
                          <a:ea typeface="Arial"/>
                          <a:cs typeface="Arial"/>
                        </a:rPr>
                        <a:t>Useful previews, recaps and cross-references</a:t>
                      </a:r>
                    </a:p>
                  </a:txBody>
                  <a:tcPr marL="95250" marR="95250" marT="66675" marB="66675" anchor="ctr">
                    <a:solidFill>
                      <a:srgbClr val="FFFFFF"/>
                    </a:solidFill>
                  </a:tcPr>
                </a:tc>
                <a:tc>
                  <a:txBody>
                    <a:bodyPr/>
                    <a:lstStyle/>
                    <a:p>
                      <a:r>
                        <a:rPr sz="915">
                          <a:solidFill>
                            <a:srgbClr val="33343F"/>
                          </a:solidFill>
                          <a:latin typeface="Arial"/>
                          <a:ea typeface="Arial"/>
                          <a:cs typeface="Arial"/>
                        </a:rPr>
                        <a:t>Orientation recurs at major conceptual transitions</a:t>
                      </a:r>
                    </a:p>
                  </a:txBody>
                  <a:tcPr marL="95250" marR="95250" marT="66675" marB="66675" anchor="ctr">
                    <a:solidFill>
                      <a:srgbClr val="FFFFFF"/>
                    </a:solidFill>
                  </a:tcPr>
                </a:tc>
                <a:extLst>
                  <a:ext uri="{0D108BD9-81ED-4DB2-BD59-A6C34878D82A}">
                    <a16:rowId xmlns:a16="http://schemas.microsoft.com/office/drawing/2014/main" val="10002"/>
                  </a:ext>
                </a:extLst>
              </a:tr>
              <a:tr h="962025">
                <a:tc>
                  <a:txBody>
                    <a:bodyPr/>
                    <a:lstStyle/>
                    <a:p>
                      <a:r>
                        <a:rPr sz="915" b="1">
                          <a:solidFill>
                            <a:srgbClr val="176082"/>
                          </a:solidFill>
                          <a:latin typeface="Arial"/>
                          <a:ea typeface="Arial"/>
                          <a:cs typeface="Arial"/>
                        </a:rPr>
                        <a:t>3  Rhetorical relations</a:t>
                      </a:r>
                    </a:p>
                    <a:p>
                      <a:r>
                        <a:rPr sz="915" b="1">
                          <a:solidFill>
                            <a:srgbClr val="176082"/>
                          </a:solidFill>
                          <a:latin typeface="Arial"/>
                          <a:ea typeface="Arial"/>
                          <a:cs typeface="Arial"/>
                        </a:rPr>
                        <a:t>Are claims, contrasts and qualifications visible?</a:t>
                      </a:r>
                    </a:p>
                  </a:txBody>
                  <a:tcPr marL="95250" marR="95250" marT="66675" marB="66675" anchor="ctr">
                    <a:solidFill>
                      <a:srgbClr val="E6F0F5"/>
                    </a:solidFill>
                  </a:tcPr>
                </a:tc>
                <a:tc>
                  <a:txBody>
                    <a:bodyPr/>
                    <a:lstStyle/>
                    <a:p>
                      <a:r>
                        <a:rPr sz="915">
                          <a:solidFill>
                            <a:srgbClr val="33343F"/>
                          </a:solidFill>
                          <a:latin typeface="Arial"/>
                          <a:ea typeface="Arial"/>
                          <a:cs typeface="Arial"/>
                        </a:rPr>
                        <a:t>Relations are obscured or mis-signalled</a:t>
                      </a:r>
                    </a:p>
                  </a:txBody>
                  <a:tcPr marL="95250" marR="95250" marT="66675" marB="66675" anchor="ctr">
                    <a:solidFill>
                      <a:srgbClr val="FFFFFF"/>
                    </a:solidFill>
                  </a:tcPr>
                </a:tc>
                <a:tc>
                  <a:txBody>
                    <a:bodyPr/>
                    <a:lstStyle/>
                    <a:p>
                      <a:r>
                        <a:rPr sz="915">
                          <a:solidFill>
                            <a:srgbClr val="33343F"/>
                          </a:solidFill>
                          <a:latin typeface="Arial"/>
                          <a:ea typeface="Arial"/>
                          <a:cs typeface="Arial"/>
                        </a:rPr>
                        <a:t>Some markers, with important gaps</a:t>
                      </a:r>
                    </a:p>
                  </a:txBody>
                  <a:tcPr marL="95250" marR="95250" marT="66675" marB="66675" anchor="ctr">
                    <a:solidFill>
                      <a:srgbClr val="FFFFFF"/>
                    </a:solidFill>
                  </a:tcPr>
                </a:tc>
                <a:tc>
                  <a:txBody>
                    <a:bodyPr/>
                    <a:lstStyle/>
                    <a:p>
                      <a:r>
                        <a:rPr sz="915">
                          <a:solidFill>
                            <a:srgbClr val="33343F"/>
                          </a:solidFill>
                          <a:latin typeface="Arial"/>
                          <a:ea typeface="Arial"/>
                          <a:cs typeface="Arial"/>
                        </a:rPr>
                        <a:t>Main relations and conditions are explicit</a:t>
                      </a:r>
                    </a:p>
                  </a:txBody>
                  <a:tcPr marL="95250" marR="95250" marT="66675" marB="66675" anchor="ctr">
                    <a:solidFill>
                      <a:srgbClr val="FFFFFF"/>
                    </a:solidFill>
                  </a:tcPr>
                </a:tc>
                <a:tc>
                  <a:txBody>
                    <a:bodyPr/>
                    <a:lstStyle/>
                    <a:p>
                      <a:r>
                        <a:rPr sz="915">
                          <a:solidFill>
                            <a:srgbClr val="33343F"/>
                          </a:solidFill>
                          <a:latin typeface="Arial"/>
                          <a:ea typeface="Arial"/>
                          <a:cs typeface="Arial"/>
                        </a:rPr>
                        <a:t>Relations remain explicit across prose, examples and visuals</a:t>
                      </a:r>
                    </a:p>
                  </a:txBody>
                  <a:tcPr marL="95250" marR="95250" marT="66675" marB="66675" anchor="ctr">
                    <a:solidFill>
                      <a:srgbClr val="FFFFFF"/>
                    </a:solidFill>
                  </a:tcPr>
                </a:tc>
                <a:extLst>
                  <a:ext uri="{0D108BD9-81ED-4DB2-BD59-A6C34878D82A}">
                    <a16:rowId xmlns:a16="http://schemas.microsoft.com/office/drawing/2014/main" val="10003"/>
                  </a:ext>
                </a:extLst>
              </a:tr>
              <a:tr h="962025">
                <a:tc>
                  <a:txBody>
                    <a:bodyPr/>
                    <a:lstStyle/>
                    <a:p>
                      <a:r>
                        <a:rPr sz="915" b="1">
                          <a:solidFill>
                            <a:srgbClr val="176082"/>
                          </a:solidFill>
                          <a:latin typeface="Arial"/>
                          <a:ea typeface="Arial"/>
                          <a:cs typeface="Arial"/>
                        </a:rPr>
                        <a:t>4  Background knowledge</a:t>
                      </a:r>
                    </a:p>
                    <a:p>
                      <a:r>
                        <a:rPr sz="915" b="1">
                          <a:solidFill>
                            <a:srgbClr val="176082"/>
                          </a:solidFill>
                          <a:latin typeface="Arial"/>
                          <a:ea typeface="Arial"/>
                          <a:cs typeface="Arial"/>
                        </a:rPr>
                        <a:t>Is non-shared context made accessible?</a:t>
                      </a:r>
                    </a:p>
                  </a:txBody>
                  <a:tcPr marL="95250" marR="95250" marT="66675" marB="66675" anchor="ctr">
                    <a:solidFill>
                      <a:srgbClr val="E6F0F5"/>
                    </a:solidFill>
                  </a:tcPr>
                </a:tc>
                <a:tc>
                  <a:txBody>
                    <a:bodyPr/>
                    <a:lstStyle/>
                    <a:p>
                      <a:r>
                        <a:rPr sz="915">
                          <a:solidFill>
                            <a:srgbClr val="33343F"/>
                          </a:solidFill>
                          <a:latin typeface="Arial"/>
                          <a:ea typeface="Arial"/>
                          <a:cs typeface="Arial"/>
                        </a:rPr>
                        <a:t>Essential context is assumed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Context appears after it is required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Concise context or analogy appears at need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Context is calibrated and revisited without overload</a:t>
                      </a:r>
                    </a:p>
                  </a:txBody>
                  <a:tcPr marL="95250" marR="95250" marT="66675" marB="66675" anchor="ctr">
                    <a:solidFill>
                      <a:srgbClr val="FFFFFF"/>
                    </a:solidFill>
                  </a:tcPr>
                </a:tc>
                <a:extLst>
                  <a:ext uri="{0D108BD9-81ED-4DB2-BD59-A6C34878D82A}">
                    <a16:rowId xmlns:a16="http://schemas.microsoft.com/office/drawing/2014/main" val="10004"/>
                  </a:ext>
                </a:extLst>
              </a:tr>
            </a:tbl>
          </a:graphicData>
        </a:graphic>
      </p:graphicFrame>
      <p:sp>
        <p:nvSpPr>
          <p:cNvPr id="7" name="Dikdörtgen 6">
            <a:extLst>
              <a:ext uri="{FF2B5EF4-FFF2-40B4-BE49-F238E27FC236}">
                <a16:creationId xmlns:a16="http://schemas.microsoft.com/office/drawing/2014/main" id="{804CC465-2375-4D95-9717-E7B9D5ACFCBC}"/>
              </a:ext>
            </a:extLst>
          </p:cNvPr>
          <p:cNvSpPr>
            <a:spLocks noGrp="1"/>
          </p:cNvSpPr>
          <p:nvPr/>
        </p:nvSpPr>
        <p:spPr>
          <a:xfrm>
            <a:off x="1428750" y="6105525"/>
            <a:ext cx="9334500" cy="228600"/>
          </a:xfrm>
          <a:prstGeom prst="rect">
            <a:avLst/>
          </a:prstGeom>
          <a:noFill/>
          <a:ln w="0">
            <a:noFill/>
          </a:ln>
        </p:spPr>
        <p:txBody>
          <a:bodyPr anchor="t">
            <a:normAutofit fontScale="80000"/>
          </a:bodyPr>
          <a:lstStyle/>
          <a:p>
            <a:pPr algn="ctr">
              <a:defRPr sz="1125" b="1" i="0">
                <a:solidFill>
                  <a:srgbClr val="B94D35"/>
                </a:solidFill>
                <a:latin typeface="Arial"/>
                <a:ea typeface="Arial"/>
                <a:cs typeface="Arial"/>
              </a:defRPr>
            </a:pPr>
            <a:r>
              <a:rPr sz="1125" b="1" i="0">
                <a:solidFill>
                  <a:srgbClr val="B94D35"/>
                </a:solidFill>
                <a:latin typeface="Arial"/>
                <a:ea typeface="Arial"/>
                <a:cs typeface="Arial"/>
              </a:rPr>
              <a:t>Rate sampled locations, not impressions of the whole book. Use N/A only when the dimension is genuinely irrelevant.</a:t>
            </a:r>
          </a:p>
        </p:txBody>
      </p:sp>
      <p:sp>
        <p:nvSpPr>
          <p:cNvPr id="8" name="Düz Bağlayıcı 7">
            <a:extLst>
              <a:ext uri="{FF2B5EF4-FFF2-40B4-BE49-F238E27FC236}">
                <a16:creationId xmlns:a16="http://schemas.microsoft.com/office/drawing/2014/main" id="{65F79590-2123-46B0-B419-A7D5142BAD94}"/>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C88D6AE4-A6D3-43C0-B94D-E763D7E96749}"/>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354976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2" name="Yuvarlatılmış Dikdörtgen 11">
            <a:extLst>
              <a:ext uri="{FF2B5EF4-FFF2-40B4-BE49-F238E27FC236}">
                <a16:creationId xmlns:a16="http://schemas.microsoft.com/office/drawing/2014/main" id="{28A0E1E1-F9C6-4A4B-A346-B668B0EAE93B}"/>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02FC1CE5-D926-451E-B5C3-D3AB72228F3D}"/>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68D87155-FF76-438A-B01B-0075C98B73D3}"/>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Coursebook-fit rubric, dimensions 5–7 and gates</a:t>
            </a:r>
          </a:p>
        </p:txBody>
      </p:sp>
      <p:sp>
        <p:nvSpPr>
          <p:cNvPr id="4" name="Düz Bağlayıcı 3">
            <a:extLst>
              <a:ext uri="{FF2B5EF4-FFF2-40B4-BE49-F238E27FC236}">
                <a16:creationId xmlns:a16="http://schemas.microsoft.com/office/drawing/2014/main" id="{B08B358B-15FE-4BAD-AD00-A5DC8DAE5C9C}"/>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8F16F622-32E6-4587-83E8-D96926C6C0CA}"/>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26</a:t>
            </a:r>
          </a:p>
        </p:txBody>
      </p:sp>
      <p:graphicFrame>
        <p:nvGraphicFramePr>
          <p:cNvPr id="17" name="Tablo 16"/>
          <p:cNvGraphicFramePr/>
          <p:nvPr/>
        </p:nvGraphicFramePr>
        <p:xfrm>
          <a:off x="514350" y="1619250"/>
          <a:ext cx="11144250" cy="3381375"/>
        </p:xfrm>
        <a:graphic>
          <a:graphicData uri="http://schemas.openxmlformats.org/drawingml/2006/table">
            <a:tbl>
              <a:tblPr/>
              <a:tblGrid>
                <a:gridCol w="30956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tblGrid>
              <a:tr h="523875">
                <a:tc>
                  <a:txBody>
                    <a:bodyPr/>
                    <a:lstStyle/>
                    <a:p>
                      <a:r>
                        <a:rPr sz="1125" b="1">
                          <a:solidFill>
                            <a:srgbClr val="FFFFFF"/>
                          </a:solidFill>
                          <a:latin typeface="Arial"/>
                          <a:ea typeface="Arial"/>
                          <a:cs typeface="Arial"/>
                        </a:rPr>
                        <a:t>Dimension and review question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0  Unsupported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1  Limited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2  Adequate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3  Systematic</a:t>
                      </a:r>
                    </a:p>
                  </a:txBody>
                  <a:tcPr marL="95250" marR="95250" marT="76200" marB="66675" anchor="ctr">
                    <a:solidFill>
                      <a:srgbClr val="123B53"/>
                    </a:solidFill>
                  </a:tcPr>
                </a:tc>
                <a:extLst>
                  <a:ext uri="{0D108BD9-81ED-4DB2-BD59-A6C34878D82A}">
                    <a16:rowId xmlns:a16="http://schemas.microsoft.com/office/drawing/2014/main" val="10000"/>
                  </a:ext>
                </a:extLst>
              </a:tr>
              <a:tr h="952500">
                <a:tc>
                  <a:txBody>
                    <a:bodyPr/>
                    <a:lstStyle/>
                    <a:p>
                      <a:r>
                        <a:rPr sz="915" b="1">
                          <a:solidFill>
                            <a:srgbClr val="176082"/>
                          </a:solidFill>
                          <a:latin typeface="Arial"/>
                          <a:ea typeface="Arial"/>
                          <a:cs typeface="Arial"/>
                        </a:rPr>
                        <a:t>5  Conceptual continuity</a:t>
                      </a:r>
                    </a:p>
                    <a:p>
                      <a:r>
                        <a:rPr sz="915" b="1">
                          <a:solidFill>
                            <a:srgbClr val="176082"/>
                          </a:solidFill>
                          <a:latin typeface="Arial"/>
                          <a:ea typeface="Arial"/>
                          <a:cs typeface="Arial"/>
                        </a:rPr>
                        <a:t>Are prerequisites reactivated at dependence?</a:t>
                      </a:r>
                    </a:p>
                  </a:txBody>
                  <a:tcPr marL="95250" marR="95250" marT="66675" marB="66675" anchor="ctr">
                    <a:solidFill>
                      <a:srgbClr val="E6F0F5"/>
                    </a:solidFill>
                  </a:tcPr>
                </a:tc>
                <a:tc>
                  <a:txBody>
                    <a:bodyPr/>
                    <a:lstStyle/>
                    <a:p>
                      <a:r>
                        <a:rPr sz="915">
                          <a:solidFill>
                            <a:srgbClr val="33343F"/>
                          </a:solidFill>
                          <a:latin typeface="Arial"/>
                          <a:ea typeface="Arial"/>
                          <a:cs typeface="Arial"/>
                        </a:rPr>
                        <a:t>Earlier concepts are silently assumed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Connections are distant or inconsistent</a:t>
                      </a:r>
                    </a:p>
                  </a:txBody>
                  <a:tcPr marL="95250" marR="95250" marT="66675" marB="66675" anchor="ctr">
                    <a:solidFill>
                      <a:srgbClr val="FFFFFF"/>
                    </a:solidFill>
                  </a:tcPr>
                </a:tc>
                <a:tc>
                  <a:txBody>
                    <a:bodyPr/>
                    <a:lstStyle/>
                    <a:p>
                      <a:r>
                        <a:rPr sz="915">
                          <a:solidFill>
                            <a:srgbClr val="33343F"/>
                          </a:solidFill>
                          <a:latin typeface="Arial"/>
                          <a:ea typeface="Arial"/>
                          <a:cs typeface="Arial"/>
                        </a:rPr>
                        <a:t>Bridges and recall cues appear at key dependencies</a:t>
                      </a:r>
                    </a:p>
                  </a:txBody>
                  <a:tcPr marL="95250" marR="95250" marT="66675" marB="66675" anchor="ctr">
                    <a:solidFill>
                      <a:srgbClr val="FFFFFF"/>
                    </a:solidFill>
                  </a:tcPr>
                </a:tc>
                <a:tc>
                  <a:txBody>
                    <a:bodyPr/>
                    <a:lstStyle/>
                    <a:p>
                      <a:r>
                        <a:rPr sz="915">
                          <a:solidFill>
                            <a:srgbClr val="33343F"/>
                          </a:solidFill>
                          <a:latin typeface="Arial"/>
                          <a:ea typeface="Arial"/>
                          <a:cs typeface="Arial"/>
                        </a:rPr>
                        <a:t>Connections build a visible cumulative knowledge path</a:t>
                      </a:r>
                    </a:p>
                  </a:txBody>
                  <a:tcPr marL="95250" marR="95250" marT="66675" marB="66675" anchor="ctr">
                    <a:solidFill>
                      <a:srgbClr val="FFFFFF"/>
                    </a:solidFill>
                  </a:tcPr>
                </a:tc>
                <a:extLst>
                  <a:ext uri="{0D108BD9-81ED-4DB2-BD59-A6C34878D82A}">
                    <a16:rowId xmlns:a16="http://schemas.microsoft.com/office/drawing/2014/main" val="10001"/>
                  </a:ext>
                </a:extLst>
              </a:tr>
              <a:tr h="952500">
                <a:tc>
                  <a:txBody>
                    <a:bodyPr/>
                    <a:lstStyle/>
                    <a:p>
                      <a:r>
                        <a:rPr sz="915" b="1">
                          <a:solidFill>
                            <a:srgbClr val="176082"/>
                          </a:solidFill>
                          <a:latin typeface="Arial"/>
                          <a:ea typeface="Arial"/>
                          <a:cs typeface="Arial"/>
                        </a:rPr>
                        <a:t>6  Reader engagement</a:t>
                      </a:r>
                    </a:p>
                    <a:p>
                      <a:r>
                        <a:rPr sz="915" b="1">
                          <a:solidFill>
                            <a:srgbClr val="176082"/>
                          </a:solidFill>
                          <a:latin typeface="Arial"/>
                          <a:ea typeface="Arial"/>
                          <a:cs typeface="Arial"/>
                        </a:rPr>
                        <a:t>Can readers check or monitor understanding?</a:t>
                      </a:r>
                    </a:p>
                  </a:txBody>
                  <a:tcPr marL="95250" marR="95250" marT="66675" marB="66675" anchor="ctr">
                    <a:solidFill>
                      <a:srgbClr val="E6F0F5"/>
                    </a:solidFill>
                  </a:tcPr>
                </a:tc>
                <a:tc>
                  <a:txBody>
                    <a:bodyPr/>
                    <a:lstStyle/>
                    <a:p>
                      <a:r>
                        <a:rPr sz="915">
                          <a:solidFill>
                            <a:srgbClr val="33343F"/>
                          </a:solidFill>
                          <a:latin typeface="Arial"/>
                          <a:ea typeface="Arial"/>
                          <a:cs typeface="Arial"/>
                        </a:rPr>
                        <a:t>No usable self-check route</a:t>
                      </a:r>
                    </a:p>
                  </a:txBody>
                  <a:tcPr marL="95250" marR="95250" marT="66675" marB="66675" anchor="ctr">
                    <a:solidFill>
                      <a:srgbClr val="FFFFFF"/>
                    </a:solidFill>
                  </a:tcPr>
                </a:tc>
                <a:tc>
                  <a:txBody>
                    <a:bodyPr/>
                    <a:lstStyle/>
                    <a:p>
                      <a:r>
                        <a:rPr sz="915">
                          <a:solidFill>
                            <a:srgbClr val="33343F"/>
                          </a:solidFill>
                          <a:latin typeface="Arial"/>
                          <a:ea typeface="Arial"/>
                          <a:cs typeface="Arial"/>
                        </a:rPr>
                        <a:t>Prompts are generic or detached</a:t>
                      </a:r>
                    </a:p>
                  </a:txBody>
                  <a:tcPr marL="95250" marR="95250" marT="66675" marB="66675" anchor="ctr">
                    <a:solidFill>
                      <a:srgbClr val="FFFFFF"/>
                    </a:solidFill>
                  </a:tcPr>
                </a:tc>
                <a:tc>
                  <a:txBody>
                    <a:bodyPr/>
                    <a:lstStyle/>
                    <a:p>
                      <a:r>
                        <a:rPr sz="915">
                          <a:solidFill>
                            <a:srgbClr val="33343F"/>
                          </a:solidFill>
                          <a:latin typeface="Arial"/>
                          <a:ea typeface="Arial"/>
                          <a:cs typeface="Arial"/>
                        </a:rPr>
                        <a:t>Questions and checks match the learning point</a:t>
                      </a:r>
                    </a:p>
                  </a:txBody>
                  <a:tcPr marL="95250" marR="95250" marT="66675" marB="66675" anchor="ctr">
                    <a:solidFill>
                      <a:srgbClr val="FFFFFF"/>
                    </a:solidFill>
                  </a:tcPr>
                </a:tc>
                <a:tc>
                  <a:txBody>
                    <a:bodyPr/>
                    <a:lstStyle/>
                    <a:p>
                      <a:r>
                        <a:rPr sz="915">
                          <a:solidFill>
                            <a:srgbClr val="33343F"/>
                          </a:solidFill>
                          <a:latin typeface="Arial"/>
                          <a:ea typeface="Arial"/>
                          <a:cs typeface="Arial"/>
                        </a:rPr>
                        <a:t>Checks recur with feedback or worked reasoning</a:t>
                      </a:r>
                    </a:p>
                  </a:txBody>
                  <a:tcPr marL="95250" marR="95250" marT="66675" marB="66675" anchor="ctr">
                    <a:solidFill>
                      <a:srgbClr val="FFFFFF"/>
                    </a:solidFill>
                  </a:tcPr>
                </a:tc>
                <a:extLst>
                  <a:ext uri="{0D108BD9-81ED-4DB2-BD59-A6C34878D82A}">
                    <a16:rowId xmlns:a16="http://schemas.microsoft.com/office/drawing/2014/main" val="10002"/>
                  </a:ext>
                </a:extLst>
              </a:tr>
              <a:tr h="952500">
                <a:tc>
                  <a:txBody>
                    <a:bodyPr/>
                    <a:lstStyle/>
                    <a:p>
                      <a:r>
                        <a:rPr sz="915" b="1">
                          <a:solidFill>
                            <a:srgbClr val="176082"/>
                          </a:solidFill>
                          <a:latin typeface="Arial"/>
                          <a:ea typeface="Arial"/>
                          <a:cs typeface="Arial"/>
                        </a:rPr>
                        <a:t>7  Multimodal support</a:t>
                      </a:r>
                    </a:p>
                    <a:p>
                      <a:r>
                        <a:rPr sz="915" b="1">
                          <a:solidFill>
                            <a:srgbClr val="176082"/>
                          </a:solidFill>
                          <a:latin typeface="Arial"/>
                          <a:ea typeface="Arial"/>
                          <a:cs typeface="Arial"/>
                        </a:rPr>
                        <a:t>Do prose, visuals and notation explain one another?</a:t>
                      </a:r>
                    </a:p>
                  </a:txBody>
                  <a:tcPr marL="95250" marR="95250" marT="66675" marB="66675" anchor="ctr">
                    <a:solidFill>
                      <a:srgbClr val="E6F0F5"/>
                    </a:solidFill>
                  </a:tcPr>
                </a:tc>
                <a:tc>
                  <a:txBody>
                    <a:bodyPr/>
                    <a:lstStyle/>
                    <a:p>
                      <a:r>
                        <a:rPr sz="915">
                          <a:solidFill>
                            <a:srgbClr val="33343F"/>
                          </a:solidFill>
                          <a:latin typeface="Arial"/>
                          <a:ea typeface="Arial"/>
                          <a:cs typeface="Arial"/>
                        </a:rPr>
                        <a:t>Modes conflict or essential labels are missing</a:t>
                      </a:r>
                    </a:p>
                  </a:txBody>
                  <a:tcPr marL="95250" marR="95250" marT="66675" marB="66675" anchor="ctr">
                    <a:solidFill>
                      <a:srgbClr val="FFFFFF"/>
                    </a:solidFill>
                  </a:tcPr>
                </a:tc>
                <a:tc>
                  <a:txBody>
                    <a:bodyPr/>
                    <a:lstStyle/>
                    <a:p>
                      <a:r>
                        <a:rPr sz="915">
                          <a:solidFill>
                            <a:srgbClr val="33343F"/>
                          </a:solidFill>
                          <a:latin typeface="Arial"/>
                          <a:ea typeface="Arial"/>
                          <a:cs typeface="Arial"/>
                        </a:rPr>
                        <a:t>Visuals exist but links are weak</a:t>
                      </a:r>
                    </a:p>
                  </a:txBody>
                  <a:tcPr marL="95250" marR="95250" marT="66675" marB="66675" anchor="ctr">
                    <a:solidFill>
                      <a:srgbClr val="FFFFFF"/>
                    </a:solidFill>
                  </a:tcPr>
                </a:tc>
                <a:tc>
                  <a:txBody>
                    <a:bodyPr/>
                    <a:lstStyle/>
                    <a:p>
                      <a:r>
                        <a:rPr sz="915">
                          <a:solidFill>
                            <a:srgbClr val="33343F"/>
                          </a:solidFill>
                          <a:latin typeface="Arial"/>
                          <a:ea typeface="Arial"/>
                          <a:cs typeface="Arial"/>
                        </a:rPr>
                        <a:t>Labels and references support interpretation</a:t>
                      </a:r>
                    </a:p>
                  </a:txBody>
                  <a:tcPr marL="95250" marR="95250" marT="66675" marB="66675" anchor="ctr">
                    <a:solidFill>
                      <a:srgbClr val="FFFFFF"/>
                    </a:solidFill>
                  </a:tcPr>
                </a:tc>
                <a:tc>
                  <a:txBody>
                    <a:bodyPr/>
                    <a:lstStyle/>
                    <a:p>
                      <a:r>
                        <a:rPr sz="915">
                          <a:solidFill>
                            <a:srgbClr val="33343F"/>
                          </a:solidFill>
                          <a:latin typeface="Arial"/>
                          <a:ea typeface="Arial"/>
                          <a:cs typeface="Arial"/>
                        </a:rPr>
                        <a:t>Modes are deliberately sequenced and mutually explanatory</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7" name="Yuvarlatılmış Dikdörtgen 6">
            <a:extLst>
              <a:ext uri="{FF2B5EF4-FFF2-40B4-BE49-F238E27FC236}">
                <a16:creationId xmlns:a16="http://schemas.microsoft.com/office/drawing/2014/main" id="{A41AFDDE-E949-45A6-A95A-A6B41B32E368}"/>
              </a:ext>
            </a:extLst>
          </p:cNvPr>
          <p:cNvSpPr>
            <a:spLocks noGrp="1"/>
          </p:cNvSpPr>
          <p:nvPr/>
        </p:nvSpPr>
        <p:spPr>
          <a:xfrm>
            <a:off x="800100" y="5286375"/>
            <a:ext cx="10572750" cy="666750"/>
          </a:xfrm>
          <a:prstGeom prst="roundRect">
            <a:avLst>
              <a:gd name="adj" fmla="val 11429"/>
            </a:avLst>
          </a:prstGeom>
          <a:solidFill>
            <a:srgbClr val="123B53"/>
          </a:solidFill>
          <a:ln w="0">
            <a:noFill/>
          </a:ln>
        </p:spPr>
        <p:txBody>
          <a:bodyPr/>
          <a:lstStyle/>
          <a:p>
            <a:endParaRPr lang="tr-TR"/>
          </a:p>
        </p:txBody>
      </p:sp>
      <p:sp>
        <p:nvSpPr>
          <p:cNvPr id="8" name="Dikdörtgen 7">
            <a:extLst>
              <a:ext uri="{FF2B5EF4-FFF2-40B4-BE49-F238E27FC236}">
                <a16:creationId xmlns:a16="http://schemas.microsoft.com/office/drawing/2014/main" id="{D3FC9B36-E815-4EBE-A571-5A0C2530C85D}"/>
              </a:ext>
            </a:extLst>
          </p:cNvPr>
          <p:cNvSpPr>
            <a:spLocks noGrp="1"/>
          </p:cNvSpPr>
          <p:nvPr/>
        </p:nvSpPr>
        <p:spPr>
          <a:xfrm>
            <a:off x="1047750" y="5457825"/>
            <a:ext cx="1714500" cy="238125"/>
          </a:xfrm>
          <a:prstGeom prst="rect">
            <a:avLst/>
          </a:prstGeom>
          <a:noFill/>
          <a:ln w="0">
            <a:noFill/>
          </a:ln>
        </p:spPr>
        <p:txBody>
          <a:bodyPr anchor="t">
            <a:normAutofit fontScale="85556"/>
          </a:bodyPr>
          <a:lstStyle/>
          <a:p>
            <a:pPr algn="l">
              <a:defRPr sz="1125" b="1" i="0">
                <a:solidFill>
                  <a:srgbClr val="FFD45A"/>
                </a:solidFill>
                <a:latin typeface="Arial"/>
                <a:ea typeface="Arial"/>
                <a:cs typeface="Arial"/>
              </a:defRPr>
            </a:pPr>
            <a:r>
              <a:rPr sz="1125" b="1" i="0">
                <a:solidFill>
                  <a:srgbClr val="FFD45A"/>
                </a:solidFill>
                <a:latin typeface="Arial"/>
                <a:ea typeface="Arial"/>
                <a:cs typeface="Arial"/>
              </a:rPr>
              <a:t>Mandatory gates</a:t>
            </a:r>
          </a:p>
        </p:txBody>
      </p:sp>
      <p:sp>
        <p:nvSpPr>
          <p:cNvPr id="9" name="Dikdörtgen 8">
            <a:extLst>
              <a:ext uri="{FF2B5EF4-FFF2-40B4-BE49-F238E27FC236}">
                <a16:creationId xmlns:a16="http://schemas.microsoft.com/office/drawing/2014/main" id="{201CA9F6-F54D-4469-98C7-3B6F2429725E}"/>
              </a:ext>
            </a:extLst>
          </p:cNvPr>
          <p:cNvSpPr>
            <a:spLocks noGrp="1"/>
          </p:cNvSpPr>
          <p:nvPr/>
        </p:nvSpPr>
        <p:spPr>
          <a:xfrm>
            <a:off x="2857500" y="5391150"/>
            <a:ext cx="8191500" cy="400050"/>
          </a:xfrm>
          <a:prstGeom prst="rect">
            <a:avLst/>
          </a:prstGeom>
          <a:noFill/>
          <a:ln w="0">
            <a:noFill/>
          </a:ln>
        </p:spPr>
        <p:txBody>
          <a:bodyPr anchor="t">
            <a:normAutofit fontScale="84375"/>
          </a:bodyPr>
          <a:lstStyle/>
          <a:p>
            <a:pPr algn="ctr">
              <a:defRPr sz="1200" b="1" i="0">
                <a:solidFill>
                  <a:srgbClr val="FFFFFF"/>
                </a:solidFill>
                <a:latin typeface="Arial"/>
                <a:ea typeface="Arial"/>
                <a:cs typeface="Arial"/>
              </a:defRPr>
            </a:pPr>
            <a:r>
              <a:rPr sz="1200" b="1" i="0">
                <a:solidFill>
                  <a:srgbClr val="FFFFFF"/>
                </a:solidFill>
                <a:latin typeface="Arial"/>
                <a:ea typeface="Arial"/>
                <a:cs typeface="Arial"/>
              </a:rPr>
              <a:t>disciplinary accuracy · precision preserved · no native-speaker deficit assumption · fit with the course’s epistemic and multimodal practices</a:t>
            </a:r>
          </a:p>
        </p:txBody>
      </p:sp>
      <p:sp>
        <p:nvSpPr>
          <p:cNvPr id="10" name="Düz Bağlayıcı 9">
            <a:extLst>
              <a:ext uri="{FF2B5EF4-FFF2-40B4-BE49-F238E27FC236}">
                <a16:creationId xmlns:a16="http://schemas.microsoft.com/office/drawing/2014/main" id="{24956511-16C3-40B2-99B2-87F82CCE4641}"/>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11" name="Dikdörtgen 10">
            <a:extLst>
              <a:ext uri="{FF2B5EF4-FFF2-40B4-BE49-F238E27FC236}">
                <a16:creationId xmlns:a16="http://schemas.microsoft.com/office/drawing/2014/main" id="{770779F7-1CE6-4780-8063-A091E93D83B0}"/>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58769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4" name="Yuvarlatılmış Dikdörtgen 33">
            <a:extLst>
              <a:ext uri="{FF2B5EF4-FFF2-40B4-BE49-F238E27FC236}">
                <a16:creationId xmlns:a16="http://schemas.microsoft.com/office/drawing/2014/main" id="{9A92DB28-2AF3-44EB-8B01-636BA8243716}"/>
              </a:ext>
            </a:extLst>
          </p:cNvPr>
          <p:cNvSpPr>
            <a:spLocks noGrp="1"/>
          </p:cNvSpPr>
          <p:nvPr/>
        </p:nvSpPr>
        <p:spPr>
          <a:xfrm>
            <a:off x="685800" y="371475"/>
            <a:ext cx="66675" cy="171450"/>
          </a:xfrm>
          <a:prstGeom prst="roundRect">
            <a:avLst>
              <a:gd name="adj" fmla="val 50000"/>
            </a:avLst>
          </a:prstGeom>
          <a:solidFill>
            <a:srgbClr val="176082"/>
          </a:solidFill>
          <a:ln w="0">
            <a:noFill/>
          </a:ln>
        </p:spPr>
        <p:txBody>
          <a:bodyPr/>
          <a:lstStyle/>
          <a:p>
            <a:endParaRPr lang="tr-TR"/>
          </a:p>
        </p:txBody>
      </p:sp>
      <p:sp>
        <p:nvSpPr>
          <p:cNvPr id="2" name="Dikdörtgen 1">
            <a:extLst>
              <a:ext uri="{FF2B5EF4-FFF2-40B4-BE49-F238E27FC236}">
                <a16:creationId xmlns:a16="http://schemas.microsoft.com/office/drawing/2014/main" id="{5FD9DFF4-FE78-4008-8CDA-8ECB3D9E10E9}"/>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Dikdörtgen 2">
            <a:extLst>
              <a:ext uri="{FF2B5EF4-FFF2-40B4-BE49-F238E27FC236}">
                <a16:creationId xmlns:a16="http://schemas.microsoft.com/office/drawing/2014/main" id="{90BC0E35-764B-49B4-B68F-470E69B86283}"/>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Evidence tags and the coursebook decision rule</a:t>
            </a:r>
          </a:p>
        </p:txBody>
      </p:sp>
      <p:sp>
        <p:nvSpPr>
          <p:cNvPr id="4" name="Düz Bağlayıcı 3">
            <a:extLst>
              <a:ext uri="{FF2B5EF4-FFF2-40B4-BE49-F238E27FC236}">
                <a16:creationId xmlns:a16="http://schemas.microsoft.com/office/drawing/2014/main" id="{3DA9C42C-1757-4EBB-8E6C-479B26BE0438}"/>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1E418913-653A-4623-81F4-67C824F232F8}"/>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27</a:t>
            </a:r>
          </a:p>
        </p:txBody>
      </p:sp>
      <p:sp>
        <p:nvSpPr>
          <p:cNvPr id="6" name="Yuvarlatılmış Dikdörtgen 5">
            <a:extLst>
              <a:ext uri="{FF2B5EF4-FFF2-40B4-BE49-F238E27FC236}">
                <a16:creationId xmlns:a16="http://schemas.microsoft.com/office/drawing/2014/main" id="{B7BA5995-4932-42E0-BB37-E576539FC4FA}"/>
              </a:ext>
            </a:extLst>
          </p:cNvPr>
          <p:cNvSpPr>
            <a:spLocks noGrp="1"/>
          </p:cNvSpPr>
          <p:nvPr/>
        </p:nvSpPr>
        <p:spPr>
          <a:xfrm>
            <a:off x="742950" y="1685925"/>
            <a:ext cx="5048250" cy="685800"/>
          </a:xfrm>
          <a:prstGeom prst="roundRect">
            <a:avLst>
              <a:gd name="adj" fmla="val 11111"/>
            </a:avLst>
          </a:prstGeom>
          <a:solidFill>
            <a:srgbClr val="FFFFFF"/>
          </a:solidFill>
          <a:ln w="9525">
            <a:solidFill>
              <a:srgbClr val="C8C9D3"/>
            </a:solidFill>
          </a:ln>
        </p:spPr>
        <p:txBody>
          <a:bodyPr/>
          <a:lstStyle/>
          <a:p>
            <a:endParaRPr lang="tr-TR"/>
          </a:p>
        </p:txBody>
      </p:sp>
      <p:sp>
        <p:nvSpPr>
          <p:cNvPr id="7" name="Yuvarlatılmış Dikdörtgen 6">
            <a:extLst>
              <a:ext uri="{FF2B5EF4-FFF2-40B4-BE49-F238E27FC236}">
                <a16:creationId xmlns:a16="http://schemas.microsoft.com/office/drawing/2014/main" id="{E9E5D369-BA73-4125-883A-2E693621230C}"/>
              </a:ext>
            </a:extLst>
          </p:cNvPr>
          <p:cNvSpPr>
            <a:spLocks noGrp="1"/>
          </p:cNvSpPr>
          <p:nvPr/>
        </p:nvSpPr>
        <p:spPr>
          <a:xfrm>
            <a:off x="742950" y="1685925"/>
            <a:ext cx="714375" cy="685800"/>
          </a:xfrm>
          <a:prstGeom prst="roundRect">
            <a:avLst>
              <a:gd name="adj" fmla="val 11111"/>
            </a:avLst>
          </a:prstGeom>
          <a:solidFill>
            <a:srgbClr val="176082"/>
          </a:solidFill>
          <a:ln w="0">
            <a:noFill/>
          </a:ln>
        </p:spPr>
        <p:txBody>
          <a:bodyPr/>
          <a:lstStyle/>
          <a:p>
            <a:endParaRPr lang="tr-TR"/>
          </a:p>
        </p:txBody>
      </p:sp>
      <p:sp>
        <p:nvSpPr>
          <p:cNvPr id="8" name="Dikdörtgen 7">
            <a:extLst>
              <a:ext uri="{FF2B5EF4-FFF2-40B4-BE49-F238E27FC236}">
                <a16:creationId xmlns:a16="http://schemas.microsoft.com/office/drawing/2014/main" id="{328E42EC-AC14-43A2-8A01-EDD6324F95CA}"/>
              </a:ext>
            </a:extLst>
          </p:cNvPr>
          <p:cNvSpPr>
            <a:spLocks noGrp="1"/>
          </p:cNvSpPr>
          <p:nvPr/>
        </p:nvSpPr>
        <p:spPr>
          <a:xfrm>
            <a:off x="742950" y="1847850"/>
            <a:ext cx="714375" cy="333375"/>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T</a:t>
            </a:r>
          </a:p>
        </p:txBody>
      </p:sp>
      <p:sp>
        <p:nvSpPr>
          <p:cNvPr id="9" name="Dikdörtgen 8">
            <a:extLst>
              <a:ext uri="{FF2B5EF4-FFF2-40B4-BE49-F238E27FC236}">
                <a16:creationId xmlns:a16="http://schemas.microsoft.com/office/drawing/2014/main" id="{0DD48BDE-C8F3-4071-AC17-F32EEB42DD76}"/>
              </a:ext>
            </a:extLst>
          </p:cNvPr>
          <p:cNvSpPr>
            <a:spLocks noGrp="1"/>
          </p:cNvSpPr>
          <p:nvPr/>
        </p:nvSpPr>
        <p:spPr>
          <a:xfrm>
            <a:off x="1714500" y="1771650"/>
            <a:ext cx="1714500" cy="247650"/>
          </a:xfrm>
          <a:prstGeom prst="rect">
            <a:avLst/>
          </a:prstGeom>
          <a:noFill/>
          <a:ln w="0">
            <a:noFill/>
          </a:ln>
        </p:spPr>
        <p:txBody>
          <a:bodyPr anchor="t">
            <a:normAutofit fontScale="75926"/>
          </a:bodyPr>
          <a:lstStyle/>
          <a:p>
            <a:pPr algn="l">
              <a:defRPr sz="1350" b="1" i="0">
                <a:solidFill>
                  <a:srgbClr val="33343F"/>
                </a:solidFill>
                <a:latin typeface="Arial"/>
                <a:ea typeface="Arial"/>
                <a:cs typeface="Arial"/>
              </a:defRPr>
            </a:pPr>
            <a:r>
              <a:rPr sz="1350" b="1" i="0">
                <a:solidFill>
                  <a:srgbClr val="33343F"/>
                </a:solidFill>
                <a:latin typeface="Arial"/>
                <a:ea typeface="Arial"/>
                <a:cs typeface="Arial"/>
              </a:rPr>
              <a:t>Text only</a:t>
            </a:r>
          </a:p>
        </p:txBody>
      </p:sp>
      <p:sp>
        <p:nvSpPr>
          <p:cNvPr id="10" name="Dikdörtgen 9">
            <a:extLst>
              <a:ext uri="{FF2B5EF4-FFF2-40B4-BE49-F238E27FC236}">
                <a16:creationId xmlns:a16="http://schemas.microsoft.com/office/drawing/2014/main" id="{875EF507-3A4B-4A3A-8D15-A73B96FB117C}"/>
              </a:ext>
            </a:extLst>
          </p:cNvPr>
          <p:cNvSpPr>
            <a:spLocks noGrp="1"/>
          </p:cNvSpPr>
          <p:nvPr/>
        </p:nvSpPr>
        <p:spPr>
          <a:xfrm>
            <a:off x="3524250" y="1762125"/>
            <a:ext cx="2047875" cy="457200"/>
          </a:xfrm>
          <a:prstGeom prst="rect">
            <a:avLst/>
          </a:prstGeom>
          <a:noFill/>
          <a:ln w="0">
            <a:noFill/>
          </a:ln>
        </p:spPr>
        <p:txBody>
          <a:bodyPr anchor="t">
            <a:normAutofit/>
          </a:bodyPr>
          <a:lstStyle/>
          <a:p>
            <a:pPr algn="l">
              <a:defRPr sz="1125" b="0" i="0">
                <a:solidFill>
                  <a:srgbClr val="626777"/>
                </a:solidFill>
                <a:latin typeface="Arial"/>
                <a:ea typeface="Arial"/>
                <a:cs typeface="Arial"/>
              </a:defRPr>
            </a:pPr>
            <a:r>
              <a:rPr sz="1125" b="0" i="0">
                <a:solidFill>
                  <a:srgbClr val="626777"/>
                </a:solidFill>
                <a:latin typeface="Arial"/>
                <a:ea typeface="Arial"/>
                <a:cs typeface="Arial"/>
              </a:rPr>
              <a:t>Located feature with page and sampled denominator</a:t>
            </a:r>
          </a:p>
        </p:txBody>
      </p:sp>
      <p:sp>
        <p:nvSpPr>
          <p:cNvPr id="11" name="Yuvarlatılmış Dikdörtgen 10">
            <a:extLst>
              <a:ext uri="{FF2B5EF4-FFF2-40B4-BE49-F238E27FC236}">
                <a16:creationId xmlns:a16="http://schemas.microsoft.com/office/drawing/2014/main" id="{27806034-FBB4-42BF-97ED-5BFA740346F7}"/>
              </a:ext>
            </a:extLst>
          </p:cNvPr>
          <p:cNvSpPr>
            <a:spLocks noGrp="1"/>
          </p:cNvSpPr>
          <p:nvPr/>
        </p:nvSpPr>
        <p:spPr>
          <a:xfrm>
            <a:off x="742950" y="2581275"/>
            <a:ext cx="5048250" cy="685800"/>
          </a:xfrm>
          <a:prstGeom prst="roundRect">
            <a:avLst>
              <a:gd name="adj" fmla="val 11111"/>
            </a:avLst>
          </a:prstGeom>
          <a:solidFill>
            <a:srgbClr val="FFFFFF"/>
          </a:solidFill>
          <a:ln w="9525">
            <a:solidFill>
              <a:srgbClr val="C8C9D3"/>
            </a:solidFill>
          </a:ln>
        </p:spPr>
        <p:txBody>
          <a:bodyPr/>
          <a:lstStyle/>
          <a:p>
            <a:endParaRPr lang="tr-TR"/>
          </a:p>
        </p:txBody>
      </p:sp>
      <p:sp>
        <p:nvSpPr>
          <p:cNvPr id="12" name="Yuvarlatılmış Dikdörtgen 11">
            <a:extLst>
              <a:ext uri="{FF2B5EF4-FFF2-40B4-BE49-F238E27FC236}">
                <a16:creationId xmlns:a16="http://schemas.microsoft.com/office/drawing/2014/main" id="{EC8BB04A-43E0-4DFC-8F4B-178330BD4C3F}"/>
              </a:ext>
            </a:extLst>
          </p:cNvPr>
          <p:cNvSpPr>
            <a:spLocks noGrp="1"/>
          </p:cNvSpPr>
          <p:nvPr/>
        </p:nvSpPr>
        <p:spPr>
          <a:xfrm>
            <a:off x="742950" y="2581275"/>
            <a:ext cx="714375" cy="685800"/>
          </a:xfrm>
          <a:prstGeom prst="roundRect">
            <a:avLst>
              <a:gd name="adj" fmla="val 11111"/>
            </a:avLst>
          </a:prstGeom>
          <a:solidFill>
            <a:srgbClr val="176082"/>
          </a:solidFill>
          <a:ln w="0">
            <a:noFill/>
          </a:ln>
        </p:spPr>
        <p:txBody>
          <a:bodyPr/>
          <a:lstStyle/>
          <a:p>
            <a:endParaRPr lang="tr-TR"/>
          </a:p>
        </p:txBody>
      </p:sp>
      <p:sp>
        <p:nvSpPr>
          <p:cNvPr id="13" name="Dikdörtgen 12">
            <a:extLst>
              <a:ext uri="{FF2B5EF4-FFF2-40B4-BE49-F238E27FC236}">
                <a16:creationId xmlns:a16="http://schemas.microsoft.com/office/drawing/2014/main" id="{797950B4-7F3C-40EA-ACDA-CEDD5C10B198}"/>
              </a:ext>
            </a:extLst>
          </p:cNvPr>
          <p:cNvSpPr>
            <a:spLocks noGrp="1"/>
          </p:cNvSpPr>
          <p:nvPr/>
        </p:nvSpPr>
        <p:spPr>
          <a:xfrm>
            <a:off x="742950" y="2743200"/>
            <a:ext cx="714375" cy="333375"/>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TP</a:t>
            </a:r>
          </a:p>
        </p:txBody>
      </p:sp>
      <p:sp>
        <p:nvSpPr>
          <p:cNvPr id="14" name="Dikdörtgen 13">
            <a:extLst>
              <a:ext uri="{FF2B5EF4-FFF2-40B4-BE49-F238E27FC236}">
                <a16:creationId xmlns:a16="http://schemas.microsoft.com/office/drawing/2014/main" id="{7350421B-7392-4EBF-8C5D-98AE9F815C5A}"/>
              </a:ext>
            </a:extLst>
          </p:cNvPr>
          <p:cNvSpPr>
            <a:spLocks noGrp="1"/>
          </p:cNvSpPr>
          <p:nvPr/>
        </p:nvSpPr>
        <p:spPr>
          <a:xfrm>
            <a:off x="1714500" y="2667000"/>
            <a:ext cx="1714500" cy="247650"/>
          </a:xfrm>
          <a:prstGeom prst="rect">
            <a:avLst/>
          </a:prstGeom>
          <a:noFill/>
          <a:ln w="0">
            <a:noFill/>
          </a:ln>
        </p:spPr>
        <p:txBody>
          <a:bodyPr anchor="t">
            <a:normAutofit fontScale="75926"/>
          </a:bodyPr>
          <a:lstStyle/>
          <a:p>
            <a:pPr algn="l">
              <a:defRPr sz="1350" b="1" i="0">
                <a:solidFill>
                  <a:srgbClr val="33343F"/>
                </a:solidFill>
                <a:latin typeface="Arial"/>
                <a:ea typeface="Arial"/>
                <a:cs typeface="Arial"/>
              </a:defRPr>
            </a:pPr>
            <a:r>
              <a:rPr sz="1350" b="1" i="0">
                <a:solidFill>
                  <a:srgbClr val="33343F"/>
                </a:solidFill>
                <a:latin typeface="Arial"/>
                <a:ea typeface="Arial"/>
                <a:cs typeface="Arial"/>
              </a:rPr>
              <a:t>Text + perception</a:t>
            </a:r>
          </a:p>
        </p:txBody>
      </p:sp>
      <p:sp>
        <p:nvSpPr>
          <p:cNvPr id="15" name="Dikdörtgen 14">
            <a:extLst>
              <a:ext uri="{FF2B5EF4-FFF2-40B4-BE49-F238E27FC236}">
                <a16:creationId xmlns:a16="http://schemas.microsoft.com/office/drawing/2014/main" id="{94E36BDB-A28F-4143-95BD-8E39BCA9C73E}"/>
              </a:ext>
            </a:extLst>
          </p:cNvPr>
          <p:cNvSpPr>
            <a:spLocks noGrp="1"/>
          </p:cNvSpPr>
          <p:nvPr/>
        </p:nvSpPr>
        <p:spPr>
          <a:xfrm>
            <a:off x="3524250" y="2657475"/>
            <a:ext cx="2047875" cy="457200"/>
          </a:xfrm>
          <a:prstGeom prst="rect">
            <a:avLst/>
          </a:prstGeom>
          <a:noFill/>
          <a:ln w="0">
            <a:noFill/>
          </a:ln>
        </p:spPr>
        <p:txBody>
          <a:bodyPr anchor="t">
            <a:normAutofit/>
          </a:bodyPr>
          <a:lstStyle/>
          <a:p>
            <a:pPr algn="l">
              <a:defRPr sz="1125" b="0" i="0">
                <a:solidFill>
                  <a:srgbClr val="626777"/>
                </a:solidFill>
                <a:latin typeface="Arial"/>
                <a:ea typeface="Arial"/>
                <a:cs typeface="Arial"/>
              </a:defRPr>
            </a:pPr>
            <a:r>
              <a:rPr sz="1125" b="0" i="0">
                <a:solidFill>
                  <a:srgbClr val="626777"/>
                </a:solidFill>
                <a:latin typeface="Arial"/>
                <a:ea typeface="Arial"/>
                <a:cs typeface="Arial"/>
              </a:rPr>
              <a:t>Feature linked to student accounts</a:t>
            </a:r>
          </a:p>
        </p:txBody>
      </p:sp>
      <p:sp>
        <p:nvSpPr>
          <p:cNvPr id="16" name="Yuvarlatılmış Dikdörtgen 15">
            <a:extLst>
              <a:ext uri="{FF2B5EF4-FFF2-40B4-BE49-F238E27FC236}">
                <a16:creationId xmlns:a16="http://schemas.microsoft.com/office/drawing/2014/main" id="{28B893CE-445B-4587-B5EF-02E66036C04A}"/>
              </a:ext>
            </a:extLst>
          </p:cNvPr>
          <p:cNvSpPr>
            <a:spLocks noGrp="1"/>
          </p:cNvSpPr>
          <p:nvPr/>
        </p:nvSpPr>
        <p:spPr>
          <a:xfrm>
            <a:off x="742950" y="3476625"/>
            <a:ext cx="5048250" cy="685800"/>
          </a:xfrm>
          <a:prstGeom prst="roundRect">
            <a:avLst>
              <a:gd name="adj" fmla="val 11111"/>
            </a:avLst>
          </a:prstGeom>
          <a:solidFill>
            <a:srgbClr val="FFFFFF"/>
          </a:solidFill>
          <a:ln w="9525">
            <a:solidFill>
              <a:srgbClr val="C8C9D3"/>
            </a:solidFill>
          </a:ln>
        </p:spPr>
        <p:txBody>
          <a:bodyPr/>
          <a:lstStyle/>
          <a:p>
            <a:endParaRPr lang="tr-TR"/>
          </a:p>
        </p:txBody>
      </p:sp>
      <p:sp>
        <p:nvSpPr>
          <p:cNvPr id="17" name="Yuvarlatılmış Dikdörtgen 16">
            <a:extLst>
              <a:ext uri="{FF2B5EF4-FFF2-40B4-BE49-F238E27FC236}">
                <a16:creationId xmlns:a16="http://schemas.microsoft.com/office/drawing/2014/main" id="{D84109B7-F324-4A92-9863-158E22FFECB3}"/>
              </a:ext>
            </a:extLst>
          </p:cNvPr>
          <p:cNvSpPr>
            <a:spLocks noGrp="1"/>
          </p:cNvSpPr>
          <p:nvPr/>
        </p:nvSpPr>
        <p:spPr>
          <a:xfrm>
            <a:off x="742950" y="3476625"/>
            <a:ext cx="714375" cy="685800"/>
          </a:xfrm>
          <a:prstGeom prst="roundRect">
            <a:avLst>
              <a:gd name="adj" fmla="val 11111"/>
            </a:avLst>
          </a:prstGeom>
          <a:solidFill>
            <a:srgbClr val="123B53"/>
          </a:solidFill>
          <a:ln w="0">
            <a:noFill/>
          </a:ln>
        </p:spPr>
        <p:txBody>
          <a:bodyPr/>
          <a:lstStyle/>
          <a:p>
            <a:endParaRPr lang="tr-TR"/>
          </a:p>
        </p:txBody>
      </p:sp>
      <p:sp>
        <p:nvSpPr>
          <p:cNvPr id="18" name="Dikdörtgen 17">
            <a:extLst>
              <a:ext uri="{FF2B5EF4-FFF2-40B4-BE49-F238E27FC236}">
                <a16:creationId xmlns:a16="http://schemas.microsoft.com/office/drawing/2014/main" id="{A5C90E38-4EF0-42D8-956C-BB7A22809285}"/>
              </a:ext>
            </a:extLst>
          </p:cNvPr>
          <p:cNvSpPr>
            <a:spLocks noGrp="1"/>
          </p:cNvSpPr>
          <p:nvPr/>
        </p:nvSpPr>
        <p:spPr>
          <a:xfrm>
            <a:off x="742950" y="3638550"/>
            <a:ext cx="714375" cy="333375"/>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TPC</a:t>
            </a:r>
          </a:p>
        </p:txBody>
      </p:sp>
      <p:sp>
        <p:nvSpPr>
          <p:cNvPr id="19" name="Dikdörtgen 18">
            <a:extLst>
              <a:ext uri="{FF2B5EF4-FFF2-40B4-BE49-F238E27FC236}">
                <a16:creationId xmlns:a16="http://schemas.microsoft.com/office/drawing/2014/main" id="{3656981B-257A-4B43-B08C-3ABE456C2363}"/>
              </a:ext>
            </a:extLst>
          </p:cNvPr>
          <p:cNvSpPr>
            <a:spLocks noGrp="1"/>
          </p:cNvSpPr>
          <p:nvPr/>
        </p:nvSpPr>
        <p:spPr>
          <a:xfrm>
            <a:off x="1714500" y="3562350"/>
            <a:ext cx="1714500" cy="247650"/>
          </a:xfrm>
          <a:prstGeom prst="rect">
            <a:avLst/>
          </a:prstGeom>
          <a:noFill/>
          <a:ln w="0">
            <a:noFill/>
          </a:ln>
        </p:spPr>
        <p:txBody>
          <a:bodyPr anchor="t">
            <a:normAutofit fontScale="53131"/>
          </a:bodyPr>
          <a:lstStyle/>
          <a:p>
            <a:pPr algn="l">
              <a:defRPr sz="1350" b="1" i="0">
                <a:solidFill>
                  <a:srgbClr val="33343F"/>
                </a:solidFill>
                <a:latin typeface="Arial"/>
                <a:ea typeface="Arial"/>
                <a:cs typeface="Arial"/>
              </a:defRPr>
            </a:pPr>
            <a:r>
              <a:rPr sz="1350" b="1" i="0">
                <a:solidFill>
                  <a:srgbClr val="33343F"/>
                </a:solidFill>
                <a:latin typeface="Arial"/>
                <a:ea typeface="Arial"/>
                <a:cs typeface="Arial"/>
              </a:rPr>
              <a:t>Text + perception + comprehension</a:t>
            </a:r>
          </a:p>
        </p:txBody>
      </p:sp>
      <p:sp>
        <p:nvSpPr>
          <p:cNvPr id="20" name="Dikdörtgen 19">
            <a:extLst>
              <a:ext uri="{FF2B5EF4-FFF2-40B4-BE49-F238E27FC236}">
                <a16:creationId xmlns:a16="http://schemas.microsoft.com/office/drawing/2014/main" id="{158DC6F8-40F6-40B1-8F0E-8106F9301761}"/>
              </a:ext>
            </a:extLst>
          </p:cNvPr>
          <p:cNvSpPr>
            <a:spLocks noGrp="1"/>
          </p:cNvSpPr>
          <p:nvPr/>
        </p:nvSpPr>
        <p:spPr>
          <a:xfrm>
            <a:off x="3524250" y="3552825"/>
            <a:ext cx="2047875" cy="457200"/>
          </a:xfrm>
          <a:prstGeom prst="rect">
            <a:avLst/>
          </a:prstGeom>
          <a:noFill/>
          <a:ln w="0">
            <a:noFill/>
          </a:ln>
        </p:spPr>
        <p:txBody>
          <a:bodyPr anchor="t">
            <a:normAutofit/>
          </a:bodyPr>
          <a:lstStyle/>
          <a:p>
            <a:pPr algn="l">
              <a:defRPr sz="1125" b="0" i="0">
                <a:solidFill>
                  <a:srgbClr val="626777"/>
                </a:solidFill>
                <a:latin typeface="Arial"/>
                <a:ea typeface="Arial"/>
                <a:cs typeface="Arial"/>
              </a:defRPr>
            </a:pPr>
            <a:r>
              <a:rPr sz="1125" b="0" i="0">
                <a:solidFill>
                  <a:srgbClr val="626777"/>
                </a:solidFill>
                <a:latin typeface="Arial"/>
                <a:ea typeface="Arial"/>
                <a:cs typeface="Arial"/>
              </a:rPr>
              <a:t>Feature also supported by outcome evidence</a:t>
            </a:r>
          </a:p>
        </p:txBody>
      </p:sp>
      <p:sp>
        <p:nvSpPr>
          <p:cNvPr id="21" name="Yuvarlatılmış Dikdörtgen 20">
            <a:extLst>
              <a:ext uri="{FF2B5EF4-FFF2-40B4-BE49-F238E27FC236}">
                <a16:creationId xmlns:a16="http://schemas.microsoft.com/office/drawing/2014/main" id="{65AF0112-23CE-4437-A8D9-FC54B4E21BC1}"/>
              </a:ext>
            </a:extLst>
          </p:cNvPr>
          <p:cNvSpPr>
            <a:spLocks noGrp="1"/>
          </p:cNvSpPr>
          <p:nvPr/>
        </p:nvSpPr>
        <p:spPr>
          <a:xfrm>
            <a:off x="6477000" y="1685925"/>
            <a:ext cx="4905375" cy="895350"/>
          </a:xfrm>
          <a:prstGeom prst="roundRect">
            <a:avLst>
              <a:gd name="adj" fmla="val 8511"/>
            </a:avLst>
          </a:prstGeom>
          <a:solidFill>
            <a:srgbClr val="E6F0F5"/>
          </a:solidFill>
          <a:ln w="9525">
            <a:solidFill>
              <a:srgbClr val="C8C9D3"/>
            </a:solidFill>
          </a:ln>
        </p:spPr>
        <p:txBody>
          <a:bodyPr/>
          <a:lstStyle/>
          <a:p>
            <a:endParaRPr lang="tr-TR"/>
          </a:p>
        </p:txBody>
      </p:sp>
      <p:sp>
        <p:nvSpPr>
          <p:cNvPr id="22" name="Dikdörtgen 21">
            <a:extLst>
              <a:ext uri="{FF2B5EF4-FFF2-40B4-BE49-F238E27FC236}">
                <a16:creationId xmlns:a16="http://schemas.microsoft.com/office/drawing/2014/main" id="{D58C6B7C-6FAB-4AA2-BAC5-739A1AADC8C9}"/>
              </a:ext>
            </a:extLst>
          </p:cNvPr>
          <p:cNvSpPr>
            <a:spLocks noGrp="1"/>
          </p:cNvSpPr>
          <p:nvPr/>
        </p:nvSpPr>
        <p:spPr>
          <a:xfrm>
            <a:off x="6762750" y="1819275"/>
            <a:ext cx="2286000" cy="257175"/>
          </a:xfrm>
          <a:prstGeom prst="rect">
            <a:avLst/>
          </a:prstGeom>
          <a:noFill/>
          <a:ln w="0">
            <a:noFill/>
          </a:ln>
        </p:spPr>
        <p:txBody>
          <a:bodyPr anchor="ctr">
            <a:normAutofit/>
          </a:bodyPr>
          <a:lstStyle/>
          <a:p>
            <a:pPr algn="l">
              <a:defRPr sz="975" b="1" i="0">
                <a:solidFill>
                  <a:srgbClr val="176082"/>
                </a:solidFill>
                <a:latin typeface="Arial"/>
                <a:ea typeface="Arial"/>
                <a:cs typeface="Arial"/>
              </a:defRPr>
            </a:pPr>
            <a:r>
              <a:rPr sz="975" b="1" i="0">
                <a:solidFill>
                  <a:srgbClr val="176082"/>
                </a:solidFill>
                <a:latin typeface="Arial"/>
                <a:ea typeface="Arial"/>
                <a:cs typeface="Arial"/>
              </a:rPr>
              <a:t>CHOOSE</a:t>
            </a:r>
          </a:p>
        </p:txBody>
      </p:sp>
      <p:sp>
        <p:nvSpPr>
          <p:cNvPr id="23" name="Dikdörtgen 22">
            <a:extLst>
              <a:ext uri="{FF2B5EF4-FFF2-40B4-BE49-F238E27FC236}">
                <a16:creationId xmlns:a16="http://schemas.microsoft.com/office/drawing/2014/main" id="{A4C29A4B-DAAA-4C1A-872F-8ACE721A06FB}"/>
              </a:ext>
            </a:extLst>
          </p:cNvPr>
          <p:cNvSpPr>
            <a:spLocks noGrp="1"/>
          </p:cNvSpPr>
          <p:nvPr/>
        </p:nvSpPr>
        <p:spPr>
          <a:xfrm>
            <a:off x="6762750" y="2133600"/>
            <a:ext cx="4286250" cy="361950"/>
          </a:xfrm>
          <a:prstGeom prst="rect">
            <a:avLst/>
          </a:prstGeom>
          <a:noFill/>
          <a:ln w="0">
            <a:noFill/>
          </a:ln>
        </p:spPr>
        <p:txBody>
          <a:bodyPr anchor="t">
            <a:normAutofit/>
          </a:bodyPr>
          <a:lstStyle/>
          <a:p>
            <a:pPr algn="l">
              <a:defRPr sz="1200" b="1" i="0">
                <a:solidFill>
                  <a:srgbClr val="33343F"/>
                </a:solidFill>
                <a:latin typeface="Arial"/>
                <a:ea typeface="Arial"/>
                <a:cs typeface="Arial"/>
              </a:defRPr>
            </a:pPr>
            <a:r>
              <a:rPr sz="1200" b="1" i="0">
                <a:solidFill>
                  <a:srgbClr val="33343F"/>
                </a:solidFill>
                <a:latin typeface="Arial"/>
                <a:ea typeface="Arial"/>
                <a:cs typeface="Arial"/>
              </a:rPr>
              <a:t>Every essential dimension ≥2 and all gates pass</a:t>
            </a:r>
          </a:p>
        </p:txBody>
      </p:sp>
      <p:sp>
        <p:nvSpPr>
          <p:cNvPr id="24" name="Yuvarlatılmış Dikdörtgen 23">
            <a:extLst>
              <a:ext uri="{FF2B5EF4-FFF2-40B4-BE49-F238E27FC236}">
                <a16:creationId xmlns:a16="http://schemas.microsoft.com/office/drawing/2014/main" id="{EB7F1750-CE92-417C-8513-35D4BD77CCD4}"/>
              </a:ext>
            </a:extLst>
          </p:cNvPr>
          <p:cNvSpPr>
            <a:spLocks noGrp="1"/>
          </p:cNvSpPr>
          <p:nvPr/>
        </p:nvSpPr>
        <p:spPr>
          <a:xfrm>
            <a:off x="6477000" y="2790825"/>
            <a:ext cx="4905375" cy="895350"/>
          </a:xfrm>
          <a:prstGeom prst="roundRect">
            <a:avLst>
              <a:gd name="adj" fmla="val 8511"/>
            </a:avLst>
          </a:prstGeom>
          <a:solidFill>
            <a:srgbClr val="FFFFFF"/>
          </a:solidFill>
          <a:ln w="9525">
            <a:solidFill>
              <a:srgbClr val="C8C9D3"/>
            </a:solidFill>
          </a:ln>
        </p:spPr>
        <p:txBody>
          <a:bodyPr/>
          <a:lstStyle/>
          <a:p>
            <a:endParaRPr lang="tr-TR"/>
          </a:p>
        </p:txBody>
      </p:sp>
      <p:sp>
        <p:nvSpPr>
          <p:cNvPr id="25" name="Dikdörtgen 24">
            <a:extLst>
              <a:ext uri="{FF2B5EF4-FFF2-40B4-BE49-F238E27FC236}">
                <a16:creationId xmlns:a16="http://schemas.microsoft.com/office/drawing/2014/main" id="{EAF2B6DA-1EFF-4426-98A8-767441A0082B}"/>
              </a:ext>
            </a:extLst>
          </p:cNvPr>
          <p:cNvSpPr>
            <a:spLocks noGrp="1"/>
          </p:cNvSpPr>
          <p:nvPr/>
        </p:nvSpPr>
        <p:spPr>
          <a:xfrm>
            <a:off x="6762750" y="2924175"/>
            <a:ext cx="2286000" cy="257175"/>
          </a:xfrm>
          <a:prstGeom prst="rect">
            <a:avLst/>
          </a:prstGeom>
          <a:noFill/>
          <a:ln w="0">
            <a:noFill/>
          </a:ln>
        </p:spPr>
        <p:txBody>
          <a:bodyPr anchor="ctr">
            <a:normAutofit/>
          </a:bodyPr>
          <a:lstStyle/>
          <a:p>
            <a:pPr algn="l">
              <a:defRPr sz="975" b="1" i="0">
                <a:solidFill>
                  <a:srgbClr val="D58C00"/>
                </a:solidFill>
                <a:latin typeface="Arial"/>
                <a:ea typeface="Arial"/>
                <a:cs typeface="Arial"/>
              </a:defRPr>
            </a:pPr>
            <a:r>
              <a:rPr sz="975" b="1" i="0">
                <a:solidFill>
                  <a:srgbClr val="D58C00"/>
                </a:solidFill>
                <a:latin typeface="Arial"/>
                <a:ea typeface="Arial"/>
                <a:cs typeface="Arial"/>
              </a:rPr>
              <a:t>CHOOSE + SUPPLEMENT</a:t>
            </a:r>
          </a:p>
        </p:txBody>
      </p:sp>
      <p:sp>
        <p:nvSpPr>
          <p:cNvPr id="26" name="Dikdörtgen 25">
            <a:extLst>
              <a:ext uri="{FF2B5EF4-FFF2-40B4-BE49-F238E27FC236}">
                <a16:creationId xmlns:a16="http://schemas.microsoft.com/office/drawing/2014/main" id="{E62847CF-1764-47EE-B076-264D2501C0FB}"/>
              </a:ext>
            </a:extLst>
          </p:cNvPr>
          <p:cNvSpPr>
            <a:spLocks noGrp="1"/>
          </p:cNvSpPr>
          <p:nvPr/>
        </p:nvSpPr>
        <p:spPr>
          <a:xfrm>
            <a:off x="6762750" y="3238500"/>
            <a:ext cx="4286250" cy="361950"/>
          </a:xfrm>
          <a:prstGeom prst="rect">
            <a:avLst/>
          </a:prstGeom>
          <a:noFill/>
          <a:ln w="0">
            <a:noFill/>
          </a:ln>
        </p:spPr>
        <p:txBody>
          <a:bodyPr anchor="t">
            <a:normAutofit fontScale="86116"/>
          </a:bodyPr>
          <a:lstStyle/>
          <a:p>
            <a:pPr algn="l">
              <a:defRPr sz="1200" b="1" i="0">
                <a:solidFill>
                  <a:srgbClr val="33343F"/>
                </a:solidFill>
                <a:latin typeface="Arial"/>
                <a:ea typeface="Arial"/>
                <a:cs typeface="Arial"/>
              </a:defRPr>
            </a:pPr>
            <a:r>
              <a:rPr sz="1200" b="1" i="0">
                <a:solidFill>
                  <a:srgbClr val="33343F"/>
                </a:solidFill>
                <a:latin typeface="Arial"/>
                <a:ea typeface="Arial"/>
                <a:cs typeface="Arial"/>
              </a:rPr>
              <a:t>One essential dimension =1 and the gap can be covered explicitly</a:t>
            </a:r>
          </a:p>
        </p:txBody>
      </p:sp>
      <p:sp>
        <p:nvSpPr>
          <p:cNvPr id="27" name="Yuvarlatılmış Dikdörtgen 26">
            <a:extLst>
              <a:ext uri="{FF2B5EF4-FFF2-40B4-BE49-F238E27FC236}">
                <a16:creationId xmlns:a16="http://schemas.microsoft.com/office/drawing/2014/main" id="{1543C1AA-E4C2-4BF6-A072-DF80C98A1FDA}"/>
              </a:ext>
            </a:extLst>
          </p:cNvPr>
          <p:cNvSpPr>
            <a:spLocks noGrp="1"/>
          </p:cNvSpPr>
          <p:nvPr/>
        </p:nvSpPr>
        <p:spPr>
          <a:xfrm>
            <a:off x="6477000" y="3895725"/>
            <a:ext cx="4905375" cy="895350"/>
          </a:xfrm>
          <a:prstGeom prst="roundRect">
            <a:avLst>
              <a:gd name="adj" fmla="val 8511"/>
            </a:avLst>
          </a:prstGeom>
          <a:solidFill>
            <a:srgbClr val="FFFFFF"/>
          </a:solidFill>
          <a:ln w="9525">
            <a:solidFill>
              <a:srgbClr val="C8C9D3"/>
            </a:solidFill>
          </a:ln>
        </p:spPr>
        <p:txBody>
          <a:bodyPr/>
          <a:lstStyle/>
          <a:p>
            <a:endParaRPr lang="tr-TR"/>
          </a:p>
        </p:txBody>
      </p:sp>
      <p:sp>
        <p:nvSpPr>
          <p:cNvPr id="28" name="Dikdörtgen 27">
            <a:extLst>
              <a:ext uri="{FF2B5EF4-FFF2-40B4-BE49-F238E27FC236}">
                <a16:creationId xmlns:a16="http://schemas.microsoft.com/office/drawing/2014/main" id="{EE674D7E-0401-4689-AFEC-5D78015598CE}"/>
              </a:ext>
            </a:extLst>
          </p:cNvPr>
          <p:cNvSpPr>
            <a:spLocks noGrp="1"/>
          </p:cNvSpPr>
          <p:nvPr/>
        </p:nvSpPr>
        <p:spPr>
          <a:xfrm>
            <a:off x="6762750" y="4029075"/>
            <a:ext cx="2286000" cy="257175"/>
          </a:xfrm>
          <a:prstGeom prst="rect">
            <a:avLst/>
          </a:prstGeom>
          <a:noFill/>
          <a:ln w="0">
            <a:noFill/>
          </a:ln>
        </p:spPr>
        <p:txBody>
          <a:bodyPr anchor="ctr">
            <a:normAutofit/>
          </a:bodyPr>
          <a:lstStyle/>
          <a:p>
            <a:pPr algn="l">
              <a:defRPr sz="975" b="1" i="0">
                <a:solidFill>
                  <a:srgbClr val="B94D35"/>
                </a:solidFill>
                <a:latin typeface="Arial"/>
                <a:ea typeface="Arial"/>
                <a:cs typeface="Arial"/>
              </a:defRPr>
            </a:pPr>
            <a:r>
              <a:rPr sz="975" b="1" i="0">
                <a:solidFill>
                  <a:srgbClr val="B94D35"/>
                </a:solidFill>
                <a:latin typeface="Arial"/>
                <a:ea typeface="Arial"/>
                <a:cs typeface="Arial"/>
              </a:rPr>
              <a:t>RECONSIDER</a:t>
            </a:r>
          </a:p>
        </p:txBody>
      </p:sp>
      <p:sp>
        <p:nvSpPr>
          <p:cNvPr id="29" name="Dikdörtgen 28">
            <a:extLst>
              <a:ext uri="{FF2B5EF4-FFF2-40B4-BE49-F238E27FC236}">
                <a16:creationId xmlns:a16="http://schemas.microsoft.com/office/drawing/2014/main" id="{AA713D5B-621F-4342-9690-AB80EDA9C0F2}"/>
              </a:ext>
            </a:extLst>
          </p:cNvPr>
          <p:cNvSpPr>
            <a:spLocks noGrp="1"/>
          </p:cNvSpPr>
          <p:nvPr/>
        </p:nvSpPr>
        <p:spPr>
          <a:xfrm>
            <a:off x="6762750" y="4343400"/>
            <a:ext cx="4286250" cy="361950"/>
          </a:xfrm>
          <a:prstGeom prst="rect">
            <a:avLst/>
          </a:prstGeom>
          <a:noFill/>
          <a:ln w="0">
            <a:noFill/>
          </a:ln>
        </p:spPr>
        <p:txBody>
          <a:bodyPr anchor="t">
            <a:normAutofit fontScale="73958"/>
          </a:bodyPr>
          <a:lstStyle/>
          <a:p>
            <a:pPr algn="l">
              <a:defRPr sz="1200" b="1" i="0">
                <a:solidFill>
                  <a:srgbClr val="33343F"/>
                </a:solidFill>
                <a:latin typeface="Arial"/>
                <a:ea typeface="Arial"/>
                <a:cs typeface="Arial"/>
              </a:defRPr>
            </a:pPr>
            <a:r>
              <a:rPr sz="1200" b="1" i="0">
                <a:solidFill>
                  <a:srgbClr val="33343F"/>
                </a:solidFill>
                <a:latin typeface="Arial"/>
                <a:ea typeface="Arial"/>
                <a:cs typeface="Arial"/>
              </a:rPr>
              <a:t>Any essential dimension =0, repeated placement failure, or an accuracy gate fails</a:t>
            </a:r>
          </a:p>
        </p:txBody>
      </p:sp>
      <p:sp>
        <p:nvSpPr>
          <p:cNvPr id="30" name="Yuvarlatılmış Dikdörtgen 29">
            <a:extLst>
              <a:ext uri="{FF2B5EF4-FFF2-40B4-BE49-F238E27FC236}">
                <a16:creationId xmlns:a16="http://schemas.microsoft.com/office/drawing/2014/main" id="{56312822-1255-4EA1-9846-7E8C12153244}"/>
              </a:ext>
            </a:extLst>
          </p:cNvPr>
          <p:cNvSpPr>
            <a:spLocks noGrp="1"/>
          </p:cNvSpPr>
          <p:nvPr/>
        </p:nvSpPr>
        <p:spPr>
          <a:xfrm>
            <a:off x="1000125" y="4953000"/>
            <a:ext cx="10191750" cy="857250"/>
          </a:xfrm>
          <a:prstGeom prst="roundRect">
            <a:avLst>
              <a:gd name="adj" fmla="val 8889"/>
            </a:avLst>
          </a:prstGeom>
          <a:solidFill>
            <a:srgbClr val="FFF4D8"/>
          </a:solidFill>
          <a:ln w="0">
            <a:noFill/>
          </a:ln>
        </p:spPr>
        <p:txBody>
          <a:bodyPr/>
          <a:lstStyle/>
          <a:p>
            <a:endParaRPr lang="tr-TR"/>
          </a:p>
        </p:txBody>
      </p:sp>
      <p:sp>
        <p:nvSpPr>
          <p:cNvPr id="31" name="Dikdörtgen 30">
            <a:extLst>
              <a:ext uri="{FF2B5EF4-FFF2-40B4-BE49-F238E27FC236}">
                <a16:creationId xmlns:a16="http://schemas.microsoft.com/office/drawing/2014/main" id="{268A861C-263E-47E7-9A99-600C07FEFB4F}"/>
              </a:ext>
            </a:extLst>
          </p:cNvPr>
          <p:cNvSpPr>
            <a:spLocks noGrp="1"/>
          </p:cNvSpPr>
          <p:nvPr/>
        </p:nvSpPr>
        <p:spPr>
          <a:xfrm>
            <a:off x="1381125" y="5124450"/>
            <a:ext cx="9429750" cy="523875"/>
          </a:xfrm>
          <a:prstGeom prst="rect">
            <a:avLst/>
          </a:prstGeom>
          <a:noFill/>
          <a:ln w="0">
            <a:noFill/>
          </a:ln>
        </p:spPr>
        <p:txBody>
          <a:bodyPr anchor="t">
            <a:normAutofit/>
          </a:bodyPr>
          <a:lstStyle/>
          <a:p>
            <a:pPr algn="ctr">
              <a:defRPr sz="1350" b="1" i="0">
                <a:solidFill>
                  <a:srgbClr val="33343F"/>
                </a:solidFill>
                <a:latin typeface="Arial"/>
                <a:ea typeface="Arial"/>
                <a:cs typeface="Arial"/>
              </a:defRPr>
            </a:pPr>
            <a:r>
              <a:rPr sz="1350" b="1" i="0">
                <a:solidFill>
                  <a:srgbClr val="33343F"/>
                </a:solidFill>
                <a:latin typeface="Arial"/>
                <a:ea typeface="Arial"/>
                <a:cs typeface="Arial"/>
              </a:rPr>
              <a:t>Priority is set before review: E = essential, S = supporting, N/A = irrelevant. Compare books dimension by dimension. Do not publish a universal total score until the instrument is validated.</a:t>
            </a:r>
          </a:p>
        </p:txBody>
      </p:sp>
      <p:sp>
        <p:nvSpPr>
          <p:cNvPr id="32" name="Düz Bağlayıcı 31">
            <a:extLst>
              <a:ext uri="{FF2B5EF4-FFF2-40B4-BE49-F238E27FC236}">
                <a16:creationId xmlns:a16="http://schemas.microsoft.com/office/drawing/2014/main" id="{CAE629F5-EC92-423B-9D29-021FBF927364}"/>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33" name="Dikdörtgen 32">
            <a:extLst>
              <a:ext uri="{FF2B5EF4-FFF2-40B4-BE49-F238E27FC236}">
                <a16:creationId xmlns:a16="http://schemas.microsoft.com/office/drawing/2014/main" id="{B350D0A1-5DA2-4762-B669-13299C91DDC1}"/>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221259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3B53"/>
        </a:solidFill>
        <a:effectLst/>
      </p:bgPr>
    </p:bg>
    <p:spTree>
      <p:nvGrpSpPr>
        <p:cNvPr id="1" name=""/>
        <p:cNvGrpSpPr/>
        <p:nvPr/>
      </p:nvGrpSpPr>
      <p:grpSpPr>
        <a:xfrm>
          <a:off x="0" y="0"/>
          <a:ext cx="0" cy="0"/>
          <a:chOff x="0" y="0"/>
          <a:chExt cx="0" cy="0"/>
        </a:xfrm>
      </p:grpSpPr>
      <p:sp>
        <p:nvSpPr>
          <p:cNvPr id="13" name="Dikdörtgen 12">
            <a:extLst>
              <a:ext uri="{FF2B5EF4-FFF2-40B4-BE49-F238E27FC236}">
                <a16:creationId xmlns:a16="http://schemas.microsoft.com/office/drawing/2014/main" id="{F68DFDD7-FE83-487E-A15F-280AD9D8C663}"/>
              </a:ext>
            </a:extLst>
          </p:cNvPr>
          <p:cNvSpPr>
            <a:spLocks noGrp="1"/>
          </p:cNvSpPr>
          <p:nvPr/>
        </p:nvSpPr>
        <p:spPr>
          <a:xfrm>
            <a:off x="742950" y="523875"/>
            <a:ext cx="2476500" cy="257175"/>
          </a:xfrm>
          <a:prstGeom prst="rect">
            <a:avLst/>
          </a:prstGeom>
          <a:noFill/>
          <a:ln w="0">
            <a:noFill/>
          </a:ln>
        </p:spPr>
        <p:txBody>
          <a:bodyPr anchor="ctr">
            <a:normAutofit/>
          </a:bodyPr>
          <a:lstStyle/>
          <a:p>
            <a:pPr algn="l">
              <a:defRPr sz="975" b="1" i="0">
                <a:solidFill>
                  <a:srgbClr val="FFD45A"/>
                </a:solidFill>
                <a:latin typeface="Arial"/>
                <a:ea typeface="Arial"/>
                <a:cs typeface="Arial"/>
              </a:defRPr>
            </a:pPr>
            <a:r>
              <a:rPr sz="975" b="1" i="0">
                <a:solidFill>
                  <a:srgbClr val="FFD45A"/>
                </a:solidFill>
                <a:latin typeface="Arial"/>
                <a:ea typeface="Arial"/>
                <a:cs typeface="Arial"/>
              </a:rPr>
              <a:t>CONCLUSION</a:t>
            </a:r>
          </a:p>
        </p:txBody>
      </p:sp>
      <p:sp>
        <p:nvSpPr>
          <p:cNvPr id="2" name="Dikdörtgen 1">
            <a:extLst>
              <a:ext uri="{FF2B5EF4-FFF2-40B4-BE49-F238E27FC236}">
                <a16:creationId xmlns:a16="http://schemas.microsoft.com/office/drawing/2014/main" id="{6B413D5C-4456-48E2-BE1F-447DEAD31575}"/>
              </a:ext>
            </a:extLst>
          </p:cNvPr>
          <p:cNvSpPr>
            <a:spLocks noGrp="1"/>
          </p:cNvSpPr>
          <p:nvPr/>
        </p:nvSpPr>
        <p:spPr>
          <a:xfrm>
            <a:off x="742950" y="1143000"/>
            <a:ext cx="10382250" cy="1190625"/>
          </a:xfrm>
          <a:prstGeom prst="rect">
            <a:avLst/>
          </a:prstGeom>
          <a:noFill/>
          <a:ln w="0">
            <a:noFill/>
          </a:ln>
        </p:spPr>
        <p:txBody>
          <a:bodyPr anchor="t">
            <a:normAutofit/>
          </a:bodyPr>
          <a:lstStyle/>
          <a:p>
            <a:pPr algn="l">
              <a:defRPr sz="3150" b="1" i="0">
                <a:solidFill>
                  <a:srgbClr val="FFFFFF"/>
                </a:solidFill>
                <a:latin typeface="Arial"/>
                <a:ea typeface="Arial"/>
                <a:cs typeface="Arial"/>
              </a:defRPr>
            </a:pPr>
            <a:r>
              <a:rPr sz="3150" b="1" i="0">
                <a:solidFill>
                  <a:srgbClr val="FFFFFF"/>
                </a:solidFill>
                <a:latin typeface="Arial"/>
                <a:ea typeface="Arial"/>
                <a:cs typeface="Arial"/>
              </a:rPr>
              <a:t>ELFA friendliness becomes reviewable when reader needs are tied to observable textbook choices.</a:t>
            </a:r>
          </a:p>
        </p:txBody>
      </p:sp>
      <p:sp>
        <p:nvSpPr>
          <p:cNvPr id="3" name="Yuvarlatılmış Dikdörtgen 2">
            <a:extLst>
              <a:ext uri="{FF2B5EF4-FFF2-40B4-BE49-F238E27FC236}">
                <a16:creationId xmlns:a16="http://schemas.microsoft.com/office/drawing/2014/main" id="{92F811C0-5FE5-4978-8C60-376A6288ED22}"/>
              </a:ext>
            </a:extLst>
          </p:cNvPr>
          <p:cNvSpPr>
            <a:spLocks noGrp="1"/>
          </p:cNvSpPr>
          <p:nvPr/>
        </p:nvSpPr>
        <p:spPr>
          <a:xfrm>
            <a:off x="800100" y="2857500"/>
            <a:ext cx="514350" cy="514350"/>
          </a:xfrm>
          <a:prstGeom prst="roundRect">
            <a:avLst>
              <a:gd name="adj" fmla="val 14815"/>
            </a:avLst>
          </a:prstGeom>
          <a:solidFill>
            <a:srgbClr val="176082"/>
          </a:solidFill>
          <a:ln w="0">
            <a:noFill/>
          </a:ln>
        </p:spPr>
        <p:txBody>
          <a:bodyPr/>
          <a:lstStyle/>
          <a:p>
            <a:endParaRPr lang="tr-TR"/>
          </a:p>
        </p:txBody>
      </p:sp>
      <p:sp>
        <p:nvSpPr>
          <p:cNvPr id="4" name="Dikdörtgen 3">
            <a:extLst>
              <a:ext uri="{FF2B5EF4-FFF2-40B4-BE49-F238E27FC236}">
                <a16:creationId xmlns:a16="http://schemas.microsoft.com/office/drawing/2014/main" id="{87274054-CEDE-4CA5-8C88-0C712EFB5623}"/>
              </a:ext>
            </a:extLst>
          </p:cNvPr>
          <p:cNvSpPr>
            <a:spLocks noGrp="1"/>
          </p:cNvSpPr>
          <p:nvPr/>
        </p:nvSpPr>
        <p:spPr>
          <a:xfrm>
            <a:off x="800100" y="2943225"/>
            <a:ext cx="514350" cy="342900"/>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1</a:t>
            </a:r>
          </a:p>
        </p:txBody>
      </p:sp>
      <p:sp>
        <p:nvSpPr>
          <p:cNvPr id="5" name="Dikdörtgen 4">
            <a:extLst>
              <a:ext uri="{FF2B5EF4-FFF2-40B4-BE49-F238E27FC236}">
                <a16:creationId xmlns:a16="http://schemas.microsoft.com/office/drawing/2014/main" id="{BD72FCB2-0A21-437F-89BC-885B63AD5ED9}"/>
              </a:ext>
            </a:extLst>
          </p:cNvPr>
          <p:cNvSpPr>
            <a:spLocks noGrp="1"/>
          </p:cNvSpPr>
          <p:nvPr/>
        </p:nvSpPr>
        <p:spPr>
          <a:xfrm>
            <a:off x="1571625" y="2847975"/>
            <a:ext cx="9144000" cy="619125"/>
          </a:xfrm>
          <a:prstGeom prst="rect">
            <a:avLst/>
          </a:prstGeom>
          <a:noFill/>
          <a:ln w="0">
            <a:noFill/>
          </a:ln>
        </p:spPr>
        <p:txBody>
          <a:bodyPr anchor="ctr">
            <a:normAutofit/>
          </a:body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The literature positions MIWAE between written EAP and communication-oriented academic ELF.</a:t>
            </a:r>
          </a:p>
        </p:txBody>
      </p:sp>
      <p:sp>
        <p:nvSpPr>
          <p:cNvPr id="6" name="Yuvarlatılmış Dikdörtgen 5">
            <a:extLst>
              <a:ext uri="{FF2B5EF4-FFF2-40B4-BE49-F238E27FC236}">
                <a16:creationId xmlns:a16="http://schemas.microsoft.com/office/drawing/2014/main" id="{894C8CD5-A52B-4DB9-B885-EFAD25DCAAE6}"/>
              </a:ext>
            </a:extLst>
          </p:cNvPr>
          <p:cNvSpPr>
            <a:spLocks noGrp="1"/>
          </p:cNvSpPr>
          <p:nvPr/>
        </p:nvSpPr>
        <p:spPr>
          <a:xfrm>
            <a:off x="800100" y="3743325"/>
            <a:ext cx="514350" cy="514350"/>
          </a:xfrm>
          <a:prstGeom prst="roundRect">
            <a:avLst>
              <a:gd name="adj" fmla="val 14815"/>
            </a:avLst>
          </a:prstGeom>
          <a:solidFill>
            <a:srgbClr val="176082"/>
          </a:solidFill>
          <a:ln w="0">
            <a:noFill/>
          </a:ln>
        </p:spPr>
        <p:txBody>
          <a:bodyPr/>
          <a:lstStyle/>
          <a:p>
            <a:endParaRPr lang="tr-TR"/>
          </a:p>
        </p:txBody>
      </p:sp>
      <p:sp>
        <p:nvSpPr>
          <p:cNvPr id="7" name="Dikdörtgen 6">
            <a:extLst>
              <a:ext uri="{FF2B5EF4-FFF2-40B4-BE49-F238E27FC236}">
                <a16:creationId xmlns:a16="http://schemas.microsoft.com/office/drawing/2014/main" id="{A559FF3F-31EE-4495-8524-0B98D8582480}"/>
              </a:ext>
            </a:extLst>
          </p:cNvPr>
          <p:cNvSpPr>
            <a:spLocks noGrp="1"/>
          </p:cNvSpPr>
          <p:nvPr/>
        </p:nvSpPr>
        <p:spPr>
          <a:xfrm>
            <a:off x="800100" y="3829050"/>
            <a:ext cx="514350" cy="342900"/>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2</a:t>
            </a:r>
          </a:p>
        </p:txBody>
      </p:sp>
      <p:sp>
        <p:nvSpPr>
          <p:cNvPr id="8" name="Dikdörtgen 7">
            <a:extLst>
              <a:ext uri="{FF2B5EF4-FFF2-40B4-BE49-F238E27FC236}">
                <a16:creationId xmlns:a16="http://schemas.microsoft.com/office/drawing/2014/main" id="{E4884047-C395-4FF6-8D7F-401D1951520E}"/>
              </a:ext>
            </a:extLst>
          </p:cNvPr>
          <p:cNvSpPr>
            <a:spLocks noGrp="1"/>
          </p:cNvSpPr>
          <p:nvPr/>
        </p:nvSpPr>
        <p:spPr>
          <a:xfrm>
            <a:off x="1571625" y="3733800"/>
            <a:ext cx="9144000" cy="619125"/>
          </a:xfrm>
          <a:prstGeom prst="rect">
            <a:avLst/>
          </a:prstGeom>
          <a:noFill/>
          <a:ln w="0">
            <a:noFill/>
          </a:ln>
        </p:spPr>
        <p:txBody>
          <a:bodyPr anchor="ctr">
            <a:normAutofit/>
          </a:body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The ten-book pilot shows why language burden, visual support and disciplinary meaning must be interpreted together.</a:t>
            </a:r>
          </a:p>
        </p:txBody>
      </p:sp>
      <p:sp>
        <p:nvSpPr>
          <p:cNvPr id="9" name="Yuvarlatılmış Dikdörtgen 8">
            <a:extLst>
              <a:ext uri="{FF2B5EF4-FFF2-40B4-BE49-F238E27FC236}">
                <a16:creationId xmlns:a16="http://schemas.microsoft.com/office/drawing/2014/main" id="{A4A7D8E1-7E03-4D58-A2EF-4C9A9C10E2EB}"/>
              </a:ext>
            </a:extLst>
          </p:cNvPr>
          <p:cNvSpPr>
            <a:spLocks noGrp="1"/>
          </p:cNvSpPr>
          <p:nvPr/>
        </p:nvSpPr>
        <p:spPr>
          <a:xfrm>
            <a:off x="800100" y="4629150"/>
            <a:ext cx="514350" cy="514350"/>
          </a:xfrm>
          <a:prstGeom prst="roundRect">
            <a:avLst>
              <a:gd name="adj" fmla="val 14815"/>
            </a:avLst>
          </a:prstGeom>
          <a:solidFill>
            <a:srgbClr val="D58C00"/>
          </a:solidFill>
          <a:ln w="0">
            <a:noFill/>
          </a:ln>
        </p:spPr>
        <p:txBody>
          <a:bodyPr/>
          <a:lstStyle/>
          <a:p>
            <a:endParaRPr lang="tr-TR"/>
          </a:p>
        </p:txBody>
      </p:sp>
      <p:sp>
        <p:nvSpPr>
          <p:cNvPr id="10" name="Dikdörtgen 9">
            <a:extLst>
              <a:ext uri="{FF2B5EF4-FFF2-40B4-BE49-F238E27FC236}">
                <a16:creationId xmlns:a16="http://schemas.microsoft.com/office/drawing/2014/main" id="{B5F6E299-FED2-4B64-AA60-520D4CE84F48}"/>
              </a:ext>
            </a:extLst>
          </p:cNvPr>
          <p:cNvSpPr>
            <a:spLocks noGrp="1"/>
          </p:cNvSpPr>
          <p:nvPr/>
        </p:nvSpPr>
        <p:spPr>
          <a:xfrm>
            <a:off x="800100" y="4714875"/>
            <a:ext cx="514350" cy="342900"/>
          </a:xfrm>
          <a:prstGeom prst="rect">
            <a:avLst/>
          </a:prstGeom>
          <a:noFill/>
          <a:ln w="0">
            <a:noFill/>
          </a:ln>
        </p:spPr>
        <p:txBody>
          <a:bodyPr anchor="t">
            <a:norm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11" name="Dikdörtgen 10">
            <a:extLst>
              <a:ext uri="{FF2B5EF4-FFF2-40B4-BE49-F238E27FC236}">
                <a16:creationId xmlns:a16="http://schemas.microsoft.com/office/drawing/2014/main" id="{4FFE66D1-F54A-4E82-A538-791A7A14E031}"/>
              </a:ext>
            </a:extLst>
          </p:cNvPr>
          <p:cNvSpPr>
            <a:spLocks noGrp="1"/>
          </p:cNvSpPr>
          <p:nvPr/>
        </p:nvSpPr>
        <p:spPr>
          <a:xfrm>
            <a:off x="1571625" y="4619625"/>
            <a:ext cx="9144000" cy="619125"/>
          </a:xfrm>
          <a:prstGeom prst="rect">
            <a:avLst/>
          </a:prstGeom>
          <a:noFill/>
          <a:ln w="0">
            <a:noFill/>
          </a:ln>
        </p:spPr>
        <p:txBody>
          <a:bodyPr anchor="ctr">
            <a:normAutofit/>
          </a:body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The rubric and the open API make the review process inspectable while preserving disciplinary precision.</a:t>
            </a:r>
          </a:p>
        </p:txBody>
      </p:sp>
      <p:sp>
        <p:nvSpPr>
          <p:cNvPr id="12" name="Dikdörtgen 11">
            <a:extLst>
              <a:ext uri="{FF2B5EF4-FFF2-40B4-BE49-F238E27FC236}">
                <a16:creationId xmlns:a16="http://schemas.microsoft.com/office/drawing/2014/main" id="{049FB66A-6759-4DBC-8C71-C15A8C967E2D}"/>
              </a:ext>
            </a:extLst>
          </p:cNvPr>
          <p:cNvSpPr>
            <a:spLocks noGrp="1"/>
          </p:cNvSpPr>
          <p:nvPr/>
        </p:nvSpPr>
        <p:spPr>
          <a:xfrm>
            <a:off x="742950" y="6191250"/>
            <a:ext cx="5524500" cy="238125"/>
          </a:xfrm>
          <a:prstGeom prst="rect">
            <a:avLst/>
          </a:prstGeom>
          <a:noFill/>
          <a:ln w="0">
            <a:noFill/>
          </a:ln>
        </p:spPr>
        <p:txBody>
          <a:bodyPr anchor="t">
            <a:normAutofit fontScale="91667"/>
          </a:bodyPr>
          <a:lstStyle/>
          <a:p>
            <a:pPr algn="l">
              <a:defRPr sz="1050" b="1" i="0">
                <a:solidFill>
                  <a:srgbClr val="78A9C0"/>
                </a:solidFill>
                <a:latin typeface="Arial"/>
                <a:ea typeface="Arial"/>
                <a:cs typeface="Arial"/>
              </a:defRPr>
            </a:pPr>
            <a:r>
              <a:rPr sz="1050" b="1" i="0">
                <a:solidFill>
                  <a:srgbClr val="78A9C0"/>
                </a:solidFill>
                <a:latin typeface="Arial"/>
                <a:ea typeface="Arial"/>
                <a:cs typeface="Arial"/>
              </a:rPr>
              <a:t>MIWAE v0.4 · framework with an open analysis API prototype</a:t>
            </a:r>
          </a:p>
        </p:txBody>
      </p:sp>
    </p:spTree>
    <p:extLst>
      <p:ext uri="{BB962C8B-B14F-4D97-AF65-F5344CB8AC3E}">
        <p14:creationId xmlns:p14="http://schemas.microsoft.com/office/powerpoint/2010/main" val="1367620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0" name="Yuvarlatılmış Dikdörtgen 9">
            <a:extLst>
              <a:ext uri="{FF2B5EF4-FFF2-40B4-BE49-F238E27FC236}">
                <a16:creationId xmlns:a16="http://schemas.microsoft.com/office/drawing/2014/main" id="{FB06AF2B-0FC4-4372-A012-53F9D37CD33E}"/>
              </a:ext>
            </a:extLst>
          </p:cNvPr>
          <p:cNvSpPr>
            <a:spLocks noGrp="1"/>
          </p:cNvSpPr>
          <p:nvPr/>
        </p:nvSpPr>
        <p:spPr>
          <a:xfrm>
            <a:off x="685800" y="371475"/>
            <a:ext cx="66675" cy="171450"/>
          </a:xfrm>
          <a:prstGeom prst="roundRect">
            <a:avLst>
              <a:gd name="adj" fmla="val 50000"/>
            </a:avLst>
          </a:prstGeom>
          <a:solidFill>
            <a:srgbClr val="626777"/>
          </a:solidFill>
          <a:ln w="0">
            <a:noFill/>
          </a:ln>
        </p:spPr>
        <p:txBody>
          <a:bodyPr/>
          <a:lstStyle/>
          <a:p>
            <a:endParaRPr lang="tr-TR"/>
          </a:p>
        </p:txBody>
      </p:sp>
      <p:sp>
        <p:nvSpPr>
          <p:cNvPr id="2" name="Dikdörtgen 1">
            <a:extLst>
              <a:ext uri="{FF2B5EF4-FFF2-40B4-BE49-F238E27FC236}">
                <a16:creationId xmlns:a16="http://schemas.microsoft.com/office/drawing/2014/main" id="{96813E9D-B66D-4A28-A171-D0AD8F490108}"/>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626777"/>
                </a:solidFill>
                <a:latin typeface="Arial"/>
                <a:ea typeface="Arial"/>
                <a:cs typeface="Arial"/>
              </a:defRPr>
            </a:pPr>
            <a:r>
              <a:rPr sz="975" b="1" i="0">
                <a:solidFill>
                  <a:srgbClr val="626777"/>
                </a:solidFill>
                <a:latin typeface="Arial"/>
                <a:ea typeface="Arial"/>
                <a:cs typeface="Arial"/>
              </a:rPr>
              <a:t>APPENDIX</a:t>
            </a:r>
          </a:p>
        </p:txBody>
      </p:sp>
      <p:sp>
        <p:nvSpPr>
          <p:cNvPr id="3" name="Dikdörtgen 2">
            <a:extLst>
              <a:ext uri="{FF2B5EF4-FFF2-40B4-BE49-F238E27FC236}">
                <a16:creationId xmlns:a16="http://schemas.microsoft.com/office/drawing/2014/main" id="{FA06D3DF-F048-4B63-A5F3-11C0FD436641}"/>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Evidence status and next validation steps</a:t>
            </a:r>
          </a:p>
        </p:txBody>
      </p:sp>
      <p:sp>
        <p:nvSpPr>
          <p:cNvPr id="4" name="Düz Bağlayıcı 3">
            <a:extLst>
              <a:ext uri="{FF2B5EF4-FFF2-40B4-BE49-F238E27FC236}">
                <a16:creationId xmlns:a16="http://schemas.microsoft.com/office/drawing/2014/main" id="{1726A636-292E-434E-AFA5-79066CD4B7F0}"/>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DD601B09-EC54-4BA8-8C09-C6240408A0E3}"/>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29</a:t>
            </a:r>
          </a:p>
        </p:txBody>
      </p:sp>
      <p:graphicFrame>
        <p:nvGraphicFramePr>
          <p:cNvPr id="15" name="Tablo 14"/>
          <p:cNvGraphicFramePr/>
          <p:nvPr/>
        </p:nvGraphicFramePr>
        <p:xfrm>
          <a:off x="685800" y="1600200"/>
          <a:ext cx="10810875" cy="4143375"/>
        </p:xfrm>
        <a:graphic>
          <a:graphicData uri="http://schemas.openxmlformats.org/drawingml/2006/table">
            <a:tbl>
              <a:tblPr/>
              <a:tblGrid>
                <a:gridCol w="2762250">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r>
                        <a:rPr sz="1125" b="1">
                          <a:solidFill>
                            <a:srgbClr val="FFFFFF"/>
                          </a:solidFill>
                          <a:latin typeface="Arial"/>
                          <a:ea typeface="Arial"/>
                          <a:cs typeface="Arial"/>
                        </a:rPr>
                        <a:t>Evidence layer</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Current status</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Next requirement</a:t>
                      </a:r>
                    </a:p>
                  </a:txBody>
                  <a:tcPr marL="95250" marR="95250" marT="76200" marB="66675" anchor="ctr">
                    <a:solidFill>
                      <a:srgbClr val="123B53"/>
                    </a:solidFill>
                  </a:tcPr>
                </a:tc>
                <a:extLst>
                  <a:ext uri="{0D108BD9-81ED-4DB2-BD59-A6C34878D82A}">
                    <a16:rowId xmlns:a16="http://schemas.microsoft.com/office/drawing/2014/main" val="10000"/>
                  </a:ext>
                </a:extLst>
              </a:tr>
              <a:tr h="609600">
                <a:tc>
                  <a:txBody>
                    <a:bodyPr/>
                    <a:lstStyle/>
                    <a:p>
                      <a:r>
                        <a:rPr sz="953" b="1">
                          <a:solidFill>
                            <a:srgbClr val="176082"/>
                          </a:solidFill>
                          <a:latin typeface="Arial"/>
                          <a:ea typeface="Arial"/>
                          <a:cs typeface="Arial"/>
                        </a:rPr>
                        <a:t>Student records and interviews</a:t>
                      </a:r>
                    </a:p>
                  </a:txBody>
                  <a:tcPr marL="95250" marR="95250" marT="66675" marB="66675" anchor="ctr">
                    <a:solidFill>
                      <a:srgbClr val="E6F0F5"/>
                    </a:solidFill>
                  </a:tcPr>
                </a:tc>
                <a:tc>
                  <a:txBody>
                    <a:bodyPr/>
                    <a:lstStyle/>
                    <a:p>
                      <a:r>
                        <a:rPr sz="953">
                          <a:solidFill>
                            <a:srgbClr val="33343F"/>
                          </a:solidFill>
                          <a:latin typeface="Arial"/>
                          <a:ea typeface="Arial"/>
                          <a:cs typeface="Arial"/>
                        </a:rPr>
                        <a:t>Study records and interviews</a:t>
                      </a:r>
                    </a:p>
                  </a:txBody>
                  <a:tcPr marL="95250" marR="95250" marT="66675" marB="66675" anchor="ctr">
                    <a:solidFill>
                      <a:srgbClr val="FFFFFF"/>
                    </a:solidFill>
                  </a:tcPr>
                </a:tc>
                <a:tc>
                  <a:txBody>
                    <a:bodyPr/>
                    <a:lstStyle/>
                    <a:p>
                      <a:r>
                        <a:rPr sz="953">
                          <a:solidFill>
                            <a:srgbClr val="33343F"/>
                          </a:solidFill>
                          <a:latin typeface="Arial"/>
                          <a:ea typeface="Arial"/>
                          <a:cs typeface="Arial"/>
                        </a:rPr>
                        <a:t>Confirm ethics approval and translation procedures</a:t>
                      </a:r>
                    </a:p>
                  </a:txBody>
                  <a:tcPr marL="95250" marR="95250" marT="66675" marB="66675" anchor="ctr">
                    <a:solidFill>
                      <a:srgbClr val="FFFFFF"/>
                    </a:solidFill>
                  </a:tcPr>
                </a:tc>
                <a:extLst>
                  <a:ext uri="{0D108BD9-81ED-4DB2-BD59-A6C34878D82A}">
                    <a16:rowId xmlns:a16="http://schemas.microsoft.com/office/drawing/2014/main" val="10001"/>
                  </a:ext>
                </a:extLst>
              </a:tr>
              <a:tr h="609600">
                <a:tc>
                  <a:txBody>
                    <a:bodyPr/>
                    <a:lstStyle/>
                    <a:p>
                      <a:r>
                        <a:rPr sz="953" b="1">
                          <a:solidFill>
                            <a:srgbClr val="176082"/>
                          </a:solidFill>
                          <a:latin typeface="Arial"/>
                          <a:ea typeface="Arial"/>
                          <a:cs typeface="Arial"/>
                        </a:rPr>
                        <a:t>Textbook corpus</a:t>
                      </a:r>
                    </a:p>
                  </a:txBody>
                  <a:tcPr marL="95250" marR="95250" marT="66675" marB="66675" anchor="ctr">
                    <a:solidFill>
                      <a:srgbClr val="E6F0F5"/>
                    </a:solidFill>
                  </a:tcPr>
                </a:tc>
                <a:tc>
                  <a:txBody>
                    <a:bodyPr/>
                    <a:lstStyle/>
                    <a:p>
                      <a:r>
                        <a:rPr sz="953">
                          <a:solidFill>
                            <a:srgbClr val="33343F"/>
                          </a:solidFill>
                          <a:latin typeface="Arial"/>
                          <a:ea typeface="Arial"/>
                          <a:cs typeface="Arial"/>
                        </a:rPr>
                        <a:t>10 books; 9 complete texts and 1 OCR sample</a:t>
                      </a:r>
                    </a:p>
                  </a:txBody>
                  <a:tcPr marL="95250" marR="95250" marT="66675" marB="66675" anchor="ctr">
                    <a:solidFill>
                      <a:srgbClr val="FFFFFF"/>
                    </a:solidFill>
                  </a:tcPr>
                </a:tc>
                <a:tc>
                  <a:txBody>
                    <a:bodyPr/>
                    <a:lstStyle/>
                    <a:p>
                      <a:r>
                        <a:rPr sz="953">
                          <a:solidFill>
                            <a:srgbClr val="33343F"/>
                          </a:solidFill>
                          <a:latin typeface="Arial"/>
                          <a:ea typeface="Arial"/>
                          <a:cs typeface="Arial"/>
                        </a:rPr>
                        <a:t>Complete Mano OCR and verify matched locations across editions</a:t>
                      </a:r>
                    </a:p>
                  </a:txBody>
                  <a:tcPr marL="95250" marR="95250" marT="66675" marB="66675" anchor="ctr">
                    <a:solidFill>
                      <a:srgbClr val="FFFFFF"/>
                    </a:solidFill>
                  </a:tcPr>
                </a:tc>
                <a:extLst>
                  <a:ext uri="{0D108BD9-81ED-4DB2-BD59-A6C34878D82A}">
                    <a16:rowId xmlns:a16="http://schemas.microsoft.com/office/drawing/2014/main" val="10002"/>
                  </a:ext>
                </a:extLst>
              </a:tr>
              <a:tr h="609600">
                <a:tc>
                  <a:txBody>
                    <a:bodyPr/>
                    <a:lstStyle/>
                    <a:p>
                      <a:r>
                        <a:rPr sz="953" b="1">
                          <a:solidFill>
                            <a:srgbClr val="176082"/>
                          </a:solidFill>
                          <a:latin typeface="Arial"/>
                          <a:ea typeface="Arial"/>
                          <a:cs typeface="Arial"/>
                        </a:rPr>
                        <a:t>Readability comparison</a:t>
                      </a:r>
                    </a:p>
                  </a:txBody>
                  <a:tcPr marL="95250" marR="95250" marT="66675" marB="66675" anchor="ctr">
                    <a:solidFill>
                      <a:srgbClr val="E6F0F5"/>
                    </a:solidFill>
                  </a:tcPr>
                </a:tc>
                <a:tc>
                  <a:txBody>
                    <a:bodyPr/>
                    <a:lstStyle/>
                    <a:p>
                      <a:r>
                        <a:rPr sz="953">
                          <a:solidFill>
                            <a:srgbClr val="33343F"/>
                          </a:solidFill>
                          <a:latin typeface="Arial"/>
                          <a:ea typeface="Arial"/>
                          <a:cs typeface="Arial"/>
                        </a:rPr>
                        <a:t>50 passages across 10 books</a:t>
                      </a:r>
                    </a:p>
                  </a:txBody>
                  <a:tcPr marL="95250" marR="95250" marT="66675" marB="66675" anchor="ctr">
                    <a:solidFill>
                      <a:srgbClr val="FFFFFF"/>
                    </a:solidFill>
                  </a:tcPr>
                </a:tc>
                <a:tc>
                  <a:txBody>
                    <a:bodyPr/>
                    <a:lstStyle/>
                    <a:p>
                      <a:r>
                        <a:rPr sz="953">
                          <a:solidFill>
                            <a:srgbClr val="33343F"/>
                          </a:solidFill>
                          <a:latin typeface="Arial"/>
                          <a:ea typeface="Arial"/>
                          <a:cs typeface="Arial"/>
                        </a:rPr>
                        <a:t>Repeat with independent sampling and treat CEFR as one linguistic lens</a:t>
                      </a:r>
                    </a:p>
                  </a:txBody>
                  <a:tcPr marL="95250" marR="95250" marT="66675" marB="66675" anchor="ctr">
                    <a:solidFill>
                      <a:srgbClr val="FFFFFF"/>
                    </a:solidFill>
                  </a:tcPr>
                </a:tc>
                <a:extLst>
                  <a:ext uri="{0D108BD9-81ED-4DB2-BD59-A6C34878D82A}">
                    <a16:rowId xmlns:a16="http://schemas.microsoft.com/office/drawing/2014/main" val="10003"/>
                  </a:ext>
                </a:extLst>
              </a:tr>
              <a:tr h="609600">
                <a:tc>
                  <a:txBody>
                    <a:bodyPr/>
                    <a:lstStyle/>
                    <a:p>
                      <a:r>
                        <a:rPr sz="953" b="1">
                          <a:solidFill>
                            <a:srgbClr val="176082"/>
                          </a:solidFill>
                          <a:latin typeface="Arial"/>
                          <a:ea typeface="Arial"/>
                          <a:cs typeface="Arial"/>
                        </a:rPr>
                        <a:t>MIWAE rubric</a:t>
                      </a:r>
                    </a:p>
                  </a:txBody>
                  <a:tcPr marL="95250" marR="95250" marT="66675" marB="66675" anchor="ctr">
                    <a:solidFill>
                      <a:srgbClr val="E6F0F5"/>
                    </a:solidFill>
                  </a:tcPr>
                </a:tc>
                <a:tc>
                  <a:txBody>
                    <a:bodyPr/>
                    <a:lstStyle/>
                    <a:p>
                      <a:r>
                        <a:rPr sz="953">
                          <a:solidFill>
                            <a:srgbClr val="33343F"/>
                          </a:solidFill>
                          <a:latin typeface="Arial"/>
                          <a:ea typeface="Arial"/>
                          <a:cs typeface="Arial"/>
                        </a:rPr>
                        <a:t>Provisional 0–3 decision aid</a:t>
                      </a:r>
                    </a:p>
                  </a:txBody>
                  <a:tcPr marL="95250" marR="95250" marT="66675" marB="66675" anchor="ctr">
                    <a:solidFill>
                      <a:srgbClr val="FFFFFF"/>
                    </a:solidFill>
                  </a:tcPr>
                </a:tc>
                <a:tc>
                  <a:txBody>
                    <a:bodyPr/>
                    <a:lstStyle/>
                    <a:p>
                      <a:r>
                        <a:rPr sz="953">
                          <a:solidFill>
                            <a:srgbClr val="33343F"/>
                          </a:solidFill>
                          <a:latin typeface="Arial"/>
                          <a:ea typeface="Arial"/>
                          <a:cs typeface="Arial"/>
                        </a:rPr>
                        <a:t>Pilot with syllabus designers; double-code; test inter-rater agreement</a:t>
                      </a:r>
                    </a:p>
                  </a:txBody>
                  <a:tcPr marL="95250" marR="95250" marT="66675" marB="66675" anchor="ctr">
                    <a:solidFill>
                      <a:srgbClr val="FFFFFF"/>
                    </a:solidFill>
                  </a:tcPr>
                </a:tc>
                <a:extLst>
                  <a:ext uri="{0D108BD9-81ED-4DB2-BD59-A6C34878D82A}">
                    <a16:rowId xmlns:a16="http://schemas.microsoft.com/office/drawing/2014/main" val="10004"/>
                  </a:ext>
                </a:extLst>
              </a:tr>
              <a:tr h="609600">
                <a:tc>
                  <a:txBody>
                    <a:bodyPr/>
                    <a:lstStyle/>
                    <a:p>
                      <a:r>
                        <a:rPr sz="953" b="1">
                          <a:solidFill>
                            <a:srgbClr val="176082"/>
                          </a:solidFill>
                          <a:latin typeface="Arial"/>
                          <a:ea typeface="Arial"/>
                          <a:cs typeface="Arial"/>
                        </a:rPr>
                        <a:t>Corpus analysis API</a:t>
                      </a:r>
                    </a:p>
                  </a:txBody>
                  <a:tcPr marL="95250" marR="95250" marT="66675" marB="66675" anchor="ctr">
                    <a:solidFill>
                      <a:srgbClr val="E6F0F5"/>
                    </a:solidFill>
                  </a:tcPr>
                </a:tc>
                <a:tc>
                  <a:txBody>
                    <a:bodyPr/>
                    <a:lstStyle/>
                    <a:p>
                      <a:r>
                        <a:rPr sz="953">
                          <a:solidFill>
                            <a:srgbClr val="33343F"/>
                          </a:solidFill>
                          <a:latin typeface="Arial"/>
                          <a:ea typeface="Arial"/>
                          <a:cs typeface="Arial"/>
                        </a:rPr>
                        <a:t>Open v0.1 prototype; 50-passage pilot; seven automated tests</a:t>
                      </a:r>
                    </a:p>
                  </a:txBody>
                  <a:tcPr marL="95250" marR="95250" marT="66675" marB="66675" anchor="ctr">
                    <a:solidFill>
                      <a:srgbClr val="FFFFFF"/>
                    </a:solidFill>
                  </a:tcPr>
                </a:tc>
                <a:tc>
                  <a:txBody>
                    <a:bodyPr/>
                    <a:lstStyle/>
                    <a:p>
                      <a:r>
                        <a:rPr sz="953">
                          <a:solidFill>
                            <a:srgbClr val="33343F"/>
                          </a:solidFill>
                          <a:latin typeface="Arial"/>
                          <a:ea typeface="Arial"/>
                          <a:cs typeface="Arial"/>
                        </a:rPr>
                        <a:t>Extend parser rules; adjudicate candidates; version the codebook</a:t>
                      </a:r>
                    </a:p>
                  </a:txBody>
                  <a:tcPr marL="95250" marR="95250" marT="66675" marB="66675" anchor="ctr">
                    <a:solidFill>
                      <a:srgbClr val="FFFFFF"/>
                    </a:solidFill>
                  </a:tcPr>
                </a:tc>
                <a:extLst>
                  <a:ext uri="{0D108BD9-81ED-4DB2-BD59-A6C34878D82A}">
                    <a16:rowId xmlns:a16="http://schemas.microsoft.com/office/drawing/2014/main" val="10005"/>
                  </a:ext>
                </a:extLst>
              </a:tr>
              <a:tr h="609600">
                <a:tc>
                  <a:txBody>
                    <a:bodyPr/>
                    <a:lstStyle/>
                    <a:p>
                      <a:r>
                        <a:rPr sz="953" b="1">
                          <a:solidFill>
                            <a:srgbClr val="176082"/>
                          </a:solidFill>
                          <a:latin typeface="Arial"/>
                          <a:ea typeface="Arial"/>
                          <a:cs typeface="Arial"/>
                        </a:rPr>
                        <a:t>Comprehension effect</a:t>
                      </a:r>
                    </a:p>
                  </a:txBody>
                  <a:tcPr marL="95250" marR="95250" marT="66675" marB="66675" anchor="ctr">
                    <a:solidFill>
                      <a:srgbClr val="E6F0F5"/>
                    </a:solidFill>
                  </a:tcPr>
                </a:tc>
                <a:tc>
                  <a:txBody>
                    <a:bodyPr/>
                    <a:lstStyle/>
                    <a:p>
                      <a:r>
                        <a:rPr sz="953">
                          <a:solidFill>
                            <a:srgbClr val="33343F"/>
                          </a:solidFill>
                          <a:latin typeface="Arial"/>
                          <a:ea typeface="Arial"/>
                          <a:cs typeface="Arial"/>
                        </a:rPr>
                        <a:t>Not tested</a:t>
                      </a:r>
                    </a:p>
                  </a:txBody>
                  <a:tcPr marL="95250" marR="95250" marT="66675" marB="66675" anchor="ctr">
                    <a:solidFill>
                      <a:srgbClr val="FFFFFF"/>
                    </a:solidFill>
                  </a:tcPr>
                </a:tc>
                <a:tc>
                  <a:txBody>
                    <a:bodyPr/>
                    <a:lstStyle/>
                    <a:p>
                      <a:r>
                        <a:rPr sz="953">
                          <a:solidFill>
                            <a:srgbClr val="33343F"/>
                          </a:solidFill>
                          <a:latin typeface="Arial"/>
                          <a:ea typeface="Arial"/>
                          <a:cs typeface="Arial"/>
                        </a:rPr>
                        <a:t>Compare original and revised passages with comprehension outcomes</a:t>
                      </a:r>
                    </a:p>
                  </a:txBody>
                  <a:tcPr marL="95250" marR="95250" marT="66675" marB="66675" anchor="ctr">
                    <a:solidFill>
                      <a:srgbClr val="FFFFFF"/>
                    </a:solidFill>
                  </a:tcPr>
                </a:tc>
                <a:extLst>
                  <a:ext uri="{0D108BD9-81ED-4DB2-BD59-A6C34878D82A}">
                    <a16:rowId xmlns:a16="http://schemas.microsoft.com/office/drawing/2014/main" val="10006"/>
                  </a:ext>
                </a:extLst>
              </a:tr>
            </a:tbl>
          </a:graphicData>
        </a:graphic>
      </p:graphicFrame>
      <p:sp>
        <p:nvSpPr>
          <p:cNvPr id="7" name="Dikdörtgen 6">
            <a:extLst>
              <a:ext uri="{FF2B5EF4-FFF2-40B4-BE49-F238E27FC236}">
                <a16:creationId xmlns:a16="http://schemas.microsoft.com/office/drawing/2014/main" id="{965AF869-391B-4C28-8E23-56C32A8F86AC}"/>
              </a:ext>
            </a:extLst>
          </p:cNvPr>
          <p:cNvSpPr>
            <a:spLocks noGrp="1"/>
          </p:cNvSpPr>
          <p:nvPr/>
        </p:nvSpPr>
        <p:spPr>
          <a:xfrm>
            <a:off x="1428750" y="5924550"/>
            <a:ext cx="9334500" cy="285750"/>
          </a:xfrm>
          <a:prstGeom prst="rect">
            <a:avLst/>
          </a:prstGeom>
          <a:noFill/>
          <a:ln w="0">
            <a:noFill/>
          </a:ln>
        </p:spPr>
        <p:txBody>
          <a:bodyPr anchor="t">
            <a:normAutofit fontScale="94444"/>
          </a:bodyPr>
          <a:lstStyle/>
          <a:p>
            <a:pPr algn="ctr">
              <a:defRPr sz="1350" b="1" i="0">
                <a:solidFill>
                  <a:srgbClr val="B94D35"/>
                </a:solidFill>
                <a:latin typeface="Arial"/>
                <a:ea typeface="Arial"/>
                <a:cs typeface="Arial"/>
              </a:defRPr>
            </a:pPr>
            <a:r>
              <a:rPr sz="1350" b="1" i="0">
                <a:solidFill>
                  <a:srgbClr val="B94D35"/>
                </a:solidFill>
                <a:latin typeface="Arial"/>
                <a:ea typeface="Arial"/>
                <a:cs typeface="Arial"/>
              </a:rPr>
              <a:t>The presentation demonstrates a research and selection procedure; it does not report completed empirical findings.</a:t>
            </a:r>
          </a:p>
        </p:txBody>
      </p:sp>
      <p:sp>
        <p:nvSpPr>
          <p:cNvPr id="8" name="Düz Bağlayıcı 7">
            <a:extLst>
              <a:ext uri="{FF2B5EF4-FFF2-40B4-BE49-F238E27FC236}">
                <a16:creationId xmlns:a16="http://schemas.microsoft.com/office/drawing/2014/main" id="{A741D0A9-A01E-4687-AA9A-EA3ED76F39CA}"/>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9" name="Dikdörtgen 8">
            <a:extLst>
              <a:ext uri="{FF2B5EF4-FFF2-40B4-BE49-F238E27FC236}">
                <a16:creationId xmlns:a16="http://schemas.microsoft.com/office/drawing/2014/main" id="{BF22DBF8-1F3F-4902-B0FC-14064B2A291D}"/>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016578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4" name="Yuvarlatılmış Dikdörtgen 23">
            <a:extLst>
              <a:ext uri="{FF2B5EF4-FFF2-40B4-BE49-F238E27FC236}">
                <a16:creationId xmlns:a16="http://schemas.microsoft.com/office/drawing/2014/main" id="{07816B78-DC8B-4F75-AF29-30C0FA3156CF}"/>
              </a:ext>
            </a:extLst>
          </p:cNvPr>
          <p:cNvSpPr>
            <a:spLocks noGrp="1"/>
          </p:cNvSpPr>
          <p:nvPr/>
        </p:nvSpPr>
        <p:spPr>
          <a:xfrm>
            <a:off x="685800" y="371475"/>
            <a:ext cx="66675" cy="171450"/>
          </a:xfrm>
          <a:prstGeom prst="roundRect">
            <a:avLst>
              <a:gd name="adj" fmla="val 50000"/>
            </a:avLst>
          </a:prstGeom>
          <a:solidFill>
            <a:srgbClr val="626777"/>
          </a:solidFill>
          <a:ln w="0">
            <a:noFill/>
          </a:ln>
        </p:spPr>
        <p:txBody>
          <a:bodyPr/>
          <a:lstStyle/>
          <a:p>
            <a:endParaRPr lang="tr-TR"/>
          </a:p>
        </p:txBody>
      </p:sp>
      <p:sp>
        <p:nvSpPr>
          <p:cNvPr id="2" name="Dikdörtgen 1">
            <a:extLst>
              <a:ext uri="{FF2B5EF4-FFF2-40B4-BE49-F238E27FC236}">
                <a16:creationId xmlns:a16="http://schemas.microsoft.com/office/drawing/2014/main" id="{5E5DC1D5-C2AB-4293-B188-FEC08318053A}"/>
              </a:ext>
            </a:extLst>
          </p:cNvPr>
          <p:cNvSpPr>
            <a:spLocks noGrp="1"/>
          </p:cNvSpPr>
          <p:nvPr/>
        </p:nvSpPr>
        <p:spPr>
          <a:xfrm>
            <a:off x="847725" y="333375"/>
            <a:ext cx="4095750" cy="257175"/>
          </a:xfrm>
          <a:prstGeom prst="rect">
            <a:avLst/>
          </a:prstGeom>
          <a:noFill/>
          <a:ln w="0">
            <a:noFill/>
          </a:ln>
        </p:spPr>
        <p:txBody>
          <a:bodyPr anchor="ctr">
            <a:normAutofit/>
          </a:bodyPr>
          <a:lstStyle/>
          <a:p>
            <a:pPr algn="l">
              <a:defRPr sz="975" b="1" i="0">
                <a:solidFill>
                  <a:srgbClr val="626777"/>
                </a:solidFill>
                <a:latin typeface="Arial"/>
                <a:ea typeface="Arial"/>
                <a:cs typeface="Arial"/>
              </a:defRPr>
            </a:pPr>
            <a:r>
              <a:rPr sz="975" b="1" i="0">
                <a:solidFill>
                  <a:srgbClr val="626777"/>
                </a:solidFill>
                <a:latin typeface="Arial"/>
                <a:ea typeface="Arial"/>
                <a:cs typeface="Arial"/>
              </a:rPr>
              <a:t>APPENDIX</a:t>
            </a:r>
          </a:p>
        </p:txBody>
      </p:sp>
      <p:sp>
        <p:nvSpPr>
          <p:cNvPr id="3" name="Dikdörtgen 2">
            <a:extLst>
              <a:ext uri="{FF2B5EF4-FFF2-40B4-BE49-F238E27FC236}">
                <a16:creationId xmlns:a16="http://schemas.microsoft.com/office/drawing/2014/main" id="{0A2E7497-97EC-4408-90A3-3DEFA8C57C7B}"/>
              </a:ext>
            </a:extLst>
          </p:cNvPr>
          <p:cNvSpPr>
            <a:spLocks noGrp="1"/>
          </p:cNvSpPr>
          <p:nvPr/>
        </p:nvSpPr>
        <p:spPr>
          <a:xfrm>
            <a:off x="685800" y="628650"/>
            <a:ext cx="10668000" cy="666750"/>
          </a:xfrm>
          <a:prstGeom prst="rect">
            <a:avLst/>
          </a:prstGeom>
          <a:noFill/>
          <a:ln w="0">
            <a:noFill/>
          </a:ln>
        </p:spPr>
        <p:txBody>
          <a:bodyPr anchor="t">
            <a:normAutofit/>
          </a:bodyPr>
          <a:lstStyle/>
          <a:p>
            <a:pPr algn="l">
              <a:defRPr sz="2550" b="1" i="0">
                <a:solidFill>
                  <a:srgbClr val="33343F"/>
                </a:solidFill>
                <a:latin typeface="Arial"/>
                <a:ea typeface="Arial"/>
                <a:cs typeface="Arial"/>
              </a:defRPr>
            </a:pPr>
            <a:r>
              <a:rPr sz="2550" b="1" i="0">
                <a:solidFill>
                  <a:srgbClr val="33343F"/>
                </a:solidFill>
                <a:latin typeface="Arial"/>
                <a:ea typeface="Arial"/>
                <a:cs typeface="Arial"/>
              </a:rPr>
              <a:t>Selected references</a:t>
            </a:r>
          </a:p>
        </p:txBody>
      </p:sp>
      <p:sp>
        <p:nvSpPr>
          <p:cNvPr id="4" name="Düz Bağlayıcı 3">
            <a:extLst>
              <a:ext uri="{FF2B5EF4-FFF2-40B4-BE49-F238E27FC236}">
                <a16:creationId xmlns:a16="http://schemas.microsoft.com/office/drawing/2014/main" id="{32C6F552-08AC-402C-9BC9-C78809407173}"/>
              </a:ext>
            </a:extLst>
          </p:cNvPr>
          <p:cNvSpPr>
            <a:spLocks noGrp="1"/>
          </p:cNvSpPr>
          <p:nvPr/>
        </p:nvSpPr>
        <p:spPr>
          <a:xfrm>
            <a:off x="685800" y="1323975"/>
            <a:ext cx="10839450" cy="0"/>
          </a:xfrm>
          <a:prstGeom prst="line">
            <a:avLst/>
          </a:prstGeom>
          <a:noFill/>
          <a:ln w="14288">
            <a:solidFill>
              <a:srgbClr val="C8C9D3"/>
            </a:solidFill>
          </a:ln>
        </p:spPr>
        <p:txBody>
          <a:bodyPr/>
          <a:lstStyle/>
          <a:p>
            <a:endParaRPr lang="tr-TR"/>
          </a:p>
        </p:txBody>
      </p:sp>
      <p:sp>
        <p:nvSpPr>
          <p:cNvPr id="5" name="Dikdörtgen 4">
            <a:extLst>
              <a:ext uri="{FF2B5EF4-FFF2-40B4-BE49-F238E27FC236}">
                <a16:creationId xmlns:a16="http://schemas.microsoft.com/office/drawing/2014/main" id="{00A800E7-ABE7-4B2A-A81B-B7667B3672BE}"/>
              </a:ext>
            </a:extLst>
          </p:cNvPr>
          <p:cNvSpPr>
            <a:spLocks noGrp="1"/>
          </p:cNvSpPr>
          <p:nvPr/>
        </p:nvSpPr>
        <p:spPr>
          <a:xfrm>
            <a:off x="11334750" y="342900"/>
            <a:ext cx="400050" cy="228600"/>
          </a:xfrm>
          <a:prstGeom prst="rect">
            <a:avLst/>
          </a:prstGeom>
          <a:noFill/>
          <a:ln w="0">
            <a:noFill/>
          </a:ln>
        </p:spPr>
        <p:txBody>
          <a:bodyPr anchor="t">
            <a:normAutofit/>
          </a:bodyPr>
          <a:lstStyle/>
          <a:p>
            <a:pPr algn="r">
              <a:defRPr sz="900" b="0" i="0">
                <a:solidFill>
                  <a:srgbClr val="626777"/>
                </a:solidFill>
                <a:latin typeface="Arial"/>
                <a:ea typeface="Arial"/>
                <a:cs typeface="Arial"/>
              </a:defRPr>
            </a:pPr>
            <a:r>
              <a:rPr sz="900" b="0" i="0">
                <a:solidFill>
                  <a:srgbClr val="626777"/>
                </a:solidFill>
                <a:latin typeface="Arial"/>
                <a:ea typeface="Arial"/>
                <a:cs typeface="Arial"/>
              </a:rPr>
              <a:t>30</a:t>
            </a:r>
          </a:p>
        </p:txBody>
      </p:sp>
      <p:sp>
        <p:nvSpPr>
          <p:cNvPr id="6" name="Yuvarlatılmış Dikdörtgen 5">
            <a:extLst>
              <a:ext uri="{FF2B5EF4-FFF2-40B4-BE49-F238E27FC236}">
                <a16:creationId xmlns:a16="http://schemas.microsoft.com/office/drawing/2014/main" id="{A6D8AC64-813C-425D-B6AE-F80470F291BB}"/>
              </a:ext>
            </a:extLst>
          </p:cNvPr>
          <p:cNvSpPr>
            <a:spLocks noGrp="1"/>
          </p:cNvSpPr>
          <p:nvPr/>
        </p:nvSpPr>
        <p:spPr>
          <a:xfrm>
            <a:off x="666750" y="1581150"/>
            <a:ext cx="5191125" cy="4095750"/>
          </a:xfrm>
          <a:prstGeom prst="roundRect">
            <a:avLst>
              <a:gd name="adj" fmla="val 1860"/>
            </a:avLst>
          </a:prstGeom>
          <a:solidFill>
            <a:srgbClr val="FFFFFF"/>
          </a:solidFill>
          <a:ln w="9525">
            <a:solidFill>
              <a:srgbClr val="C8C9D3"/>
            </a:solidFill>
          </a:ln>
        </p:spPr>
        <p:txBody>
          <a:bodyPr/>
          <a:lstStyle/>
          <a:p>
            <a:endParaRPr lang="tr-TR"/>
          </a:p>
        </p:txBody>
      </p:sp>
      <p:sp>
        <p:nvSpPr>
          <p:cNvPr id="7" name="Yuvarlatılmış Dikdörtgen 6">
            <a:extLst>
              <a:ext uri="{FF2B5EF4-FFF2-40B4-BE49-F238E27FC236}">
                <a16:creationId xmlns:a16="http://schemas.microsoft.com/office/drawing/2014/main" id="{70EBAAF5-05A9-4AF2-9EF6-07B39F6CAA57}"/>
              </a:ext>
            </a:extLst>
          </p:cNvPr>
          <p:cNvSpPr>
            <a:spLocks noGrp="1"/>
          </p:cNvSpPr>
          <p:nvPr/>
        </p:nvSpPr>
        <p:spPr>
          <a:xfrm>
            <a:off x="6334125" y="1581150"/>
            <a:ext cx="5191125" cy="4095750"/>
          </a:xfrm>
          <a:prstGeom prst="roundRect">
            <a:avLst>
              <a:gd name="adj" fmla="val 1860"/>
            </a:avLst>
          </a:prstGeom>
          <a:solidFill>
            <a:srgbClr val="FFFFFF"/>
          </a:solidFill>
          <a:ln w="9525">
            <a:solidFill>
              <a:srgbClr val="C8C9D3"/>
            </a:solidFill>
          </a:ln>
        </p:spPr>
        <p:txBody>
          <a:bodyPr/>
          <a:lstStyle/>
          <a:p>
            <a:endParaRPr lang="tr-TR"/>
          </a:p>
        </p:txBody>
      </p:sp>
      <p:sp>
        <p:nvSpPr>
          <p:cNvPr id="8" name="Dikdörtgen 7">
            <a:extLst>
              <a:ext uri="{FF2B5EF4-FFF2-40B4-BE49-F238E27FC236}">
                <a16:creationId xmlns:a16="http://schemas.microsoft.com/office/drawing/2014/main" id="{5634A7FF-AD58-46B6-A207-AB8A2EDE0507}"/>
              </a:ext>
            </a:extLst>
          </p:cNvPr>
          <p:cNvSpPr>
            <a:spLocks noGrp="1"/>
          </p:cNvSpPr>
          <p:nvPr/>
        </p:nvSpPr>
        <p:spPr>
          <a:xfrm>
            <a:off x="904875" y="1809750"/>
            <a:ext cx="4714875" cy="514350"/>
          </a:xfrm>
          <a:prstGeom prst="rect">
            <a:avLst/>
          </a:prstGeom>
          <a:noFill/>
          <a:ln w="0">
            <a:noFill/>
          </a:ln>
        </p:spPr>
        <p:txBody>
          <a:bodyPr anchor="t">
            <a:normAutofit/>
          </a:bodyPr>
          <a:lstStyle/>
          <a:p>
            <a:pPr algn="l">
              <a:defRPr sz="1050" b="0" i="0">
                <a:solidFill>
                  <a:srgbClr val="33343F"/>
                </a:solidFill>
                <a:latin typeface="Arial"/>
                <a:ea typeface="Arial"/>
                <a:cs typeface="Arial"/>
              </a:defRPr>
            </a:pPr>
            <a:r>
              <a:rPr sz="1050" b="0" i="0">
                <a:solidFill>
                  <a:srgbClr val="33343F"/>
                </a:solidFill>
                <a:latin typeface="Arial"/>
                <a:ea typeface="Arial"/>
                <a:cs typeface="Arial"/>
              </a:rPr>
              <a:t>Biber, D., Johansson, S., Leech, G., Conrad, S., &amp; Finegan, E. (1999). Longman Grammar of Spoken and Written English.</a:t>
            </a:r>
          </a:p>
        </p:txBody>
      </p:sp>
      <p:sp>
        <p:nvSpPr>
          <p:cNvPr id="9" name="Dikdörtgen 8">
            <a:extLst>
              <a:ext uri="{FF2B5EF4-FFF2-40B4-BE49-F238E27FC236}">
                <a16:creationId xmlns:a16="http://schemas.microsoft.com/office/drawing/2014/main" id="{34327831-37E8-4313-8362-EE0DA26B2B11}"/>
              </a:ext>
            </a:extLst>
          </p:cNvPr>
          <p:cNvSpPr>
            <a:spLocks noGrp="1"/>
          </p:cNvSpPr>
          <p:nvPr/>
        </p:nvSpPr>
        <p:spPr>
          <a:xfrm>
            <a:off x="904875" y="2419350"/>
            <a:ext cx="4714875" cy="514350"/>
          </a:xfrm>
          <a:prstGeom prst="rect">
            <a:avLst/>
          </a:prstGeom>
          <a:noFill/>
          <a:ln w="0">
            <a:noFill/>
          </a:ln>
        </p:spPr>
        <p:txBody>
          <a:bodyPr anchor="t">
            <a:normAutofit/>
          </a:bodyPr>
          <a:lstStyle/>
          <a:p>
            <a:pPr algn="l">
              <a:defRPr sz="1050" b="0" i="0">
                <a:solidFill>
                  <a:srgbClr val="33343F"/>
                </a:solidFill>
                <a:latin typeface="Arial"/>
                <a:ea typeface="Arial"/>
                <a:cs typeface="Arial"/>
              </a:defRPr>
            </a:pPr>
            <a:r>
              <a:rPr sz="1050" b="0" i="0">
                <a:solidFill>
                  <a:srgbClr val="33343F"/>
                </a:solidFill>
                <a:latin typeface="Arial"/>
                <a:ea typeface="Arial"/>
                <a:cs typeface="Arial"/>
              </a:rPr>
              <a:t>Björkman, B. (2013). English as an Academic Lingua Franca.</a:t>
            </a:r>
          </a:p>
        </p:txBody>
      </p:sp>
      <p:sp>
        <p:nvSpPr>
          <p:cNvPr id="10" name="Dikdörtgen 9">
            <a:extLst>
              <a:ext uri="{FF2B5EF4-FFF2-40B4-BE49-F238E27FC236}">
                <a16:creationId xmlns:a16="http://schemas.microsoft.com/office/drawing/2014/main" id="{F652001F-3F3D-4029-96E8-CE424853F057}"/>
              </a:ext>
            </a:extLst>
          </p:cNvPr>
          <p:cNvSpPr>
            <a:spLocks noGrp="1"/>
          </p:cNvSpPr>
          <p:nvPr/>
        </p:nvSpPr>
        <p:spPr>
          <a:xfrm>
            <a:off x="904875" y="3028950"/>
            <a:ext cx="4714875" cy="514350"/>
          </a:xfrm>
          <a:prstGeom prst="rect">
            <a:avLst/>
          </a:prstGeom>
          <a:noFill/>
          <a:ln w="0">
            <a:noFill/>
          </a:ln>
        </p:spPr>
        <p:txBody>
          <a:bodyPr anchor="t">
            <a:normAutofit/>
          </a:bodyPr>
          <a:lstStyle/>
          <a:p>
            <a:pPr algn="l">
              <a:defRPr sz="1050" b="0" i="0">
                <a:solidFill>
                  <a:srgbClr val="33343F"/>
                </a:solidFill>
                <a:latin typeface="Arial"/>
                <a:ea typeface="Arial"/>
                <a:cs typeface="Arial"/>
              </a:defRPr>
            </a:pPr>
            <a:r>
              <a:rPr sz="1050" b="0" i="0">
                <a:solidFill>
                  <a:srgbClr val="33343F"/>
                </a:solidFill>
                <a:latin typeface="Arial"/>
                <a:ea typeface="Arial"/>
                <a:cs typeface="Arial"/>
              </a:rPr>
              <a:t>Canale, M., &amp; Swain, M. (1980). Theoretical bases of communicative approaches.</a:t>
            </a:r>
          </a:p>
        </p:txBody>
      </p:sp>
      <p:sp>
        <p:nvSpPr>
          <p:cNvPr id="11" name="Dikdörtgen 10">
            <a:extLst>
              <a:ext uri="{FF2B5EF4-FFF2-40B4-BE49-F238E27FC236}">
                <a16:creationId xmlns:a16="http://schemas.microsoft.com/office/drawing/2014/main" id="{D9DD778C-7069-4FE6-8292-A01247F7262E}"/>
              </a:ext>
            </a:extLst>
          </p:cNvPr>
          <p:cNvSpPr>
            <a:spLocks noGrp="1"/>
          </p:cNvSpPr>
          <p:nvPr/>
        </p:nvSpPr>
        <p:spPr>
          <a:xfrm>
            <a:off x="904875" y="3638550"/>
            <a:ext cx="4714875" cy="514350"/>
          </a:xfrm>
          <a:prstGeom prst="rect">
            <a:avLst/>
          </a:prstGeom>
          <a:noFill/>
          <a:ln w="0">
            <a:noFill/>
          </a:ln>
        </p:spPr>
        <p:txBody>
          <a:bodyPr anchor="t">
            <a:normAutofit/>
          </a:bodyPr>
          <a:lstStyle/>
          <a:p>
            <a:pPr algn="l">
              <a:defRPr sz="1050" b="0" i="0">
                <a:solidFill>
                  <a:srgbClr val="33343F"/>
                </a:solidFill>
                <a:latin typeface="Arial"/>
                <a:ea typeface="Arial"/>
                <a:cs typeface="Arial"/>
              </a:defRPr>
            </a:pPr>
            <a:r>
              <a:rPr sz="1050" b="0" i="0">
                <a:solidFill>
                  <a:srgbClr val="33343F"/>
                </a:solidFill>
                <a:latin typeface="Arial"/>
                <a:ea typeface="Arial"/>
                <a:cs typeface="Arial"/>
              </a:rPr>
              <a:t>Council of Europe. (2020). CEFR Companion Volume.</a:t>
            </a:r>
          </a:p>
        </p:txBody>
      </p:sp>
      <p:sp>
        <p:nvSpPr>
          <p:cNvPr id="12" name="Dikdörtgen 11">
            <a:extLst>
              <a:ext uri="{FF2B5EF4-FFF2-40B4-BE49-F238E27FC236}">
                <a16:creationId xmlns:a16="http://schemas.microsoft.com/office/drawing/2014/main" id="{52AFAFB1-D2E0-4563-9F8F-EC2FDB00BC4F}"/>
              </a:ext>
            </a:extLst>
          </p:cNvPr>
          <p:cNvSpPr>
            <a:spLocks noGrp="1"/>
          </p:cNvSpPr>
          <p:nvPr/>
        </p:nvSpPr>
        <p:spPr>
          <a:xfrm>
            <a:off x="904875" y="4248150"/>
            <a:ext cx="4714875" cy="514350"/>
          </a:xfrm>
          <a:prstGeom prst="rect">
            <a:avLst/>
          </a:prstGeom>
          <a:noFill/>
          <a:ln w="0">
            <a:noFill/>
          </a:ln>
        </p:spPr>
        <p:txBody>
          <a:bodyPr anchor="t">
            <a:normAutofit/>
          </a:bodyPr>
          <a:lstStyle/>
          <a:p>
            <a:pPr algn="l">
              <a:defRPr sz="1050" b="0" i="0">
                <a:solidFill>
                  <a:srgbClr val="33343F"/>
                </a:solidFill>
                <a:latin typeface="Arial"/>
                <a:ea typeface="Arial"/>
                <a:cs typeface="Arial"/>
              </a:defRPr>
            </a:pPr>
            <a:r>
              <a:rPr sz="1050" b="0" i="0">
                <a:solidFill>
                  <a:srgbClr val="33343F"/>
                </a:solidFill>
                <a:latin typeface="Arial"/>
                <a:ea typeface="Arial"/>
                <a:cs typeface="Arial"/>
              </a:rPr>
              <a:t>Evans, S., &amp; Morrison, B. (2011). Meeting the challenges of English-medium higher education.</a:t>
            </a:r>
          </a:p>
        </p:txBody>
      </p:sp>
      <p:sp>
        <p:nvSpPr>
          <p:cNvPr id="13" name="Dikdörtgen 12">
            <a:extLst>
              <a:ext uri="{FF2B5EF4-FFF2-40B4-BE49-F238E27FC236}">
                <a16:creationId xmlns:a16="http://schemas.microsoft.com/office/drawing/2014/main" id="{2B7B51E8-A900-452A-89CA-E03B89A6E003}"/>
              </a:ext>
            </a:extLst>
          </p:cNvPr>
          <p:cNvSpPr>
            <a:spLocks noGrp="1"/>
          </p:cNvSpPr>
          <p:nvPr/>
        </p:nvSpPr>
        <p:spPr>
          <a:xfrm>
            <a:off x="904875" y="4857750"/>
            <a:ext cx="4714875" cy="514350"/>
          </a:xfrm>
          <a:prstGeom prst="rect">
            <a:avLst/>
          </a:prstGeom>
          <a:noFill/>
          <a:ln w="0">
            <a:noFill/>
          </a:ln>
        </p:spPr>
        <p:txBody>
          <a:bodyPr anchor="t">
            <a:normAutofit/>
          </a:bodyPr>
          <a:lstStyle/>
          <a:p>
            <a:pPr algn="l">
              <a:defRPr sz="1050" b="1" i="0">
                <a:solidFill>
                  <a:srgbClr val="33343F"/>
                </a:solidFill>
                <a:latin typeface="Arial"/>
                <a:ea typeface="Arial"/>
                <a:cs typeface="Arial"/>
              </a:defRPr>
            </a:pPr>
            <a:r>
              <a:rPr sz="1050" b="1" i="0">
                <a:solidFill>
                  <a:srgbClr val="33343F"/>
                </a:solidFill>
                <a:latin typeface="Arial"/>
                <a:ea typeface="Arial"/>
                <a:cs typeface="Arial"/>
              </a:rPr>
              <a:t>Jenkins, J., &amp; Mauranen, A. (Eds.). (2019). Linguistic Diversity on the EMI Campus.</a:t>
            </a:r>
          </a:p>
        </p:txBody>
      </p:sp>
      <p:sp>
        <p:nvSpPr>
          <p:cNvPr id="14" name="Dikdörtgen 13">
            <a:extLst>
              <a:ext uri="{FF2B5EF4-FFF2-40B4-BE49-F238E27FC236}">
                <a16:creationId xmlns:a16="http://schemas.microsoft.com/office/drawing/2014/main" id="{66283238-EE05-42C6-B7A8-51D0F68BA1EC}"/>
              </a:ext>
            </a:extLst>
          </p:cNvPr>
          <p:cNvSpPr>
            <a:spLocks noGrp="1"/>
          </p:cNvSpPr>
          <p:nvPr/>
        </p:nvSpPr>
        <p:spPr>
          <a:xfrm>
            <a:off x="6572250" y="1762125"/>
            <a:ext cx="4714875" cy="466725"/>
          </a:xfrm>
          <a:prstGeom prst="rect">
            <a:avLst/>
          </a:prstGeom>
          <a:noFill/>
          <a:ln w="0">
            <a:noFill/>
          </a:ln>
        </p:spPr>
        <p:txBody>
          <a:bodyPr anchor="t">
            <a:normAutofit/>
          </a:bodyPr>
          <a:lstStyle/>
          <a:p>
            <a:pPr algn="l">
              <a:defRPr sz="1005" b="1" i="0">
                <a:solidFill>
                  <a:srgbClr val="33343F"/>
                </a:solidFill>
                <a:latin typeface="Arial"/>
                <a:ea typeface="Arial"/>
                <a:cs typeface="Arial"/>
              </a:defRPr>
            </a:pPr>
            <a:r>
              <a:rPr sz="1005" b="1" i="0">
                <a:solidFill>
                  <a:srgbClr val="33343F"/>
                </a:solidFill>
                <a:latin typeface="Arial"/>
                <a:ea typeface="Arial"/>
                <a:cs typeface="Arial"/>
              </a:rPr>
              <a:t>Mauranen, A., Hynninen, N., &amp; Ranta, E. (2016). English as the academic lingua franca.</a:t>
            </a:r>
          </a:p>
        </p:txBody>
      </p:sp>
      <p:sp>
        <p:nvSpPr>
          <p:cNvPr id="15" name="Dikdörtgen 14">
            <a:extLst>
              <a:ext uri="{FF2B5EF4-FFF2-40B4-BE49-F238E27FC236}">
                <a16:creationId xmlns:a16="http://schemas.microsoft.com/office/drawing/2014/main" id="{DAF9E968-8FAD-4020-9376-64049163946E}"/>
              </a:ext>
            </a:extLst>
          </p:cNvPr>
          <p:cNvSpPr>
            <a:spLocks noGrp="1"/>
          </p:cNvSpPr>
          <p:nvPr/>
        </p:nvSpPr>
        <p:spPr>
          <a:xfrm>
            <a:off x="6572250" y="2295525"/>
            <a:ext cx="4714875" cy="466725"/>
          </a:xfrm>
          <a:prstGeom prst="rect">
            <a:avLst/>
          </a:prstGeom>
          <a:noFill/>
          <a:ln w="0">
            <a:noFill/>
          </a:ln>
        </p:spPr>
        <p:txBody>
          <a:bodyPr anchor="t">
            <a:normAutofit/>
          </a:bodyPr>
          <a:lstStyle/>
          <a:p>
            <a:pPr algn="l">
              <a:defRPr sz="1005" b="1" i="0">
                <a:solidFill>
                  <a:srgbClr val="33343F"/>
                </a:solidFill>
                <a:latin typeface="Arial"/>
                <a:ea typeface="Arial"/>
                <a:cs typeface="Arial"/>
              </a:defRPr>
            </a:pPr>
            <a:r>
              <a:rPr sz="1005" b="1" i="0">
                <a:solidFill>
                  <a:srgbClr val="33343F"/>
                </a:solidFill>
                <a:latin typeface="Arial"/>
                <a:ea typeface="Arial"/>
                <a:cs typeface="Arial"/>
              </a:rPr>
              <a:t>McKinley, J. (2025). Beyond Proficiency: Rethinking Preparedness in English-Medium Instruction. TESOL Journal, e70080.</a:t>
            </a:r>
          </a:p>
        </p:txBody>
      </p:sp>
      <p:sp>
        <p:nvSpPr>
          <p:cNvPr id="16" name="Dikdörtgen 15">
            <a:extLst>
              <a:ext uri="{FF2B5EF4-FFF2-40B4-BE49-F238E27FC236}">
                <a16:creationId xmlns:a16="http://schemas.microsoft.com/office/drawing/2014/main" id="{B40F3E4A-F096-40C1-AAFE-932DF40B04DF}"/>
              </a:ext>
            </a:extLst>
          </p:cNvPr>
          <p:cNvSpPr>
            <a:spLocks noGrp="1"/>
          </p:cNvSpPr>
          <p:nvPr/>
        </p:nvSpPr>
        <p:spPr>
          <a:xfrm>
            <a:off x="6572250" y="2828925"/>
            <a:ext cx="4714875" cy="466725"/>
          </a:xfrm>
          <a:prstGeom prst="rect">
            <a:avLst/>
          </a:prstGeom>
          <a:noFill/>
          <a:ln w="0">
            <a:noFill/>
          </a:ln>
        </p:spPr>
        <p:txBody>
          <a:bodyPr anchor="t">
            <a:normAutofit/>
          </a:bodyPr>
          <a:lstStyle/>
          <a:p>
            <a:pPr algn="l">
              <a:defRPr sz="1005" b="1" i="0">
                <a:solidFill>
                  <a:srgbClr val="33343F"/>
                </a:solidFill>
                <a:latin typeface="Arial"/>
                <a:ea typeface="Arial"/>
                <a:cs typeface="Arial"/>
              </a:defRPr>
            </a:pPr>
            <a:r>
              <a:rPr sz="1005" b="1" i="0">
                <a:solidFill>
                  <a:srgbClr val="33343F"/>
                </a:solidFill>
                <a:latin typeface="Arial"/>
                <a:ea typeface="Arial"/>
                <a:cs typeface="Arial"/>
              </a:rPr>
              <a:t>Quirk, R., Greenbaum, S., Leech, G., &amp; Svartvik, J. (1985). A Comprehensive Grammar of the English Language.</a:t>
            </a:r>
          </a:p>
        </p:txBody>
      </p:sp>
      <p:sp>
        <p:nvSpPr>
          <p:cNvPr id="17" name="Dikdörtgen 16">
            <a:extLst>
              <a:ext uri="{FF2B5EF4-FFF2-40B4-BE49-F238E27FC236}">
                <a16:creationId xmlns:a16="http://schemas.microsoft.com/office/drawing/2014/main" id="{DAF2FC33-BFE5-4335-A706-E91D58B12D5B}"/>
              </a:ext>
            </a:extLst>
          </p:cNvPr>
          <p:cNvSpPr>
            <a:spLocks noGrp="1"/>
          </p:cNvSpPr>
          <p:nvPr/>
        </p:nvSpPr>
        <p:spPr>
          <a:xfrm>
            <a:off x="6572250" y="3362325"/>
            <a:ext cx="4714875" cy="466725"/>
          </a:xfrm>
          <a:prstGeom prst="rect">
            <a:avLst/>
          </a:prstGeom>
          <a:noFill/>
          <a:ln w="0">
            <a:noFill/>
          </a:ln>
        </p:spPr>
        <p:txBody>
          <a:bodyPr anchor="t">
            <a:normAutofit/>
          </a:bodyPr>
          <a:lstStyle/>
          <a:p>
            <a:pPr algn="l">
              <a:defRPr sz="1005" b="0" i="0">
                <a:solidFill>
                  <a:srgbClr val="33343F"/>
                </a:solidFill>
                <a:latin typeface="Arial"/>
                <a:ea typeface="Arial"/>
                <a:cs typeface="Arial"/>
              </a:defRPr>
            </a:pPr>
            <a:r>
              <a:rPr sz="1005" b="0" i="0">
                <a:solidFill>
                  <a:srgbClr val="33343F"/>
                </a:solidFill>
                <a:latin typeface="Arial"/>
                <a:ea typeface="Arial"/>
                <a:cs typeface="Arial"/>
              </a:rPr>
              <a:t>Seidlhofer, B. (2011). Understanding English as a Lingua Franca.</a:t>
            </a:r>
          </a:p>
        </p:txBody>
      </p:sp>
      <p:sp>
        <p:nvSpPr>
          <p:cNvPr id="18" name="Dikdörtgen 17">
            <a:extLst>
              <a:ext uri="{FF2B5EF4-FFF2-40B4-BE49-F238E27FC236}">
                <a16:creationId xmlns:a16="http://schemas.microsoft.com/office/drawing/2014/main" id="{614B73B0-792C-427E-8F3A-43512944F3B1}"/>
              </a:ext>
            </a:extLst>
          </p:cNvPr>
          <p:cNvSpPr>
            <a:spLocks noGrp="1"/>
          </p:cNvSpPr>
          <p:nvPr/>
        </p:nvSpPr>
        <p:spPr>
          <a:xfrm>
            <a:off x="6572250" y="3895725"/>
            <a:ext cx="4714875" cy="466725"/>
          </a:xfrm>
          <a:prstGeom prst="rect">
            <a:avLst/>
          </a:prstGeom>
          <a:noFill/>
          <a:ln w="0">
            <a:noFill/>
          </a:ln>
        </p:spPr>
        <p:txBody>
          <a:bodyPr anchor="t">
            <a:normAutofit/>
          </a:bodyPr>
          <a:lstStyle/>
          <a:p>
            <a:pPr algn="l">
              <a:defRPr sz="1005" b="0" i="0">
                <a:solidFill>
                  <a:srgbClr val="33343F"/>
                </a:solidFill>
                <a:latin typeface="Arial"/>
                <a:ea typeface="Arial"/>
                <a:cs typeface="Arial"/>
              </a:defRPr>
            </a:pPr>
            <a:r>
              <a:rPr sz="1005" b="0" i="0">
                <a:solidFill>
                  <a:srgbClr val="33343F"/>
                </a:solidFill>
                <a:latin typeface="Arial"/>
                <a:ea typeface="Arial"/>
                <a:cs typeface="Arial"/>
              </a:rPr>
              <a:t>Text Inspector. (2026). Text analysis platform, v2.0.</a:t>
            </a:r>
          </a:p>
        </p:txBody>
      </p:sp>
      <p:sp>
        <p:nvSpPr>
          <p:cNvPr id="19" name="Dikdörtgen 18">
            <a:extLst>
              <a:ext uri="{FF2B5EF4-FFF2-40B4-BE49-F238E27FC236}">
                <a16:creationId xmlns:a16="http://schemas.microsoft.com/office/drawing/2014/main" id="{586DA5DE-9B71-4522-AFC7-46755B2F349F}"/>
              </a:ext>
            </a:extLst>
          </p:cNvPr>
          <p:cNvSpPr>
            <a:spLocks noGrp="1"/>
          </p:cNvSpPr>
          <p:nvPr/>
        </p:nvSpPr>
        <p:spPr>
          <a:xfrm>
            <a:off x="6572250" y="4429125"/>
            <a:ext cx="4714875" cy="466725"/>
          </a:xfrm>
          <a:prstGeom prst="rect">
            <a:avLst/>
          </a:prstGeom>
          <a:noFill/>
          <a:ln w="0">
            <a:noFill/>
          </a:ln>
        </p:spPr>
        <p:txBody>
          <a:bodyPr anchor="t">
            <a:normAutofit/>
          </a:bodyPr>
          <a:lstStyle/>
          <a:p>
            <a:pPr algn="l">
              <a:defRPr sz="1005" b="0" i="0">
                <a:solidFill>
                  <a:srgbClr val="33343F"/>
                </a:solidFill>
                <a:latin typeface="Arial"/>
                <a:ea typeface="Arial"/>
                <a:cs typeface="Arial"/>
              </a:defRPr>
            </a:pPr>
            <a:r>
              <a:rPr sz="1005" b="0" i="0">
                <a:solidFill>
                  <a:srgbClr val="33343F"/>
                </a:solidFill>
                <a:latin typeface="Arial"/>
                <a:ea typeface="Arial"/>
                <a:cs typeface="Arial"/>
              </a:rPr>
              <a:t>English Profile. English Vocabulary Profile and English Grammar Profile.</a:t>
            </a:r>
          </a:p>
        </p:txBody>
      </p:sp>
      <p:sp>
        <p:nvSpPr>
          <p:cNvPr id="20" name="Dikdörtgen 19">
            <a:extLst>
              <a:ext uri="{FF2B5EF4-FFF2-40B4-BE49-F238E27FC236}">
                <a16:creationId xmlns:a16="http://schemas.microsoft.com/office/drawing/2014/main" id="{AD7CBF58-0804-44DD-A31C-B604C2295A9C}"/>
              </a:ext>
            </a:extLst>
          </p:cNvPr>
          <p:cNvSpPr>
            <a:spLocks noGrp="1"/>
          </p:cNvSpPr>
          <p:nvPr/>
        </p:nvSpPr>
        <p:spPr>
          <a:xfrm>
            <a:off x="6572250" y="4962525"/>
            <a:ext cx="4714875" cy="466725"/>
          </a:xfrm>
          <a:prstGeom prst="rect">
            <a:avLst/>
          </a:prstGeom>
          <a:noFill/>
          <a:ln w="0">
            <a:noFill/>
          </a:ln>
        </p:spPr>
        <p:txBody>
          <a:bodyPr anchor="t">
            <a:normAutofit/>
          </a:bodyPr>
          <a:lstStyle/>
          <a:p>
            <a:pPr algn="l">
              <a:defRPr sz="1005" b="1" i="0">
                <a:solidFill>
                  <a:srgbClr val="33343F"/>
                </a:solidFill>
                <a:latin typeface="Arial"/>
                <a:ea typeface="Arial"/>
                <a:cs typeface="Arial"/>
              </a:defRPr>
            </a:pPr>
            <a:r>
              <a:rPr sz="1005" b="1" i="0">
                <a:solidFill>
                  <a:srgbClr val="33343F"/>
                </a:solidFill>
                <a:latin typeface="Arial"/>
                <a:ea typeface="Arial"/>
                <a:cs typeface="Arial"/>
              </a:rPr>
              <a:t>MIWAE Corpus Analysis API. (2026). Version 0.1, open research prototype.</a:t>
            </a:r>
          </a:p>
        </p:txBody>
      </p:sp>
      <p:sp>
        <p:nvSpPr>
          <p:cNvPr id="21" name="Dikdörtgen 20">
            <a:extLst>
              <a:ext uri="{FF2B5EF4-FFF2-40B4-BE49-F238E27FC236}">
                <a16:creationId xmlns:a16="http://schemas.microsoft.com/office/drawing/2014/main" id="{76B3CD2D-916D-44D8-BBD1-8104F3782BF3}"/>
              </a:ext>
            </a:extLst>
          </p:cNvPr>
          <p:cNvSpPr>
            <a:spLocks noGrp="1"/>
          </p:cNvSpPr>
          <p:nvPr/>
        </p:nvSpPr>
        <p:spPr>
          <a:xfrm>
            <a:off x="1714500" y="5905500"/>
            <a:ext cx="8763000" cy="285750"/>
          </a:xfrm>
          <a:prstGeom prst="rect">
            <a:avLst/>
          </a:prstGeom>
          <a:noFill/>
          <a:ln w="0">
            <a:noFill/>
          </a:ln>
        </p:spPr>
        <p:txBody>
          <a:bodyPr anchor="t">
            <a:normAutofit/>
          </a:bodyPr>
          <a:lstStyle/>
          <a:p>
            <a:pPr algn="ctr">
              <a:defRPr sz="1200" b="0" i="0">
                <a:solidFill>
                  <a:srgbClr val="626777"/>
                </a:solidFill>
                <a:latin typeface="Arial"/>
                <a:ea typeface="Arial"/>
                <a:cs typeface="Arial"/>
              </a:defRPr>
            </a:pPr>
            <a:r>
              <a:rPr sz="1200" b="0" i="0">
                <a:solidFill>
                  <a:srgbClr val="626777"/>
                </a:solidFill>
                <a:latin typeface="Arial"/>
                <a:ea typeface="Arial"/>
                <a:cs typeface="Arial"/>
              </a:rPr>
              <a:t>Full bibliographic details and textbook editions should be finalised in the paper and conference handout.</a:t>
            </a:r>
          </a:p>
        </p:txBody>
      </p:sp>
      <p:sp>
        <p:nvSpPr>
          <p:cNvPr id="22" name="Düz Bağlayıcı 21">
            <a:extLst>
              <a:ext uri="{FF2B5EF4-FFF2-40B4-BE49-F238E27FC236}">
                <a16:creationId xmlns:a16="http://schemas.microsoft.com/office/drawing/2014/main" id="{B71BD5BA-66BC-46FF-93CB-1177C733B051}"/>
              </a:ext>
            </a:extLst>
          </p:cNvPr>
          <p:cNvSpPr>
            <a:spLocks noGrp="1"/>
          </p:cNvSpPr>
          <p:nvPr/>
        </p:nvSpPr>
        <p:spPr>
          <a:xfrm>
            <a:off x="685800" y="6457950"/>
            <a:ext cx="10839450" cy="0"/>
          </a:xfrm>
          <a:prstGeom prst="line">
            <a:avLst/>
          </a:prstGeom>
          <a:noFill/>
          <a:ln w="9525">
            <a:solidFill>
              <a:srgbClr val="C8C9D3"/>
            </a:solidFill>
          </a:ln>
        </p:spPr>
        <p:txBody>
          <a:bodyPr/>
          <a:lstStyle/>
          <a:p>
            <a:endParaRPr lang="tr-TR"/>
          </a:p>
        </p:txBody>
      </p:sp>
      <p:sp>
        <p:nvSpPr>
          <p:cNvPr id="23" name="Dikdörtgen 22">
            <a:extLst>
              <a:ext uri="{FF2B5EF4-FFF2-40B4-BE49-F238E27FC236}">
                <a16:creationId xmlns:a16="http://schemas.microsoft.com/office/drawing/2014/main" id="{C83E9331-0458-44A1-9829-F040F6123810}"/>
              </a:ext>
            </a:extLst>
          </p:cNvPr>
          <p:cNvSpPr>
            <a:spLocks noGrp="1"/>
          </p:cNvSpPr>
          <p:nvPr/>
        </p:nvSpPr>
        <p:spPr>
          <a:xfrm>
            <a:off x="685800" y="6534150"/>
            <a:ext cx="952500" cy="152400"/>
          </a:xfrm>
          <a:prstGeom prst="rect">
            <a:avLst/>
          </a:prstGeom>
          <a:noFill/>
          <a:ln w="0">
            <a:noFill/>
          </a:ln>
        </p:spPr>
        <p:txBody>
          <a:bodyPr anchor="t">
            <a:normAutofit fontScale="53333"/>
          </a:bodyPr>
          <a:lstStyle/>
          <a:p>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495720039"/>
      </p:ext>
    </p:extLst>
  </p:cSld>
  <p:clrMapOvr>
    <a:masterClrMapping/>
  </p:clrMapOvr>
</p:sld>
</file>

<file path=ppt/theme/theme1.xml><?xml version="1.0" encoding="utf-8"?>
<a:theme xmlns:a="http://schemas.openxmlformats.org/drawingml/2006/main" name="MIWAE">
  <a:themeElements>
    <a:clrScheme name="MIWA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IWA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IWAE">
  <a:themeElements>
    <a:clrScheme name="MIWA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IWA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4675</Words>
  <Application>Microsoft Macintosh PowerPoint</Application>
  <DocSecurity>0</DocSecurity>
  <PresentationFormat>Geniş ekran</PresentationFormat>
  <Paragraphs>639</Paragraphs>
  <Slides>30</Slides>
  <Notes>30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30</vt:i4>
      </vt:variant>
    </vt:vector>
  </HeadingPairs>
  <TitlesOfParts>
    <vt:vector size="33" baseType="lpstr">
      <vt:lpstr>Arial</vt:lpstr>
      <vt:lpstr>Calibri</vt:lpstr>
      <vt:lpstr>MIWAE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Pragmatic Considerations for Authors and Publishers on Modification of Input in Written Academic English</dc:title>
  <dc:creator>Mehmet Altay and Dogan Yuksel</dc:creator>
  <cp:lastModifiedBy>Mehmet Altay and Dogan Yuksel</cp:lastModifiedBy>
  <cp:revision>2</cp:revision>
  <dcterms:created xsi:type="dcterms:W3CDTF">2026-09-20T13:47:23Z</dcterms:created>
  <dcterms:modified xsi:type="dcterms:W3CDTF">2026-09-20T14:04:39Z</dcterms:modified>
  <dc:subject>MIWAE conference presentation</dc:subject>
</cp:coreProperties>
</file>